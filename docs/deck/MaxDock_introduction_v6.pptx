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89" r:id="rId40"/>
    <p:sldId id="257" r:id="rId3"/>
    <p:sldId id="258" r:id="rId4"/>
    <p:sldId id="290" r:id="rId41"/>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91" r:id="rId42"/>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MaxDock. A Max Solutions product. Freight arrives when we say it will. Dock scheduling, load combining and receiving, built in-house for the way our plants actually ship. An introduction for the leadership team, August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exists. Six problems, all real: trucks arriving at once with no appointment list; our own sites shipping when it suited them; doors open with no crew to unload; the yard backing up into detention; no forward view to plan labour against; and freight paid twice for the same lane. Underneath all of it, a day of phone calls and emails. Industry benchmark: ATRI's 2024 research found drivers detained at 39.3 per cent of stops, with customer scheduling, staffing and dock space among the named causes.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was missing: discipline, visibility, traceability, measurement — and efficiency. The market's dock scheduling products all address the first four. The fifth, combining loads onto one truck, is not something they do, and it matters here because half of what we move is plant to plant.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phone: a booking is a conversation. The spreadsheet: one file, one site, one owner. The whiteboard: true only in that room. The cost is a hundred small ones — trucks waiting, doors idle, part-full trailers leaving, and a day nobody can reconstruct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MaxDock replaces the phone calls, spreadsheets and whiteboards that currently decide which truck goes to which door. Four time zones, one clock. Nine reports. Three taps to receive a truck. Two part loads on one truck. Zero licences to buy.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will see: the board, combining freight, booking, at the dock, what it measures, compared, where it stands, what we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board, every door, hour by hour. It refreshes on its own, a coordinator can drag a load to another door, and the rules travel with it. Every colour is a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screen: the dock board today. Site and date picker, seven counts, now line, each block, and book appointment.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half-empty trailers are one truck. MaxDock watches for loads going the same way on the same day and offers to put them on one truck. No other dock-scheduling product does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it will not fit, it offers a bigger trailer, not a later day. 14 skids plus 12 skids overfills a 48 ft but fits a 53 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 to Max: one booking, a door at both ends. The shipping site taps Shipped; Guelph's board reads En route. Each end sees the words that are true from where it is 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bridge to TMS and CABL is in build and heading for test. However the booking arrived, it lands under the same rules with the same QR code. MaxDock does not wait for the bridge.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Self-service booking: load and truck, time, confirm. Outside companies see only their own bookings. A coordinator can still book on somebody's behalf.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screen: the supplier fills in step one of three. No free-text times. Skids, not guesses. One screen, three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time is only offered if it survives every rule: twenty slots become six. Twelve sites in four time zones each run their own rules, and every time is shown in local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MaxDock receiving: a phone and three buttons. Outbound: At the dock, Loading, Shipped. Inbound: At the dock, Unloading, Received. Every tap is a timestamp.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screen: the load on the dock crew's phone. Reference and status, load details, optional driver name, and three taps for truck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MaxDock knows where you are standing. It warns, it does not block. It names the site the load belongs to instead of saying invalid or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Capacity in skids, not appointments. 96 committed, 26 this booking, 18 left. The next load is 26 skids and only 18 positions remain, so Thursday is not offered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keeps their appointment and who does not. Carrier on-time, past 30 days: Cascades 96.4, Kruger 91.0, Domtar 84.7, Titanium 73.2, Day and Ross 61.8. The carrier scorecard is what gets quoted at a rate negotiation.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Coverage: 96.4 per cent on time, 61 of 88 scanned in, 27 loads never scanned. It doubles as an adoption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reports screen: the three readings; daily shape; in against out; export and 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reports: dock labour without a timesheet, and door use hour by hour. The principle is that a report may only use facts the software already collected while people did their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else already built: operations queue, my appointments, settings, users and roles. All four are role-aware and enforced in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and after: a week of appointments loaded at once through bulk import; orders becoming dock appointments through the TMS and CABL bridge; and the booker told when something changes, by confirmation, change and cancellation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and after: export on every screen that holds data, full audit history behind every load, and the phone naming the site a wrong-plant truck belongs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MaxDock is different: load combining, the bigger-trailer offer, plant-to-plant booking at both ends, floor capacity in skids, dock labour hours from the schedule, and no licence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market comparison: carrier self-scheduling, live dock board, carrier scorecards and the phone app are yes. Email is building. The order and TMS connection is in build. Yard management is by choice,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now: booking, operations, on the floor, back office. Built in-house, with no licence and no per-plant subscription. The trade is that the capability lives with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Named, not yet built: the TMS and CABL bridge, email confirmations and reminders, copying the people CC'd on a booking, single sign-on with Microsoft 365, driver check-in by text, and one end-to-end trial on a real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out of scope: yard and trailer-pool management, gate check-in, turnaround time as a headline measure, and no-shows scoring against a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decisions: a mail provider, the address MaxDock will live at, a production database separate from the one we build on, the real account list site by site, and one plant to go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MaxDock is built, not proposed. The remaining work is deciding where it lives, who uses it first, and how we send the emails.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2238"/>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164A66"/>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7FA3B8"/>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7FA3B8"/>
                </a:solidFill>
                <a:latin typeface="Aptos" pitchFamily="34" charset="0"/>
                <a:ea typeface="Aptos" pitchFamily="34" charset="-122"/>
                <a:cs typeface="Aptos" pitchFamily="34" charset="-120"/>
              </a:rPr>
              <a:t>1</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7FA3B8"/>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713232" y="841248"/>
            <a:ext cx="5669280" cy="777240"/>
          </a:xfrm>
          <a:prstGeom prst="rect">
            <a:avLst/>
          </a:prstGeom>
          <a:noFill/>
          <a:ln/>
        </p:spPr>
        <p:txBody>
          <a:bodyPr wrap="square" lIns="0" tIns="0" rIns="0" bIns="0" rtlCol="0" anchor="t"/>
          <a:lstStyle/>
          <a:p>
            <a:pPr algn="l" indent="0" marL="0">
              <a:lnSpc>
                <a:spcPct val="100000"/>
              </a:lnSpc>
              <a:buNone/>
            </a:pPr>
            <a:r>
              <a:rPr lang="en-US" sz="4000" b="1" dirty="0">
                <a:solidFill>
                  <a:srgbClr val="FFFFFF"/>
                </a:solidFill>
                <a:latin typeface="Aptos Display" pitchFamily="34" charset="0"/>
                <a:ea typeface="Aptos Display" pitchFamily="34" charset="-122"/>
                <a:cs typeface="Aptos Display" pitchFamily="34" charset="-120"/>
              </a:rPr>
              <a:t>MaxDock</a:t>
            </a:r>
            <a:endParaRPr lang="en-US" sz="4000" dirty="0"/>
          </a:p>
        </p:txBody>
      </p:sp>
      <p:sp>
        <p:nvSpPr>
          <p:cNvPr id="8" name="Text 5"/>
          <p:cNvSpPr txBox="1"/>
          <p:nvPr/>
        </p:nvSpPr>
        <p:spPr>
          <a:xfrm>
            <a:off x="731520" y="1627632"/>
            <a:ext cx="5669280" cy="274320"/>
          </a:xfrm>
          <a:prstGeom prst="rect">
            <a:avLst/>
          </a:prstGeom>
          <a:noFill/>
          <a:ln/>
        </p:spPr>
        <p:txBody>
          <a:bodyPr wrap="square" lIns="0" tIns="0" rIns="0" bIns="0" rtlCol="0" anchor="t"/>
          <a:lstStyle/>
          <a:p>
            <a:pPr algn="l" indent="0" marL="0">
              <a:lnSpc>
                <a:spcPct val="100000"/>
              </a:lnSpc>
              <a:buNone/>
            </a:pPr>
            <a:r>
              <a:rPr lang="en-US" sz="1300" dirty="0">
                <a:solidFill>
                  <a:srgbClr val="B9D7E8"/>
                </a:solidFill>
                <a:latin typeface="Aptos" pitchFamily="34" charset="0"/>
                <a:ea typeface="Aptos" pitchFamily="34" charset="-122"/>
                <a:cs typeface="Aptos" pitchFamily="34" charset="-120"/>
              </a:rPr>
              <a:t>A Max Solutions product</a:t>
            </a:r>
            <a:endParaRPr lang="en-US" sz="1300" dirty="0"/>
          </a:p>
        </p:txBody>
      </p:sp>
      <p:sp>
        <p:nvSpPr>
          <p:cNvPr id="9" name="Text 6"/>
          <p:cNvSpPr txBox="1"/>
          <p:nvPr/>
        </p:nvSpPr>
        <p:spPr>
          <a:xfrm>
            <a:off x="713232" y="2331720"/>
            <a:ext cx="5852160" cy="2103120"/>
          </a:xfrm>
          <a:prstGeom prst="rect">
            <a:avLst/>
          </a:prstGeom>
          <a:noFill/>
          <a:ln/>
        </p:spPr>
        <p:txBody>
          <a:bodyPr wrap="square" lIns="0" tIns="0" rIns="0" bIns="0" rtlCol="0" anchor="t"/>
          <a:lstStyle/>
          <a:p>
            <a:pPr algn="l" indent="0" marL="0">
              <a:lnSpc>
                <a:spcPct val="112000"/>
              </a:lnSpc>
              <a:buNone/>
            </a:pPr>
            <a:r>
              <a:rPr lang="en-US" sz="3600" b="1" dirty="0">
                <a:solidFill>
                  <a:srgbClr val="FFFFFF"/>
                </a:solidFill>
                <a:latin typeface="Aptos Display" pitchFamily="34" charset="0"/>
                <a:ea typeface="Aptos Display" pitchFamily="34" charset="-122"/>
                <a:cs typeface="Aptos Display" pitchFamily="34" charset="-120"/>
              </a:rPr>
              <a:t>Freight arrives</a:t>
            </a:r>
            <a:endParaRPr lang="en-US" sz="3600" dirty="0"/>
          </a:p>
          <a:p>
            <a:pPr algn="l" indent="0" marL="0">
              <a:lnSpc>
                <a:spcPct val="112000"/>
              </a:lnSpc>
              <a:buNone/>
            </a:pPr>
            <a:r>
              <a:rPr lang="en-US" sz="3600" b="1" dirty="0">
                <a:solidFill>
                  <a:srgbClr val="FFFFFF"/>
                </a:solidFill>
                <a:latin typeface="Aptos Display" pitchFamily="34" charset="0"/>
                <a:ea typeface="Aptos Display" pitchFamily="34" charset="-122"/>
                <a:cs typeface="Aptos Display" pitchFamily="34" charset="-120"/>
              </a:rPr>
              <a:t>when we say</a:t>
            </a:r>
            <a:endParaRPr lang="en-US" sz="3600" dirty="0"/>
          </a:p>
          <a:p>
            <a:pPr algn="l" indent="0" marL="0">
              <a:lnSpc>
                <a:spcPct val="112000"/>
              </a:lnSpc>
              <a:buNone/>
            </a:pPr>
            <a:r>
              <a:rPr lang="en-US" sz="3600" b="1" dirty="0">
                <a:solidFill>
                  <a:srgbClr val="FFFFFF"/>
                </a:solidFill>
                <a:latin typeface="Aptos Display" pitchFamily="34" charset="0"/>
                <a:ea typeface="Aptos Display" pitchFamily="34" charset="-122"/>
                <a:cs typeface="Aptos Display" pitchFamily="34" charset="-120"/>
              </a:rPr>
              <a:t>it will.</a:t>
            </a:r>
            <a:endParaRPr lang="en-US" sz="3600" dirty="0"/>
          </a:p>
        </p:txBody>
      </p:sp>
      <p:sp>
        <p:nvSpPr>
          <p:cNvPr id="10" name="Shape 7"/>
          <p:cNvSpPr/>
          <p:nvPr/>
        </p:nvSpPr>
        <p:spPr>
          <a:xfrm>
            <a:off x="7022592" y="566928"/>
            <a:ext cx="50292" cy="5257800"/>
          </a:xfrm>
          <a:prstGeom prst="rect">
            <a:avLst/>
          </a:prstGeom>
          <a:solidFill>
            <a:srgbClr val="14AEE8"/>
          </a:solidFill>
          <a:ln/>
        </p:spPr>
        <p:txBody>
          <a:bodyPr/>
          <a:p/>
        </p:txBody>
      </p:sp>
      <p:sp>
        <p:nvSpPr>
          <p:cNvPr id="11" name="Text 8"/>
          <p:cNvSpPr txBox="1"/>
          <p:nvPr/>
        </p:nvSpPr>
        <p:spPr>
          <a:xfrm>
            <a:off x="7479792" y="1847088"/>
            <a:ext cx="3977640" cy="1188720"/>
          </a:xfrm>
          <a:prstGeom prst="rect">
            <a:avLst/>
          </a:prstGeom>
          <a:noFill/>
          <a:ln/>
        </p:spPr>
        <p:txBody>
          <a:bodyPr wrap="square" lIns="0" tIns="0" rIns="0" bIns="0" rtlCol="0" anchor="t"/>
          <a:lstStyle/>
          <a:p>
            <a:pPr algn="l" indent="0" marL="0">
              <a:lnSpc>
                <a:spcPct val="120000"/>
              </a:lnSpc>
              <a:buNone/>
            </a:pPr>
            <a:r>
              <a:rPr lang="en-US" sz="1500" b="1" dirty="0">
                <a:solidFill>
                  <a:srgbClr val="FFFFFF"/>
                </a:solidFill>
                <a:latin typeface="Aptos" pitchFamily="34" charset="0"/>
                <a:ea typeface="Aptos" pitchFamily="34" charset="-122"/>
                <a:cs typeface="Aptos" pitchFamily="34" charset="-120"/>
              </a:rPr>
              <a:t>Dock scheduling, load combining and receiving — built in-house for the way our plants actually ship.</a:t>
            </a:r>
            <a:endParaRPr lang="en-US" sz="1500" dirty="0"/>
          </a:p>
        </p:txBody>
      </p:sp>
      <p:sp>
        <p:nvSpPr>
          <p:cNvPr id="12" name="Text 9"/>
          <p:cNvSpPr txBox="1"/>
          <p:nvPr/>
        </p:nvSpPr>
        <p:spPr>
          <a:xfrm>
            <a:off x="7479792" y="3703320"/>
            <a:ext cx="3977640" cy="274320"/>
          </a:xfrm>
          <a:prstGeom prst="rect">
            <a:avLst/>
          </a:prstGeom>
          <a:noFill/>
          <a:ln/>
        </p:spPr>
        <p:txBody>
          <a:bodyPr wrap="square" lIns="0" tIns="0" rIns="0" bIns="0" rtlCol="0" anchor="t"/>
          <a:lstStyle/>
          <a:p>
            <a:pPr algn="l" indent="0" marL="0">
              <a:lnSpc>
                <a:spcPct val="100000"/>
              </a:lnSpc>
              <a:buNone/>
            </a:pPr>
            <a:r>
              <a:rPr lang="en-US" sz="1250" dirty="0">
                <a:solidFill>
                  <a:srgbClr val="B9D7E8"/>
                </a:solidFill>
                <a:latin typeface="Aptos" pitchFamily="34" charset="0"/>
                <a:ea typeface="Aptos" pitchFamily="34" charset="-122"/>
                <a:cs typeface="Aptos" pitchFamily="34" charset="-120"/>
              </a:rPr>
              <a:t>An introduction for the leadership team</a:t>
            </a:r>
            <a:endParaRPr lang="en-US" sz="1250" dirty="0"/>
          </a:p>
        </p:txBody>
      </p:sp>
      <p:sp>
        <p:nvSpPr>
          <p:cNvPr id="13" name="Text 10"/>
          <p:cNvSpPr txBox="1"/>
          <p:nvPr/>
        </p:nvSpPr>
        <p:spPr>
          <a:xfrm>
            <a:off x="7479792" y="4041648"/>
            <a:ext cx="3977640" cy="256032"/>
          </a:xfrm>
          <a:prstGeom prst="rect">
            <a:avLst/>
          </a:prstGeom>
          <a:noFill/>
          <a:ln/>
        </p:spPr>
        <p:txBody>
          <a:bodyPr wrap="square" lIns="0" tIns="0" rIns="0" bIns="0" rtlCol="0" anchor="t"/>
          <a:lstStyle/>
          <a:p>
            <a:pPr algn="l" indent="0" marL="0">
              <a:lnSpc>
                <a:spcPct val="100000"/>
              </a:lnSpc>
              <a:buNone/>
            </a:pPr>
            <a:r>
              <a:rPr lang="en-US" sz="1100" dirty="0">
                <a:solidFill>
                  <a:srgbClr val="7FA3B8"/>
                </a:solidFill>
                <a:latin typeface="Aptos" pitchFamily="34" charset="0"/>
                <a:ea typeface="Aptos" pitchFamily="34" charset="-122"/>
                <a:cs typeface="Aptos" pitchFamily="34" charset="-120"/>
              </a:rPr>
              <a:t>August 2026</a:t>
            </a:r>
            <a:endParaRPr lang="en-US" sz="1100" dirty="0"/>
          </a:p>
        </p:txBody>
      </p:sp>
      <p:pic>
        <p:nvPicPr>
          <p:cNvPr id="14" name="Image 1" descr="unpacked/ppt/media/image-1-1.png">    </p:cNvPr>
          <p:cNvPicPr>
            <a:picLocks noChangeAspect="1"/>
          </p:cNvPicPr>
          <p:nvPr/>
        </p:nvPicPr>
        <p:blipFill>
          <a:blip r:embed="rId2"/>
          <a:stretch>
            <a:fillRect/>
          </a:stretch>
        </p:blipFill>
        <p:spPr>
          <a:xfrm>
            <a:off x="8138160" y="4681728"/>
            <a:ext cx="2057400" cy="117957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3</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WHY WE STARTED THIS</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Every one of these is a real day. None of them was rare.</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It started as a list of what kept going wrong at the dock.</a:t>
            </a:r>
            <a:endParaRPr lang="en-US" sz="1200" dirty="0"/>
          </a:p>
        </p:txBody>
      </p:sp>
      <p:sp>
        <p:nvSpPr>
          <p:cNvPr id="10" name="Shape 7"/>
          <p:cNvSpPr/>
          <p:nvPr/>
        </p:nvSpPr>
        <p:spPr>
          <a:xfrm>
            <a:off x="530352" y="1609344"/>
            <a:ext cx="3429000" cy="1645920"/>
          </a:xfrm>
          <a:prstGeom prst="roundRect">
            <a:avLst>
              <a:gd name="adj" fmla="val 4301"/>
            </a:avLst>
          </a:prstGeom>
          <a:solidFill>
            <a:srgbClr val="FFFFFF"/>
          </a:solidFill>
          <a:ln w="9525">
            <a:solidFill>
              <a:srgbClr val="D8E4EA"/>
            </a:solidFill>
            <a:prstDash val="solid"/>
          </a:ln>
        </p:spPr>
        <p:txBody>
          <a:bodyPr/>
          <a:p/>
        </p:txBody>
      </p:sp>
      <p:sp>
        <p:nvSpPr>
          <p:cNvPr id="11" name="Shape 8"/>
          <p:cNvSpPr/>
          <p:nvPr/>
        </p:nvSpPr>
        <p:spPr>
          <a:xfrm>
            <a:off x="841248" y="1920240"/>
            <a:ext cx="384048" cy="384048"/>
          </a:xfrm>
          <a:prstGeom prst="roundRect">
            <a:avLst>
              <a:gd name="adj" fmla="val 14286"/>
            </a:avLst>
          </a:prstGeom>
          <a:solidFill>
            <a:srgbClr val="0877C9"/>
          </a:solidFill>
          <a:ln/>
        </p:spPr>
        <p:txBody>
          <a:bodyPr/>
          <a:p/>
        </p:txBody>
      </p:sp>
      <p:sp>
        <p:nvSpPr>
          <p:cNvPr id="12" name="Text 9"/>
          <p:cNvSpPr txBox="1"/>
          <p:nvPr/>
        </p:nvSpPr>
        <p:spPr>
          <a:xfrm>
            <a:off x="841248" y="2002536"/>
            <a:ext cx="384048" cy="219456"/>
          </a:xfrm>
          <a:prstGeom prst="rect">
            <a:avLst/>
          </a:prstGeom>
          <a:noFill/>
          <a:ln/>
        </p:spPr>
        <p:txBody>
          <a:bodyPr wrap="square" lIns="0" tIns="0" rIns="0" bIns="0" rtlCol="0" anchor="t"/>
          <a:lstStyle/>
          <a:p>
            <a:pPr algn="ctr" indent="0" marL="0">
              <a:lnSpc>
                <a:spcPct val="100000"/>
              </a:lnSpc>
              <a:buNone/>
            </a:pPr>
            <a:r>
              <a:rPr lang="en-US" sz="1050" b="1" dirty="0">
                <a:solidFill>
                  <a:srgbClr val="FFFFFF"/>
                </a:solidFill>
                <a:latin typeface="Aptos" pitchFamily="34" charset="0"/>
                <a:ea typeface="Aptos" pitchFamily="34" charset="-122"/>
                <a:cs typeface="Aptos" pitchFamily="34" charset="-120"/>
              </a:rPr>
              <a:t>01</a:t>
            </a:r>
            <a:endParaRPr lang="en-US" sz="1050" dirty="0"/>
          </a:p>
        </p:txBody>
      </p:sp>
      <p:sp>
        <p:nvSpPr>
          <p:cNvPr id="13" name="Text 10"/>
          <p:cNvSpPr txBox="1"/>
          <p:nvPr/>
        </p:nvSpPr>
        <p:spPr>
          <a:xfrm>
            <a:off x="1371600" y="1883664"/>
            <a:ext cx="2280818" cy="548640"/>
          </a:xfrm>
          <a:prstGeom prst="rect">
            <a:avLst/>
          </a:prstGeom>
          <a:noFill/>
          <a:ln/>
        </p:spPr>
        <p:txBody>
          <a:bodyPr wrap="square" lIns="0" tIns="0" rIns="0" bIns="0" rtlCol="0" anchor="ctr"/>
          <a:lstStyle/>
          <a:p>
            <a:pPr algn="l" indent="0" marL="0">
              <a:lnSpc>
                <a:spcPct val="106000"/>
              </a:lnSpc>
              <a:buNone/>
            </a:pPr>
            <a:r>
              <a:rPr lang="en-US" sz="1500" b="1" dirty="0">
                <a:solidFill>
                  <a:srgbClr val="0B1F33"/>
                </a:solidFill>
                <a:latin typeface="Aptos Display" pitchFamily="34" charset="0"/>
                <a:ea typeface="Aptos Display" pitchFamily="34" charset="-122"/>
                <a:cs typeface="Aptos Display" pitchFamily="34" charset="-120"/>
              </a:rPr>
              <a:t>Everyone at once</a:t>
            </a:r>
            <a:endParaRPr lang="en-US" sz="1500" dirty="0"/>
          </a:p>
        </p:txBody>
      </p:sp>
      <p:sp>
        <p:nvSpPr>
          <p:cNvPr id="14" name="Text 11"/>
          <p:cNvSpPr txBox="1"/>
          <p:nvPr/>
        </p:nvSpPr>
        <p:spPr>
          <a:xfrm>
            <a:off x="841248" y="2505456"/>
            <a:ext cx="2811170" cy="658368"/>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Several trucks in one hour, and no list of who was coming.</a:t>
            </a:r>
            <a:endParaRPr lang="en-US" sz="1150" dirty="0"/>
          </a:p>
        </p:txBody>
      </p:sp>
      <p:sp>
        <p:nvSpPr>
          <p:cNvPr id="15" name="Shape 12"/>
          <p:cNvSpPr/>
          <p:nvPr/>
        </p:nvSpPr>
        <p:spPr>
          <a:xfrm>
            <a:off x="4379976" y="1609344"/>
            <a:ext cx="3429000" cy="1645920"/>
          </a:xfrm>
          <a:prstGeom prst="roundRect">
            <a:avLst>
              <a:gd name="adj" fmla="val 4301"/>
            </a:avLst>
          </a:prstGeom>
          <a:solidFill>
            <a:srgbClr val="FFFFFF"/>
          </a:solidFill>
          <a:ln w="9525">
            <a:solidFill>
              <a:srgbClr val="D8E4EA"/>
            </a:solidFill>
            <a:prstDash val="solid"/>
          </a:ln>
        </p:spPr>
        <p:txBody>
          <a:bodyPr/>
          <a:p/>
        </p:txBody>
      </p:sp>
      <p:sp>
        <p:nvSpPr>
          <p:cNvPr id="16" name="Shape 13"/>
          <p:cNvSpPr/>
          <p:nvPr/>
        </p:nvSpPr>
        <p:spPr>
          <a:xfrm>
            <a:off x="4690262" y="1920240"/>
            <a:ext cx="384048" cy="384048"/>
          </a:xfrm>
          <a:prstGeom prst="roundRect">
            <a:avLst>
              <a:gd name="adj" fmla="val 14286"/>
            </a:avLst>
          </a:prstGeom>
          <a:solidFill>
            <a:srgbClr val="0877C9"/>
          </a:solidFill>
          <a:ln/>
        </p:spPr>
        <p:txBody>
          <a:bodyPr/>
          <a:p/>
        </p:txBody>
      </p:sp>
      <p:sp>
        <p:nvSpPr>
          <p:cNvPr id="17" name="Text 14"/>
          <p:cNvSpPr txBox="1"/>
          <p:nvPr/>
        </p:nvSpPr>
        <p:spPr>
          <a:xfrm>
            <a:off x="4690262" y="2002536"/>
            <a:ext cx="384048" cy="219456"/>
          </a:xfrm>
          <a:prstGeom prst="rect">
            <a:avLst/>
          </a:prstGeom>
          <a:noFill/>
          <a:ln/>
        </p:spPr>
        <p:txBody>
          <a:bodyPr wrap="square" lIns="0" tIns="0" rIns="0" bIns="0" rtlCol="0" anchor="t"/>
          <a:lstStyle/>
          <a:p>
            <a:pPr algn="ctr" indent="0" marL="0">
              <a:lnSpc>
                <a:spcPct val="100000"/>
              </a:lnSpc>
              <a:buNone/>
            </a:pPr>
            <a:r>
              <a:rPr lang="en-US" sz="1050" b="1" dirty="0">
                <a:solidFill>
                  <a:srgbClr val="FFFFFF"/>
                </a:solidFill>
                <a:latin typeface="Aptos" pitchFamily="34" charset="0"/>
                <a:ea typeface="Aptos" pitchFamily="34" charset="-122"/>
                <a:cs typeface="Aptos" pitchFamily="34" charset="-120"/>
              </a:rPr>
              <a:t>02</a:t>
            </a:r>
            <a:endParaRPr lang="en-US" sz="1050" dirty="0"/>
          </a:p>
        </p:txBody>
      </p:sp>
      <p:sp>
        <p:nvSpPr>
          <p:cNvPr id="18" name="Text 15"/>
          <p:cNvSpPr txBox="1"/>
          <p:nvPr/>
        </p:nvSpPr>
        <p:spPr>
          <a:xfrm>
            <a:off x="5220614" y="1883664"/>
            <a:ext cx="2280818" cy="548640"/>
          </a:xfrm>
          <a:prstGeom prst="rect">
            <a:avLst/>
          </a:prstGeom>
          <a:noFill/>
          <a:ln/>
        </p:spPr>
        <p:txBody>
          <a:bodyPr wrap="square" lIns="0" tIns="0" rIns="0" bIns="0" rtlCol="0" anchor="ctr"/>
          <a:lstStyle/>
          <a:p>
            <a:pPr algn="l" indent="0" marL="0">
              <a:lnSpc>
                <a:spcPct val="106000"/>
              </a:lnSpc>
              <a:buNone/>
            </a:pPr>
            <a:r>
              <a:rPr lang="en-US" sz="1500" b="1" dirty="0">
                <a:solidFill>
                  <a:srgbClr val="0B1F33"/>
                </a:solidFill>
                <a:latin typeface="Aptos Display" pitchFamily="34" charset="0"/>
                <a:ea typeface="Aptos Display" pitchFamily="34" charset="-122"/>
                <a:cs typeface="Aptos Display" pitchFamily="34" charset="-120"/>
              </a:rPr>
              <a:t>Sent when it suited the sender</a:t>
            </a:r>
            <a:endParaRPr lang="en-US" sz="1500" dirty="0"/>
          </a:p>
        </p:txBody>
      </p:sp>
      <p:sp>
        <p:nvSpPr>
          <p:cNvPr id="19" name="Text 16"/>
          <p:cNvSpPr txBox="1"/>
          <p:nvPr/>
        </p:nvSpPr>
        <p:spPr>
          <a:xfrm>
            <a:off x="4690262" y="2505456"/>
            <a:ext cx="2811170" cy="658368"/>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Our own sites shipped when it suited them, not the plant receiving.</a:t>
            </a:r>
            <a:endParaRPr lang="en-US" sz="1150" dirty="0"/>
          </a:p>
        </p:txBody>
      </p:sp>
      <p:sp>
        <p:nvSpPr>
          <p:cNvPr id="20" name="Shape 17"/>
          <p:cNvSpPr/>
          <p:nvPr/>
        </p:nvSpPr>
        <p:spPr>
          <a:xfrm>
            <a:off x="8229600" y="1609344"/>
            <a:ext cx="3429000" cy="1645920"/>
          </a:xfrm>
          <a:prstGeom prst="roundRect">
            <a:avLst>
              <a:gd name="adj" fmla="val 4301"/>
            </a:avLst>
          </a:prstGeom>
          <a:solidFill>
            <a:srgbClr val="FFFFFF"/>
          </a:solidFill>
          <a:ln w="9525">
            <a:solidFill>
              <a:srgbClr val="D8E4EA"/>
            </a:solidFill>
            <a:prstDash val="solid"/>
          </a:ln>
        </p:spPr>
        <p:txBody>
          <a:bodyPr/>
          <a:p/>
        </p:txBody>
      </p:sp>
      <p:sp>
        <p:nvSpPr>
          <p:cNvPr id="21" name="Shape 18"/>
          <p:cNvSpPr/>
          <p:nvPr/>
        </p:nvSpPr>
        <p:spPr>
          <a:xfrm>
            <a:off x="8539277" y="1920240"/>
            <a:ext cx="384048" cy="384048"/>
          </a:xfrm>
          <a:prstGeom prst="roundRect">
            <a:avLst>
              <a:gd name="adj" fmla="val 14286"/>
            </a:avLst>
          </a:prstGeom>
          <a:solidFill>
            <a:srgbClr val="F2A11B"/>
          </a:solidFill>
          <a:ln/>
        </p:spPr>
        <p:txBody>
          <a:bodyPr/>
          <a:p/>
        </p:txBody>
      </p:sp>
      <p:sp>
        <p:nvSpPr>
          <p:cNvPr id="22" name="Text 19"/>
          <p:cNvSpPr txBox="1"/>
          <p:nvPr/>
        </p:nvSpPr>
        <p:spPr>
          <a:xfrm>
            <a:off x="8539277" y="2002536"/>
            <a:ext cx="384048" cy="219456"/>
          </a:xfrm>
          <a:prstGeom prst="rect">
            <a:avLst/>
          </a:prstGeom>
          <a:noFill/>
          <a:ln/>
        </p:spPr>
        <p:txBody>
          <a:bodyPr wrap="square" lIns="0" tIns="0" rIns="0" bIns="0" rtlCol="0" anchor="t"/>
          <a:lstStyle/>
          <a:p>
            <a:pPr algn="ctr" indent="0" marL="0">
              <a:lnSpc>
                <a:spcPct val="100000"/>
              </a:lnSpc>
              <a:buNone/>
            </a:pPr>
            <a:r>
              <a:rPr lang="en-US" sz="1050" b="1" dirty="0">
                <a:solidFill>
                  <a:srgbClr val="FFFFFF"/>
                </a:solidFill>
                <a:latin typeface="Aptos" pitchFamily="34" charset="0"/>
                <a:ea typeface="Aptos" pitchFamily="34" charset="-122"/>
                <a:cs typeface="Aptos" pitchFamily="34" charset="-120"/>
              </a:rPr>
              <a:t>03</a:t>
            </a:r>
            <a:endParaRPr lang="en-US" sz="1050" dirty="0"/>
          </a:p>
        </p:txBody>
      </p:sp>
      <p:sp>
        <p:nvSpPr>
          <p:cNvPr id="23" name="Text 20"/>
          <p:cNvSpPr txBox="1"/>
          <p:nvPr/>
        </p:nvSpPr>
        <p:spPr>
          <a:xfrm>
            <a:off x="9069629" y="1883664"/>
            <a:ext cx="2280818" cy="548640"/>
          </a:xfrm>
          <a:prstGeom prst="rect">
            <a:avLst/>
          </a:prstGeom>
          <a:noFill/>
          <a:ln/>
        </p:spPr>
        <p:txBody>
          <a:bodyPr wrap="square" lIns="0" tIns="0" rIns="0" bIns="0" rtlCol="0" anchor="ctr"/>
          <a:lstStyle/>
          <a:p>
            <a:pPr algn="l" indent="0" marL="0">
              <a:lnSpc>
                <a:spcPct val="106000"/>
              </a:lnSpc>
              <a:buNone/>
            </a:pPr>
            <a:r>
              <a:rPr lang="en-US" sz="1500" b="1" dirty="0">
                <a:solidFill>
                  <a:srgbClr val="0B1F33"/>
                </a:solidFill>
                <a:latin typeface="Aptos Display" pitchFamily="34" charset="0"/>
                <a:ea typeface="Aptos Display" pitchFamily="34" charset="-122"/>
                <a:cs typeface="Aptos Display" pitchFamily="34" charset="-120"/>
              </a:rPr>
              <a:t>Doors open, nobody to unload</a:t>
            </a:r>
            <a:endParaRPr lang="en-US" sz="1500" dirty="0"/>
          </a:p>
        </p:txBody>
      </p:sp>
      <p:sp>
        <p:nvSpPr>
          <p:cNvPr id="24" name="Text 21"/>
          <p:cNvSpPr txBox="1"/>
          <p:nvPr/>
        </p:nvSpPr>
        <p:spPr>
          <a:xfrm>
            <a:off x="8539277" y="2505456"/>
            <a:ext cx="2811170" cy="658368"/>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Two trucks on paper. One crew in practice. Both waited.</a:t>
            </a:r>
            <a:endParaRPr lang="en-US" sz="1150" dirty="0"/>
          </a:p>
        </p:txBody>
      </p:sp>
      <p:sp>
        <p:nvSpPr>
          <p:cNvPr id="25" name="Shape 22"/>
          <p:cNvSpPr/>
          <p:nvPr/>
        </p:nvSpPr>
        <p:spPr>
          <a:xfrm>
            <a:off x="530352" y="3566160"/>
            <a:ext cx="3429000" cy="1645920"/>
          </a:xfrm>
          <a:prstGeom prst="roundRect">
            <a:avLst>
              <a:gd name="adj" fmla="val 4301"/>
            </a:avLst>
          </a:prstGeom>
          <a:solidFill>
            <a:srgbClr val="FFFFFF"/>
          </a:solidFill>
          <a:ln w="9525">
            <a:solidFill>
              <a:srgbClr val="D8E4EA"/>
            </a:solidFill>
            <a:prstDash val="solid"/>
          </a:ln>
        </p:spPr>
        <p:txBody>
          <a:bodyPr/>
          <a:p/>
        </p:txBody>
      </p:sp>
      <p:sp>
        <p:nvSpPr>
          <p:cNvPr id="26" name="Shape 23"/>
          <p:cNvSpPr/>
          <p:nvPr/>
        </p:nvSpPr>
        <p:spPr>
          <a:xfrm>
            <a:off x="841248" y="3877056"/>
            <a:ext cx="384048" cy="384048"/>
          </a:xfrm>
          <a:prstGeom prst="roundRect">
            <a:avLst>
              <a:gd name="adj" fmla="val 14286"/>
            </a:avLst>
          </a:prstGeom>
          <a:solidFill>
            <a:srgbClr val="F2A11B"/>
          </a:solidFill>
          <a:ln/>
        </p:spPr>
        <p:txBody>
          <a:bodyPr/>
          <a:p/>
        </p:txBody>
      </p:sp>
      <p:sp>
        <p:nvSpPr>
          <p:cNvPr id="27" name="Text 24"/>
          <p:cNvSpPr txBox="1"/>
          <p:nvPr/>
        </p:nvSpPr>
        <p:spPr>
          <a:xfrm>
            <a:off x="841248" y="3959352"/>
            <a:ext cx="384048" cy="219456"/>
          </a:xfrm>
          <a:prstGeom prst="rect">
            <a:avLst/>
          </a:prstGeom>
          <a:noFill/>
          <a:ln/>
        </p:spPr>
        <p:txBody>
          <a:bodyPr wrap="square" lIns="0" tIns="0" rIns="0" bIns="0" rtlCol="0" anchor="t"/>
          <a:lstStyle/>
          <a:p>
            <a:pPr algn="ctr" indent="0" marL="0">
              <a:lnSpc>
                <a:spcPct val="100000"/>
              </a:lnSpc>
              <a:buNone/>
            </a:pPr>
            <a:r>
              <a:rPr lang="en-US" sz="1050" b="1" dirty="0">
                <a:solidFill>
                  <a:srgbClr val="FFFFFF"/>
                </a:solidFill>
                <a:latin typeface="Aptos" pitchFamily="34" charset="0"/>
                <a:ea typeface="Aptos" pitchFamily="34" charset="-122"/>
                <a:cs typeface="Aptos" pitchFamily="34" charset="-120"/>
              </a:rPr>
              <a:t>04</a:t>
            </a:r>
            <a:endParaRPr lang="en-US" sz="1050" dirty="0"/>
          </a:p>
        </p:txBody>
      </p:sp>
      <p:sp>
        <p:nvSpPr>
          <p:cNvPr id="28" name="Text 25"/>
          <p:cNvSpPr txBox="1"/>
          <p:nvPr/>
        </p:nvSpPr>
        <p:spPr>
          <a:xfrm>
            <a:off x="1371600" y="3840480"/>
            <a:ext cx="2280818" cy="548640"/>
          </a:xfrm>
          <a:prstGeom prst="rect">
            <a:avLst/>
          </a:prstGeom>
          <a:noFill/>
          <a:ln/>
        </p:spPr>
        <p:txBody>
          <a:bodyPr wrap="square" lIns="0" tIns="0" rIns="0" bIns="0" rtlCol="0" anchor="ctr"/>
          <a:lstStyle/>
          <a:p>
            <a:pPr algn="l" indent="0" marL="0">
              <a:lnSpc>
                <a:spcPct val="106000"/>
              </a:lnSpc>
              <a:buNone/>
            </a:pPr>
            <a:r>
              <a:rPr lang="en-US" sz="1500" b="1" dirty="0">
                <a:solidFill>
                  <a:srgbClr val="0B1F33"/>
                </a:solidFill>
                <a:latin typeface="Aptos Display" pitchFamily="34" charset="0"/>
                <a:ea typeface="Aptos Display" pitchFamily="34" charset="-122"/>
                <a:cs typeface="Aptos Display" pitchFamily="34" charset="-120"/>
              </a:rPr>
              <a:t>The lot backs up</a:t>
            </a:r>
            <a:endParaRPr lang="en-US" sz="1500" dirty="0"/>
          </a:p>
        </p:txBody>
      </p:sp>
      <p:sp>
        <p:nvSpPr>
          <p:cNvPr id="29" name="Text 26"/>
          <p:cNvSpPr txBox="1"/>
          <p:nvPr/>
        </p:nvSpPr>
        <p:spPr>
          <a:xfrm>
            <a:off x="841248" y="4462272"/>
            <a:ext cx="2811170" cy="658368"/>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Trucks queue in the yard, and the waiting comes back as detention.</a:t>
            </a:r>
            <a:endParaRPr lang="en-US" sz="1150" dirty="0"/>
          </a:p>
        </p:txBody>
      </p:sp>
      <p:sp>
        <p:nvSpPr>
          <p:cNvPr id="30" name="Shape 27"/>
          <p:cNvSpPr/>
          <p:nvPr/>
        </p:nvSpPr>
        <p:spPr>
          <a:xfrm>
            <a:off x="4379976" y="3566160"/>
            <a:ext cx="3429000" cy="1645920"/>
          </a:xfrm>
          <a:prstGeom prst="roundRect">
            <a:avLst>
              <a:gd name="adj" fmla="val 4301"/>
            </a:avLst>
          </a:prstGeom>
          <a:solidFill>
            <a:srgbClr val="FFFFFF"/>
          </a:solidFill>
          <a:ln w="9525">
            <a:solidFill>
              <a:srgbClr val="D8E4EA"/>
            </a:solidFill>
            <a:prstDash val="solid"/>
          </a:ln>
        </p:spPr>
        <p:txBody>
          <a:bodyPr/>
          <a:p/>
        </p:txBody>
      </p:sp>
      <p:sp>
        <p:nvSpPr>
          <p:cNvPr id="31" name="Shape 28"/>
          <p:cNvSpPr/>
          <p:nvPr/>
        </p:nvSpPr>
        <p:spPr>
          <a:xfrm>
            <a:off x="4690262" y="3877056"/>
            <a:ext cx="384048" cy="384048"/>
          </a:xfrm>
          <a:prstGeom prst="roundRect">
            <a:avLst>
              <a:gd name="adj" fmla="val 14286"/>
            </a:avLst>
          </a:prstGeom>
          <a:solidFill>
            <a:srgbClr val="D84C4C"/>
          </a:solidFill>
          <a:ln/>
        </p:spPr>
        <p:txBody>
          <a:bodyPr/>
          <a:p/>
        </p:txBody>
      </p:sp>
      <p:sp>
        <p:nvSpPr>
          <p:cNvPr id="32" name="Text 29"/>
          <p:cNvSpPr txBox="1"/>
          <p:nvPr/>
        </p:nvSpPr>
        <p:spPr>
          <a:xfrm>
            <a:off x="4690262" y="3959352"/>
            <a:ext cx="384048" cy="219456"/>
          </a:xfrm>
          <a:prstGeom prst="rect">
            <a:avLst/>
          </a:prstGeom>
          <a:noFill/>
          <a:ln/>
        </p:spPr>
        <p:txBody>
          <a:bodyPr wrap="square" lIns="0" tIns="0" rIns="0" bIns="0" rtlCol="0" anchor="t"/>
          <a:lstStyle/>
          <a:p>
            <a:pPr algn="ctr" indent="0" marL="0">
              <a:lnSpc>
                <a:spcPct val="100000"/>
              </a:lnSpc>
              <a:buNone/>
            </a:pPr>
            <a:r>
              <a:rPr lang="en-US" sz="1050" b="1" dirty="0">
                <a:solidFill>
                  <a:srgbClr val="FFFFFF"/>
                </a:solidFill>
                <a:latin typeface="Aptos" pitchFamily="34" charset="0"/>
                <a:ea typeface="Aptos" pitchFamily="34" charset="-122"/>
                <a:cs typeface="Aptos" pitchFamily="34" charset="-120"/>
              </a:rPr>
              <a:t>05</a:t>
            </a:r>
            <a:endParaRPr lang="en-US" sz="1050" dirty="0"/>
          </a:p>
        </p:txBody>
      </p:sp>
      <p:sp>
        <p:nvSpPr>
          <p:cNvPr id="33" name="Text 30"/>
          <p:cNvSpPr txBox="1"/>
          <p:nvPr/>
        </p:nvSpPr>
        <p:spPr>
          <a:xfrm>
            <a:off x="5220614" y="3840480"/>
            <a:ext cx="2280818" cy="548640"/>
          </a:xfrm>
          <a:prstGeom prst="rect">
            <a:avLst/>
          </a:prstGeom>
          <a:noFill/>
          <a:ln/>
        </p:spPr>
        <p:txBody>
          <a:bodyPr wrap="square" lIns="0" tIns="0" rIns="0" bIns="0" rtlCol="0" anchor="ctr"/>
          <a:lstStyle/>
          <a:p>
            <a:pPr algn="l" indent="0" marL="0">
              <a:lnSpc>
                <a:spcPct val="106000"/>
              </a:lnSpc>
              <a:buNone/>
            </a:pPr>
            <a:r>
              <a:rPr lang="en-US" sz="1500" b="1" dirty="0">
                <a:solidFill>
                  <a:srgbClr val="0B1F33"/>
                </a:solidFill>
                <a:latin typeface="Aptos Display" pitchFamily="34" charset="0"/>
                <a:ea typeface="Aptos Display" pitchFamily="34" charset="-122"/>
                <a:cs typeface="Aptos Display" pitchFamily="34" charset="-120"/>
              </a:rPr>
              <a:t>Nothing to plan against</a:t>
            </a:r>
            <a:endParaRPr lang="en-US" sz="1500" dirty="0"/>
          </a:p>
        </p:txBody>
      </p:sp>
      <p:sp>
        <p:nvSpPr>
          <p:cNvPr id="34" name="Text 31"/>
          <p:cNvSpPr txBox="1"/>
          <p:nvPr/>
        </p:nvSpPr>
        <p:spPr>
          <a:xfrm>
            <a:off x="4690262" y="4462272"/>
            <a:ext cx="2811170" cy="658368"/>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No forward view, so labour was never set against tomorrow.</a:t>
            </a:r>
            <a:endParaRPr lang="en-US" sz="1150" dirty="0"/>
          </a:p>
        </p:txBody>
      </p:sp>
      <p:sp>
        <p:nvSpPr>
          <p:cNvPr id="35" name="Shape 32"/>
          <p:cNvSpPr/>
          <p:nvPr/>
        </p:nvSpPr>
        <p:spPr>
          <a:xfrm>
            <a:off x="8229600" y="3566160"/>
            <a:ext cx="3429000" cy="1645920"/>
          </a:xfrm>
          <a:prstGeom prst="roundRect">
            <a:avLst>
              <a:gd name="adj" fmla="val 4301"/>
            </a:avLst>
          </a:prstGeom>
          <a:solidFill>
            <a:srgbClr val="FFFFFF"/>
          </a:solidFill>
          <a:ln w="9525">
            <a:solidFill>
              <a:srgbClr val="D8E4EA"/>
            </a:solidFill>
            <a:prstDash val="solid"/>
          </a:ln>
        </p:spPr>
        <p:txBody>
          <a:bodyPr/>
          <a:p/>
        </p:txBody>
      </p:sp>
      <p:sp>
        <p:nvSpPr>
          <p:cNvPr id="36" name="Shape 33"/>
          <p:cNvSpPr/>
          <p:nvPr/>
        </p:nvSpPr>
        <p:spPr>
          <a:xfrm>
            <a:off x="8539277" y="3877056"/>
            <a:ext cx="384048" cy="384048"/>
          </a:xfrm>
          <a:prstGeom prst="roundRect">
            <a:avLst>
              <a:gd name="adj" fmla="val 14286"/>
            </a:avLst>
          </a:prstGeom>
          <a:solidFill>
            <a:srgbClr val="D84C4C"/>
          </a:solidFill>
          <a:ln/>
        </p:spPr>
        <p:txBody>
          <a:bodyPr/>
          <a:p/>
        </p:txBody>
      </p:sp>
      <p:sp>
        <p:nvSpPr>
          <p:cNvPr id="37" name="Text 34"/>
          <p:cNvSpPr txBox="1"/>
          <p:nvPr/>
        </p:nvSpPr>
        <p:spPr>
          <a:xfrm>
            <a:off x="8539277" y="3959352"/>
            <a:ext cx="384048" cy="219456"/>
          </a:xfrm>
          <a:prstGeom prst="rect">
            <a:avLst/>
          </a:prstGeom>
          <a:noFill/>
          <a:ln/>
        </p:spPr>
        <p:txBody>
          <a:bodyPr wrap="square" lIns="0" tIns="0" rIns="0" bIns="0" rtlCol="0" anchor="t"/>
          <a:lstStyle/>
          <a:p>
            <a:pPr algn="ctr" indent="0" marL="0">
              <a:lnSpc>
                <a:spcPct val="100000"/>
              </a:lnSpc>
              <a:buNone/>
            </a:pPr>
            <a:r>
              <a:rPr lang="en-US" sz="1050" b="1" dirty="0">
                <a:solidFill>
                  <a:srgbClr val="FFFFFF"/>
                </a:solidFill>
                <a:latin typeface="Aptos" pitchFamily="34" charset="0"/>
                <a:ea typeface="Aptos" pitchFamily="34" charset="-122"/>
                <a:cs typeface="Aptos" pitchFamily="34" charset="-120"/>
              </a:rPr>
              <a:t>06</a:t>
            </a:r>
            <a:endParaRPr lang="en-US" sz="1050" dirty="0"/>
          </a:p>
        </p:txBody>
      </p:sp>
      <p:sp>
        <p:nvSpPr>
          <p:cNvPr id="38" name="Text 35"/>
          <p:cNvSpPr txBox="1"/>
          <p:nvPr/>
        </p:nvSpPr>
        <p:spPr>
          <a:xfrm>
            <a:off x="9069629" y="3840480"/>
            <a:ext cx="2280818" cy="548640"/>
          </a:xfrm>
          <a:prstGeom prst="rect">
            <a:avLst/>
          </a:prstGeom>
          <a:noFill/>
          <a:ln/>
        </p:spPr>
        <p:txBody>
          <a:bodyPr wrap="square" lIns="0" tIns="0" rIns="0" bIns="0" rtlCol="0" anchor="ctr"/>
          <a:lstStyle/>
          <a:p>
            <a:pPr algn="l" indent="0" marL="0">
              <a:lnSpc>
                <a:spcPct val="106000"/>
              </a:lnSpc>
              <a:buNone/>
            </a:pPr>
            <a:r>
              <a:rPr lang="en-US" sz="1500" b="1" dirty="0">
                <a:solidFill>
                  <a:srgbClr val="0B1F33"/>
                </a:solidFill>
                <a:latin typeface="Aptos Display" pitchFamily="34" charset="0"/>
                <a:ea typeface="Aptos Display" pitchFamily="34" charset="-122"/>
                <a:cs typeface="Aptos Display" pitchFamily="34" charset="-120"/>
              </a:rPr>
              <a:t>Freight paid twice</a:t>
            </a:r>
            <a:endParaRPr lang="en-US" sz="1500" dirty="0"/>
          </a:p>
        </p:txBody>
      </p:sp>
      <p:sp>
        <p:nvSpPr>
          <p:cNvPr id="39" name="Text 36"/>
          <p:cNvSpPr txBox="1"/>
          <p:nvPr/>
        </p:nvSpPr>
        <p:spPr>
          <a:xfrm>
            <a:off x="8539277" y="4462272"/>
            <a:ext cx="2811170" cy="658368"/>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Two part-loads to the same plant in two days, on two trucks.</a:t>
            </a:r>
            <a:endParaRPr lang="en-US" sz="1150" dirty="0"/>
          </a:p>
        </p:txBody>
      </p:sp>
      <p:sp>
        <p:nvSpPr>
          <p:cNvPr id="40" name="Shape 37"/>
          <p:cNvSpPr/>
          <p:nvPr/>
        </p:nvSpPr>
        <p:spPr>
          <a:xfrm>
            <a:off x="530352" y="5449824"/>
            <a:ext cx="11130991" cy="877824"/>
          </a:xfrm>
          <a:prstGeom prst="roundRect">
            <a:avLst>
              <a:gd name="adj" fmla="val 7547"/>
            </a:avLst>
          </a:prstGeom>
          <a:solidFill>
            <a:srgbClr val="072238"/>
          </a:solidFill>
          <a:ln/>
        </p:spPr>
        <p:txBody>
          <a:bodyPr/>
          <a:p/>
        </p:txBody>
      </p:sp>
      <p:sp>
        <p:nvSpPr>
          <p:cNvPr id="41" name="Text 38"/>
          <p:cNvSpPr txBox="1"/>
          <p:nvPr/>
        </p:nvSpPr>
        <p:spPr>
          <a:xfrm>
            <a:off x="914400" y="5632704"/>
            <a:ext cx="6400800" cy="621792"/>
          </a:xfrm>
          <a:prstGeom prst="rect">
            <a:avLst/>
          </a:prstGeom>
          <a:noFill/>
          <a:ln/>
        </p:spPr>
        <p:txBody>
          <a:bodyPr wrap="square" lIns="0" tIns="0" rIns="0" bIns="0" rtlCol="0" anchor="ctr"/>
          <a:lstStyle/>
          <a:p>
            <a:pPr algn="l" indent="0" marL="0">
              <a:lnSpc>
                <a:spcPct val="120000"/>
              </a:lnSpc>
              <a:buNone/>
            </a:pPr>
            <a:r>
              <a:rPr lang="en-US" sz="1300" b="1" dirty="0">
                <a:solidFill>
                  <a:srgbClr val="FFFFFF"/>
                </a:solidFill>
                <a:latin typeface="Aptos" pitchFamily="34" charset="0"/>
                <a:ea typeface="Aptos" pitchFamily="34" charset="-122"/>
                <a:cs typeface="Aptos" pitchFamily="34" charset="-120"/>
              </a:rPr>
              <a:t>Under all six: a day of calls and emails rebuilding a schedule nobody could see.</a:t>
            </a:r>
            <a:endParaRPr lang="en-US" sz="1300" dirty="0"/>
          </a:p>
        </p:txBody>
      </p:sp>
      <p:sp>
        <p:nvSpPr>
          <p:cNvPr id="42" name="Shape 39"/>
          <p:cNvSpPr/>
          <p:nvPr/>
        </p:nvSpPr>
        <p:spPr>
          <a:xfrm>
            <a:off x="7406640" y="5632704"/>
            <a:ext cx="0" cy="603504"/>
          </a:xfrm>
          <a:prstGeom prst="line">
            <a:avLst/>
          </a:prstGeom>
          <a:noFill/>
          <a:ln w="9525">
            <a:solidFill>
              <a:srgbClr val="164A66"/>
            </a:solidFill>
            <a:prstDash val="solid"/>
          </a:ln>
        </p:spPr>
        <p:txBody>
          <a:bodyPr/>
          <a:p/>
        </p:txBody>
      </p:sp>
      <p:sp>
        <p:nvSpPr>
          <p:cNvPr id="43" name="Text 40"/>
          <p:cNvSpPr txBox="1"/>
          <p:nvPr/>
        </p:nvSpPr>
        <p:spPr>
          <a:xfrm>
            <a:off x="7699248" y="5687568"/>
            <a:ext cx="1234440" cy="420624"/>
          </a:xfrm>
          <a:prstGeom prst="rect">
            <a:avLst/>
          </a:prstGeom>
          <a:noFill/>
          <a:ln/>
        </p:spPr>
        <p:txBody>
          <a:bodyPr wrap="square" lIns="0" tIns="0" rIns="0" bIns="0" rtlCol="0" anchor="t"/>
          <a:lstStyle/>
          <a:p>
            <a:pPr algn="l" indent="0" marL="0">
              <a:lnSpc>
                <a:spcPct val="100000"/>
              </a:lnSpc>
              <a:buNone/>
            </a:pPr>
            <a:r>
              <a:rPr lang="en-US" sz="2200" b="1" dirty="0">
                <a:solidFill>
                  <a:srgbClr val="14AEE8"/>
                </a:solidFill>
                <a:latin typeface="Aptos Display" pitchFamily="34" charset="0"/>
                <a:ea typeface="Aptos Display" pitchFamily="34" charset="-122"/>
                <a:cs typeface="Aptos Display" pitchFamily="34" charset="-120"/>
              </a:rPr>
              <a:t>39.3%</a:t>
            </a:r>
            <a:endParaRPr lang="en-US" sz="2200" dirty="0"/>
          </a:p>
        </p:txBody>
      </p:sp>
      <p:sp>
        <p:nvSpPr>
          <p:cNvPr id="44" name="Text 41"/>
          <p:cNvSpPr txBox="1"/>
          <p:nvPr/>
        </p:nvSpPr>
        <p:spPr>
          <a:xfrm>
            <a:off x="9006840" y="5632704"/>
            <a:ext cx="2514600" cy="621792"/>
          </a:xfrm>
          <a:prstGeom prst="rect">
            <a:avLst/>
          </a:prstGeom>
          <a:noFill/>
          <a:ln/>
        </p:spPr>
        <p:txBody>
          <a:bodyPr wrap="square" lIns="0" tIns="0" rIns="0" bIns="0" rtlCol="0" anchor="ctr"/>
          <a:lstStyle/>
          <a:p>
            <a:pPr algn="l" indent="0" marL="0">
              <a:lnSpc>
                <a:spcPct val="115000"/>
              </a:lnSpc>
              <a:buNone/>
            </a:pPr>
            <a:r>
              <a:rPr lang="en-US" sz="900" dirty="0">
                <a:solidFill>
                  <a:srgbClr val="B9D7E8"/>
                </a:solidFill>
                <a:latin typeface="Aptos" pitchFamily="34" charset="0"/>
                <a:ea typeface="Aptos" pitchFamily="34" charset="-122"/>
                <a:cs typeface="Aptos" pitchFamily="34" charset="-120"/>
              </a:rPr>
              <a:t>of truck stops end in detention. ATRI blames scheduling, staffing and dock space.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4</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WHAT WAS MISSING</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No discipline, and nothing anybody could measure.</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Five things a dock schedule has to do. Four were not being done. The fifth, nobody does.</a:t>
            </a:r>
            <a:endParaRPr lang="en-US" sz="1200" dirty="0"/>
          </a:p>
        </p:txBody>
      </p:sp>
      <p:sp>
        <p:nvSpPr>
          <p:cNvPr id="10" name="Shape 7"/>
          <p:cNvSpPr/>
          <p:nvPr/>
        </p:nvSpPr>
        <p:spPr>
          <a:xfrm>
            <a:off x="749808" y="1801368"/>
            <a:ext cx="365760" cy="365760"/>
          </a:xfrm>
          <a:prstGeom prst="roundRect">
            <a:avLst>
              <a:gd name="adj" fmla="val 15000"/>
            </a:avLst>
          </a:prstGeom>
          <a:solidFill>
            <a:srgbClr val="0877C9"/>
          </a:solidFill>
          <a:ln/>
        </p:spPr>
        <p:txBody>
          <a:bodyPr/>
          <a:p/>
        </p:txBody>
      </p:sp>
      <p:sp>
        <p:nvSpPr>
          <p:cNvPr id="11" name="Text 8"/>
          <p:cNvSpPr txBox="1"/>
          <p:nvPr/>
        </p:nvSpPr>
        <p:spPr>
          <a:xfrm>
            <a:off x="749808" y="1883664"/>
            <a:ext cx="365760" cy="219456"/>
          </a:xfrm>
          <a:prstGeom prst="rect">
            <a:avLst/>
          </a:prstGeom>
          <a:noFill/>
          <a:ln/>
        </p:spPr>
        <p:txBody>
          <a:bodyPr wrap="square" lIns="0" tIns="0" rIns="0" bIns="0" rtlCol="0" anchor="t"/>
          <a:lstStyle/>
          <a:p>
            <a:pPr algn="ctr" indent="0" marL="0">
              <a:lnSpc>
                <a:spcPct val="100000"/>
              </a:lnSpc>
              <a:buNone/>
            </a:pPr>
            <a:r>
              <a:rPr lang="en-US" sz="1200" b="1" dirty="0">
                <a:solidFill>
                  <a:srgbClr val="FFFFFF"/>
                </a:solidFill>
                <a:latin typeface="Aptos" pitchFamily="34" charset="0"/>
                <a:ea typeface="Aptos" pitchFamily="34" charset="-122"/>
                <a:cs typeface="Aptos" pitchFamily="34" charset="-120"/>
              </a:rPr>
              <a:t>1</a:t>
            </a:r>
            <a:endParaRPr lang="en-US" sz="1200" dirty="0"/>
          </a:p>
        </p:txBody>
      </p:sp>
      <p:sp>
        <p:nvSpPr>
          <p:cNvPr id="12" name="Text 9"/>
          <p:cNvSpPr txBox="1"/>
          <p:nvPr/>
        </p:nvSpPr>
        <p:spPr>
          <a:xfrm>
            <a:off x="1207008" y="1828800"/>
            <a:ext cx="1920240" cy="329184"/>
          </a:xfrm>
          <a:prstGeom prst="rect">
            <a:avLst/>
          </a:prstGeom>
          <a:noFill/>
          <a:ln/>
        </p:spPr>
        <p:txBody>
          <a:bodyPr wrap="square" lIns="0" tIns="0" rIns="0" bIns="0" rtlCol="0" anchor="t"/>
          <a:lstStyle/>
          <a:p>
            <a:pPr algn="l" indent="0" marL="0">
              <a:lnSpc>
                <a:spcPct val="100000"/>
              </a:lnSpc>
              <a:buNone/>
            </a:pPr>
            <a:r>
              <a:rPr lang="en-US" sz="1600" b="1" dirty="0">
                <a:solidFill>
                  <a:srgbClr val="0B1F33"/>
                </a:solidFill>
                <a:latin typeface="Aptos Display" pitchFamily="34" charset="0"/>
                <a:ea typeface="Aptos Display" pitchFamily="34" charset="-122"/>
                <a:cs typeface="Aptos Display" pitchFamily="34" charset="-120"/>
              </a:rPr>
              <a:t>Discipline</a:t>
            </a:r>
            <a:endParaRPr lang="en-US" sz="1600" dirty="0"/>
          </a:p>
        </p:txBody>
      </p:sp>
      <p:sp>
        <p:nvSpPr>
          <p:cNvPr id="13" name="Text 10"/>
          <p:cNvSpPr txBox="1"/>
          <p:nvPr/>
        </p:nvSpPr>
        <p:spPr>
          <a:xfrm>
            <a:off x="3182112" y="1773936"/>
            <a:ext cx="5577840" cy="475488"/>
          </a:xfrm>
          <a:prstGeom prst="rect">
            <a:avLst/>
          </a:prstGeom>
          <a:noFill/>
          <a:ln/>
        </p:spPr>
        <p:txBody>
          <a:bodyPr wrap="square" lIns="0" tIns="0" rIns="0" bIns="0" rtlCol="0" anchor="ctr"/>
          <a:lstStyle/>
          <a:p>
            <a:pPr algn="l" indent="0" marL="0">
              <a:lnSpc>
                <a:spcPct val="116000"/>
              </a:lnSpc>
              <a:buNone/>
            </a:pPr>
            <a:r>
              <a:rPr lang="en-US" sz="1150" dirty="0">
                <a:solidFill>
                  <a:srgbClr val="456174"/>
                </a:solidFill>
                <a:latin typeface="Aptos" pitchFamily="34" charset="0"/>
                <a:ea typeface="Aptos" pitchFamily="34" charset="-122"/>
                <a:cs typeface="Aptos" pitchFamily="34" charset="-120"/>
              </a:rPr>
              <a:t>Any truck, any door, any hour. Nothing in the process said no.</a:t>
            </a:r>
            <a:endParaRPr lang="en-US" sz="1150" dirty="0"/>
          </a:p>
        </p:txBody>
      </p:sp>
      <p:sp>
        <p:nvSpPr>
          <p:cNvPr id="14" name="Shape 11"/>
          <p:cNvSpPr/>
          <p:nvPr/>
        </p:nvSpPr>
        <p:spPr>
          <a:xfrm>
            <a:off x="9006840" y="1783080"/>
            <a:ext cx="2651760" cy="402336"/>
          </a:xfrm>
          <a:prstGeom prst="roundRect">
            <a:avLst>
              <a:gd name="adj" fmla="val 13636"/>
            </a:avLst>
          </a:prstGeom>
          <a:solidFill>
            <a:srgbClr val="E9EFF4"/>
          </a:solidFill>
          <a:ln/>
        </p:spPr>
        <p:txBody>
          <a:bodyPr/>
          <a:p/>
        </p:txBody>
      </p:sp>
      <p:sp>
        <p:nvSpPr>
          <p:cNvPr id="15" name="Text 12"/>
          <p:cNvSpPr txBox="1"/>
          <p:nvPr/>
        </p:nvSpPr>
        <p:spPr>
          <a:xfrm>
            <a:off x="9006840" y="1883664"/>
            <a:ext cx="2651760" cy="201168"/>
          </a:xfrm>
          <a:prstGeom prst="rect">
            <a:avLst/>
          </a:prstGeom>
          <a:noFill/>
          <a:ln/>
        </p:spPr>
        <p:txBody>
          <a:bodyPr wrap="square" lIns="0" tIns="0" rIns="0" bIns="0" rtlCol="0" anchor="t"/>
          <a:lstStyle/>
          <a:p>
            <a:pPr algn="ctr" indent="0" marL="0">
              <a:lnSpc>
                <a:spcPct val="100000"/>
              </a:lnSpc>
              <a:buNone/>
            </a:pPr>
            <a:r>
              <a:rPr lang="en-US" sz="900" b="1" dirty="0">
                <a:solidFill>
                  <a:srgbClr val="456174"/>
                </a:solidFill>
                <a:latin typeface="Aptos" pitchFamily="34" charset="0"/>
                <a:ea typeface="Aptos" pitchFamily="34" charset="-122"/>
                <a:cs typeface="Aptos" pitchFamily="34" charset="-120"/>
              </a:rPr>
              <a:t>Every dock product does this</a:t>
            </a:r>
            <a:endParaRPr lang="en-US" sz="900" dirty="0"/>
          </a:p>
        </p:txBody>
      </p:sp>
      <p:sp>
        <p:nvSpPr>
          <p:cNvPr id="16" name="Shape 13"/>
          <p:cNvSpPr/>
          <p:nvPr/>
        </p:nvSpPr>
        <p:spPr>
          <a:xfrm>
            <a:off x="530352" y="2409444"/>
            <a:ext cx="11130991" cy="0"/>
          </a:xfrm>
          <a:prstGeom prst="line">
            <a:avLst/>
          </a:prstGeom>
          <a:noFill/>
          <a:ln w="9525">
            <a:solidFill>
              <a:srgbClr val="D8E4EA"/>
            </a:solidFill>
            <a:prstDash val="solid"/>
          </a:ln>
        </p:spPr>
        <p:txBody>
          <a:bodyPr/>
          <a:p/>
        </p:txBody>
      </p:sp>
      <p:sp>
        <p:nvSpPr>
          <p:cNvPr id="17" name="Shape 14"/>
          <p:cNvSpPr/>
          <p:nvPr/>
        </p:nvSpPr>
        <p:spPr>
          <a:xfrm>
            <a:off x="749808" y="2670048"/>
            <a:ext cx="365760" cy="365760"/>
          </a:xfrm>
          <a:prstGeom prst="roundRect">
            <a:avLst>
              <a:gd name="adj" fmla="val 15000"/>
            </a:avLst>
          </a:prstGeom>
          <a:solidFill>
            <a:srgbClr val="0877C9"/>
          </a:solidFill>
          <a:ln/>
        </p:spPr>
        <p:txBody>
          <a:bodyPr/>
          <a:p/>
        </p:txBody>
      </p:sp>
      <p:sp>
        <p:nvSpPr>
          <p:cNvPr id="18" name="Text 15"/>
          <p:cNvSpPr txBox="1"/>
          <p:nvPr/>
        </p:nvSpPr>
        <p:spPr>
          <a:xfrm>
            <a:off x="749808" y="2752344"/>
            <a:ext cx="365760" cy="219456"/>
          </a:xfrm>
          <a:prstGeom prst="rect">
            <a:avLst/>
          </a:prstGeom>
          <a:noFill/>
          <a:ln/>
        </p:spPr>
        <p:txBody>
          <a:bodyPr wrap="square" lIns="0" tIns="0" rIns="0" bIns="0" rtlCol="0" anchor="t"/>
          <a:lstStyle/>
          <a:p>
            <a:pPr algn="ctr" indent="0" marL="0">
              <a:lnSpc>
                <a:spcPct val="100000"/>
              </a:lnSpc>
              <a:buNone/>
            </a:pPr>
            <a:r>
              <a:rPr lang="en-US" sz="1200" b="1" dirty="0">
                <a:solidFill>
                  <a:srgbClr val="FFFFFF"/>
                </a:solidFill>
                <a:latin typeface="Aptos" pitchFamily="34" charset="0"/>
                <a:ea typeface="Aptos" pitchFamily="34" charset="-122"/>
                <a:cs typeface="Aptos" pitchFamily="34" charset="-120"/>
              </a:rPr>
              <a:t>2</a:t>
            </a:r>
            <a:endParaRPr lang="en-US" sz="1200" dirty="0"/>
          </a:p>
        </p:txBody>
      </p:sp>
      <p:sp>
        <p:nvSpPr>
          <p:cNvPr id="19" name="Text 16"/>
          <p:cNvSpPr txBox="1"/>
          <p:nvPr/>
        </p:nvSpPr>
        <p:spPr>
          <a:xfrm>
            <a:off x="1207008" y="2697480"/>
            <a:ext cx="1920240" cy="329184"/>
          </a:xfrm>
          <a:prstGeom prst="rect">
            <a:avLst/>
          </a:prstGeom>
          <a:noFill/>
          <a:ln/>
        </p:spPr>
        <p:txBody>
          <a:bodyPr wrap="square" lIns="0" tIns="0" rIns="0" bIns="0" rtlCol="0" anchor="t"/>
          <a:lstStyle/>
          <a:p>
            <a:pPr algn="l" indent="0" marL="0">
              <a:lnSpc>
                <a:spcPct val="100000"/>
              </a:lnSpc>
              <a:buNone/>
            </a:pPr>
            <a:r>
              <a:rPr lang="en-US" sz="1600" b="1" dirty="0">
                <a:solidFill>
                  <a:srgbClr val="0B1F33"/>
                </a:solidFill>
                <a:latin typeface="Aptos Display" pitchFamily="34" charset="0"/>
                <a:ea typeface="Aptos Display" pitchFamily="34" charset="-122"/>
                <a:cs typeface="Aptos Display" pitchFamily="34" charset="-120"/>
              </a:rPr>
              <a:t>Visibility</a:t>
            </a:r>
            <a:endParaRPr lang="en-US" sz="1600" dirty="0"/>
          </a:p>
        </p:txBody>
      </p:sp>
      <p:sp>
        <p:nvSpPr>
          <p:cNvPr id="20" name="Text 17"/>
          <p:cNvSpPr txBox="1"/>
          <p:nvPr/>
        </p:nvSpPr>
        <p:spPr>
          <a:xfrm>
            <a:off x="3182112" y="2642616"/>
            <a:ext cx="5577840" cy="475488"/>
          </a:xfrm>
          <a:prstGeom prst="rect">
            <a:avLst/>
          </a:prstGeom>
          <a:noFill/>
          <a:ln/>
        </p:spPr>
        <p:txBody>
          <a:bodyPr wrap="square" lIns="0" tIns="0" rIns="0" bIns="0" rtlCol="0" anchor="ctr"/>
          <a:lstStyle/>
          <a:p>
            <a:pPr algn="l" indent="0" marL="0">
              <a:lnSpc>
                <a:spcPct val="116000"/>
              </a:lnSpc>
              <a:buNone/>
            </a:pPr>
            <a:r>
              <a:rPr lang="en-US" sz="1150" dirty="0">
                <a:solidFill>
                  <a:srgbClr val="456174"/>
                </a:solidFill>
                <a:latin typeface="Aptos" pitchFamily="34" charset="0"/>
                <a:ea typeface="Aptos" pitchFamily="34" charset="-122"/>
                <a:cs typeface="Aptos" pitchFamily="34" charset="-120"/>
              </a:rPr>
              <a:t>Outside the shipping office nobody could see a load, so they phoned.</a:t>
            </a:r>
            <a:endParaRPr lang="en-US" sz="1150" dirty="0"/>
          </a:p>
        </p:txBody>
      </p:sp>
      <p:sp>
        <p:nvSpPr>
          <p:cNvPr id="21" name="Shape 18"/>
          <p:cNvSpPr/>
          <p:nvPr/>
        </p:nvSpPr>
        <p:spPr>
          <a:xfrm>
            <a:off x="9006840" y="2651760"/>
            <a:ext cx="2651760" cy="402336"/>
          </a:xfrm>
          <a:prstGeom prst="roundRect">
            <a:avLst>
              <a:gd name="adj" fmla="val 13636"/>
            </a:avLst>
          </a:prstGeom>
          <a:solidFill>
            <a:srgbClr val="E9EFF4"/>
          </a:solidFill>
          <a:ln/>
        </p:spPr>
        <p:txBody>
          <a:bodyPr/>
          <a:p/>
        </p:txBody>
      </p:sp>
      <p:sp>
        <p:nvSpPr>
          <p:cNvPr id="22" name="Text 19"/>
          <p:cNvSpPr txBox="1"/>
          <p:nvPr/>
        </p:nvSpPr>
        <p:spPr>
          <a:xfrm>
            <a:off x="9006840" y="2752344"/>
            <a:ext cx="2651760" cy="201168"/>
          </a:xfrm>
          <a:prstGeom prst="rect">
            <a:avLst/>
          </a:prstGeom>
          <a:noFill/>
          <a:ln/>
        </p:spPr>
        <p:txBody>
          <a:bodyPr wrap="square" lIns="0" tIns="0" rIns="0" bIns="0" rtlCol="0" anchor="t"/>
          <a:lstStyle/>
          <a:p>
            <a:pPr algn="ctr" indent="0" marL="0">
              <a:lnSpc>
                <a:spcPct val="100000"/>
              </a:lnSpc>
              <a:buNone/>
            </a:pPr>
            <a:r>
              <a:rPr lang="en-US" sz="900" b="1" dirty="0">
                <a:solidFill>
                  <a:srgbClr val="456174"/>
                </a:solidFill>
                <a:latin typeface="Aptos" pitchFamily="34" charset="0"/>
                <a:ea typeface="Aptos" pitchFamily="34" charset="-122"/>
                <a:cs typeface="Aptos" pitchFamily="34" charset="-120"/>
              </a:rPr>
              <a:t>Every dock product does this</a:t>
            </a:r>
            <a:endParaRPr lang="en-US" sz="900" dirty="0"/>
          </a:p>
        </p:txBody>
      </p:sp>
      <p:sp>
        <p:nvSpPr>
          <p:cNvPr id="23" name="Shape 20"/>
          <p:cNvSpPr/>
          <p:nvPr/>
        </p:nvSpPr>
        <p:spPr>
          <a:xfrm>
            <a:off x="530352" y="3259836"/>
            <a:ext cx="11130991" cy="0"/>
          </a:xfrm>
          <a:prstGeom prst="line">
            <a:avLst/>
          </a:prstGeom>
          <a:noFill/>
          <a:ln w="9525">
            <a:solidFill>
              <a:srgbClr val="D8E4EA"/>
            </a:solidFill>
            <a:prstDash val="solid"/>
          </a:ln>
        </p:spPr>
        <p:txBody>
          <a:bodyPr/>
          <a:p/>
        </p:txBody>
      </p:sp>
      <p:sp>
        <p:nvSpPr>
          <p:cNvPr id="24" name="Shape 21"/>
          <p:cNvSpPr/>
          <p:nvPr/>
        </p:nvSpPr>
        <p:spPr>
          <a:xfrm>
            <a:off x="749808" y="3538728"/>
            <a:ext cx="365760" cy="365760"/>
          </a:xfrm>
          <a:prstGeom prst="roundRect">
            <a:avLst>
              <a:gd name="adj" fmla="val 15000"/>
            </a:avLst>
          </a:prstGeom>
          <a:solidFill>
            <a:srgbClr val="F2A11B"/>
          </a:solidFill>
          <a:ln/>
        </p:spPr>
        <p:txBody>
          <a:bodyPr/>
          <a:p/>
        </p:txBody>
      </p:sp>
      <p:sp>
        <p:nvSpPr>
          <p:cNvPr id="25" name="Text 22"/>
          <p:cNvSpPr txBox="1"/>
          <p:nvPr/>
        </p:nvSpPr>
        <p:spPr>
          <a:xfrm>
            <a:off x="749808" y="3621024"/>
            <a:ext cx="365760" cy="219456"/>
          </a:xfrm>
          <a:prstGeom prst="rect">
            <a:avLst/>
          </a:prstGeom>
          <a:noFill/>
          <a:ln/>
        </p:spPr>
        <p:txBody>
          <a:bodyPr wrap="square" lIns="0" tIns="0" rIns="0" bIns="0" rtlCol="0" anchor="t"/>
          <a:lstStyle/>
          <a:p>
            <a:pPr algn="ctr" indent="0" marL="0">
              <a:lnSpc>
                <a:spcPct val="100000"/>
              </a:lnSpc>
              <a:buNone/>
            </a:pPr>
            <a:r>
              <a:rPr lang="en-US" sz="1200" b="1" dirty="0">
                <a:solidFill>
                  <a:srgbClr val="FFFFFF"/>
                </a:solidFill>
                <a:latin typeface="Aptos" pitchFamily="34" charset="0"/>
                <a:ea typeface="Aptos" pitchFamily="34" charset="-122"/>
                <a:cs typeface="Aptos" pitchFamily="34" charset="-120"/>
              </a:rPr>
              <a:t>3</a:t>
            </a:r>
            <a:endParaRPr lang="en-US" sz="1200" dirty="0"/>
          </a:p>
        </p:txBody>
      </p:sp>
      <p:sp>
        <p:nvSpPr>
          <p:cNvPr id="26" name="Text 23"/>
          <p:cNvSpPr txBox="1"/>
          <p:nvPr/>
        </p:nvSpPr>
        <p:spPr>
          <a:xfrm>
            <a:off x="1207008" y="3566160"/>
            <a:ext cx="1920240" cy="329184"/>
          </a:xfrm>
          <a:prstGeom prst="rect">
            <a:avLst/>
          </a:prstGeom>
          <a:noFill/>
          <a:ln/>
        </p:spPr>
        <p:txBody>
          <a:bodyPr wrap="square" lIns="0" tIns="0" rIns="0" bIns="0" rtlCol="0" anchor="t"/>
          <a:lstStyle/>
          <a:p>
            <a:pPr algn="l" indent="0" marL="0">
              <a:lnSpc>
                <a:spcPct val="100000"/>
              </a:lnSpc>
              <a:buNone/>
            </a:pPr>
            <a:r>
              <a:rPr lang="en-US" sz="1600" b="1" dirty="0">
                <a:solidFill>
                  <a:srgbClr val="0B1F33"/>
                </a:solidFill>
                <a:latin typeface="Aptos Display" pitchFamily="34" charset="0"/>
                <a:ea typeface="Aptos Display" pitchFamily="34" charset="-122"/>
                <a:cs typeface="Aptos Display" pitchFamily="34" charset="-120"/>
              </a:rPr>
              <a:t>Traceability</a:t>
            </a:r>
            <a:endParaRPr lang="en-US" sz="1600" dirty="0"/>
          </a:p>
        </p:txBody>
      </p:sp>
      <p:sp>
        <p:nvSpPr>
          <p:cNvPr id="27" name="Text 24"/>
          <p:cNvSpPr txBox="1"/>
          <p:nvPr/>
        </p:nvSpPr>
        <p:spPr>
          <a:xfrm>
            <a:off x="3182112" y="3511296"/>
            <a:ext cx="5577840" cy="475488"/>
          </a:xfrm>
          <a:prstGeom prst="rect">
            <a:avLst/>
          </a:prstGeom>
          <a:noFill/>
          <a:ln/>
        </p:spPr>
        <p:txBody>
          <a:bodyPr wrap="square" lIns="0" tIns="0" rIns="0" bIns="0" rtlCol="0" anchor="ctr"/>
          <a:lstStyle/>
          <a:p>
            <a:pPr algn="l" indent="0" marL="0">
              <a:lnSpc>
                <a:spcPct val="116000"/>
              </a:lnSpc>
              <a:buNone/>
            </a:pPr>
            <a:r>
              <a:rPr lang="en-US" sz="1150" dirty="0">
                <a:solidFill>
                  <a:srgbClr val="456174"/>
                </a:solidFill>
                <a:latin typeface="Aptos" pitchFamily="34" charset="0"/>
                <a:ea typeface="Aptos" pitchFamily="34" charset="-122"/>
                <a:cs typeface="Aptos" pitchFamily="34" charset="-120"/>
              </a:rPr>
              <a:t>A wrong load was found at the door, and left no record.</a:t>
            </a:r>
            <a:endParaRPr lang="en-US" sz="1150" dirty="0"/>
          </a:p>
        </p:txBody>
      </p:sp>
      <p:sp>
        <p:nvSpPr>
          <p:cNvPr id="28" name="Shape 25"/>
          <p:cNvSpPr/>
          <p:nvPr/>
        </p:nvSpPr>
        <p:spPr>
          <a:xfrm>
            <a:off x="9006840" y="3520440"/>
            <a:ext cx="2651760" cy="402336"/>
          </a:xfrm>
          <a:prstGeom prst="roundRect">
            <a:avLst>
              <a:gd name="adj" fmla="val 13636"/>
            </a:avLst>
          </a:prstGeom>
          <a:solidFill>
            <a:srgbClr val="E9EFF4"/>
          </a:solidFill>
          <a:ln/>
        </p:spPr>
        <p:txBody>
          <a:bodyPr/>
          <a:p/>
        </p:txBody>
      </p:sp>
      <p:sp>
        <p:nvSpPr>
          <p:cNvPr id="29" name="Text 26"/>
          <p:cNvSpPr txBox="1"/>
          <p:nvPr/>
        </p:nvSpPr>
        <p:spPr>
          <a:xfrm>
            <a:off x="9006840" y="3621024"/>
            <a:ext cx="2651760" cy="201168"/>
          </a:xfrm>
          <a:prstGeom prst="rect">
            <a:avLst/>
          </a:prstGeom>
          <a:noFill/>
          <a:ln/>
        </p:spPr>
        <p:txBody>
          <a:bodyPr wrap="square" lIns="0" tIns="0" rIns="0" bIns="0" rtlCol="0" anchor="t"/>
          <a:lstStyle/>
          <a:p>
            <a:pPr algn="ctr" indent="0" marL="0">
              <a:lnSpc>
                <a:spcPct val="100000"/>
              </a:lnSpc>
              <a:buNone/>
            </a:pPr>
            <a:r>
              <a:rPr lang="en-US" sz="900" b="1" dirty="0">
                <a:solidFill>
                  <a:srgbClr val="456174"/>
                </a:solidFill>
                <a:latin typeface="Aptos" pitchFamily="34" charset="0"/>
                <a:ea typeface="Aptos" pitchFamily="34" charset="-122"/>
                <a:cs typeface="Aptos" pitchFamily="34" charset="-120"/>
              </a:rPr>
              <a:t>Every dock product does this</a:t>
            </a:r>
            <a:endParaRPr lang="en-US" sz="900" dirty="0"/>
          </a:p>
        </p:txBody>
      </p:sp>
      <p:sp>
        <p:nvSpPr>
          <p:cNvPr id="30" name="Shape 27"/>
          <p:cNvSpPr/>
          <p:nvPr/>
        </p:nvSpPr>
        <p:spPr>
          <a:xfrm>
            <a:off x="530352" y="4110228"/>
            <a:ext cx="11130991" cy="0"/>
          </a:xfrm>
          <a:prstGeom prst="line">
            <a:avLst/>
          </a:prstGeom>
          <a:noFill/>
          <a:ln w="9525">
            <a:solidFill>
              <a:srgbClr val="D8E4EA"/>
            </a:solidFill>
            <a:prstDash val="solid"/>
          </a:ln>
        </p:spPr>
        <p:txBody>
          <a:bodyPr/>
          <a:p/>
        </p:txBody>
      </p:sp>
      <p:sp>
        <p:nvSpPr>
          <p:cNvPr id="31" name="Shape 28"/>
          <p:cNvSpPr/>
          <p:nvPr/>
        </p:nvSpPr>
        <p:spPr>
          <a:xfrm>
            <a:off x="749808" y="4407408"/>
            <a:ext cx="365760" cy="365760"/>
          </a:xfrm>
          <a:prstGeom prst="roundRect">
            <a:avLst>
              <a:gd name="adj" fmla="val 15000"/>
            </a:avLst>
          </a:prstGeom>
          <a:solidFill>
            <a:srgbClr val="F2A11B"/>
          </a:solidFill>
          <a:ln/>
        </p:spPr>
        <p:txBody>
          <a:bodyPr/>
          <a:p/>
        </p:txBody>
      </p:sp>
      <p:sp>
        <p:nvSpPr>
          <p:cNvPr id="32" name="Text 29"/>
          <p:cNvSpPr txBox="1"/>
          <p:nvPr/>
        </p:nvSpPr>
        <p:spPr>
          <a:xfrm>
            <a:off x="749808" y="4489704"/>
            <a:ext cx="365760" cy="219456"/>
          </a:xfrm>
          <a:prstGeom prst="rect">
            <a:avLst/>
          </a:prstGeom>
          <a:noFill/>
          <a:ln/>
        </p:spPr>
        <p:txBody>
          <a:bodyPr wrap="square" lIns="0" tIns="0" rIns="0" bIns="0" rtlCol="0" anchor="t"/>
          <a:lstStyle/>
          <a:p>
            <a:pPr algn="ctr" indent="0" marL="0">
              <a:lnSpc>
                <a:spcPct val="100000"/>
              </a:lnSpc>
              <a:buNone/>
            </a:pPr>
            <a:r>
              <a:rPr lang="en-US" sz="1200" b="1" dirty="0">
                <a:solidFill>
                  <a:srgbClr val="FFFFFF"/>
                </a:solidFill>
                <a:latin typeface="Aptos" pitchFamily="34" charset="0"/>
                <a:ea typeface="Aptos" pitchFamily="34" charset="-122"/>
                <a:cs typeface="Aptos" pitchFamily="34" charset="-120"/>
              </a:rPr>
              <a:t>4</a:t>
            </a:r>
            <a:endParaRPr lang="en-US" sz="1200" dirty="0"/>
          </a:p>
        </p:txBody>
      </p:sp>
      <p:sp>
        <p:nvSpPr>
          <p:cNvPr id="33" name="Text 30"/>
          <p:cNvSpPr txBox="1"/>
          <p:nvPr/>
        </p:nvSpPr>
        <p:spPr>
          <a:xfrm>
            <a:off x="1207008" y="4434840"/>
            <a:ext cx="1920240" cy="329184"/>
          </a:xfrm>
          <a:prstGeom prst="rect">
            <a:avLst/>
          </a:prstGeom>
          <a:noFill/>
          <a:ln/>
        </p:spPr>
        <p:txBody>
          <a:bodyPr wrap="square" lIns="0" tIns="0" rIns="0" bIns="0" rtlCol="0" anchor="t"/>
          <a:lstStyle/>
          <a:p>
            <a:pPr algn="l" indent="0" marL="0">
              <a:lnSpc>
                <a:spcPct val="100000"/>
              </a:lnSpc>
              <a:buNone/>
            </a:pPr>
            <a:r>
              <a:rPr lang="en-US" sz="1600" b="1" dirty="0">
                <a:solidFill>
                  <a:srgbClr val="0B1F33"/>
                </a:solidFill>
                <a:latin typeface="Aptos Display" pitchFamily="34" charset="0"/>
                <a:ea typeface="Aptos Display" pitchFamily="34" charset="-122"/>
                <a:cs typeface="Aptos Display" pitchFamily="34" charset="-120"/>
              </a:rPr>
              <a:t>Measurement</a:t>
            </a:r>
            <a:endParaRPr lang="en-US" sz="1600" dirty="0"/>
          </a:p>
        </p:txBody>
      </p:sp>
      <p:sp>
        <p:nvSpPr>
          <p:cNvPr id="34" name="Text 31"/>
          <p:cNvSpPr txBox="1"/>
          <p:nvPr/>
        </p:nvSpPr>
        <p:spPr>
          <a:xfrm>
            <a:off x="3182112" y="4379976"/>
            <a:ext cx="5577840" cy="475488"/>
          </a:xfrm>
          <a:prstGeom prst="rect">
            <a:avLst/>
          </a:prstGeom>
          <a:noFill/>
          <a:ln/>
        </p:spPr>
        <p:txBody>
          <a:bodyPr wrap="square" lIns="0" tIns="0" rIns="0" bIns="0" rtlCol="0" anchor="ctr"/>
          <a:lstStyle/>
          <a:p>
            <a:pPr algn="l" indent="0" marL="0">
              <a:lnSpc>
                <a:spcPct val="116000"/>
              </a:lnSpc>
              <a:buNone/>
            </a:pPr>
            <a:r>
              <a:rPr lang="en-US" sz="1150" dirty="0">
                <a:solidFill>
                  <a:srgbClr val="456174"/>
                </a:solidFill>
                <a:latin typeface="Aptos" pitchFamily="34" charset="0"/>
                <a:ea typeface="Aptos" pitchFamily="34" charset="-122"/>
                <a:cs typeface="Aptos" pitchFamily="34" charset="-120"/>
              </a:rPr>
              <a:t>No carrier reliability, no labour hours, no door use. Nothing to improve.</a:t>
            </a:r>
            <a:endParaRPr lang="en-US" sz="1150" dirty="0"/>
          </a:p>
        </p:txBody>
      </p:sp>
      <p:sp>
        <p:nvSpPr>
          <p:cNvPr id="35" name="Shape 32"/>
          <p:cNvSpPr/>
          <p:nvPr/>
        </p:nvSpPr>
        <p:spPr>
          <a:xfrm>
            <a:off x="9006840" y="4389120"/>
            <a:ext cx="2651760" cy="402336"/>
          </a:xfrm>
          <a:prstGeom prst="roundRect">
            <a:avLst>
              <a:gd name="adj" fmla="val 13636"/>
            </a:avLst>
          </a:prstGeom>
          <a:solidFill>
            <a:srgbClr val="E9EFF4"/>
          </a:solidFill>
          <a:ln/>
        </p:spPr>
        <p:txBody>
          <a:bodyPr/>
          <a:p/>
        </p:txBody>
      </p:sp>
      <p:sp>
        <p:nvSpPr>
          <p:cNvPr id="36" name="Text 33"/>
          <p:cNvSpPr txBox="1"/>
          <p:nvPr/>
        </p:nvSpPr>
        <p:spPr>
          <a:xfrm>
            <a:off x="9006840" y="4489704"/>
            <a:ext cx="2651760" cy="201168"/>
          </a:xfrm>
          <a:prstGeom prst="rect">
            <a:avLst/>
          </a:prstGeom>
          <a:noFill/>
          <a:ln/>
        </p:spPr>
        <p:txBody>
          <a:bodyPr wrap="square" lIns="0" tIns="0" rIns="0" bIns="0" rtlCol="0" anchor="t"/>
          <a:lstStyle/>
          <a:p>
            <a:pPr algn="ctr" indent="0" marL="0">
              <a:lnSpc>
                <a:spcPct val="100000"/>
              </a:lnSpc>
              <a:buNone/>
            </a:pPr>
            <a:r>
              <a:rPr lang="en-US" sz="900" b="1" dirty="0">
                <a:solidFill>
                  <a:srgbClr val="456174"/>
                </a:solidFill>
                <a:latin typeface="Aptos" pitchFamily="34" charset="0"/>
                <a:ea typeface="Aptos" pitchFamily="34" charset="-122"/>
                <a:cs typeface="Aptos" pitchFamily="34" charset="-120"/>
              </a:rPr>
              <a:t>Every dock product does this</a:t>
            </a:r>
            <a:endParaRPr lang="en-US" sz="900" dirty="0"/>
          </a:p>
        </p:txBody>
      </p:sp>
      <p:sp>
        <p:nvSpPr>
          <p:cNvPr id="37" name="Shape 34"/>
          <p:cNvSpPr/>
          <p:nvPr/>
        </p:nvSpPr>
        <p:spPr>
          <a:xfrm>
            <a:off x="530352" y="5033772"/>
            <a:ext cx="11130991" cy="0"/>
          </a:xfrm>
          <a:prstGeom prst="line">
            <a:avLst/>
          </a:prstGeom>
          <a:noFill/>
          <a:ln w="9525">
            <a:solidFill>
              <a:srgbClr val="D8E4EA"/>
            </a:solidFill>
            <a:prstDash val="solid"/>
          </a:ln>
        </p:spPr>
        <p:txBody>
          <a:bodyPr/>
          <a:p/>
        </p:txBody>
      </p:sp>
      <p:sp>
        <p:nvSpPr>
          <p:cNvPr id="38" name="Shape 35"/>
          <p:cNvSpPr/>
          <p:nvPr/>
        </p:nvSpPr>
        <p:spPr>
          <a:xfrm>
            <a:off x="530352" y="5065776"/>
            <a:ext cx="11130991" cy="786384"/>
          </a:xfrm>
          <a:prstGeom prst="roundRect">
            <a:avLst>
              <a:gd name="adj" fmla="val 9302"/>
            </a:avLst>
          </a:prstGeom>
          <a:solidFill>
            <a:srgbClr val="E1F3EA"/>
          </a:solidFill>
          <a:ln/>
        </p:spPr>
        <p:txBody>
          <a:bodyPr/>
          <a:p/>
        </p:txBody>
      </p:sp>
      <p:sp>
        <p:nvSpPr>
          <p:cNvPr id="39" name="Shape 36"/>
          <p:cNvSpPr/>
          <p:nvPr/>
        </p:nvSpPr>
        <p:spPr>
          <a:xfrm>
            <a:off x="749808" y="5276088"/>
            <a:ext cx="365760" cy="365760"/>
          </a:xfrm>
          <a:prstGeom prst="roundRect">
            <a:avLst>
              <a:gd name="adj" fmla="val 15000"/>
            </a:avLst>
          </a:prstGeom>
          <a:solidFill>
            <a:srgbClr val="14A66A"/>
          </a:solidFill>
          <a:ln/>
        </p:spPr>
        <p:txBody>
          <a:bodyPr/>
          <a:p/>
        </p:txBody>
      </p:sp>
      <p:sp>
        <p:nvSpPr>
          <p:cNvPr id="40" name="Text 37"/>
          <p:cNvSpPr txBox="1"/>
          <p:nvPr/>
        </p:nvSpPr>
        <p:spPr>
          <a:xfrm>
            <a:off x="749808" y="5358384"/>
            <a:ext cx="365760" cy="219456"/>
          </a:xfrm>
          <a:prstGeom prst="rect">
            <a:avLst/>
          </a:prstGeom>
          <a:noFill/>
          <a:ln/>
        </p:spPr>
        <p:txBody>
          <a:bodyPr wrap="square" lIns="0" tIns="0" rIns="0" bIns="0" rtlCol="0" anchor="t"/>
          <a:lstStyle/>
          <a:p>
            <a:pPr algn="ctr" indent="0" marL="0">
              <a:lnSpc>
                <a:spcPct val="100000"/>
              </a:lnSpc>
              <a:buNone/>
            </a:pPr>
            <a:r>
              <a:rPr lang="en-US" sz="1200" b="1" dirty="0">
                <a:solidFill>
                  <a:srgbClr val="FFFFFF"/>
                </a:solidFill>
                <a:latin typeface="Aptos" pitchFamily="34" charset="0"/>
                <a:ea typeface="Aptos" pitchFamily="34" charset="-122"/>
                <a:cs typeface="Aptos" pitchFamily="34" charset="-120"/>
              </a:rPr>
              <a:t>5</a:t>
            </a:r>
            <a:endParaRPr lang="en-US" sz="1200" dirty="0"/>
          </a:p>
        </p:txBody>
      </p:sp>
      <p:sp>
        <p:nvSpPr>
          <p:cNvPr id="41" name="Text 38"/>
          <p:cNvSpPr txBox="1"/>
          <p:nvPr/>
        </p:nvSpPr>
        <p:spPr>
          <a:xfrm>
            <a:off x="1207008" y="5303520"/>
            <a:ext cx="1920240" cy="329184"/>
          </a:xfrm>
          <a:prstGeom prst="rect">
            <a:avLst/>
          </a:prstGeom>
          <a:noFill/>
          <a:ln/>
        </p:spPr>
        <p:txBody>
          <a:bodyPr wrap="square" lIns="0" tIns="0" rIns="0" bIns="0" rtlCol="0" anchor="t"/>
          <a:lstStyle/>
          <a:p>
            <a:pPr algn="l" indent="0" marL="0">
              <a:lnSpc>
                <a:spcPct val="100000"/>
              </a:lnSpc>
              <a:buNone/>
            </a:pPr>
            <a:r>
              <a:rPr lang="en-US" sz="1600" b="1" dirty="0">
                <a:solidFill>
                  <a:srgbClr val="0B1F33"/>
                </a:solidFill>
                <a:latin typeface="Aptos Display" pitchFamily="34" charset="0"/>
                <a:ea typeface="Aptos Display" pitchFamily="34" charset="-122"/>
                <a:cs typeface="Aptos Display" pitchFamily="34" charset="-120"/>
              </a:rPr>
              <a:t>Efficiency</a:t>
            </a:r>
            <a:endParaRPr lang="en-US" sz="1600" dirty="0"/>
          </a:p>
        </p:txBody>
      </p:sp>
      <p:sp>
        <p:nvSpPr>
          <p:cNvPr id="42" name="Text 39"/>
          <p:cNvSpPr txBox="1"/>
          <p:nvPr/>
        </p:nvSpPr>
        <p:spPr>
          <a:xfrm>
            <a:off x="3182112" y="5248656"/>
            <a:ext cx="5577840" cy="475488"/>
          </a:xfrm>
          <a:prstGeom prst="rect">
            <a:avLst/>
          </a:prstGeom>
          <a:noFill/>
          <a:ln/>
        </p:spPr>
        <p:txBody>
          <a:bodyPr wrap="square" lIns="0" tIns="0" rIns="0" bIns="0" rtlCol="0" anchor="ctr"/>
          <a:lstStyle/>
          <a:p>
            <a:pPr algn="l" indent="0" marL="0">
              <a:lnSpc>
                <a:spcPct val="116000"/>
              </a:lnSpc>
              <a:buNone/>
            </a:pPr>
            <a:r>
              <a:rPr lang="en-US" sz="1150" dirty="0">
                <a:solidFill>
                  <a:srgbClr val="456174"/>
                </a:solidFill>
                <a:latin typeface="Aptos" pitchFamily="34" charset="0"/>
                <a:ea typeface="Aptos" pitchFamily="34" charset="-122"/>
                <a:cs typeface="Aptos" pitchFamily="34" charset="-120"/>
              </a:rPr>
              <a:t>Two half-empty trailers, same lane, same day. Nothing looking.</a:t>
            </a:r>
            <a:endParaRPr lang="en-US" sz="1150" dirty="0"/>
          </a:p>
        </p:txBody>
      </p:sp>
      <p:sp>
        <p:nvSpPr>
          <p:cNvPr id="43" name="Shape 40"/>
          <p:cNvSpPr/>
          <p:nvPr/>
        </p:nvSpPr>
        <p:spPr>
          <a:xfrm>
            <a:off x="9006840" y="5257800"/>
            <a:ext cx="2651760" cy="402336"/>
          </a:xfrm>
          <a:prstGeom prst="roundRect">
            <a:avLst>
              <a:gd name="adj" fmla="val 13636"/>
            </a:avLst>
          </a:prstGeom>
          <a:solidFill>
            <a:srgbClr val="14A66A"/>
          </a:solidFill>
          <a:ln/>
        </p:spPr>
        <p:txBody>
          <a:bodyPr/>
          <a:p/>
        </p:txBody>
      </p:sp>
      <p:sp>
        <p:nvSpPr>
          <p:cNvPr id="44" name="Text 41"/>
          <p:cNvSpPr txBox="1"/>
          <p:nvPr/>
        </p:nvSpPr>
        <p:spPr>
          <a:xfrm>
            <a:off x="9006840" y="5358384"/>
            <a:ext cx="2651760" cy="201168"/>
          </a:xfrm>
          <a:prstGeom prst="rect">
            <a:avLst/>
          </a:prstGeom>
          <a:noFill/>
          <a:ln/>
        </p:spPr>
        <p:txBody>
          <a:bodyPr wrap="square" lIns="0" tIns="0" rIns="0" bIns="0" rtlCol="0" anchor="t"/>
          <a:lstStyle/>
          <a:p>
            <a:pPr algn="ctr" indent="0" marL="0">
              <a:lnSpc>
                <a:spcPct val="100000"/>
              </a:lnSpc>
              <a:buNone/>
            </a:pPr>
            <a:r>
              <a:rPr lang="en-US" sz="900" b="1" dirty="0">
                <a:solidFill>
                  <a:srgbClr val="FFFFFF"/>
                </a:solidFill>
                <a:latin typeface="Aptos" pitchFamily="34" charset="0"/>
                <a:ea typeface="Aptos" pitchFamily="34" charset="-122"/>
                <a:cs typeface="Aptos" pitchFamily="34" charset="-120"/>
              </a:rPr>
              <a:t>Nobody on the market does this</a:t>
            </a:r>
            <a:endParaRPr lang="en-US" sz="900" dirty="0"/>
          </a:p>
        </p:txBody>
      </p:sp>
      <p:sp>
        <p:nvSpPr>
          <p:cNvPr id="45" name="Text 42"/>
          <p:cNvSpPr txBox="1"/>
          <p:nvPr/>
        </p:nvSpPr>
        <p:spPr>
          <a:xfrm>
            <a:off x="530352" y="6035040"/>
            <a:ext cx="5852160" cy="292608"/>
          </a:xfrm>
          <a:prstGeom prst="rect">
            <a:avLst/>
          </a:prstGeom>
          <a:noFill/>
          <a:ln/>
        </p:spPr>
        <p:txBody>
          <a:bodyPr wrap="square" lIns="0" tIns="0" rIns="0" bIns="0" rtlCol="0" anchor="t"/>
          <a:lstStyle/>
          <a:p>
            <a:pPr algn="l" indent="0" marL="0">
              <a:lnSpc>
                <a:spcPct val="100000"/>
              </a:lnSpc>
              <a:buNone/>
            </a:pPr>
            <a:r>
              <a:rPr lang="en-US" sz="1150" b="1" dirty="0">
                <a:solidFill>
                  <a:srgbClr val="0B1F33"/>
                </a:solidFill>
                <a:latin typeface="Aptos" pitchFamily="34" charset="0"/>
                <a:ea typeface="Aptos" pitchFamily="34" charset="-122"/>
                <a:cs typeface="Aptos" pitchFamily="34" charset="-120"/>
              </a:rPr>
              <a:t>Opendock, C3 Solutions and Transporeon were built for the first four.</a:t>
            </a:r>
            <a:endParaRPr lang="en-US" sz="1150" dirty="0"/>
          </a:p>
        </p:txBody>
      </p:sp>
      <p:sp>
        <p:nvSpPr>
          <p:cNvPr id="46" name="Text 43"/>
          <p:cNvSpPr txBox="1"/>
          <p:nvPr/>
        </p:nvSpPr>
        <p:spPr>
          <a:xfrm>
            <a:off x="6537960" y="6035040"/>
            <a:ext cx="5120640" cy="292608"/>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The fifth is ours: half of what we move is plant to plant.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6</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WHERE WE ARE NOW</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The schedule lives in three places, and none agree.</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Nobody's fault. It is what happens when the dock is booked by whoever picks up the phone.</a:t>
            </a:r>
            <a:endParaRPr lang="en-US" sz="1200" dirty="0"/>
          </a:p>
        </p:txBody>
      </p:sp>
      <p:sp>
        <p:nvSpPr>
          <p:cNvPr id="10" name="Shape 7"/>
          <p:cNvSpPr/>
          <p:nvPr/>
        </p:nvSpPr>
        <p:spPr>
          <a:xfrm>
            <a:off x="530352" y="1609344"/>
            <a:ext cx="3319272" cy="3273552"/>
          </a:xfrm>
          <a:prstGeom prst="roundRect">
            <a:avLst>
              <a:gd name="adj" fmla="val 2210"/>
            </a:avLst>
          </a:prstGeom>
          <a:solidFill>
            <a:srgbClr val="FFFFFF"/>
          </a:solidFill>
          <a:ln w="9525">
            <a:solidFill>
              <a:srgbClr val="D8E4EA"/>
            </a:solidFill>
            <a:prstDash val="solid"/>
          </a:ln>
        </p:spPr>
        <p:txBody>
          <a:bodyPr/>
          <a:p/>
        </p:txBody>
      </p:sp>
      <p:sp>
        <p:nvSpPr>
          <p:cNvPr id="11" name="Shape 8"/>
          <p:cNvSpPr/>
          <p:nvPr/>
        </p:nvSpPr>
        <p:spPr>
          <a:xfrm>
            <a:off x="877824" y="1975104"/>
            <a:ext cx="274320" cy="274320"/>
          </a:xfrm>
          <a:prstGeom prst="roundRect">
            <a:avLst>
              <a:gd name="adj" fmla="val 16667"/>
            </a:avLst>
          </a:prstGeom>
          <a:solidFill>
            <a:srgbClr val="0877C9"/>
          </a:solidFill>
          <a:ln/>
        </p:spPr>
        <p:txBody>
          <a:bodyPr/>
          <a:p/>
        </p:txBody>
      </p:sp>
      <p:sp>
        <p:nvSpPr>
          <p:cNvPr id="12" name="Text 9"/>
          <p:cNvSpPr txBox="1"/>
          <p:nvPr/>
        </p:nvSpPr>
        <p:spPr>
          <a:xfrm>
            <a:off x="1261872" y="2020824"/>
            <a:ext cx="2222906" cy="219456"/>
          </a:xfrm>
          <a:prstGeom prst="rect">
            <a:avLst/>
          </a:prstGeom>
          <a:noFill/>
          <a:ln/>
        </p:spPr>
        <p:txBody>
          <a:bodyPr wrap="square" lIns="0" tIns="0" rIns="0" bIns="0" rtlCol="0" anchor="t"/>
          <a:lstStyle/>
          <a:p>
            <a:pPr algn="l" indent="0" marL="0">
              <a:lnSpc>
                <a:spcPct val="100000"/>
              </a:lnSpc>
              <a:buNone/>
            </a:pPr>
            <a:r>
              <a:rPr lang="en-US" sz="950" b="1" spc="80" kern="0" dirty="0">
                <a:solidFill>
                  <a:srgbClr val="0877C9"/>
                </a:solidFill>
                <a:latin typeface="Aptos" pitchFamily="34" charset="0"/>
                <a:ea typeface="Aptos" pitchFamily="34" charset="-122"/>
                <a:cs typeface="Aptos" pitchFamily="34" charset="-120"/>
              </a:rPr>
              <a:t>THE PHONE</a:t>
            </a:r>
            <a:endParaRPr lang="en-US" sz="950" dirty="0"/>
          </a:p>
        </p:txBody>
      </p:sp>
      <p:sp>
        <p:nvSpPr>
          <p:cNvPr id="13" name="Text 10"/>
          <p:cNvSpPr txBox="1"/>
          <p:nvPr/>
        </p:nvSpPr>
        <p:spPr>
          <a:xfrm>
            <a:off x="877824" y="2478024"/>
            <a:ext cx="2625242" cy="731520"/>
          </a:xfrm>
          <a:prstGeom prst="rect">
            <a:avLst/>
          </a:prstGeom>
          <a:noFill/>
          <a:ln/>
        </p:spPr>
        <p:txBody>
          <a:bodyPr wrap="square" lIns="0" tIns="0" rIns="0" bIns="0" rtlCol="0" anchor="t"/>
          <a:lstStyle/>
          <a:p>
            <a:pPr algn="l" indent="0" marL="0">
              <a:lnSpc>
                <a:spcPct val="106000"/>
              </a:lnSpc>
              <a:buNone/>
            </a:pPr>
            <a:r>
              <a:rPr lang="en-US" sz="1700" b="1" dirty="0">
                <a:solidFill>
                  <a:srgbClr val="0B1F33"/>
                </a:solidFill>
                <a:latin typeface="Aptos Display" pitchFamily="34" charset="0"/>
                <a:ea typeface="Aptos Display" pitchFamily="34" charset="-122"/>
                <a:cs typeface="Aptos Display" pitchFamily="34" charset="-120"/>
              </a:rPr>
              <a:t>A booking is a conversation</a:t>
            </a:r>
            <a:endParaRPr lang="en-US" sz="1700" dirty="0"/>
          </a:p>
        </p:txBody>
      </p:sp>
      <p:sp>
        <p:nvSpPr>
          <p:cNvPr id="14" name="Text 11"/>
          <p:cNvSpPr txBox="1"/>
          <p:nvPr/>
        </p:nvSpPr>
        <p:spPr>
          <a:xfrm>
            <a:off x="877824" y="3310128"/>
            <a:ext cx="2625242" cy="1051560"/>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Somebody says yes on the phone. The record is in one person's head, and that person is off tomorrow.</a:t>
            </a:r>
            <a:endParaRPr lang="en-US" sz="1150" dirty="0"/>
          </a:p>
        </p:txBody>
      </p:sp>
      <p:sp>
        <p:nvSpPr>
          <p:cNvPr id="15" name="Shape 12"/>
          <p:cNvSpPr/>
          <p:nvPr/>
        </p:nvSpPr>
        <p:spPr>
          <a:xfrm>
            <a:off x="877824" y="4370832"/>
            <a:ext cx="2625242" cy="0"/>
          </a:xfrm>
          <a:prstGeom prst="line">
            <a:avLst/>
          </a:prstGeom>
          <a:noFill/>
          <a:ln w="9525">
            <a:solidFill>
              <a:srgbClr val="D8E4EA"/>
            </a:solidFill>
            <a:prstDash val="solid"/>
          </a:ln>
        </p:spPr>
        <p:txBody>
          <a:bodyPr/>
          <a:p/>
        </p:txBody>
      </p:sp>
      <p:sp>
        <p:nvSpPr>
          <p:cNvPr id="16" name="Text 13"/>
          <p:cNvSpPr txBox="1"/>
          <p:nvPr/>
        </p:nvSpPr>
        <p:spPr>
          <a:xfrm>
            <a:off x="877824" y="4480560"/>
            <a:ext cx="2625242" cy="420624"/>
          </a:xfrm>
          <a:prstGeom prst="rect">
            <a:avLst/>
          </a:prstGeom>
          <a:noFill/>
          <a:ln/>
        </p:spPr>
        <p:txBody>
          <a:bodyPr wrap="square" lIns="0" tIns="0" rIns="0" bIns="0" rtlCol="0" anchor="t"/>
          <a:lstStyle/>
          <a:p>
            <a:pPr algn="l" indent="0" marL="0">
              <a:lnSpc>
                <a:spcPct val="110000"/>
              </a:lnSpc>
              <a:buNone/>
            </a:pPr>
            <a:r>
              <a:rPr lang="en-US" sz="1050" i="1" dirty="0">
                <a:solidFill>
                  <a:srgbClr val="6F8491"/>
                </a:solidFill>
                <a:latin typeface="Aptos" pitchFamily="34" charset="0"/>
                <a:ea typeface="Aptos" pitchFamily="34" charset="-122"/>
                <a:cs typeface="Aptos" pitchFamily="34" charset="-120"/>
              </a:rPr>
              <a:t>The cost: a schedule that exists in one person's memory.</a:t>
            </a:r>
            <a:endParaRPr lang="en-US" sz="1050" dirty="0"/>
          </a:p>
        </p:txBody>
      </p:sp>
      <p:sp>
        <p:nvSpPr>
          <p:cNvPr id="17" name="Shape 14"/>
          <p:cNvSpPr/>
          <p:nvPr/>
        </p:nvSpPr>
        <p:spPr>
          <a:xfrm>
            <a:off x="4434840" y="1609344"/>
            <a:ext cx="3319272" cy="3273552"/>
          </a:xfrm>
          <a:prstGeom prst="roundRect">
            <a:avLst>
              <a:gd name="adj" fmla="val 2210"/>
            </a:avLst>
          </a:prstGeom>
          <a:solidFill>
            <a:srgbClr val="FFFFFF"/>
          </a:solidFill>
          <a:ln w="9525">
            <a:solidFill>
              <a:srgbClr val="D8E4EA"/>
            </a:solidFill>
            <a:prstDash val="solid"/>
          </a:ln>
        </p:spPr>
        <p:txBody>
          <a:bodyPr/>
          <a:p/>
        </p:txBody>
      </p:sp>
      <p:sp>
        <p:nvSpPr>
          <p:cNvPr id="18" name="Shape 15"/>
          <p:cNvSpPr/>
          <p:nvPr/>
        </p:nvSpPr>
        <p:spPr>
          <a:xfrm>
            <a:off x="4783226" y="1975104"/>
            <a:ext cx="274320" cy="274320"/>
          </a:xfrm>
          <a:prstGeom prst="roundRect">
            <a:avLst>
              <a:gd name="adj" fmla="val 16667"/>
            </a:avLst>
          </a:prstGeom>
          <a:solidFill>
            <a:srgbClr val="F2A11B"/>
          </a:solidFill>
          <a:ln/>
        </p:spPr>
        <p:txBody>
          <a:bodyPr/>
          <a:p/>
        </p:txBody>
      </p:sp>
      <p:sp>
        <p:nvSpPr>
          <p:cNvPr id="19" name="Text 16"/>
          <p:cNvSpPr txBox="1"/>
          <p:nvPr/>
        </p:nvSpPr>
        <p:spPr>
          <a:xfrm>
            <a:off x="5167274" y="2020824"/>
            <a:ext cx="2222906" cy="219456"/>
          </a:xfrm>
          <a:prstGeom prst="rect">
            <a:avLst/>
          </a:prstGeom>
          <a:noFill/>
          <a:ln/>
        </p:spPr>
        <p:txBody>
          <a:bodyPr wrap="square" lIns="0" tIns="0" rIns="0" bIns="0" rtlCol="0" anchor="t"/>
          <a:lstStyle/>
          <a:p>
            <a:pPr algn="l" indent="0" marL="0">
              <a:lnSpc>
                <a:spcPct val="100000"/>
              </a:lnSpc>
              <a:buNone/>
            </a:pPr>
            <a:r>
              <a:rPr lang="en-US" sz="950" b="1" spc="80" kern="0" dirty="0">
                <a:solidFill>
                  <a:srgbClr val="F2A11B"/>
                </a:solidFill>
                <a:latin typeface="Aptos" pitchFamily="34" charset="0"/>
                <a:ea typeface="Aptos" pitchFamily="34" charset="-122"/>
                <a:cs typeface="Aptos" pitchFamily="34" charset="-120"/>
              </a:rPr>
              <a:t>THE SPREADSHEET</a:t>
            </a:r>
            <a:endParaRPr lang="en-US" sz="950" dirty="0"/>
          </a:p>
        </p:txBody>
      </p:sp>
      <p:sp>
        <p:nvSpPr>
          <p:cNvPr id="20" name="Text 17"/>
          <p:cNvSpPr txBox="1"/>
          <p:nvPr/>
        </p:nvSpPr>
        <p:spPr>
          <a:xfrm>
            <a:off x="4783226" y="2478024"/>
            <a:ext cx="2625242" cy="731520"/>
          </a:xfrm>
          <a:prstGeom prst="rect">
            <a:avLst/>
          </a:prstGeom>
          <a:noFill/>
          <a:ln/>
        </p:spPr>
        <p:txBody>
          <a:bodyPr wrap="square" lIns="0" tIns="0" rIns="0" bIns="0" rtlCol="0" anchor="t"/>
          <a:lstStyle/>
          <a:p>
            <a:pPr algn="l" indent="0" marL="0">
              <a:lnSpc>
                <a:spcPct val="106000"/>
              </a:lnSpc>
              <a:buNone/>
            </a:pPr>
            <a:r>
              <a:rPr lang="en-US" sz="1700" b="1" dirty="0">
                <a:solidFill>
                  <a:srgbClr val="0B1F33"/>
                </a:solidFill>
                <a:latin typeface="Aptos Display" pitchFamily="34" charset="0"/>
                <a:ea typeface="Aptos Display" pitchFamily="34" charset="-122"/>
                <a:cs typeface="Aptos Display" pitchFamily="34" charset="-120"/>
              </a:rPr>
              <a:t>One file, one site, one owner</a:t>
            </a:r>
            <a:endParaRPr lang="en-US" sz="1700" dirty="0"/>
          </a:p>
        </p:txBody>
      </p:sp>
      <p:sp>
        <p:nvSpPr>
          <p:cNvPr id="21" name="Text 18"/>
          <p:cNvSpPr txBox="1"/>
          <p:nvPr/>
        </p:nvSpPr>
        <p:spPr>
          <a:xfrm>
            <a:off x="4783226" y="3310128"/>
            <a:ext cx="2625242" cy="1051560"/>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It cannot check the door, the trailer or the floor. It accepts whatever is typed into it.</a:t>
            </a:r>
            <a:endParaRPr lang="en-US" sz="1150" dirty="0"/>
          </a:p>
        </p:txBody>
      </p:sp>
      <p:sp>
        <p:nvSpPr>
          <p:cNvPr id="22" name="Shape 19"/>
          <p:cNvSpPr/>
          <p:nvPr/>
        </p:nvSpPr>
        <p:spPr>
          <a:xfrm>
            <a:off x="4783226" y="4370832"/>
            <a:ext cx="2625242" cy="0"/>
          </a:xfrm>
          <a:prstGeom prst="line">
            <a:avLst/>
          </a:prstGeom>
          <a:noFill/>
          <a:ln w="9525">
            <a:solidFill>
              <a:srgbClr val="D8E4EA"/>
            </a:solidFill>
            <a:prstDash val="solid"/>
          </a:ln>
        </p:spPr>
        <p:txBody>
          <a:bodyPr/>
          <a:p/>
        </p:txBody>
      </p:sp>
      <p:sp>
        <p:nvSpPr>
          <p:cNvPr id="23" name="Text 20"/>
          <p:cNvSpPr txBox="1"/>
          <p:nvPr/>
        </p:nvSpPr>
        <p:spPr>
          <a:xfrm>
            <a:off x="4783226" y="4480560"/>
            <a:ext cx="2625242" cy="420624"/>
          </a:xfrm>
          <a:prstGeom prst="rect">
            <a:avLst/>
          </a:prstGeom>
          <a:noFill/>
          <a:ln/>
        </p:spPr>
        <p:txBody>
          <a:bodyPr wrap="square" lIns="0" tIns="0" rIns="0" bIns="0" rtlCol="0" anchor="t"/>
          <a:lstStyle/>
          <a:p>
            <a:pPr algn="l" indent="0" marL="0">
              <a:lnSpc>
                <a:spcPct val="110000"/>
              </a:lnSpc>
              <a:buNone/>
            </a:pPr>
            <a:r>
              <a:rPr lang="en-US" sz="1050" i="1" dirty="0">
                <a:solidFill>
                  <a:srgbClr val="6F8491"/>
                </a:solidFill>
                <a:latin typeface="Aptos" pitchFamily="34" charset="0"/>
                <a:ea typeface="Aptos" pitchFamily="34" charset="-122"/>
                <a:cs typeface="Aptos" pitchFamily="34" charset="-120"/>
              </a:rPr>
              <a:t>The cost: an appointment nobody checked before accepting it.</a:t>
            </a:r>
            <a:endParaRPr lang="en-US" sz="1050" dirty="0"/>
          </a:p>
        </p:txBody>
      </p:sp>
      <p:sp>
        <p:nvSpPr>
          <p:cNvPr id="24" name="Shape 21"/>
          <p:cNvSpPr/>
          <p:nvPr/>
        </p:nvSpPr>
        <p:spPr>
          <a:xfrm>
            <a:off x="8339328" y="1609344"/>
            <a:ext cx="3319272" cy="3273552"/>
          </a:xfrm>
          <a:prstGeom prst="roundRect">
            <a:avLst>
              <a:gd name="adj" fmla="val 2210"/>
            </a:avLst>
          </a:prstGeom>
          <a:solidFill>
            <a:srgbClr val="FFFFFF"/>
          </a:solidFill>
          <a:ln w="9525">
            <a:solidFill>
              <a:srgbClr val="D8E4EA"/>
            </a:solidFill>
            <a:prstDash val="solid"/>
          </a:ln>
        </p:spPr>
        <p:txBody>
          <a:bodyPr/>
          <a:p/>
        </p:txBody>
      </p:sp>
      <p:sp>
        <p:nvSpPr>
          <p:cNvPr id="25" name="Shape 22"/>
          <p:cNvSpPr/>
          <p:nvPr/>
        </p:nvSpPr>
        <p:spPr>
          <a:xfrm>
            <a:off x="8688629" y="1975104"/>
            <a:ext cx="274320" cy="274320"/>
          </a:xfrm>
          <a:prstGeom prst="roundRect">
            <a:avLst>
              <a:gd name="adj" fmla="val 16667"/>
            </a:avLst>
          </a:prstGeom>
          <a:solidFill>
            <a:srgbClr val="14A66A"/>
          </a:solidFill>
          <a:ln/>
        </p:spPr>
        <p:txBody>
          <a:bodyPr/>
          <a:p/>
        </p:txBody>
      </p:sp>
      <p:sp>
        <p:nvSpPr>
          <p:cNvPr id="26" name="Text 23"/>
          <p:cNvSpPr txBox="1"/>
          <p:nvPr/>
        </p:nvSpPr>
        <p:spPr>
          <a:xfrm>
            <a:off x="9072677" y="2020824"/>
            <a:ext cx="2222906" cy="219456"/>
          </a:xfrm>
          <a:prstGeom prst="rect">
            <a:avLst/>
          </a:prstGeom>
          <a:noFill/>
          <a:ln/>
        </p:spPr>
        <p:txBody>
          <a:bodyPr wrap="square" lIns="0" tIns="0" rIns="0" bIns="0" rtlCol="0" anchor="t"/>
          <a:lstStyle/>
          <a:p>
            <a:pPr algn="l" indent="0" marL="0">
              <a:lnSpc>
                <a:spcPct val="100000"/>
              </a:lnSpc>
              <a:buNone/>
            </a:pPr>
            <a:r>
              <a:rPr lang="en-US" sz="950" b="1" spc="80" kern="0" dirty="0">
                <a:solidFill>
                  <a:srgbClr val="14A66A"/>
                </a:solidFill>
                <a:latin typeface="Aptos" pitchFamily="34" charset="0"/>
                <a:ea typeface="Aptos" pitchFamily="34" charset="-122"/>
                <a:cs typeface="Aptos" pitchFamily="34" charset="-120"/>
              </a:rPr>
              <a:t>THE WHITEBOARD</a:t>
            </a:r>
            <a:endParaRPr lang="en-US" sz="950" dirty="0"/>
          </a:p>
        </p:txBody>
      </p:sp>
      <p:sp>
        <p:nvSpPr>
          <p:cNvPr id="27" name="Text 24"/>
          <p:cNvSpPr txBox="1"/>
          <p:nvPr/>
        </p:nvSpPr>
        <p:spPr>
          <a:xfrm>
            <a:off x="8688629" y="2478024"/>
            <a:ext cx="2625242" cy="731520"/>
          </a:xfrm>
          <a:prstGeom prst="rect">
            <a:avLst/>
          </a:prstGeom>
          <a:noFill/>
          <a:ln/>
        </p:spPr>
        <p:txBody>
          <a:bodyPr wrap="square" lIns="0" tIns="0" rIns="0" bIns="0" rtlCol="0" anchor="t"/>
          <a:lstStyle/>
          <a:p>
            <a:pPr algn="l" indent="0" marL="0">
              <a:lnSpc>
                <a:spcPct val="106000"/>
              </a:lnSpc>
              <a:buNone/>
            </a:pPr>
            <a:r>
              <a:rPr lang="en-US" sz="1700" b="1" dirty="0">
                <a:solidFill>
                  <a:srgbClr val="0B1F33"/>
                </a:solidFill>
                <a:latin typeface="Aptos Display" pitchFamily="34" charset="0"/>
                <a:ea typeface="Aptos Display" pitchFamily="34" charset="-122"/>
                <a:cs typeface="Aptos Display" pitchFamily="34" charset="-120"/>
              </a:rPr>
              <a:t>True only in that room</a:t>
            </a:r>
            <a:endParaRPr lang="en-US" sz="1700" dirty="0"/>
          </a:p>
        </p:txBody>
      </p:sp>
      <p:sp>
        <p:nvSpPr>
          <p:cNvPr id="28" name="Text 25"/>
          <p:cNvSpPr txBox="1"/>
          <p:nvPr/>
        </p:nvSpPr>
        <p:spPr>
          <a:xfrm>
            <a:off x="8688629" y="3310128"/>
            <a:ext cx="2625242" cy="1051560"/>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The shipping office knows. The customer, the carrier and the next plant have to phone.</a:t>
            </a:r>
            <a:endParaRPr lang="en-US" sz="1150" dirty="0"/>
          </a:p>
        </p:txBody>
      </p:sp>
      <p:sp>
        <p:nvSpPr>
          <p:cNvPr id="29" name="Shape 26"/>
          <p:cNvSpPr/>
          <p:nvPr/>
        </p:nvSpPr>
        <p:spPr>
          <a:xfrm>
            <a:off x="8688629" y="4370832"/>
            <a:ext cx="2625242" cy="0"/>
          </a:xfrm>
          <a:prstGeom prst="line">
            <a:avLst/>
          </a:prstGeom>
          <a:noFill/>
          <a:ln w="9525">
            <a:solidFill>
              <a:srgbClr val="D8E4EA"/>
            </a:solidFill>
            <a:prstDash val="solid"/>
          </a:ln>
        </p:spPr>
        <p:txBody>
          <a:bodyPr/>
          <a:p/>
        </p:txBody>
      </p:sp>
      <p:sp>
        <p:nvSpPr>
          <p:cNvPr id="30" name="Text 27"/>
          <p:cNvSpPr txBox="1"/>
          <p:nvPr/>
        </p:nvSpPr>
        <p:spPr>
          <a:xfrm>
            <a:off x="8688629" y="4480560"/>
            <a:ext cx="2625242" cy="420624"/>
          </a:xfrm>
          <a:prstGeom prst="rect">
            <a:avLst/>
          </a:prstGeom>
          <a:noFill/>
          <a:ln/>
        </p:spPr>
        <p:txBody>
          <a:bodyPr wrap="square" lIns="0" tIns="0" rIns="0" bIns="0" rtlCol="0" anchor="t"/>
          <a:lstStyle/>
          <a:p>
            <a:pPr algn="l" indent="0" marL="0">
              <a:lnSpc>
                <a:spcPct val="110000"/>
              </a:lnSpc>
              <a:buNone/>
            </a:pPr>
            <a:r>
              <a:rPr lang="en-US" sz="1050" i="1" dirty="0">
                <a:solidFill>
                  <a:srgbClr val="6F8491"/>
                </a:solidFill>
                <a:latin typeface="Aptos" pitchFamily="34" charset="0"/>
                <a:ea typeface="Aptos" pitchFamily="34" charset="-122"/>
                <a:cs typeface="Aptos" pitchFamily="34" charset="-120"/>
              </a:rPr>
              <a:t>The cost: everyone outside the room has to phone and ask.</a:t>
            </a:r>
            <a:endParaRPr lang="en-US" sz="1050" dirty="0"/>
          </a:p>
        </p:txBody>
      </p:sp>
      <p:sp>
        <p:nvSpPr>
          <p:cNvPr id="31" name="Shape 28"/>
          <p:cNvSpPr/>
          <p:nvPr/>
        </p:nvSpPr>
        <p:spPr>
          <a:xfrm>
            <a:off x="530352" y="5230368"/>
            <a:ext cx="11130991" cy="1097280"/>
          </a:xfrm>
          <a:prstGeom prst="roundRect">
            <a:avLst>
              <a:gd name="adj" fmla="val 6154"/>
            </a:avLst>
          </a:prstGeom>
          <a:solidFill>
            <a:srgbClr val="072238"/>
          </a:solidFill>
          <a:ln/>
        </p:spPr>
        <p:txBody>
          <a:bodyPr/>
          <a:p/>
        </p:txBody>
      </p:sp>
      <p:sp>
        <p:nvSpPr>
          <p:cNvPr id="32" name="Text 29"/>
          <p:cNvSpPr txBox="1"/>
          <p:nvPr/>
        </p:nvSpPr>
        <p:spPr>
          <a:xfrm>
            <a:off x="877824" y="5376672"/>
            <a:ext cx="4023360" cy="896112"/>
          </a:xfrm>
          <a:prstGeom prst="rect">
            <a:avLst/>
          </a:prstGeom>
          <a:noFill/>
          <a:ln/>
        </p:spPr>
        <p:txBody>
          <a:bodyPr wrap="square" lIns="0" tIns="0" rIns="0" bIns="0" rtlCol="0" anchor="ctr"/>
          <a:lstStyle/>
          <a:p>
            <a:pPr algn="l" indent="0" marL="0">
              <a:lnSpc>
                <a:spcPct val="115000"/>
              </a:lnSpc>
              <a:buNone/>
            </a:pPr>
            <a:r>
              <a:rPr lang="en-US" sz="1700" b="1" dirty="0">
                <a:solidFill>
                  <a:srgbClr val="FFFFFF"/>
                </a:solidFill>
                <a:latin typeface="Aptos" pitchFamily="34" charset="0"/>
                <a:ea typeface="Aptos" pitchFamily="34" charset="-122"/>
                <a:cs typeface="Aptos" pitchFamily="34" charset="-120"/>
              </a:rPr>
              <a:t>The cost is not one big number.</a:t>
            </a:r>
            <a:endParaRPr lang="en-US" sz="1700" dirty="0"/>
          </a:p>
        </p:txBody>
      </p:sp>
      <p:sp>
        <p:nvSpPr>
          <p:cNvPr id="33" name="Text 30"/>
          <p:cNvSpPr txBox="1"/>
          <p:nvPr/>
        </p:nvSpPr>
        <p:spPr>
          <a:xfrm>
            <a:off x="4937760" y="5449824"/>
            <a:ext cx="6309360" cy="777240"/>
          </a:xfrm>
          <a:prstGeom prst="rect">
            <a:avLst/>
          </a:prstGeom>
          <a:noFill/>
          <a:ln/>
        </p:spPr>
        <p:txBody>
          <a:bodyPr wrap="square" lIns="0" tIns="0" rIns="0" bIns="0" rtlCol="0" anchor="ctr"/>
          <a:lstStyle/>
          <a:p>
            <a:pPr algn="l" indent="0" marL="0">
              <a:lnSpc>
                <a:spcPct val="120000"/>
              </a:lnSpc>
              <a:buNone/>
            </a:pPr>
            <a:r>
              <a:rPr lang="en-US" sz="1250" dirty="0">
                <a:solidFill>
                  <a:srgbClr val="B9D7E8"/>
                </a:solidFill>
                <a:latin typeface="Aptos" pitchFamily="34" charset="0"/>
                <a:ea typeface="Aptos" pitchFamily="34" charset="-122"/>
                <a:cs typeface="Aptos" pitchFamily="34" charset="-120"/>
              </a:rPr>
              <a:t>It is a hundred small ones: trucks waiting, doors idle, part-full trailers leaving.</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7</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DOCK SCHEDULING AND RECEIVING · MAX SOLUTIONS</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Every door, every truck, on one screen.</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MaxDock replaces phone calls, spreadsheets and whiteboards with one live online portal.</a:t>
            </a:r>
            <a:endParaRPr lang="en-US" sz="1200" dirty="0"/>
          </a:p>
        </p:txBody>
      </p:sp>
      <p:sp>
        <p:nvSpPr>
          <p:cNvPr id="10" name="Text 7"/>
          <p:cNvSpPr txBox="1"/>
          <p:nvPr/>
        </p:nvSpPr>
        <p:spPr>
          <a:xfrm>
            <a:off x="530352" y="1591056"/>
            <a:ext cx="4846320" cy="219456"/>
          </a:xfrm>
          <a:prstGeom prst="rect">
            <a:avLst/>
          </a:prstGeom>
          <a:noFill/>
          <a:ln/>
        </p:spPr>
        <p:txBody>
          <a:bodyPr wrap="square" lIns="0" tIns="0" rIns="0" bIns="0" rtlCol="0" anchor="t"/>
          <a:lstStyle/>
          <a:p>
            <a:pPr algn="l" indent="0" marL="0">
              <a:lnSpc>
                <a:spcPct val="100000"/>
              </a:lnSpc>
              <a:buNone/>
            </a:pPr>
            <a:r>
              <a:rPr lang="en-US" sz="950" b="1" spc="80" kern="0" dirty="0">
                <a:solidFill>
                  <a:srgbClr val="6F8491"/>
                </a:solidFill>
                <a:latin typeface="Aptos" pitchFamily="34" charset="0"/>
                <a:ea typeface="Aptos" pitchFamily="34" charset="-122"/>
                <a:cs typeface="Aptos" pitchFamily="34" charset="-120"/>
              </a:rPr>
              <a:t>WHAT IT REPLACES</a:t>
            </a:r>
            <a:endParaRPr lang="en-US" sz="950" dirty="0"/>
          </a:p>
        </p:txBody>
      </p:sp>
      <p:sp>
        <p:nvSpPr>
          <p:cNvPr id="11" name="Shape 8"/>
          <p:cNvSpPr/>
          <p:nvPr/>
        </p:nvSpPr>
        <p:spPr>
          <a:xfrm>
            <a:off x="530352" y="1938528"/>
            <a:ext cx="4892040" cy="566928"/>
          </a:xfrm>
          <a:prstGeom prst="roundRect">
            <a:avLst>
              <a:gd name="adj" fmla="val 10000"/>
            </a:avLst>
          </a:prstGeom>
          <a:solidFill>
            <a:srgbClr val="E9EFF4"/>
          </a:solidFill>
          <a:ln/>
        </p:spPr>
        <p:txBody>
          <a:bodyPr/>
          <a:p/>
        </p:txBody>
      </p:sp>
      <p:sp>
        <p:nvSpPr>
          <p:cNvPr id="12" name="Text 9"/>
          <p:cNvSpPr txBox="1"/>
          <p:nvPr/>
        </p:nvSpPr>
        <p:spPr>
          <a:xfrm>
            <a:off x="786384" y="2048256"/>
            <a:ext cx="1737360" cy="329184"/>
          </a:xfrm>
          <a:prstGeom prst="rect">
            <a:avLst/>
          </a:prstGeom>
          <a:noFill/>
          <a:ln/>
        </p:spPr>
        <p:txBody>
          <a:bodyPr wrap="square" lIns="0" tIns="0" rIns="0" bIns="0" rtlCol="0" anchor="t"/>
          <a:lstStyle/>
          <a:p>
            <a:pPr algn="l" indent="0" marL="0">
              <a:lnSpc>
                <a:spcPct val="100000"/>
              </a:lnSpc>
              <a:buNone/>
            </a:pPr>
            <a:r>
              <a:rPr lang="en-US" sz="1250" b="1" dirty="0">
                <a:solidFill>
                  <a:srgbClr val="0B1F33"/>
                </a:solidFill>
                <a:latin typeface="Aptos" pitchFamily="34" charset="0"/>
                <a:ea typeface="Aptos" pitchFamily="34" charset="-122"/>
                <a:cs typeface="Aptos" pitchFamily="34" charset="-120"/>
              </a:rPr>
              <a:t>Phone calls</a:t>
            </a:r>
            <a:endParaRPr lang="en-US" sz="1250" dirty="0"/>
          </a:p>
        </p:txBody>
      </p:sp>
      <p:sp>
        <p:nvSpPr>
          <p:cNvPr id="13" name="Text 10"/>
          <p:cNvSpPr txBox="1"/>
          <p:nvPr/>
        </p:nvSpPr>
        <p:spPr>
          <a:xfrm>
            <a:off x="2542032" y="2066544"/>
            <a:ext cx="2743200" cy="310896"/>
          </a:xfrm>
          <a:prstGeom prst="rect">
            <a:avLst/>
          </a:prstGeom>
          <a:noFill/>
          <a:ln/>
        </p:spPr>
        <p:txBody>
          <a:bodyPr wrap="square" lIns="0" tIns="0" rIns="0" bIns="0" rtlCol="0" anchor="t"/>
          <a:lstStyle/>
          <a:p>
            <a:pPr algn="l" indent="0" marL="0">
              <a:lnSpc>
                <a:spcPct val="100000"/>
              </a:lnSpc>
              <a:buNone/>
            </a:pPr>
            <a:r>
              <a:rPr lang="en-US" sz="1050" dirty="0">
                <a:solidFill>
                  <a:srgbClr val="6F8491"/>
                </a:solidFill>
                <a:latin typeface="Aptos" pitchFamily="34" charset="0"/>
                <a:ea typeface="Aptos" pitchFamily="34" charset="-122"/>
                <a:cs typeface="Aptos" pitchFamily="34" charset="-120"/>
              </a:rPr>
              <a:t>A booking nobody else can see</a:t>
            </a:r>
            <a:endParaRPr lang="en-US" sz="1050" dirty="0"/>
          </a:p>
        </p:txBody>
      </p:sp>
      <p:sp>
        <p:nvSpPr>
          <p:cNvPr id="14" name="Shape 11"/>
          <p:cNvSpPr/>
          <p:nvPr/>
        </p:nvSpPr>
        <p:spPr>
          <a:xfrm>
            <a:off x="530352" y="2633472"/>
            <a:ext cx="4892040" cy="566928"/>
          </a:xfrm>
          <a:prstGeom prst="roundRect">
            <a:avLst>
              <a:gd name="adj" fmla="val 10000"/>
            </a:avLst>
          </a:prstGeom>
          <a:solidFill>
            <a:srgbClr val="E9EFF4"/>
          </a:solidFill>
          <a:ln/>
        </p:spPr>
        <p:txBody>
          <a:bodyPr/>
          <a:p/>
        </p:txBody>
      </p:sp>
      <p:sp>
        <p:nvSpPr>
          <p:cNvPr id="15" name="Text 12"/>
          <p:cNvSpPr txBox="1"/>
          <p:nvPr/>
        </p:nvSpPr>
        <p:spPr>
          <a:xfrm>
            <a:off x="786384" y="2743200"/>
            <a:ext cx="1737360" cy="329184"/>
          </a:xfrm>
          <a:prstGeom prst="rect">
            <a:avLst/>
          </a:prstGeom>
          <a:noFill/>
          <a:ln/>
        </p:spPr>
        <p:txBody>
          <a:bodyPr wrap="square" lIns="0" tIns="0" rIns="0" bIns="0" rtlCol="0" anchor="t"/>
          <a:lstStyle/>
          <a:p>
            <a:pPr algn="l" indent="0" marL="0">
              <a:lnSpc>
                <a:spcPct val="100000"/>
              </a:lnSpc>
              <a:buNone/>
            </a:pPr>
            <a:r>
              <a:rPr lang="en-US" sz="1250" b="1" dirty="0">
                <a:solidFill>
                  <a:srgbClr val="0B1F33"/>
                </a:solidFill>
                <a:latin typeface="Aptos" pitchFamily="34" charset="0"/>
                <a:ea typeface="Aptos" pitchFamily="34" charset="-122"/>
                <a:cs typeface="Aptos" pitchFamily="34" charset="-120"/>
              </a:rPr>
              <a:t>Spreadsheets</a:t>
            </a:r>
            <a:endParaRPr lang="en-US" sz="1250" dirty="0"/>
          </a:p>
        </p:txBody>
      </p:sp>
      <p:sp>
        <p:nvSpPr>
          <p:cNvPr id="16" name="Text 13"/>
          <p:cNvSpPr txBox="1"/>
          <p:nvPr/>
        </p:nvSpPr>
        <p:spPr>
          <a:xfrm>
            <a:off x="2542032" y="2761488"/>
            <a:ext cx="2743200" cy="310896"/>
          </a:xfrm>
          <a:prstGeom prst="rect">
            <a:avLst/>
          </a:prstGeom>
          <a:noFill/>
          <a:ln/>
        </p:spPr>
        <p:txBody>
          <a:bodyPr wrap="square" lIns="0" tIns="0" rIns="0" bIns="0" rtlCol="0" anchor="t"/>
          <a:lstStyle/>
          <a:p>
            <a:pPr algn="l" indent="0" marL="0">
              <a:lnSpc>
                <a:spcPct val="100000"/>
              </a:lnSpc>
              <a:buNone/>
            </a:pPr>
            <a:r>
              <a:rPr lang="en-US" sz="1050" dirty="0">
                <a:solidFill>
                  <a:srgbClr val="6F8491"/>
                </a:solidFill>
                <a:latin typeface="Aptos" pitchFamily="34" charset="0"/>
                <a:ea typeface="Aptos" pitchFamily="34" charset="-122"/>
                <a:cs typeface="Aptos" pitchFamily="34" charset="-120"/>
              </a:rPr>
              <a:t>One file, one site, one owner</a:t>
            </a:r>
            <a:endParaRPr lang="en-US" sz="1050" dirty="0"/>
          </a:p>
        </p:txBody>
      </p:sp>
      <p:sp>
        <p:nvSpPr>
          <p:cNvPr id="17" name="Shape 14"/>
          <p:cNvSpPr/>
          <p:nvPr/>
        </p:nvSpPr>
        <p:spPr>
          <a:xfrm>
            <a:off x="530352" y="3328416"/>
            <a:ext cx="4892040" cy="566928"/>
          </a:xfrm>
          <a:prstGeom prst="roundRect">
            <a:avLst>
              <a:gd name="adj" fmla="val 10000"/>
            </a:avLst>
          </a:prstGeom>
          <a:solidFill>
            <a:srgbClr val="E9EFF4"/>
          </a:solidFill>
          <a:ln/>
        </p:spPr>
        <p:txBody>
          <a:bodyPr/>
          <a:p/>
        </p:txBody>
      </p:sp>
      <p:sp>
        <p:nvSpPr>
          <p:cNvPr id="18" name="Text 15"/>
          <p:cNvSpPr txBox="1"/>
          <p:nvPr/>
        </p:nvSpPr>
        <p:spPr>
          <a:xfrm>
            <a:off x="786384" y="3438144"/>
            <a:ext cx="1737360" cy="329184"/>
          </a:xfrm>
          <a:prstGeom prst="rect">
            <a:avLst/>
          </a:prstGeom>
          <a:noFill/>
          <a:ln/>
        </p:spPr>
        <p:txBody>
          <a:bodyPr wrap="square" lIns="0" tIns="0" rIns="0" bIns="0" rtlCol="0" anchor="t"/>
          <a:lstStyle/>
          <a:p>
            <a:pPr algn="l" indent="0" marL="0">
              <a:lnSpc>
                <a:spcPct val="100000"/>
              </a:lnSpc>
              <a:buNone/>
            </a:pPr>
            <a:r>
              <a:rPr lang="en-US" sz="1250" b="1" dirty="0">
                <a:solidFill>
                  <a:srgbClr val="0B1F33"/>
                </a:solidFill>
                <a:latin typeface="Aptos" pitchFamily="34" charset="0"/>
                <a:ea typeface="Aptos" pitchFamily="34" charset="-122"/>
                <a:cs typeface="Aptos" pitchFamily="34" charset="-120"/>
              </a:rPr>
              <a:t>Whiteboards</a:t>
            </a:r>
            <a:endParaRPr lang="en-US" sz="1250" dirty="0"/>
          </a:p>
        </p:txBody>
      </p:sp>
      <p:sp>
        <p:nvSpPr>
          <p:cNvPr id="19" name="Text 16"/>
          <p:cNvSpPr txBox="1"/>
          <p:nvPr/>
        </p:nvSpPr>
        <p:spPr>
          <a:xfrm>
            <a:off x="2542032" y="3456432"/>
            <a:ext cx="2743200" cy="310896"/>
          </a:xfrm>
          <a:prstGeom prst="rect">
            <a:avLst/>
          </a:prstGeom>
          <a:noFill/>
          <a:ln/>
        </p:spPr>
        <p:txBody>
          <a:bodyPr wrap="square" lIns="0" tIns="0" rIns="0" bIns="0" rtlCol="0" anchor="t"/>
          <a:lstStyle/>
          <a:p>
            <a:pPr algn="l" indent="0" marL="0">
              <a:lnSpc>
                <a:spcPct val="100000"/>
              </a:lnSpc>
              <a:buNone/>
            </a:pPr>
            <a:r>
              <a:rPr lang="en-US" sz="1050" dirty="0">
                <a:solidFill>
                  <a:srgbClr val="6F8491"/>
                </a:solidFill>
                <a:latin typeface="Aptos" pitchFamily="34" charset="0"/>
                <a:ea typeface="Aptos" pitchFamily="34" charset="-122"/>
                <a:cs typeface="Aptos" pitchFamily="34" charset="-120"/>
              </a:rPr>
              <a:t>Wiped at the end of the day</a:t>
            </a:r>
            <a:endParaRPr lang="en-US" sz="1050" dirty="0"/>
          </a:p>
        </p:txBody>
      </p:sp>
      <p:sp>
        <p:nvSpPr>
          <p:cNvPr id="20" name="Text 17"/>
          <p:cNvSpPr txBox="1"/>
          <p:nvPr/>
        </p:nvSpPr>
        <p:spPr>
          <a:xfrm>
            <a:off x="530352" y="4791456"/>
            <a:ext cx="4892040" cy="694944"/>
          </a:xfrm>
          <a:prstGeom prst="rect">
            <a:avLst/>
          </a:prstGeom>
          <a:noFill/>
          <a:ln/>
        </p:spPr>
        <p:txBody>
          <a:bodyPr wrap="square" lIns="0" tIns="0" rIns="0" bIns="0" rtlCol="0" anchor="t"/>
          <a:lstStyle/>
          <a:p>
            <a:pPr algn="l" indent="0" marL="0">
              <a:lnSpc>
                <a:spcPct val="125000"/>
              </a:lnSpc>
              <a:buNone/>
            </a:pPr>
            <a:r>
              <a:rPr lang="en-US" sz="1200" dirty="0">
                <a:solidFill>
                  <a:srgbClr val="456174"/>
                </a:solidFill>
                <a:latin typeface="Aptos" pitchFamily="34" charset="0"/>
                <a:ea typeface="Aptos" pitchFamily="34" charset="-122"/>
                <a:cs typeface="Aptos" pitchFamily="34" charset="-120"/>
              </a:rPr>
              <a:t>Suppliers and carriers book their own slot against each plant's real rules. Everything in this deck works today.</a:t>
            </a:r>
            <a:endParaRPr lang="en-US" sz="1200" dirty="0"/>
          </a:p>
        </p:txBody>
      </p:sp>
      <p:sp>
        <p:nvSpPr>
          <p:cNvPr id="21" name="Shape 18"/>
          <p:cNvSpPr/>
          <p:nvPr/>
        </p:nvSpPr>
        <p:spPr>
          <a:xfrm>
            <a:off x="5943600" y="1609344"/>
            <a:ext cx="5715000" cy="3675888"/>
          </a:xfrm>
          <a:prstGeom prst="roundRect">
            <a:avLst>
              <a:gd name="adj" fmla="val 1970"/>
            </a:avLst>
          </a:prstGeom>
          <a:solidFill>
            <a:srgbClr val="FFFFFF"/>
          </a:solidFill>
          <a:ln w="9525">
            <a:solidFill>
              <a:srgbClr val="D8E4EA"/>
            </a:solidFill>
            <a:prstDash val="solid"/>
          </a:ln>
        </p:spPr>
        <p:txBody>
          <a:bodyPr/>
          <a:p/>
        </p:txBody>
      </p:sp>
      <p:sp>
        <p:nvSpPr>
          <p:cNvPr id="22" name="Text 19"/>
          <p:cNvSpPr txBox="1"/>
          <p:nvPr/>
        </p:nvSpPr>
        <p:spPr>
          <a:xfrm>
            <a:off x="6309360" y="1865376"/>
            <a:ext cx="5010912" cy="365760"/>
          </a:xfrm>
          <a:prstGeom prst="rect">
            <a:avLst/>
          </a:prstGeom>
          <a:noFill/>
          <a:ln/>
        </p:spPr>
        <p:txBody>
          <a:bodyPr wrap="square" lIns="0" tIns="0" rIns="0" bIns="0" rtlCol="0" anchor="t"/>
          <a:lstStyle/>
          <a:p>
            <a:pPr algn="l" indent="0" marL="0">
              <a:lnSpc>
                <a:spcPct val="100000"/>
              </a:lnSpc>
              <a:buNone/>
            </a:pPr>
            <a:r>
              <a:rPr lang="en-US" sz="1600" b="1" dirty="0">
                <a:solidFill>
                  <a:srgbClr val="0B1F33"/>
                </a:solidFill>
                <a:latin typeface="Aptos Display" pitchFamily="34" charset="0"/>
                <a:ea typeface="Aptos Display" pitchFamily="34" charset="-122"/>
                <a:cs typeface="Aptos Display" pitchFamily="34" charset="-120"/>
              </a:rPr>
              <a:t>How a load moves through it</a:t>
            </a:r>
            <a:endParaRPr lang="en-US" sz="1600" dirty="0"/>
          </a:p>
        </p:txBody>
      </p:sp>
      <p:sp>
        <p:nvSpPr>
          <p:cNvPr id="23" name="Shape 20"/>
          <p:cNvSpPr/>
          <p:nvPr/>
        </p:nvSpPr>
        <p:spPr>
          <a:xfrm>
            <a:off x="6309360" y="2487168"/>
            <a:ext cx="292608" cy="292608"/>
          </a:xfrm>
          <a:prstGeom prst="roundRect">
            <a:avLst>
              <a:gd name="adj" fmla="val 15625"/>
            </a:avLst>
          </a:prstGeom>
          <a:solidFill>
            <a:srgbClr val="0877C9"/>
          </a:solidFill>
          <a:ln/>
        </p:spPr>
        <p:txBody>
          <a:bodyPr/>
          <a:p/>
        </p:txBody>
      </p:sp>
      <p:sp>
        <p:nvSpPr>
          <p:cNvPr id="24" name="Text 21"/>
          <p:cNvSpPr txBox="1"/>
          <p:nvPr/>
        </p:nvSpPr>
        <p:spPr>
          <a:xfrm>
            <a:off x="6309360" y="2542032"/>
            <a:ext cx="292608" cy="201168"/>
          </a:xfrm>
          <a:prstGeom prst="rect">
            <a:avLst/>
          </a:prstGeom>
          <a:noFill/>
          <a:ln/>
        </p:spPr>
        <p:txBody>
          <a:bodyPr wrap="square" lIns="0" tIns="0" rIns="0" bIns="0" rtlCol="0" anchor="t"/>
          <a:lstStyle/>
          <a:p>
            <a:pPr algn="ctr" indent="0" marL="0">
              <a:lnSpc>
                <a:spcPct val="100000"/>
              </a:lnSpc>
              <a:buNone/>
            </a:pPr>
            <a:r>
              <a:rPr lang="en-US" sz="1000" b="1" dirty="0">
                <a:solidFill>
                  <a:srgbClr val="FFFFFF"/>
                </a:solidFill>
                <a:latin typeface="Aptos" pitchFamily="34" charset="0"/>
                <a:ea typeface="Aptos" pitchFamily="34" charset="-122"/>
                <a:cs typeface="Aptos" pitchFamily="34" charset="-120"/>
              </a:rPr>
              <a:t>1</a:t>
            </a:r>
            <a:endParaRPr lang="en-US" sz="1000" dirty="0"/>
          </a:p>
        </p:txBody>
      </p:sp>
      <p:sp>
        <p:nvSpPr>
          <p:cNvPr id="25" name="Text 22"/>
          <p:cNvSpPr txBox="1"/>
          <p:nvPr/>
        </p:nvSpPr>
        <p:spPr>
          <a:xfrm>
            <a:off x="6784848" y="2450592"/>
            <a:ext cx="4553712" cy="274320"/>
          </a:xfrm>
          <a:prstGeom prst="rect">
            <a:avLst/>
          </a:prstGeom>
          <a:noFill/>
          <a:ln/>
        </p:spPr>
        <p:txBody>
          <a:bodyPr wrap="square" lIns="0" tIns="0" rIns="0" bIns="0" rtlCol="0" anchor="t"/>
          <a:lstStyle/>
          <a:p>
            <a:pPr algn="l" indent="0" marL="0">
              <a:lnSpc>
                <a:spcPct val="100000"/>
              </a:lnSpc>
              <a:buNone/>
            </a:pPr>
            <a:r>
              <a:rPr lang="en-US" sz="1250" b="1" dirty="0">
                <a:solidFill>
                  <a:srgbClr val="0B1F33"/>
                </a:solidFill>
                <a:latin typeface="Aptos" pitchFamily="34" charset="0"/>
                <a:ea typeface="Aptos" pitchFamily="34" charset="-122"/>
                <a:cs typeface="Aptos" pitchFamily="34" charset="-120"/>
              </a:rPr>
              <a:t>Supplier books the slot</a:t>
            </a:r>
            <a:endParaRPr lang="en-US" sz="1250" dirty="0"/>
          </a:p>
        </p:txBody>
      </p:sp>
      <p:sp>
        <p:nvSpPr>
          <p:cNvPr id="26" name="Text 23"/>
          <p:cNvSpPr txBox="1"/>
          <p:nvPr/>
        </p:nvSpPr>
        <p:spPr>
          <a:xfrm>
            <a:off x="6784848" y="2734056"/>
            <a:ext cx="4553712" cy="256032"/>
          </a:xfrm>
          <a:prstGeom prst="rect">
            <a:avLst/>
          </a:prstGeom>
          <a:noFill/>
          <a:ln/>
        </p:spPr>
        <p:txBody>
          <a:bodyPr wrap="square" lIns="0" tIns="0" rIns="0" bIns="0" rtlCol="0" anchor="t"/>
          <a:lstStyle/>
          <a:p>
            <a:pPr algn="l" indent="0" marL="0">
              <a:lnSpc>
                <a:spcPct val="100000"/>
              </a:lnSpc>
              <a:buNone/>
            </a:pPr>
            <a:r>
              <a:rPr lang="en-US" sz="1050" dirty="0">
                <a:solidFill>
                  <a:srgbClr val="6F8491"/>
                </a:solidFill>
                <a:latin typeface="Aptos" pitchFamily="34" charset="0"/>
                <a:ea typeface="Aptos" pitchFamily="34" charset="-122"/>
                <a:cs typeface="Aptos" pitchFamily="34" charset="-120"/>
              </a:rPr>
              <a:t>Against that plant's real rules, with no phone call</a:t>
            </a:r>
            <a:endParaRPr lang="en-US" sz="1050" dirty="0"/>
          </a:p>
        </p:txBody>
      </p:sp>
      <p:sp>
        <p:nvSpPr>
          <p:cNvPr id="27" name="Shape 24"/>
          <p:cNvSpPr/>
          <p:nvPr/>
        </p:nvSpPr>
        <p:spPr>
          <a:xfrm>
            <a:off x="6455664" y="2816352"/>
            <a:ext cx="0" cy="274320"/>
          </a:xfrm>
          <a:prstGeom prst="line">
            <a:avLst/>
          </a:prstGeom>
          <a:noFill/>
          <a:ln w="9525">
            <a:solidFill>
              <a:srgbClr val="D8E4EA"/>
            </a:solidFill>
            <a:prstDash val="solid"/>
          </a:ln>
        </p:spPr>
        <p:txBody>
          <a:bodyPr/>
          <a:p/>
        </p:txBody>
      </p:sp>
      <p:sp>
        <p:nvSpPr>
          <p:cNvPr id="28" name="Shape 25"/>
          <p:cNvSpPr/>
          <p:nvPr/>
        </p:nvSpPr>
        <p:spPr>
          <a:xfrm>
            <a:off x="6309360" y="3200400"/>
            <a:ext cx="292608" cy="292608"/>
          </a:xfrm>
          <a:prstGeom prst="roundRect">
            <a:avLst>
              <a:gd name="adj" fmla="val 15625"/>
            </a:avLst>
          </a:prstGeom>
          <a:solidFill>
            <a:srgbClr val="14A66A"/>
          </a:solidFill>
          <a:ln/>
        </p:spPr>
        <p:txBody>
          <a:bodyPr/>
          <a:p/>
        </p:txBody>
      </p:sp>
      <p:sp>
        <p:nvSpPr>
          <p:cNvPr id="29" name="Text 26"/>
          <p:cNvSpPr txBox="1"/>
          <p:nvPr/>
        </p:nvSpPr>
        <p:spPr>
          <a:xfrm>
            <a:off x="6309360" y="3255264"/>
            <a:ext cx="292608" cy="201168"/>
          </a:xfrm>
          <a:prstGeom prst="rect">
            <a:avLst/>
          </a:prstGeom>
          <a:noFill/>
          <a:ln/>
        </p:spPr>
        <p:txBody>
          <a:bodyPr wrap="square" lIns="0" tIns="0" rIns="0" bIns="0" rtlCol="0" anchor="t"/>
          <a:lstStyle/>
          <a:p>
            <a:pPr algn="ctr" indent="0" marL="0">
              <a:lnSpc>
                <a:spcPct val="100000"/>
              </a:lnSpc>
              <a:buNone/>
            </a:pPr>
            <a:r>
              <a:rPr lang="en-US" sz="1000" b="1" dirty="0">
                <a:solidFill>
                  <a:srgbClr val="FFFFFF"/>
                </a:solidFill>
                <a:latin typeface="Aptos" pitchFamily="34" charset="0"/>
                <a:ea typeface="Aptos" pitchFamily="34" charset="-122"/>
                <a:cs typeface="Aptos" pitchFamily="34" charset="-120"/>
              </a:rPr>
              <a:t>2</a:t>
            </a:r>
            <a:endParaRPr lang="en-US" sz="1000" dirty="0"/>
          </a:p>
        </p:txBody>
      </p:sp>
      <p:sp>
        <p:nvSpPr>
          <p:cNvPr id="30" name="Text 27"/>
          <p:cNvSpPr txBox="1"/>
          <p:nvPr/>
        </p:nvSpPr>
        <p:spPr>
          <a:xfrm>
            <a:off x="6784848" y="3163824"/>
            <a:ext cx="4553712" cy="274320"/>
          </a:xfrm>
          <a:prstGeom prst="rect">
            <a:avLst/>
          </a:prstGeom>
          <a:noFill/>
          <a:ln/>
        </p:spPr>
        <p:txBody>
          <a:bodyPr wrap="square" lIns="0" tIns="0" rIns="0" bIns="0" rtlCol="0" anchor="t"/>
          <a:lstStyle/>
          <a:p>
            <a:pPr algn="l" indent="0" marL="0">
              <a:lnSpc>
                <a:spcPct val="100000"/>
              </a:lnSpc>
              <a:buNone/>
            </a:pPr>
            <a:r>
              <a:rPr lang="en-US" sz="1250" b="1" dirty="0">
                <a:solidFill>
                  <a:srgbClr val="0B1F33"/>
                </a:solidFill>
                <a:latin typeface="Aptos" pitchFamily="34" charset="0"/>
                <a:ea typeface="Aptos" pitchFamily="34" charset="-122"/>
                <a:cs typeface="Aptos" pitchFamily="34" charset="-120"/>
              </a:rPr>
              <a:t>Rules stop bad appointments</a:t>
            </a:r>
            <a:endParaRPr lang="en-US" sz="1250" dirty="0"/>
          </a:p>
        </p:txBody>
      </p:sp>
      <p:sp>
        <p:nvSpPr>
          <p:cNvPr id="31" name="Text 28"/>
          <p:cNvSpPr txBox="1"/>
          <p:nvPr/>
        </p:nvSpPr>
        <p:spPr>
          <a:xfrm>
            <a:off x="6784848" y="3447288"/>
            <a:ext cx="4553712" cy="256032"/>
          </a:xfrm>
          <a:prstGeom prst="rect">
            <a:avLst/>
          </a:prstGeom>
          <a:noFill/>
          <a:ln/>
        </p:spPr>
        <p:txBody>
          <a:bodyPr wrap="square" lIns="0" tIns="0" rIns="0" bIns="0" rtlCol="0" anchor="t"/>
          <a:lstStyle/>
          <a:p>
            <a:pPr algn="l" indent="0" marL="0">
              <a:lnSpc>
                <a:spcPct val="100000"/>
              </a:lnSpc>
              <a:buNone/>
            </a:pPr>
            <a:r>
              <a:rPr lang="en-US" sz="1050" dirty="0">
                <a:solidFill>
                  <a:srgbClr val="6F8491"/>
                </a:solidFill>
                <a:latin typeface="Aptos" pitchFamily="34" charset="0"/>
                <a:ea typeface="Aptos" pitchFamily="34" charset="-122"/>
                <a:cs typeface="Aptos" pitchFamily="34" charset="-120"/>
              </a:rPr>
              <a:t>A time that would be refused on arrival is never offered</a:t>
            </a:r>
            <a:endParaRPr lang="en-US" sz="1050" dirty="0"/>
          </a:p>
        </p:txBody>
      </p:sp>
      <p:sp>
        <p:nvSpPr>
          <p:cNvPr id="32" name="Shape 29"/>
          <p:cNvSpPr/>
          <p:nvPr/>
        </p:nvSpPr>
        <p:spPr>
          <a:xfrm>
            <a:off x="6455664" y="3529584"/>
            <a:ext cx="0" cy="274320"/>
          </a:xfrm>
          <a:prstGeom prst="line">
            <a:avLst/>
          </a:prstGeom>
          <a:noFill/>
          <a:ln w="9525">
            <a:solidFill>
              <a:srgbClr val="D8E4EA"/>
            </a:solidFill>
            <a:prstDash val="solid"/>
          </a:ln>
        </p:spPr>
        <p:txBody>
          <a:bodyPr/>
          <a:p/>
        </p:txBody>
      </p:sp>
      <p:sp>
        <p:nvSpPr>
          <p:cNvPr id="33" name="Shape 30"/>
          <p:cNvSpPr/>
          <p:nvPr/>
        </p:nvSpPr>
        <p:spPr>
          <a:xfrm>
            <a:off x="6309360" y="3913632"/>
            <a:ext cx="292608" cy="292608"/>
          </a:xfrm>
          <a:prstGeom prst="roundRect">
            <a:avLst>
              <a:gd name="adj" fmla="val 15625"/>
            </a:avLst>
          </a:prstGeom>
          <a:solidFill>
            <a:srgbClr val="F2A11B"/>
          </a:solidFill>
          <a:ln/>
        </p:spPr>
        <p:txBody>
          <a:bodyPr/>
          <a:p/>
        </p:txBody>
      </p:sp>
      <p:sp>
        <p:nvSpPr>
          <p:cNvPr id="34" name="Text 31"/>
          <p:cNvSpPr txBox="1"/>
          <p:nvPr/>
        </p:nvSpPr>
        <p:spPr>
          <a:xfrm>
            <a:off x="6309360" y="3968496"/>
            <a:ext cx="292608" cy="201168"/>
          </a:xfrm>
          <a:prstGeom prst="rect">
            <a:avLst/>
          </a:prstGeom>
          <a:noFill/>
          <a:ln/>
        </p:spPr>
        <p:txBody>
          <a:bodyPr wrap="square" lIns="0" tIns="0" rIns="0" bIns="0" rtlCol="0" anchor="t"/>
          <a:lstStyle/>
          <a:p>
            <a:pPr algn="ctr" indent="0" marL="0">
              <a:lnSpc>
                <a:spcPct val="100000"/>
              </a:lnSpc>
              <a:buNone/>
            </a:pPr>
            <a:r>
              <a:rPr lang="en-US" sz="1000" b="1" dirty="0">
                <a:solidFill>
                  <a:srgbClr val="FFFFFF"/>
                </a:solidFill>
                <a:latin typeface="Aptos" pitchFamily="34" charset="0"/>
                <a:ea typeface="Aptos" pitchFamily="34" charset="-122"/>
                <a:cs typeface="Aptos" pitchFamily="34" charset="-120"/>
              </a:rPr>
              <a:t>3</a:t>
            </a:r>
            <a:endParaRPr lang="en-US" sz="1000" dirty="0"/>
          </a:p>
        </p:txBody>
      </p:sp>
      <p:sp>
        <p:nvSpPr>
          <p:cNvPr id="35" name="Text 32"/>
          <p:cNvSpPr txBox="1"/>
          <p:nvPr/>
        </p:nvSpPr>
        <p:spPr>
          <a:xfrm>
            <a:off x="6784848" y="3877056"/>
            <a:ext cx="4553712" cy="274320"/>
          </a:xfrm>
          <a:prstGeom prst="rect">
            <a:avLst/>
          </a:prstGeom>
          <a:noFill/>
          <a:ln/>
        </p:spPr>
        <p:txBody>
          <a:bodyPr wrap="square" lIns="0" tIns="0" rIns="0" bIns="0" rtlCol="0" anchor="t"/>
          <a:lstStyle/>
          <a:p>
            <a:pPr algn="l" indent="0" marL="0">
              <a:lnSpc>
                <a:spcPct val="100000"/>
              </a:lnSpc>
              <a:buNone/>
            </a:pPr>
            <a:r>
              <a:rPr lang="en-US" sz="1250" b="1" dirty="0">
                <a:solidFill>
                  <a:srgbClr val="0B1F33"/>
                </a:solidFill>
                <a:latin typeface="Aptos" pitchFamily="34" charset="0"/>
                <a:ea typeface="Aptos" pitchFamily="34" charset="-122"/>
                <a:cs typeface="Aptos" pitchFamily="34" charset="-120"/>
              </a:rPr>
              <a:t>Coordinator moves the schedule</a:t>
            </a:r>
            <a:endParaRPr lang="en-US" sz="1250" dirty="0"/>
          </a:p>
        </p:txBody>
      </p:sp>
      <p:sp>
        <p:nvSpPr>
          <p:cNvPr id="36" name="Text 33"/>
          <p:cNvSpPr txBox="1"/>
          <p:nvPr/>
        </p:nvSpPr>
        <p:spPr>
          <a:xfrm>
            <a:off x="6784848" y="4160520"/>
            <a:ext cx="4553712" cy="256032"/>
          </a:xfrm>
          <a:prstGeom prst="rect">
            <a:avLst/>
          </a:prstGeom>
          <a:noFill/>
          <a:ln/>
        </p:spPr>
        <p:txBody>
          <a:bodyPr wrap="square" lIns="0" tIns="0" rIns="0" bIns="0" rtlCol="0" anchor="t"/>
          <a:lstStyle/>
          <a:p>
            <a:pPr algn="l" indent="0" marL="0">
              <a:lnSpc>
                <a:spcPct val="100000"/>
              </a:lnSpc>
              <a:buNone/>
            </a:pPr>
            <a:r>
              <a:rPr lang="en-US" sz="1050" dirty="0">
                <a:solidFill>
                  <a:srgbClr val="6F8491"/>
                </a:solidFill>
                <a:latin typeface="Aptos" pitchFamily="34" charset="0"/>
                <a:ea typeface="Aptos" pitchFamily="34" charset="-122"/>
                <a:cs typeface="Aptos" pitchFamily="34" charset="-120"/>
              </a:rPr>
              <a:t>Drag a load to another door; the rules travel with it</a:t>
            </a:r>
            <a:endParaRPr lang="en-US" sz="1050" dirty="0"/>
          </a:p>
        </p:txBody>
      </p:sp>
      <p:sp>
        <p:nvSpPr>
          <p:cNvPr id="37" name="Shape 34"/>
          <p:cNvSpPr/>
          <p:nvPr/>
        </p:nvSpPr>
        <p:spPr>
          <a:xfrm>
            <a:off x="6455664" y="4242816"/>
            <a:ext cx="0" cy="274320"/>
          </a:xfrm>
          <a:prstGeom prst="line">
            <a:avLst/>
          </a:prstGeom>
          <a:noFill/>
          <a:ln w="9525">
            <a:solidFill>
              <a:srgbClr val="D8E4EA"/>
            </a:solidFill>
            <a:prstDash val="solid"/>
          </a:ln>
        </p:spPr>
        <p:txBody>
          <a:bodyPr/>
          <a:p/>
        </p:txBody>
      </p:sp>
      <p:sp>
        <p:nvSpPr>
          <p:cNvPr id="38" name="Shape 35"/>
          <p:cNvSpPr/>
          <p:nvPr/>
        </p:nvSpPr>
        <p:spPr>
          <a:xfrm>
            <a:off x="6309360" y="4626864"/>
            <a:ext cx="292608" cy="292608"/>
          </a:xfrm>
          <a:prstGeom prst="roundRect">
            <a:avLst>
              <a:gd name="adj" fmla="val 15625"/>
            </a:avLst>
          </a:prstGeom>
          <a:solidFill>
            <a:srgbClr val="14AEE8"/>
          </a:solidFill>
          <a:ln/>
        </p:spPr>
        <p:txBody>
          <a:bodyPr/>
          <a:p/>
        </p:txBody>
      </p:sp>
      <p:sp>
        <p:nvSpPr>
          <p:cNvPr id="39" name="Text 36"/>
          <p:cNvSpPr txBox="1"/>
          <p:nvPr/>
        </p:nvSpPr>
        <p:spPr>
          <a:xfrm>
            <a:off x="6309360" y="4681728"/>
            <a:ext cx="292608" cy="201168"/>
          </a:xfrm>
          <a:prstGeom prst="rect">
            <a:avLst/>
          </a:prstGeom>
          <a:noFill/>
          <a:ln/>
        </p:spPr>
        <p:txBody>
          <a:bodyPr wrap="square" lIns="0" tIns="0" rIns="0" bIns="0" rtlCol="0" anchor="t"/>
          <a:lstStyle/>
          <a:p>
            <a:pPr algn="ctr" indent="0" marL="0">
              <a:lnSpc>
                <a:spcPct val="100000"/>
              </a:lnSpc>
              <a:buNone/>
            </a:pPr>
            <a:r>
              <a:rPr lang="en-US" sz="1000" b="1" dirty="0">
                <a:solidFill>
                  <a:srgbClr val="FFFFFF"/>
                </a:solidFill>
                <a:latin typeface="Aptos" pitchFamily="34" charset="0"/>
                <a:ea typeface="Aptos" pitchFamily="34" charset="-122"/>
                <a:cs typeface="Aptos" pitchFamily="34" charset="-120"/>
              </a:rPr>
              <a:t>4</a:t>
            </a:r>
            <a:endParaRPr lang="en-US" sz="1000" dirty="0"/>
          </a:p>
        </p:txBody>
      </p:sp>
      <p:sp>
        <p:nvSpPr>
          <p:cNvPr id="40" name="Text 37"/>
          <p:cNvSpPr txBox="1"/>
          <p:nvPr/>
        </p:nvSpPr>
        <p:spPr>
          <a:xfrm>
            <a:off x="6784848" y="4590288"/>
            <a:ext cx="4553712" cy="274320"/>
          </a:xfrm>
          <a:prstGeom prst="rect">
            <a:avLst/>
          </a:prstGeom>
          <a:noFill/>
          <a:ln/>
        </p:spPr>
        <p:txBody>
          <a:bodyPr wrap="square" lIns="0" tIns="0" rIns="0" bIns="0" rtlCol="0" anchor="t"/>
          <a:lstStyle/>
          <a:p>
            <a:pPr algn="l" indent="0" marL="0">
              <a:lnSpc>
                <a:spcPct val="100000"/>
              </a:lnSpc>
              <a:buNone/>
            </a:pPr>
            <a:r>
              <a:rPr lang="en-US" sz="1250" b="1" dirty="0">
                <a:solidFill>
                  <a:srgbClr val="0B1F33"/>
                </a:solidFill>
                <a:latin typeface="Aptos" pitchFamily="34" charset="0"/>
                <a:ea typeface="Aptos" pitchFamily="34" charset="-122"/>
                <a:cs typeface="Aptos" pitchFamily="34" charset="-120"/>
              </a:rPr>
              <a:t>Reports come from dock taps</a:t>
            </a:r>
            <a:endParaRPr lang="en-US" sz="1250" dirty="0"/>
          </a:p>
        </p:txBody>
      </p:sp>
      <p:sp>
        <p:nvSpPr>
          <p:cNvPr id="41" name="Text 38"/>
          <p:cNvSpPr txBox="1"/>
          <p:nvPr/>
        </p:nvSpPr>
        <p:spPr>
          <a:xfrm>
            <a:off x="6784848" y="4873752"/>
            <a:ext cx="4553712" cy="256032"/>
          </a:xfrm>
          <a:prstGeom prst="rect">
            <a:avLst/>
          </a:prstGeom>
          <a:noFill/>
          <a:ln/>
        </p:spPr>
        <p:txBody>
          <a:bodyPr wrap="square" lIns="0" tIns="0" rIns="0" bIns="0" rtlCol="0" anchor="t"/>
          <a:lstStyle/>
          <a:p>
            <a:pPr algn="l" indent="0" marL="0">
              <a:lnSpc>
                <a:spcPct val="100000"/>
              </a:lnSpc>
              <a:buNone/>
            </a:pPr>
            <a:r>
              <a:rPr lang="en-US" sz="1050" dirty="0">
                <a:solidFill>
                  <a:srgbClr val="6F8491"/>
                </a:solidFill>
                <a:latin typeface="Aptos" pitchFamily="34" charset="0"/>
                <a:ea typeface="Aptos" pitchFamily="34" charset="-122"/>
                <a:cs typeface="Aptos" pitchFamily="34" charset="-120"/>
              </a:rPr>
              <a:t>No form to fill in, so no figure anybody can massage</a:t>
            </a:r>
            <a:endParaRPr lang="en-US" sz="1050" dirty="0"/>
          </a:p>
        </p:txBody>
      </p:sp>
      <p:sp>
        <p:nvSpPr>
          <p:cNvPr id="42" name="Shape 39"/>
          <p:cNvSpPr/>
          <p:nvPr/>
        </p:nvSpPr>
        <p:spPr>
          <a:xfrm>
            <a:off x="530352" y="5486400"/>
            <a:ext cx="11130991" cy="841248"/>
          </a:xfrm>
          <a:prstGeom prst="roundRect">
            <a:avLst>
              <a:gd name="adj" fmla="val 8247"/>
            </a:avLst>
          </a:prstGeom>
          <a:solidFill>
            <a:srgbClr val="FFFFFF"/>
          </a:solidFill>
          <a:ln w="9525">
            <a:solidFill>
              <a:srgbClr val="D8E4EA"/>
            </a:solidFill>
            <a:prstDash val="solid"/>
          </a:ln>
        </p:spPr>
        <p:txBody>
          <a:bodyPr/>
          <a:p/>
        </p:txBody>
      </p:sp>
      <p:sp>
        <p:nvSpPr>
          <p:cNvPr id="43" name="Text 40"/>
          <p:cNvSpPr txBox="1"/>
          <p:nvPr/>
        </p:nvSpPr>
        <p:spPr>
          <a:xfrm>
            <a:off x="896112" y="5641848"/>
            <a:ext cx="566928" cy="585216"/>
          </a:xfrm>
          <a:prstGeom prst="rect">
            <a:avLst/>
          </a:prstGeom>
          <a:noFill/>
          <a:ln/>
        </p:spPr>
        <p:txBody>
          <a:bodyPr wrap="square" lIns="0" tIns="0" rIns="0" bIns="0" rtlCol="0" anchor="t"/>
          <a:lstStyle/>
          <a:p>
            <a:pPr algn="l" indent="0" marL="0">
              <a:lnSpc>
                <a:spcPct val="100000"/>
              </a:lnSpc>
              <a:buNone/>
            </a:pPr>
            <a:r>
              <a:rPr lang="en-US" sz="3000" b="1" dirty="0">
                <a:solidFill>
                  <a:srgbClr val="0877C9"/>
                </a:solidFill>
                <a:latin typeface="Aptos Display" pitchFamily="34" charset="0"/>
                <a:ea typeface="Aptos Display" pitchFamily="34" charset="-122"/>
                <a:cs typeface="Aptos Display" pitchFamily="34" charset="-120"/>
              </a:rPr>
              <a:t>4</a:t>
            </a:r>
            <a:endParaRPr lang="en-US" sz="3000" dirty="0"/>
          </a:p>
        </p:txBody>
      </p:sp>
      <p:sp>
        <p:nvSpPr>
          <p:cNvPr id="44" name="Text 41"/>
          <p:cNvSpPr txBox="1"/>
          <p:nvPr/>
        </p:nvSpPr>
        <p:spPr>
          <a:xfrm>
            <a:off x="1554480" y="5715000"/>
            <a:ext cx="1417320" cy="457200"/>
          </a:xfrm>
          <a:prstGeom prst="rect">
            <a:avLst/>
          </a:prstGeom>
          <a:noFill/>
          <a:ln/>
        </p:spPr>
        <p:txBody>
          <a:bodyPr wrap="square" lIns="0" tIns="0" rIns="0" bIns="0" rtlCol="0" anchor="ctr"/>
          <a:lstStyle/>
          <a:p>
            <a:pPr algn="l" indent="0" marL="0">
              <a:lnSpc>
                <a:spcPct val="110000"/>
              </a:lnSpc>
              <a:buNone/>
            </a:pPr>
            <a:r>
              <a:rPr lang="en-US" sz="1000" b="1" dirty="0">
                <a:solidFill>
                  <a:srgbClr val="456174"/>
                </a:solidFill>
                <a:latin typeface="Aptos" pitchFamily="34" charset="0"/>
                <a:ea typeface="Aptos" pitchFamily="34" charset="-122"/>
                <a:cs typeface="Aptos" pitchFamily="34" charset="-120"/>
              </a:rPr>
              <a:t>time zones,</a:t>
            </a:r>
            <a:endParaRPr lang="en-US" sz="1000" dirty="0"/>
          </a:p>
          <a:p>
            <a:pPr algn="l" indent="0" marL="0">
              <a:lnSpc>
                <a:spcPct val="110000"/>
              </a:lnSpc>
              <a:buNone/>
            </a:pPr>
            <a:r>
              <a:rPr lang="en-US" sz="1000" b="1" dirty="0">
                <a:solidFill>
                  <a:srgbClr val="456174"/>
                </a:solidFill>
                <a:latin typeface="Aptos" pitchFamily="34" charset="0"/>
                <a:ea typeface="Aptos" pitchFamily="34" charset="-122"/>
                <a:cs typeface="Aptos" pitchFamily="34" charset="-120"/>
              </a:rPr>
              <a:t>one clock</a:t>
            </a:r>
            <a:endParaRPr lang="en-US" sz="1000" dirty="0"/>
          </a:p>
        </p:txBody>
      </p:sp>
      <p:sp>
        <p:nvSpPr>
          <p:cNvPr id="45" name="Text 42"/>
          <p:cNvSpPr txBox="1"/>
          <p:nvPr/>
        </p:nvSpPr>
        <p:spPr>
          <a:xfrm>
            <a:off x="3090672" y="5641848"/>
            <a:ext cx="566928" cy="585216"/>
          </a:xfrm>
          <a:prstGeom prst="rect">
            <a:avLst/>
          </a:prstGeom>
          <a:noFill/>
          <a:ln/>
        </p:spPr>
        <p:txBody>
          <a:bodyPr wrap="square" lIns="0" tIns="0" rIns="0" bIns="0" rtlCol="0" anchor="t"/>
          <a:lstStyle/>
          <a:p>
            <a:pPr algn="l" indent="0" marL="0">
              <a:lnSpc>
                <a:spcPct val="100000"/>
              </a:lnSpc>
              <a:buNone/>
            </a:pPr>
            <a:r>
              <a:rPr lang="en-US" sz="3000" b="1" dirty="0">
                <a:solidFill>
                  <a:srgbClr val="0877C9"/>
                </a:solidFill>
                <a:latin typeface="Aptos Display" pitchFamily="34" charset="0"/>
                <a:ea typeface="Aptos Display" pitchFamily="34" charset="-122"/>
                <a:cs typeface="Aptos Display" pitchFamily="34" charset="-120"/>
              </a:rPr>
              <a:t>9</a:t>
            </a:r>
            <a:endParaRPr lang="en-US" sz="3000" dirty="0"/>
          </a:p>
        </p:txBody>
      </p:sp>
      <p:sp>
        <p:nvSpPr>
          <p:cNvPr id="46" name="Text 43"/>
          <p:cNvSpPr txBox="1"/>
          <p:nvPr/>
        </p:nvSpPr>
        <p:spPr>
          <a:xfrm>
            <a:off x="3749040" y="5715000"/>
            <a:ext cx="1417320" cy="457200"/>
          </a:xfrm>
          <a:prstGeom prst="rect">
            <a:avLst/>
          </a:prstGeom>
          <a:noFill/>
          <a:ln/>
        </p:spPr>
        <p:txBody>
          <a:bodyPr wrap="square" lIns="0" tIns="0" rIns="0" bIns="0" rtlCol="0" anchor="ctr"/>
          <a:lstStyle/>
          <a:p>
            <a:pPr algn="l" indent="0" marL="0">
              <a:lnSpc>
                <a:spcPct val="110000"/>
              </a:lnSpc>
              <a:buNone/>
            </a:pPr>
            <a:r>
              <a:rPr lang="en-US" sz="1000" b="1" dirty="0">
                <a:solidFill>
                  <a:srgbClr val="456174"/>
                </a:solidFill>
                <a:latin typeface="Aptos" pitchFamily="34" charset="0"/>
                <a:ea typeface="Aptos" pitchFamily="34" charset="-122"/>
                <a:cs typeface="Aptos" pitchFamily="34" charset="-120"/>
              </a:rPr>
              <a:t>reports</a:t>
            </a:r>
            <a:endParaRPr lang="en-US" sz="1000" dirty="0"/>
          </a:p>
        </p:txBody>
      </p:sp>
      <p:sp>
        <p:nvSpPr>
          <p:cNvPr id="47" name="Shape 44"/>
          <p:cNvSpPr/>
          <p:nvPr/>
        </p:nvSpPr>
        <p:spPr>
          <a:xfrm>
            <a:off x="2816352" y="5660136"/>
            <a:ext cx="0" cy="530352"/>
          </a:xfrm>
          <a:prstGeom prst="line">
            <a:avLst/>
          </a:prstGeom>
          <a:noFill/>
          <a:ln w="9525">
            <a:solidFill>
              <a:srgbClr val="D8E4EA"/>
            </a:solidFill>
            <a:prstDash val="solid"/>
          </a:ln>
        </p:spPr>
        <p:txBody>
          <a:bodyPr/>
          <a:p/>
        </p:txBody>
      </p:sp>
      <p:sp>
        <p:nvSpPr>
          <p:cNvPr id="48" name="Text 45"/>
          <p:cNvSpPr txBox="1"/>
          <p:nvPr/>
        </p:nvSpPr>
        <p:spPr>
          <a:xfrm>
            <a:off x="5285232" y="5641848"/>
            <a:ext cx="566928" cy="585216"/>
          </a:xfrm>
          <a:prstGeom prst="rect">
            <a:avLst/>
          </a:prstGeom>
          <a:noFill/>
          <a:ln/>
        </p:spPr>
        <p:txBody>
          <a:bodyPr wrap="square" lIns="0" tIns="0" rIns="0" bIns="0" rtlCol="0" anchor="t"/>
          <a:lstStyle/>
          <a:p>
            <a:pPr algn="l" indent="0" marL="0">
              <a:lnSpc>
                <a:spcPct val="100000"/>
              </a:lnSpc>
              <a:buNone/>
            </a:pPr>
            <a:r>
              <a:rPr lang="en-US" sz="3000" b="1" dirty="0">
                <a:solidFill>
                  <a:srgbClr val="0877C9"/>
                </a:solidFill>
                <a:latin typeface="Aptos Display" pitchFamily="34" charset="0"/>
                <a:ea typeface="Aptos Display" pitchFamily="34" charset="-122"/>
                <a:cs typeface="Aptos Display" pitchFamily="34" charset="-120"/>
              </a:rPr>
              <a:t>3</a:t>
            </a:r>
            <a:endParaRPr lang="en-US" sz="3000" dirty="0"/>
          </a:p>
        </p:txBody>
      </p:sp>
      <p:sp>
        <p:nvSpPr>
          <p:cNvPr id="49" name="Text 46"/>
          <p:cNvSpPr txBox="1"/>
          <p:nvPr/>
        </p:nvSpPr>
        <p:spPr>
          <a:xfrm>
            <a:off x="5943600" y="5715000"/>
            <a:ext cx="1417320" cy="457200"/>
          </a:xfrm>
          <a:prstGeom prst="rect">
            <a:avLst/>
          </a:prstGeom>
          <a:noFill/>
          <a:ln/>
        </p:spPr>
        <p:txBody>
          <a:bodyPr wrap="square" lIns="0" tIns="0" rIns="0" bIns="0" rtlCol="0" anchor="ctr"/>
          <a:lstStyle/>
          <a:p>
            <a:pPr algn="l" indent="0" marL="0">
              <a:lnSpc>
                <a:spcPct val="110000"/>
              </a:lnSpc>
              <a:buNone/>
            </a:pPr>
            <a:r>
              <a:rPr lang="en-US" sz="1000" b="1" dirty="0">
                <a:solidFill>
                  <a:srgbClr val="456174"/>
                </a:solidFill>
                <a:latin typeface="Aptos" pitchFamily="34" charset="0"/>
                <a:ea typeface="Aptos" pitchFamily="34" charset="-122"/>
                <a:cs typeface="Aptos" pitchFamily="34" charset="-120"/>
              </a:rPr>
              <a:t>taps to receive</a:t>
            </a:r>
            <a:endParaRPr lang="en-US" sz="1000" dirty="0"/>
          </a:p>
          <a:p>
            <a:pPr algn="l" indent="0" marL="0">
              <a:lnSpc>
                <a:spcPct val="110000"/>
              </a:lnSpc>
              <a:buNone/>
            </a:pPr>
            <a:r>
              <a:rPr lang="en-US" sz="1000" b="1" dirty="0">
                <a:solidFill>
                  <a:srgbClr val="456174"/>
                </a:solidFill>
                <a:latin typeface="Aptos" pitchFamily="34" charset="0"/>
                <a:ea typeface="Aptos" pitchFamily="34" charset="-122"/>
                <a:cs typeface="Aptos" pitchFamily="34" charset="-120"/>
              </a:rPr>
              <a:t>a truck</a:t>
            </a:r>
            <a:endParaRPr lang="en-US" sz="1000" dirty="0"/>
          </a:p>
        </p:txBody>
      </p:sp>
      <p:sp>
        <p:nvSpPr>
          <p:cNvPr id="50" name="Shape 47"/>
          <p:cNvSpPr/>
          <p:nvPr/>
        </p:nvSpPr>
        <p:spPr>
          <a:xfrm>
            <a:off x="5010912" y="5660136"/>
            <a:ext cx="0" cy="530352"/>
          </a:xfrm>
          <a:prstGeom prst="line">
            <a:avLst/>
          </a:prstGeom>
          <a:noFill/>
          <a:ln w="9525">
            <a:solidFill>
              <a:srgbClr val="D8E4EA"/>
            </a:solidFill>
            <a:prstDash val="solid"/>
          </a:ln>
        </p:spPr>
        <p:txBody>
          <a:bodyPr/>
          <a:p/>
        </p:txBody>
      </p:sp>
      <p:sp>
        <p:nvSpPr>
          <p:cNvPr id="51" name="Text 48"/>
          <p:cNvSpPr txBox="1"/>
          <p:nvPr/>
        </p:nvSpPr>
        <p:spPr>
          <a:xfrm>
            <a:off x="7479792" y="5641848"/>
            <a:ext cx="566928" cy="585216"/>
          </a:xfrm>
          <a:prstGeom prst="rect">
            <a:avLst/>
          </a:prstGeom>
          <a:noFill/>
          <a:ln/>
        </p:spPr>
        <p:txBody>
          <a:bodyPr wrap="square" lIns="0" tIns="0" rIns="0" bIns="0" rtlCol="0" anchor="t"/>
          <a:lstStyle/>
          <a:p>
            <a:pPr algn="l" indent="0" marL="0">
              <a:lnSpc>
                <a:spcPct val="100000"/>
              </a:lnSpc>
              <a:buNone/>
            </a:pPr>
            <a:r>
              <a:rPr lang="en-US" sz="3000" b="1" dirty="0">
                <a:solidFill>
                  <a:srgbClr val="0877C9"/>
                </a:solidFill>
                <a:latin typeface="Aptos Display" pitchFamily="34" charset="0"/>
                <a:ea typeface="Aptos Display" pitchFamily="34" charset="-122"/>
                <a:cs typeface="Aptos Display" pitchFamily="34" charset="-120"/>
              </a:rPr>
              <a:t>2</a:t>
            </a:r>
            <a:endParaRPr lang="en-US" sz="3000" dirty="0"/>
          </a:p>
        </p:txBody>
      </p:sp>
      <p:sp>
        <p:nvSpPr>
          <p:cNvPr id="52" name="Text 49"/>
          <p:cNvSpPr txBox="1"/>
          <p:nvPr/>
        </p:nvSpPr>
        <p:spPr>
          <a:xfrm>
            <a:off x="8138160" y="5715000"/>
            <a:ext cx="1417320" cy="457200"/>
          </a:xfrm>
          <a:prstGeom prst="rect">
            <a:avLst/>
          </a:prstGeom>
          <a:noFill/>
          <a:ln/>
        </p:spPr>
        <p:txBody>
          <a:bodyPr wrap="square" lIns="0" tIns="0" rIns="0" bIns="0" rtlCol="0" anchor="ctr"/>
          <a:lstStyle/>
          <a:p>
            <a:pPr algn="l" indent="0" marL="0">
              <a:lnSpc>
                <a:spcPct val="110000"/>
              </a:lnSpc>
              <a:buNone/>
            </a:pPr>
            <a:r>
              <a:rPr lang="en-US" sz="1000" b="1" dirty="0">
                <a:solidFill>
                  <a:srgbClr val="456174"/>
                </a:solidFill>
                <a:latin typeface="Aptos" pitchFamily="34" charset="0"/>
                <a:ea typeface="Aptos" pitchFamily="34" charset="-122"/>
                <a:cs typeface="Aptos" pitchFamily="34" charset="-120"/>
              </a:rPr>
              <a:t>part loads</a:t>
            </a:r>
            <a:endParaRPr lang="en-US" sz="1000" dirty="0"/>
          </a:p>
          <a:p>
            <a:pPr algn="l" indent="0" marL="0">
              <a:lnSpc>
                <a:spcPct val="110000"/>
              </a:lnSpc>
              <a:buNone/>
            </a:pPr>
            <a:r>
              <a:rPr lang="en-US" sz="1000" b="1" dirty="0">
                <a:solidFill>
                  <a:srgbClr val="456174"/>
                </a:solidFill>
                <a:latin typeface="Aptos" pitchFamily="34" charset="0"/>
                <a:ea typeface="Aptos" pitchFamily="34" charset="-122"/>
                <a:cs typeface="Aptos" pitchFamily="34" charset="-120"/>
              </a:rPr>
              <a:t>on one truck</a:t>
            </a:r>
            <a:endParaRPr lang="en-US" sz="1000" dirty="0"/>
          </a:p>
        </p:txBody>
      </p:sp>
      <p:sp>
        <p:nvSpPr>
          <p:cNvPr id="53" name="Shape 50"/>
          <p:cNvSpPr/>
          <p:nvPr/>
        </p:nvSpPr>
        <p:spPr>
          <a:xfrm>
            <a:off x="7205472" y="5660136"/>
            <a:ext cx="0" cy="530352"/>
          </a:xfrm>
          <a:prstGeom prst="line">
            <a:avLst/>
          </a:prstGeom>
          <a:noFill/>
          <a:ln w="9525">
            <a:solidFill>
              <a:srgbClr val="D8E4EA"/>
            </a:solidFill>
            <a:prstDash val="solid"/>
          </a:ln>
        </p:spPr>
        <p:txBody>
          <a:bodyPr/>
          <a:p/>
        </p:txBody>
      </p:sp>
      <p:sp>
        <p:nvSpPr>
          <p:cNvPr id="54" name="Text 51"/>
          <p:cNvSpPr txBox="1"/>
          <p:nvPr/>
        </p:nvSpPr>
        <p:spPr>
          <a:xfrm>
            <a:off x="9674352" y="5641848"/>
            <a:ext cx="566928" cy="585216"/>
          </a:xfrm>
          <a:prstGeom prst="rect">
            <a:avLst/>
          </a:prstGeom>
          <a:noFill/>
          <a:ln/>
        </p:spPr>
        <p:txBody>
          <a:bodyPr wrap="square" lIns="0" tIns="0" rIns="0" bIns="0" rtlCol="0" anchor="t"/>
          <a:lstStyle/>
          <a:p>
            <a:pPr algn="l" indent="0" marL="0">
              <a:lnSpc>
                <a:spcPct val="100000"/>
              </a:lnSpc>
              <a:buNone/>
            </a:pPr>
            <a:r>
              <a:rPr lang="en-US" sz="3000" b="1" dirty="0">
                <a:solidFill>
                  <a:srgbClr val="0877C9"/>
                </a:solidFill>
                <a:latin typeface="Aptos Display" pitchFamily="34" charset="0"/>
                <a:ea typeface="Aptos Display" pitchFamily="34" charset="-122"/>
                <a:cs typeface="Aptos Display" pitchFamily="34" charset="-120"/>
              </a:rPr>
              <a:t>0</a:t>
            </a:r>
            <a:endParaRPr lang="en-US" sz="3000" dirty="0"/>
          </a:p>
        </p:txBody>
      </p:sp>
      <p:sp>
        <p:nvSpPr>
          <p:cNvPr id="55" name="Text 52"/>
          <p:cNvSpPr txBox="1"/>
          <p:nvPr/>
        </p:nvSpPr>
        <p:spPr>
          <a:xfrm>
            <a:off x="10332720" y="5715000"/>
            <a:ext cx="1417320" cy="457200"/>
          </a:xfrm>
          <a:prstGeom prst="rect">
            <a:avLst/>
          </a:prstGeom>
          <a:noFill/>
          <a:ln/>
        </p:spPr>
        <p:txBody>
          <a:bodyPr wrap="square" lIns="0" tIns="0" rIns="0" bIns="0" rtlCol="0" anchor="ctr"/>
          <a:lstStyle/>
          <a:p>
            <a:pPr algn="l" indent="0" marL="0">
              <a:lnSpc>
                <a:spcPct val="110000"/>
              </a:lnSpc>
              <a:buNone/>
            </a:pPr>
            <a:r>
              <a:rPr lang="en-US" sz="1000" b="1" dirty="0">
                <a:solidFill>
                  <a:srgbClr val="456174"/>
                </a:solidFill>
                <a:latin typeface="Aptos" pitchFamily="34" charset="0"/>
                <a:ea typeface="Aptos" pitchFamily="34" charset="-122"/>
                <a:cs typeface="Aptos" pitchFamily="34" charset="-120"/>
              </a:rPr>
              <a:t>licences</a:t>
            </a:r>
            <a:endParaRPr lang="en-US" sz="1000" dirty="0"/>
          </a:p>
          <a:p>
            <a:pPr algn="l" indent="0" marL="0">
              <a:lnSpc>
                <a:spcPct val="110000"/>
              </a:lnSpc>
              <a:buNone/>
            </a:pPr>
            <a:r>
              <a:rPr lang="en-US" sz="1000" b="1" dirty="0">
                <a:solidFill>
                  <a:srgbClr val="456174"/>
                </a:solidFill>
                <a:latin typeface="Aptos" pitchFamily="34" charset="0"/>
                <a:ea typeface="Aptos" pitchFamily="34" charset="-122"/>
                <a:cs typeface="Aptos" pitchFamily="34" charset="-120"/>
              </a:rPr>
              <a:t>to buy</a:t>
            </a:r>
            <a:endParaRPr lang="en-US" sz="1000" dirty="0"/>
          </a:p>
        </p:txBody>
      </p:sp>
      <p:sp>
        <p:nvSpPr>
          <p:cNvPr id="56" name="Shape 53"/>
          <p:cNvSpPr/>
          <p:nvPr/>
        </p:nvSpPr>
        <p:spPr>
          <a:xfrm>
            <a:off x="9400032" y="5660136"/>
            <a:ext cx="0" cy="530352"/>
          </a:xfrm>
          <a:prstGeom prst="line">
            <a:avLst/>
          </a:prstGeom>
          <a:noFill/>
          <a:ln w="9525">
            <a:solidFill>
              <a:srgbClr val="D8E4EA"/>
            </a:solidFill>
            <a:prstDash val="solid"/>
          </a:ln>
        </p:spPr>
        <p:txBody>
          <a:bodyPr/>
          <a:p/>
        </p:txBody>
      </p:sp>
      <p:sp>
        <p:nvSpPr>
          <p:cNvPr id="57" name="Rounded Rectangle 56"/>
          <p:cNvSpPr/>
          <p:nvPr/>
        </p:nvSpPr>
        <p:spPr>
          <a:xfrm>
            <a:off x="530352" y="4023360"/>
            <a:ext cx="4892040" cy="566928"/>
          </a:xfrm>
          <a:prstGeom prst="roundRect">
            <a:avLst>
              <a:gd name="adj" fmla="val 10000"/>
            </a:avLst>
          </a:prstGeom>
          <a:solidFill>
            <a:srgbClr val="E9EF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786384" y="4133088"/>
            <a:ext cx="1737360" cy="329184"/>
          </a:xfrm>
          <a:prstGeom prst="rect">
            <a:avLst/>
          </a:prstGeom>
          <a:noFill/>
        </p:spPr>
        <p:txBody>
          <a:bodyPr wrap="square" lIns="0" rIns="0" tIns="0" bIns="0" anchor="t">
            <a:spAutoFit/>
          </a:bodyPr>
          <a:lstStyle/>
          <a:p>
            <a:pPr algn="l">
              <a:lnSpc>
                <a:spcPct val="100000"/>
              </a:lnSpc>
            </a:pPr>
            <a:r>
              <a:rPr sz="1250" b="1" i="0">
                <a:solidFill>
                  <a:srgbClr val="0B1F33"/>
                </a:solidFill>
                <a:latin typeface="Aptos"/>
              </a:rPr>
              <a:t>Email chains</a:t>
            </a:r>
          </a:p>
        </p:txBody>
      </p:sp>
      <p:sp>
        <p:nvSpPr>
          <p:cNvPr id="59" name="TextBox 58"/>
          <p:cNvSpPr txBox="1"/>
          <p:nvPr/>
        </p:nvSpPr>
        <p:spPr>
          <a:xfrm>
            <a:off x="2542032" y="4151376"/>
            <a:ext cx="2743200" cy="310896"/>
          </a:xfrm>
          <a:prstGeom prst="rect">
            <a:avLst/>
          </a:prstGeom>
          <a:noFill/>
        </p:spPr>
        <p:txBody>
          <a:bodyPr wrap="square" lIns="0" rIns="0" tIns="0" bIns="0" anchor="t">
            <a:spAutoFit/>
          </a:bodyPr>
          <a:lstStyle/>
          <a:p>
            <a:pPr algn="l">
              <a:lnSpc>
                <a:spcPct val="100000"/>
              </a:lnSpc>
            </a:pPr>
            <a:r>
              <a:rPr sz="1050" b="0" i="0">
                <a:solidFill>
                  <a:srgbClr val="6F8491"/>
                </a:solidFill>
                <a:latin typeface="Aptos"/>
              </a:rPr>
              <a:t>Answered twice, filed nowhere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8</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WHAT YOU WILL SEE</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Eight things, in the order a load meets them.</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Every one of them is working portal functionality, not a plan.</a:t>
            </a:r>
            <a:endParaRPr lang="en-US" sz="1200" dirty="0"/>
          </a:p>
        </p:txBody>
      </p:sp>
      <p:sp>
        <p:nvSpPr>
          <p:cNvPr id="10" name="Text 7"/>
          <p:cNvSpPr txBox="1"/>
          <p:nvPr/>
        </p:nvSpPr>
        <p:spPr>
          <a:xfrm>
            <a:off x="530352" y="1609344"/>
            <a:ext cx="658368" cy="402336"/>
          </a:xfrm>
          <a:prstGeom prst="rect">
            <a:avLst/>
          </a:prstGeom>
          <a:noFill/>
          <a:ln/>
        </p:spPr>
        <p:txBody>
          <a:bodyPr wrap="square" lIns="0" tIns="0" rIns="0" bIns="0" rtlCol="0" anchor="t"/>
          <a:lstStyle/>
          <a:p>
            <a:pPr algn="l" indent="0" marL="0">
              <a:lnSpc>
                <a:spcPct val="100000"/>
              </a:lnSpc>
              <a:buNone/>
            </a:pPr>
            <a:r>
              <a:rPr lang="en-US" sz="2200" b="1" dirty="0">
                <a:solidFill>
                  <a:srgbClr val="0877C9"/>
                </a:solidFill>
                <a:latin typeface="Aptos Display" pitchFamily="34" charset="0"/>
                <a:ea typeface="Aptos Display" pitchFamily="34" charset="-122"/>
                <a:cs typeface="Aptos Display" pitchFamily="34" charset="-120"/>
              </a:rPr>
              <a:t>01</a:t>
            </a:r>
            <a:endParaRPr lang="en-US" sz="2200" dirty="0"/>
          </a:p>
        </p:txBody>
      </p:sp>
      <p:sp>
        <p:nvSpPr>
          <p:cNvPr id="11" name="Shape 8"/>
          <p:cNvSpPr/>
          <p:nvPr/>
        </p:nvSpPr>
        <p:spPr>
          <a:xfrm>
            <a:off x="1371600" y="1627632"/>
            <a:ext cx="0" cy="822960"/>
          </a:xfrm>
          <a:prstGeom prst="line">
            <a:avLst/>
          </a:prstGeom>
          <a:noFill/>
          <a:ln w="9525">
            <a:solidFill>
              <a:srgbClr val="D8E4EA"/>
            </a:solidFill>
            <a:prstDash val="solid"/>
          </a:ln>
        </p:spPr>
        <p:txBody>
          <a:bodyPr/>
          <a:p/>
        </p:txBody>
      </p:sp>
      <p:sp>
        <p:nvSpPr>
          <p:cNvPr id="12" name="Text 9"/>
          <p:cNvSpPr txBox="1"/>
          <p:nvPr/>
        </p:nvSpPr>
        <p:spPr>
          <a:xfrm>
            <a:off x="1627632" y="1591056"/>
            <a:ext cx="4206240" cy="365760"/>
          </a:xfrm>
          <a:prstGeom prst="rect">
            <a:avLst/>
          </a:prstGeom>
          <a:noFill/>
          <a:ln/>
        </p:spPr>
        <p:txBody>
          <a:bodyPr wrap="square" lIns="0" tIns="0" rIns="0" bIns="0" rtlCol="0" anchor="t"/>
          <a:lstStyle/>
          <a:p>
            <a:pPr algn="l" indent="0" marL="0">
              <a:lnSpc>
                <a:spcPct val="100000"/>
              </a:lnSpc>
              <a:buNone/>
            </a:pPr>
            <a:r>
              <a:rPr lang="en-US" sz="1700" b="1" dirty="0">
                <a:solidFill>
                  <a:srgbClr val="0B1F33"/>
                </a:solidFill>
                <a:latin typeface="Aptos Display" pitchFamily="34" charset="0"/>
                <a:ea typeface="Aptos Display" pitchFamily="34" charset="-122"/>
                <a:cs typeface="Aptos Display" pitchFamily="34" charset="-120"/>
              </a:rPr>
              <a:t>The board</a:t>
            </a:r>
            <a:endParaRPr lang="en-US" sz="1700" dirty="0"/>
          </a:p>
        </p:txBody>
      </p:sp>
      <p:sp>
        <p:nvSpPr>
          <p:cNvPr id="13" name="Text 10"/>
          <p:cNvSpPr txBox="1"/>
          <p:nvPr/>
        </p:nvSpPr>
        <p:spPr>
          <a:xfrm>
            <a:off x="1627632" y="2011680"/>
            <a:ext cx="4297680" cy="402336"/>
          </a:xfrm>
          <a:prstGeom prst="rect">
            <a:avLst/>
          </a:prstGeom>
          <a:noFill/>
          <a:ln/>
        </p:spPr>
        <p:txBody>
          <a:bodyPr wrap="square" lIns="0" tIns="0" rIns="0" bIns="0" rtlCol="0" anchor="t"/>
          <a:lstStyle/>
          <a:p>
            <a:pPr algn="l" indent="0" marL="0">
              <a:lnSpc>
                <a:spcPct val="110000"/>
              </a:lnSpc>
              <a:buNone/>
            </a:pPr>
            <a:r>
              <a:rPr lang="en-US" sz="1150" dirty="0">
                <a:solidFill>
                  <a:srgbClr val="456174"/>
                </a:solidFill>
                <a:latin typeface="Aptos" pitchFamily="34" charset="0"/>
                <a:ea typeface="Aptos" pitchFamily="34" charset="-122"/>
                <a:cs typeface="Aptos" pitchFamily="34" charset="-120"/>
              </a:rPr>
              <a:t>Every door, hour by hour, on one screen</a:t>
            </a:r>
            <a:endParaRPr lang="en-US" sz="1150" dirty="0"/>
          </a:p>
        </p:txBody>
      </p:sp>
      <p:sp>
        <p:nvSpPr>
          <p:cNvPr id="14" name="Text 11"/>
          <p:cNvSpPr txBox="1"/>
          <p:nvPr/>
        </p:nvSpPr>
        <p:spPr>
          <a:xfrm>
            <a:off x="530352" y="2724912"/>
            <a:ext cx="658368" cy="402336"/>
          </a:xfrm>
          <a:prstGeom prst="rect">
            <a:avLst/>
          </a:prstGeom>
          <a:noFill/>
          <a:ln/>
        </p:spPr>
        <p:txBody>
          <a:bodyPr wrap="square" lIns="0" tIns="0" rIns="0" bIns="0" rtlCol="0" anchor="t"/>
          <a:lstStyle/>
          <a:p>
            <a:pPr algn="l" indent="0" marL="0">
              <a:lnSpc>
                <a:spcPct val="100000"/>
              </a:lnSpc>
              <a:buNone/>
            </a:pPr>
            <a:r>
              <a:rPr lang="en-US" sz="2200" b="1" dirty="0">
                <a:solidFill>
                  <a:srgbClr val="0877C9"/>
                </a:solidFill>
                <a:latin typeface="Aptos Display" pitchFamily="34" charset="0"/>
                <a:ea typeface="Aptos Display" pitchFamily="34" charset="-122"/>
                <a:cs typeface="Aptos Display" pitchFamily="34" charset="-120"/>
              </a:rPr>
              <a:t>02</a:t>
            </a:r>
            <a:endParaRPr lang="en-US" sz="2200" dirty="0"/>
          </a:p>
        </p:txBody>
      </p:sp>
      <p:sp>
        <p:nvSpPr>
          <p:cNvPr id="15" name="Shape 12"/>
          <p:cNvSpPr/>
          <p:nvPr/>
        </p:nvSpPr>
        <p:spPr>
          <a:xfrm>
            <a:off x="1371600" y="2743200"/>
            <a:ext cx="0" cy="822960"/>
          </a:xfrm>
          <a:prstGeom prst="line">
            <a:avLst/>
          </a:prstGeom>
          <a:noFill/>
          <a:ln w="9525">
            <a:solidFill>
              <a:srgbClr val="D8E4EA"/>
            </a:solidFill>
            <a:prstDash val="solid"/>
          </a:ln>
        </p:spPr>
        <p:txBody>
          <a:bodyPr/>
          <a:p/>
        </p:txBody>
      </p:sp>
      <p:sp>
        <p:nvSpPr>
          <p:cNvPr id="16" name="Text 13"/>
          <p:cNvSpPr txBox="1"/>
          <p:nvPr/>
        </p:nvSpPr>
        <p:spPr>
          <a:xfrm>
            <a:off x="1627632" y="2706624"/>
            <a:ext cx="4206240" cy="365760"/>
          </a:xfrm>
          <a:prstGeom prst="rect">
            <a:avLst/>
          </a:prstGeom>
          <a:noFill/>
          <a:ln/>
        </p:spPr>
        <p:txBody>
          <a:bodyPr wrap="square" lIns="0" tIns="0" rIns="0" bIns="0" rtlCol="0" anchor="t"/>
          <a:lstStyle/>
          <a:p>
            <a:pPr algn="l" indent="0" marL="0">
              <a:lnSpc>
                <a:spcPct val="100000"/>
              </a:lnSpc>
              <a:buNone/>
            </a:pPr>
            <a:r>
              <a:rPr lang="en-US" sz="1700" b="1" dirty="0">
                <a:solidFill>
                  <a:srgbClr val="0B1F33"/>
                </a:solidFill>
                <a:latin typeface="Aptos Display" pitchFamily="34" charset="0"/>
                <a:ea typeface="Aptos Display" pitchFamily="34" charset="-122"/>
                <a:cs typeface="Aptos Display" pitchFamily="34" charset="-120"/>
              </a:rPr>
              <a:t>Combining freight</a:t>
            </a:r>
            <a:endParaRPr lang="en-US" sz="1700" dirty="0"/>
          </a:p>
        </p:txBody>
      </p:sp>
      <p:sp>
        <p:nvSpPr>
          <p:cNvPr id="17" name="Text 14"/>
          <p:cNvSpPr txBox="1"/>
          <p:nvPr/>
        </p:nvSpPr>
        <p:spPr>
          <a:xfrm>
            <a:off x="1627632" y="3127248"/>
            <a:ext cx="4297680" cy="402336"/>
          </a:xfrm>
          <a:prstGeom prst="rect">
            <a:avLst/>
          </a:prstGeom>
          <a:noFill/>
          <a:ln/>
        </p:spPr>
        <p:txBody>
          <a:bodyPr wrap="square" lIns="0" tIns="0" rIns="0" bIns="0" rtlCol="0" anchor="t"/>
          <a:lstStyle/>
          <a:p>
            <a:pPr algn="l" indent="0" marL="0">
              <a:lnSpc>
                <a:spcPct val="110000"/>
              </a:lnSpc>
              <a:buNone/>
            </a:pPr>
            <a:r>
              <a:rPr lang="en-US" sz="1150" dirty="0">
                <a:solidFill>
                  <a:srgbClr val="456174"/>
                </a:solidFill>
                <a:latin typeface="Aptos" pitchFamily="34" charset="0"/>
                <a:ea typeface="Aptos" pitchFamily="34" charset="-122"/>
                <a:cs typeface="Aptos" pitchFamily="34" charset="-120"/>
              </a:rPr>
              <a:t>Two half-empty trailers become one truck</a:t>
            </a:r>
            <a:endParaRPr lang="en-US" sz="1150" dirty="0"/>
          </a:p>
        </p:txBody>
      </p:sp>
      <p:sp>
        <p:nvSpPr>
          <p:cNvPr id="18" name="Text 15"/>
          <p:cNvSpPr txBox="1"/>
          <p:nvPr/>
        </p:nvSpPr>
        <p:spPr>
          <a:xfrm>
            <a:off x="530352" y="3840480"/>
            <a:ext cx="658368" cy="402336"/>
          </a:xfrm>
          <a:prstGeom prst="rect">
            <a:avLst/>
          </a:prstGeom>
          <a:noFill/>
          <a:ln/>
        </p:spPr>
        <p:txBody>
          <a:bodyPr wrap="square" lIns="0" tIns="0" rIns="0" bIns="0" rtlCol="0" anchor="t"/>
          <a:lstStyle/>
          <a:p>
            <a:pPr algn="l" indent="0" marL="0">
              <a:lnSpc>
                <a:spcPct val="100000"/>
              </a:lnSpc>
              <a:buNone/>
            </a:pPr>
            <a:r>
              <a:rPr lang="en-US" sz="2200" b="1" dirty="0">
                <a:solidFill>
                  <a:srgbClr val="0877C9"/>
                </a:solidFill>
                <a:latin typeface="Aptos Display" pitchFamily="34" charset="0"/>
                <a:ea typeface="Aptos Display" pitchFamily="34" charset="-122"/>
                <a:cs typeface="Aptos Display" pitchFamily="34" charset="-120"/>
              </a:rPr>
              <a:t>03</a:t>
            </a:r>
            <a:endParaRPr lang="en-US" sz="2200" dirty="0"/>
          </a:p>
        </p:txBody>
      </p:sp>
      <p:sp>
        <p:nvSpPr>
          <p:cNvPr id="19" name="Shape 16"/>
          <p:cNvSpPr/>
          <p:nvPr/>
        </p:nvSpPr>
        <p:spPr>
          <a:xfrm>
            <a:off x="1371600" y="3858768"/>
            <a:ext cx="0" cy="822960"/>
          </a:xfrm>
          <a:prstGeom prst="line">
            <a:avLst/>
          </a:prstGeom>
          <a:noFill/>
          <a:ln w="9525">
            <a:solidFill>
              <a:srgbClr val="D8E4EA"/>
            </a:solidFill>
            <a:prstDash val="solid"/>
          </a:ln>
        </p:spPr>
        <p:txBody>
          <a:bodyPr/>
          <a:p/>
        </p:txBody>
      </p:sp>
      <p:sp>
        <p:nvSpPr>
          <p:cNvPr id="20" name="Text 17"/>
          <p:cNvSpPr txBox="1"/>
          <p:nvPr/>
        </p:nvSpPr>
        <p:spPr>
          <a:xfrm>
            <a:off x="1627632" y="3822192"/>
            <a:ext cx="4206240" cy="365760"/>
          </a:xfrm>
          <a:prstGeom prst="rect">
            <a:avLst/>
          </a:prstGeom>
          <a:noFill/>
          <a:ln/>
        </p:spPr>
        <p:txBody>
          <a:bodyPr wrap="square" lIns="0" tIns="0" rIns="0" bIns="0" rtlCol="0" anchor="t"/>
          <a:lstStyle/>
          <a:p>
            <a:pPr algn="l" indent="0" marL="0">
              <a:lnSpc>
                <a:spcPct val="100000"/>
              </a:lnSpc>
              <a:buNone/>
            </a:pPr>
            <a:r>
              <a:rPr lang="en-US" sz="1700" b="1" dirty="0">
                <a:solidFill>
                  <a:srgbClr val="0B1F33"/>
                </a:solidFill>
                <a:latin typeface="Aptos Display" pitchFamily="34" charset="0"/>
                <a:ea typeface="Aptos Display" pitchFamily="34" charset="-122"/>
                <a:cs typeface="Aptos Display" pitchFamily="34" charset="-120"/>
              </a:rPr>
              <a:t>Booking</a:t>
            </a:r>
            <a:endParaRPr lang="en-US" sz="1700" dirty="0"/>
          </a:p>
        </p:txBody>
      </p:sp>
      <p:sp>
        <p:nvSpPr>
          <p:cNvPr id="21" name="Text 18"/>
          <p:cNvSpPr txBox="1"/>
          <p:nvPr/>
        </p:nvSpPr>
        <p:spPr>
          <a:xfrm>
            <a:off x="1627632" y="4242816"/>
            <a:ext cx="4297680" cy="402336"/>
          </a:xfrm>
          <a:prstGeom prst="rect">
            <a:avLst/>
          </a:prstGeom>
          <a:noFill/>
          <a:ln/>
        </p:spPr>
        <p:txBody>
          <a:bodyPr wrap="square" lIns="0" tIns="0" rIns="0" bIns="0" rtlCol="0" anchor="t"/>
          <a:lstStyle/>
          <a:p>
            <a:pPr algn="l" indent="0" marL="0">
              <a:lnSpc>
                <a:spcPct val="110000"/>
              </a:lnSpc>
              <a:buNone/>
            </a:pPr>
            <a:r>
              <a:rPr lang="en-US" sz="1150" dirty="0">
                <a:solidFill>
                  <a:srgbClr val="456174"/>
                </a:solidFill>
                <a:latin typeface="Aptos" pitchFamily="34" charset="0"/>
                <a:ea typeface="Aptos" pitchFamily="34" charset="-122"/>
                <a:cs typeface="Aptos" pitchFamily="34" charset="-120"/>
              </a:rPr>
              <a:t>The supplier books it; nobody answers the phone</a:t>
            </a:r>
            <a:endParaRPr lang="en-US" sz="1150" dirty="0"/>
          </a:p>
        </p:txBody>
      </p:sp>
      <p:sp>
        <p:nvSpPr>
          <p:cNvPr id="22" name="Text 19"/>
          <p:cNvSpPr txBox="1"/>
          <p:nvPr/>
        </p:nvSpPr>
        <p:spPr>
          <a:xfrm>
            <a:off x="530352" y="4956048"/>
            <a:ext cx="658368" cy="402336"/>
          </a:xfrm>
          <a:prstGeom prst="rect">
            <a:avLst/>
          </a:prstGeom>
          <a:noFill/>
          <a:ln/>
        </p:spPr>
        <p:txBody>
          <a:bodyPr wrap="square" lIns="0" tIns="0" rIns="0" bIns="0" rtlCol="0" anchor="t"/>
          <a:lstStyle/>
          <a:p>
            <a:pPr algn="l" indent="0" marL="0">
              <a:lnSpc>
                <a:spcPct val="100000"/>
              </a:lnSpc>
              <a:buNone/>
            </a:pPr>
            <a:r>
              <a:rPr lang="en-US" sz="2200" b="1" dirty="0">
                <a:solidFill>
                  <a:srgbClr val="0877C9"/>
                </a:solidFill>
                <a:latin typeface="Aptos Display" pitchFamily="34" charset="0"/>
                <a:ea typeface="Aptos Display" pitchFamily="34" charset="-122"/>
                <a:cs typeface="Aptos Display" pitchFamily="34" charset="-120"/>
              </a:rPr>
              <a:t>04</a:t>
            </a:r>
            <a:endParaRPr lang="en-US" sz="2200" dirty="0"/>
          </a:p>
        </p:txBody>
      </p:sp>
      <p:sp>
        <p:nvSpPr>
          <p:cNvPr id="23" name="Shape 20"/>
          <p:cNvSpPr/>
          <p:nvPr/>
        </p:nvSpPr>
        <p:spPr>
          <a:xfrm>
            <a:off x="1371600" y="4974336"/>
            <a:ext cx="0" cy="822960"/>
          </a:xfrm>
          <a:prstGeom prst="line">
            <a:avLst/>
          </a:prstGeom>
          <a:noFill/>
          <a:ln w="9525">
            <a:solidFill>
              <a:srgbClr val="D8E4EA"/>
            </a:solidFill>
            <a:prstDash val="solid"/>
          </a:ln>
        </p:spPr>
        <p:txBody>
          <a:bodyPr/>
          <a:p/>
        </p:txBody>
      </p:sp>
      <p:sp>
        <p:nvSpPr>
          <p:cNvPr id="24" name="Text 21"/>
          <p:cNvSpPr txBox="1"/>
          <p:nvPr/>
        </p:nvSpPr>
        <p:spPr>
          <a:xfrm>
            <a:off x="1627632" y="4937760"/>
            <a:ext cx="4206240" cy="365760"/>
          </a:xfrm>
          <a:prstGeom prst="rect">
            <a:avLst/>
          </a:prstGeom>
          <a:noFill/>
          <a:ln/>
        </p:spPr>
        <p:txBody>
          <a:bodyPr wrap="square" lIns="0" tIns="0" rIns="0" bIns="0" rtlCol="0" anchor="t"/>
          <a:lstStyle/>
          <a:p>
            <a:pPr algn="l" indent="0" marL="0">
              <a:lnSpc>
                <a:spcPct val="100000"/>
              </a:lnSpc>
              <a:buNone/>
            </a:pPr>
            <a:r>
              <a:rPr lang="en-US" sz="1700" b="1" dirty="0">
                <a:solidFill>
                  <a:srgbClr val="0B1F33"/>
                </a:solidFill>
                <a:latin typeface="Aptos Display" pitchFamily="34" charset="0"/>
                <a:ea typeface="Aptos Display" pitchFamily="34" charset="-122"/>
                <a:cs typeface="Aptos Display" pitchFamily="34" charset="-120"/>
              </a:rPr>
              <a:t>At the dock</a:t>
            </a:r>
            <a:endParaRPr lang="en-US" sz="1700" dirty="0"/>
          </a:p>
        </p:txBody>
      </p:sp>
      <p:sp>
        <p:nvSpPr>
          <p:cNvPr id="25" name="Text 22"/>
          <p:cNvSpPr txBox="1"/>
          <p:nvPr/>
        </p:nvSpPr>
        <p:spPr>
          <a:xfrm>
            <a:off x="1627632" y="5358384"/>
            <a:ext cx="4297680" cy="402336"/>
          </a:xfrm>
          <a:prstGeom prst="rect">
            <a:avLst/>
          </a:prstGeom>
          <a:noFill/>
          <a:ln/>
        </p:spPr>
        <p:txBody>
          <a:bodyPr wrap="square" lIns="0" tIns="0" rIns="0" bIns="0" rtlCol="0" anchor="t"/>
          <a:lstStyle/>
          <a:p>
            <a:pPr algn="l" indent="0" marL="0">
              <a:lnSpc>
                <a:spcPct val="110000"/>
              </a:lnSpc>
              <a:buNone/>
            </a:pPr>
            <a:r>
              <a:rPr lang="en-US" sz="1150" dirty="0">
                <a:solidFill>
                  <a:srgbClr val="456174"/>
                </a:solidFill>
                <a:latin typeface="Aptos" pitchFamily="34" charset="0"/>
                <a:ea typeface="Aptos" pitchFamily="34" charset="-122"/>
                <a:cs typeface="Aptos" pitchFamily="34" charset="-120"/>
              </a:rPr>
              <a:t>A phone, three buttons, and every tap a timestamp</a:t>
            </a:r>
            <a:endParaRPr lang="en-US" sz="1150" dirty="0"/>
          </a:p>
        </p:txBody>
      </p:sp>
      <p:sp>
        <p:nvSpPr>
          <p:cNvPr id="26" name="Text 23"/>
          <p:cNvSpPr txBox="1"/>
          <p:nvPr/>
        </p:nvSpPr>
        <p:spPr>
          <a:xfrm>
            <a:off x="6291072" y="1609344"/>
            <a:ext cx="658368" cy="402336"/>
          </a:xfrm>
          <a:prstGeom prst="rect">
            <a:avLst/>
          </a:prstGeom>
          <a:noFill/>
          <a:ln/>
        </p:spPr>
        <p:txBody>
          <a:bodyPr wrap="square" lIns="0" tIns="0" rIns="0" bIns="0" rtlCol="0" anchor="t"/>
          <a:lstStyle/>
          <a:p>
            <a:pPr algn="l" indent="0" marL="0">
              <a:lnSpc>
                <a:spcPct val="100000"/>
              </a:lnSpc>
              <a:buNone/>
            </a:pPr>
            <a:r>
              <a:rPr lang="en-US" sz="2200" b="1" dirty="0">
                <a:solidFill>
                  <a:srgbClr val="14A66A"/>
                </a:solidFill>
                <a:latin typeface="Aptos Display" pitchFamily="34" charset="0"/>
                <a:ea typeface="Aptos Display" pitchFamily="34" charset="-122"/>
                <a:cs typeface="Aptos Display" pitchFamily="34" charset="-120"/>
              </a:rPr>
              <a:t>05</a:t>
            </a:r>
            <a:endParaRPr lang="en-US" sz="2200" dirty="0"/>
          </a:p>
        </p:txBody>
      </p:sp>
      <p:sp>
        <p:nvSpPr>
          <p:cNvPr id="27" name="Shape 24"/>
          <p:cNvSpPr/>
          <p:nvPr/>
        </p:nvSpPr>
        <p:spPr>
          <a:xfrm>
            <a:off x="7132320" y="1627632"/>
            <a:ext cx="0" cy="822960"/>
          </a:xfrm>
          <a:prstGeom prst="line">
            <a:avLst/>
          </a:prstGeom>
          <a:noFill/>
          <a:ln w="9525">
            <a:solidFill>
              <a:srgbClr val="D8E4EA"/>
            </a:solidFill>
            <a:prstDash val="solid"/>
          </a:ln>
        </p:spPr>
        <p:txBody>
          <a:bodyPr/>
          <a:p/>
        </p:txBody>
      </p:sp>
      <p:sp>
        <p:nvSpPr>
          <p:cNvPr id="28" name="Text 25"/>
          <p:cNvSpPr txBox="1"/>
          <p:nvPr/>
        </p:nvSpPr>
        <p:spPr>
          <a:xfrm>
            <a:off x="7388352" y="1591056"/>
            <a:ext cx="4206240" cy="365760"/>
          </a:xfrm>
          <a:prstGeom prst="rect">
            <a:avLst/>
          </a:prstGeom>
          <a:noFill/>
          <a:ln/>
        </p:spPr>
        <p:txBody>
          <a:bodyPr wrap="square" lIns="0" tIns="0" rIns="0" bIns="0" rtlCol="0" anchor="t"/>
          <a:lstStyle/>
          <a:p>
            <a:pPr algn="l" indent="0" marL="0">
              <a:lnSpc>
                <a:spcPct val="100000"/>
              </a:lnSpc>
              <a:buNone/>
            </a:pPr>
            <a:r>
              <a:rPr lang="en-US" sz="1700" b="1" dirty="0">
                <a:solidFill>
                  <a:srgbClr val="0B1F33"/>
                </a:solidFill>
                <a:latin typeface="Aptos Display" pitchFamily="34" charset="0"/>
                <a:ea typeface="Aptos Display" pitchFamily="34" charset="-122"/>
                <a:cs typeface="Aptos Display" pitchFamily="34" charset="-120"/>
              </a:rPr>
              <a:t>What it measures</a:t>
            </a:r>
            <a:endParaRPr lang="en-US" sz="1700" dirty="0"/>
          </a:p>
        </p:txBody>
      </p:sp>
      <p:sp>
        <p:nvSpPr>
          <p:cNvPr id="29" name="Text 26"/>
          <p:cNvSpPr txBox="1"/>
          <p:nvPr/>
        </p:nvSpPr>
        <p:spPr>
          <a:xfrm>
            <a:off x="7388352" y="2011680"/>
            <a:ext cx="4297680" cy="402336"/>
          </a:xfrm>
          <a:prstGeom prst="rect">
            <a:avLst/>
          </a:prstGeom>
          <a:noFill/>
          <a:ln/>
        </p:spPr>
        <p:txBody>
          <a:bodyPr wrap="square" lIns="0" tIns="0" rIns="0" bIns="0" rtlCol="0" anchor="t"/>
          <a:lstStyle/>
          <a:p>
            <a:pPr algn="l" indent="0" marL="0">
              <a:lnSpc>
                <a:spcPct val="110000"/>
              </a:lnSpc>
              <a:buNone/>
            </a:pPr>
            <a:r>
              <a:rPr lang="en-US" sz="1150" dirty="0">
                <a:solidFill>
                  <a:srgbClr val="456174"/>
                </a:solidFill>
                <a:latin typeface="Aptos" pitchFamily="34" charset="0"/>
                <a:ea typeface="Aptos" pitchFamily="34" charset="-122"/>
                <a:cs typeface="Aptos" pitchFamily="34" charset="-120"/>
              </a:rPr>
              <a:t>Who keeps their appointment, and how much we saw</a:t>
            </a:r>
            <a:endParaRPr lang="en-US" sz="1150" dirty="0"/>
          </a:p>
        </p:txBody>
      </p:sp>
      <p:sp>
        <p:nvSpPr>
          <p:cNvPr id="30" name="Text 27"/>
          <p:cNvSpPr txBox="1"/>
          <p:nvPr/>
        </p:nvSpPr>
        <p:spPr>
          <a:xfrm>
            <a:off x="6291072" y="2724912"/>
            <a:ext cx="658368" cy="402336"/>
          </a:xfrm>
          <a:prstGeom prst="rect">
            <a:avLst/>
          </a:prstGeom>
          <a:noFill/>
          <a:ln/>
        </p:spPr>
        <p:txBody>
          <a:bodyPr wrap="square" lIns="0" tIns="0" rIns="0" bIns="0" rtlCol="0" anchor="t"/>
          <a:lstStyle/>
          <a:p>
            <a:pPr algn="l" indent="0" marL="0">
              <a:lnSpc>
                <a:spcPct val="100000"/>
              </a:lnSpc>
              <a:buNone/>
            </a:pPr>
            <a:r>
              <a:rPr lang="en-US" sz="2200" b="1" dirty="0">
                <a:solidFill>
                  <a:srgbClr val="14A66A"/>
                </a:solidFill>
                <a:latin typeface="Aptos Display" pitchFamily="34" charset="0"/>
                <a:ea typeface="Aptos Display" pitchFamily="34" charset="-122"/>
                <a:cs typeface="Aptos Display" pitchFamily="34" charset="-120"/>
              </a:rPr>
              <a:t>06</a:t>
            </a:r>
            <a:endParaRPr lang="en-US" sz="2200" dirty="0"/>
          </a:p>
        </p:txBody>
      </p:sp>
      <p:sp>
        <p:nvSpPr>
          <p:cNvPr id="31" name="Shape 28"/>
          <p:cNvSpPr/>
          <p:nvPr/>
        </p:nvSpPr>
        <p:spPr>
          <a:xfrm>
            <a:off x="7132320" y="2743200"/>
            <a:ext cx="0" cy="822960"/>
          </a:xfrm>
          <a:prstGeom prst="line">
            <a:avLst/>
          </a:prstGeom>
          <a:noFill/>
          <a:ln w="9525">
            <a:solidFill>
              <a:srgbClr val="D8E4EA"/>
            </a:solidFill>
            <a:prstDash val="solid"/>
          </a:ln>
        </p:spPr>
        <p:txBody>
          <a:bodyPr/>
          <a:p/>
        </p:txBody>
      </p:sp>
      <p:sp>
        <p:nvSpPr>
          <p:cNvPr id="32" name="Text 29"/>
          <p:cNvSpPr txBox="1"/>
          <p:nvPr/>
        </p:nvSpPr>
        <p:spPr>
          <a:xfrm>
            <a:off x="7388352" y="2706624"/>
            <a:ext cx="4206240" cy="365760"/>
          </a:xfrm>
          <a:prstGeom prst="rect">
            <a:avLst/>
          </a:prstGeom>
          <a:noFill/>
          <a:ln/>
        </p:spPr>
        <p:txBody>
          <a:bodyPr wrap="square" lIns="0" tIns="0" rIns="0" bIns="0" rtlCol="0" anchor="t"/>
          <a:lstStyle/>
          <a:p>
            <a:pPr algn="l" indent="0" marL="0">
              <a:lnSpc>
                <a:spcPct val="100000"/>
              </a:lnSpc>
              <a:buNone/>
            </a:pPr>
            <a:r>
              <a:rPr lang="en-US" sz="1700" b="1" dirty="0">
                <a:solidFill>
                  <a:srgbClr val="0B1F33"/>
                </a:solidFill>
                <a:latin typeface="Aptos Display" pitchFamily="34" charset="0"/>
                <a:ea typeface="Aptos Display" pitchFamily="34" charset="-122"/>
                <a:cs typeface="Aptos Display" pitchFamily="34" charset="-120"/>
              </a:rPr>
              <a:t>Compared</a:t>
            </a:r>
            <a:endParaRPr lang="en-US" sz="1700" dirty="0"/>
          </a:p>
        </p:txBody>
      </p:sp>
      <p:sp>
        <p:nvSpPr>
          <p:cNvPr id="33" name="Text 30"/>
          <p:cNvSpPr txBox="1"/>
          <p:nvPr/>
        </p:nvSpPr>
        <p:spPr>
          <a:xfrm>
            <a:off x="7388352" y="3127248"/>
            <a:ext cx="4297680" cy="402336"/>
          </a:xfrm>
          <a:prstGeom prst="rect">
            <a:avLst/>
          </a:prstGeom>
          <a:noFill/>
          <a:ln/>
        </p:spPr>
        <p:txBody>
          <a:bodyPr wrap="square" lIns="0" tIns="0" rIns="0" bIns="0" rtlCol="0" anchor="t"/>
          <a:lstStyle/>
          <a:p>
            <a:pPr algn="l" indent="0" marL="0">
              <a:lnSpc>
                <a:spcPct val="110000"/>
              </a:lnSpc>
              <a:buNone/>
            </a:pPr>
            <a:r>
              <a:rPr lang="en-US" sz="1150" dirty="0">
                <a:solidFill>
                  <a:srgbClr val="456174"/>
                </a:solidFill>
                <a:latin typeface="Aptos" pitchFamily="34" charset="0"/>
                <a:ea typeface="Aptos" pitchFamily="34" charset="-122"/>
                <a:cs typeface="Aptos" pitchFamily="34" charset="-120"/>
              </a:rPr>
              <a:t>Where MaxDock differs from what is on the market</a:t>
            </a:r>
            <a:endParaRPr lang="en-US" sz="1150" dirty="0"/>
          </a:p>
        </p:txBody>
      </p:sp>
      <p:sp>
        <p:nvSpPr>
          <p:cNvPr id="34" name="Text 31"/>
          <p:cNvSpPr txBox="1"/>
          <p:nvPr/>
        </p:nvSpPr>
        <p:spPr>
          <a:xfrm>
            <a:off x="6291072" y="3840480"/>
            <a:ext cx="658368" cy="402336"/>
          </a:xfrm>
          <a:prstGeom prst="rect">
            <a:avLst/>
          </a:prstGeom>
          <a:noFill/>
          <a:ln/>
        </p:spPr>
        <p:txBody>
          <a:bodyPr wrap="square" lIns="0" tIns="0" rIns="0" bIns="0" rtlCol="0" anchor="t"/>
          <a:lstStyle/>
          <a:p>
            <a:pPr algn="l" indent="0" marL="0">
              <a:lnSpc>
                <a:spcPct val="100000"/>
              </a:lnSpc>
              <a:buNone/>
            </a:pPr>
            <a:r>
              <a:rPr lang="en-US" sz="2200" b="1" dirty="0">
                <a:solidFill>
                  <a:srgbClr val="14A66A"/>
                </a:solidFill>
                <a:latin typeface="Aptos Display" pitchFamily="34" charset="0"/>
                <a:ea typeface="Aptos Display" pitchFamily="34" charset="-122"/>
                <a:cs typeface="Aptos Display" pitchFamily="34" charset="-120"/>
              </a:rPr>
              <a:t>07</a:t>
            </a:r>
            <a:endParaRPr lang="en-US" sz="2200" dirty="0"/>
          </a:p>
        </p:txBody>
      </p:sp>
      <p:sp>
        <p:nvSpPr>
          <p:cNvPr id="35" name="Shape 32"/>
          <p:cNvSpPr/>
          <p:nvPr/>
        </p:nvSpPr>
        <p:spPr>
          <a:xfrm>
            <a:off x="7132320" y="3858768"/>
            <a:ext cx="0" cy="822960"/>
          </a:xfrm>
          <a:prstGeom prst="line">
            <a:avLst/>
          </a:prstGeom>
          <a:noFill/>
          <a:ln w="9525">
            <a:solidFill>
              <a:srgbClr val="D8E4EA"/>
            </a:solidFill>
            <a:prstDash val="solid"/>
          </a:ln>
        </p:spPr>
        <p:txBody>
          <a:bodyPr/>
          <a:p/>
        </p:txBody>
      </p:sp>
      <p:sp>
        <p:nvSpPr>
          <p:cNvPr id="36" name="Text 33"/>
          <p:cNvSpPr txBox="1"/>
          <p:nvPr/>
        </p:nvSpPr>
        <p:spPr>
          <a:xfrm>
            <a:off x="7388352" y="3822192"/>
            <a:ext cx="4206240" cy="365760"/>
          </a:xfrm>
          <a:prstGeom prst="rect">
            <a:avLst/>
          </a:prstGeom>
          <a:noFill/>
          <a:ln/>
        </p:spPr>
        <p:txBody>
          <a:bodyPr wrap="square" lIns="0" tIns="0" rIns="0" bIns="0" rtlCol="0" anchor="t"/>
          <a:lstStyle/>
          <a:p>
            <a:pPr algn="l" indent="0" marL="0">
              <a:lnSpc>
                <a:spcPct val="100000"/>
              </a:lnSpc>
              <a:buNone/>
            </a:pPr>
            <a:r>
              <a:rPr lang="en-US" sz="1700" b="1" dirty="0">
                <a:solidFill>
                  <a:srgbClr val="0B1F33"/>
                </a:solidFill>
                <a:latin typeface="Aptos Display" pitchFamily="34" charset="0"/>
                <a:ea typeface="Aptos Display" pitchFamily="34" charset="-122"/>
                <a:cs typeface="Aptos Display" pitchFamily="34" charset="-120"/>
              </a:rPr>
              <a:t>Where it stands</a:t>
            </a:r>
            <a:endParaRPr lang="en-US" sz="1700" dirty="0"/>
          </a:p>
        </p:txBody>
      </p:sp>
      <p:sp>
        <p:nvSpPr>
          <p:cNvPr id="37" name="Text 34"/>
          <p:cNvSpPr txBox="1"/>
          <p:nvPr/>
        </p:nvSpPr>
        <p:spPr>
          <a:xfrm>
            <a:off x="7388352" y="4242816"/>
            <a:ext cx="4297680" cy="402336"/>
          </a:xfrm>
          <a:prstGeom prst="rect">
            <a:avLst/>
          </a:prstGeom>
          <a:noFill/>
          <a:ln/>
        </p:spPr>
        <p:txBody>
          <a:bodyPr wrap="square" lIns="0" tIns="0" rIns="0" bIns="0" rtlCol="0" anchor="t"/>
          <a:lstStyle/>
          <a:p>
            <a:pPr algn="l" indent="0" marL="0">
              <a:lnSpc>
                <a:spcPct val="110000"/>
              </a:lnSpc>
              <a:buNone/>
            </a:pPr>
            <a:r>
              <a:rPr lang="en-US" sz="1150" dirty="0">
                <a:solidFill>
                  <a:srgbClr val="456174"/>
                </a:solidFill>
                <a:latin typeface="Aptos" pitchFamily="34" charset="0"/>
                <a:ea typeface="Aptos" pitchFamily="34" charset="-122"/>
                <a:cs typeface="Aptos" pitchFamily="34" charset="-120"/>
              </a:rPr>
              <a:t>Built, not built, and deliberately not building</a:t>
            </a:r>
            <a:endParaRPr lang="en-US" sz="1150" dirty="0"/>
          </a:p>
        </p:txBody>
      </p:sp>
      <p:sp>
        <p:nvSpPr>
          <p:cNvPr id="38" name="Text 35"/>
          <p:cNvSpPr txBox="1"/>
          <p:nvPr/>
        </p:nvSpPr>
        <p:spPr>
          <a:xfrm>
            <a:off x="6291072" y="4956048"/>
            <a:ext cx="658368" cy="402336"/>
          </a:xfrm>
          <a:prstGeom prst="rect">
            <a:avLst/>
          </a:prstGeom>
          <a:noFill/>
          <a:ln/>
        </p:spPr>
        <p:txBody>
          <a:bodyPr wrap="square" lIns="0" tIns="0" rIns="0" bIns="0" rtlCol="0" anchor="t"/>
          <a:lstStyle/>
          <a:p>
            <a:pPr algn="l" indent="0" marL="0">
              <a:lnSpc>
                <a:spcPct val="100000"/>
              </a:lnSpc>
              <a:buNone/>
            </a:pPr>
            <a:r>
              <a:rPr lang="en-US" sz="2200" b="1" dirty="0">
                <a:solidFill>
                  <a:srgbClr val="14A66A"/>
                </a:solidFill>
                <a:latin typeface="Aptos Display" pitchFamily="34" charset="0"/>
                <a:ea typeface="Aptos Display" pitchFamily="34" charset="-122"/>
                <a:cs typeface="Aptos Display" pitchFamily="34" charset="-120"/>
              </a:rPr>
              <a:t>08</a:t>
            </a:r>
            <a:endParaRPr lang="en-US" sz="2200" dirty="0"/>
          </a:p>
        </p:txBody>
      </p:sp>
      <p:sp>
        <p:nvSpPr>
          <p:cNvPr id="39" name="Shape 36"/>
          <p:cNvSpPr/>
          <p:nvPr/>
        </p:nvSpPr>
        <p:spPr>
          <a:xfrm>
            <a:off x="7132320" y="4974336"/>
            <a:ext cx="0" cy="822960"/>
          </a:xfrm>
          <a:prstGeom prst="line">
            <a:avLst/>
          </a:prstGeom>
          <a:noFill/>
          <a:ln w="9525">
            <a:solidFill>
              <a:srgbClr val="D8E4EA"/>
            </a:solidFill>
            <a:prstDash val="solid"/>
          </a:ln>
        </p:spPr>
        <p:txBody>
          <a:bodyPr/>
          <a:p/>
        </p:txBody>
      </p:sp>
      <p:sp>
        <p:nvSpPr>
          <p:cNvPr id="40" name="Text 37"/>
          <p:cNvSpPr txBox="1"/>
          <p:nvPr/>
        </p:nvSpPr>
        <p:spPr>
          <a:xfrm>
            <a:off x="7388352" y="4937760"/>
            <a:ext cx="4206240" cy="365760"/>
          </a:xfrm>
          <a:prstGeom prst="rect">
            <a:avLst/>
          </a:prstGeom>
          <a:noFill/>
          <a:ln/>
        </p:spPr>
        <p:txBody>
          <a:bodyPr wrap="square" lIns="0" tIns="0" rIns="0" bIns="0" rtlCol="0" anchor="t"/>
          <a:lstStyle/>
          <a:p>
            <a:pPr algn="l" indent="0" marL="0">
              <a:lnSpc>
                <a:spcPct val="100000"/>
              </a:lnSpc>
              <a:buNone/>
            </a:pPr>
            <a:r>
              <a:rPr lang="en-US" sz="1700" b="1" dirty="0">
                <a:solidFill>
                  <a:srgbClr val="0B1F33"/>
                </a:solidFill>
                <a:latin typeface="Aptos Display" pitchFamily="34" charset="0"/>
                <a:ea typeface="Aptos Display" pitchFamily="34" charset="-122"/>
                <a:cs typeface="Aptos Display" pitchFamily="34" charset="-120"/>
              </a:rPr>
              <a:t>What we need</a:t>
            </a:r>
            <a:endParaRPr lang="en-US" sz="1700" dirty="0"/>
          </a:p>
        </p:txBody>
      </p:sp>
      <p:sp>
        <p:nvSpPr>
          <p:cNvPr id="41" name="Text 38"/>
          <p:cNvSpPr txBox="1"/>
          <p:nvPr/>
        </p:nvSpPr>
        <p:spPr>
          <a:xfrm>
            <a:off x="7388352" y="5358384"/>
            <a:ext cx="4297680" cy="402336"/>
          </a:xfrm>
          <a:prstGeom prst="rect">
            <a:avLst/>
          </a:prstGeom>
          <a:noFill/>
          <a:ln/>
        </p:spPr>
        <p:txBody>
          <a:bodyPr wrap="square" lIns="0" tIns="0" rIns="0" bIns="0" rtlCol="0" anchor="t"/>
          <a:lstStyle/>
          <a:p>
            <a:pPr algn="l" indent="0" marL="0">
              <a:lnSpc>
                <a:spcPct val="110000"/>
              </a:lnSpc>
              <a:buNone/>
            </a:pPr>
            <a:r>
              <a:rPr lang="en-US" sz="1150" dirty="0">
                <a:solidFill>
                  <a:srgbClr val="456174"/>
                </a:solidFill>
                <a:latin typeface="Aptos" pitchFamily="34" charset="0"/>
                <a:ea typeface="Aptos" pitchFamily="34" charset="-122"/>
                <a:cs typeface="Aptos" pitchFamily="34" charset="-120"/>
              </a:rPr>
              <a:t>Five decisions, none of them technical</a:t>
            </a:r>
            <a:endParaRPr lang="en-US" sz="1150" dirty="0"/>
          </a:p>
        </p:txBody>
      </p:sp>
      <p:sp>
        <p:nvSpPr>
          <p:cNvPr id="42" name="Shape 39"/>
          <p:cNvSpPr/>
          <p:nvPr/>
        </p:nvSpPr>
        <p:spPr>
          <a:xfrm>
            <a:off x="530352" y="5943600"/>
            <a:ext cx="11130991" cy="384048"/>
          </a:xfrm>
          <a:prstGeom prst="roundRect">
            <a:avLst>
              <a:gd name="adj" fmla="val 12000"/>
            </a:avLst>
          </a:prstGeom>
          <a:solidFill>
            <a:srgbClr val="E4EFF9"/>
          </a:solidFill>
          <a:ln/>
        </p:spPr>
        <p:txBody>
          <a:bodyPr/>
          <a:p/>
        </p:txBody>
      </p:sp>
      <p:sp>
        <p:nvSpPr>
          <p:cNvPr id="43" name="Text 40"/>
          <p:cNvSpPr txBox="1"/>
          <p:nvPr/>
        </p:nvSpPr>
        <p:spPr>
          <a:xfrm>
            <a:off x="859536" y="5943600"/>
            <a:ext cx="10472623" cy="384048"/>
          </a:xfrm>
          <a:prstGeom prst="rect">
            <a:avLst/>
          </a:prstGeom>
          <a:noFill/>
          <a:ln/>
        </p:spPr>
        <p:txBody>
          <a:bodyPr wrap="square" lIns="0" tIns="0" rIns="0" bIns="0" rtlCol="0" anchor="ctr"/>
          <a:lstStyle/>
          <a:p>
            <a:pPr algn="l" indent="0" marL="0">
              <a:lnSpc>
                <a:spcPct val="100000"/>
              </a:lnSpc>
              <a:buNone/>
            </a:pPr>
            <a:r>
              <a:rPr lang="en-US" sz="1150" b="1" dirty="0">
                <a:solidFill>
                  <a:srgbClr val="0B1F33"/>
                </a:solidFill>
                <a:latin typeface="Aptos" pitchFamily="34" charset="0"/>
                <a:ea typeface="Aptos" pitchFamily="34" charset="-122"/>
                <a:cs typeface="Aptos" pitchFamily="34" charset="-120"/>
              </a:rPr>
              <a:t>Four screens in this deck are photographs of the running product.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9</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THE SCREEN EVERYTHING ELSE HANGS OFF</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One board. Every door, hour by hour.</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Dock board · Mississauga · live, today</a:t>
            </a:r>
            <a:endParaRPr lang="en-US" sz="1200" dirty="0"/>
          </a:p>
        </p:txBody>
      </p:sp>
      <p:sp>
        <p:nvSpPr>
          <p:cNvPr id="10" name="Shape 7"/>
          <p:cNvSpPr/>
          <p:nvPr/>
        </p:nvSpPr>
        <p:spPr>
          <a:xfrm>
            <a:off x="530352" y="1572768"/>
            <a:ext cx="7589520" cy="4315968"/>
          </a:xfrm>
          <a:prstGeom prst="roundRect">
            <a:avLst>
              <a:gd name="adj" fmla="val 1695"/>
            </a:avLst>
          </a:prstGeom>
          <a:solidFill>
            <a:srgbClr val="FFFFFF"/>
          </a:solidFill>
          <a:ln w="9525">
            <a:solidFill>
              <a:srgbClr val="D8E4EA"/>
            </a:solidFill>
            <a:prstDash val="solid"/>
          </a:ln>
        </p:spPr>
        <p:txBody>
          <a:bodyPr/>
          <a:p/>
        </p:txBody>
      </p:sp>
      <p:sp>
        <p:nvSpPr>
          <p:cNvPr id="11" name="Text 8"/>
          <p:cNvSpPr txBox="1"/>
          <p:nvPr/>
        </p:nvSpPr>
        <p:spPr>
          <a:xfrm>
            <a:off x="1627632" y="1792224"/>
            <a:ext cx="626364" cy="237744"/>
          </a:xfrm>
          <a:prstGeom prst="rect">
            <a:avLst/>
          </a:prstGeom>
          <a:noFill/>
          <a:ln/>
        </p:spPr>
        <p:txBody>
          <a:bodyPr wrap="square" lIns="0" tIns="0" rIns="0" bIns="0" rtlCol="0" anchor="t"/>
          <a:lstStyle/>
          <a:p>
            <a:pPr algn="ctr" indent="0" marL="0">
              <a:lnSpc>
                <a:spcPct val="100000"/>
              </a:lnSpc>
              <a:buNone/>
            </a:pPr>
            <a:r>
              <a:rPr lang="en-US" sz="1050" b="1" dirty="0">
                <a:solidFill>
                  <a:srgbClr val="456174"/>
                </a:solidFill>
                <a:latin typeface="Aptos" pitchFamily="34" charset="0"/>
                <a:ea typeface="Aptos" pitchFamily="34" charset="-122"/>
                <a:cs typeface="Aptos" pitchFamily="34" charset="-120"/>
              </a:rPr>
              <a:t>07</a:t>
            </a:r>
            <a:endParaRPr lang="en-US" sz="1050" dirty="0"/>
          </a:p>
        </p:txBody>
      </p:sp>
      <p:sp>
        <p:nvSpPr>
          <p:cNvPr id="12" name="Text 9"/>
          <p:cNvSpPr txBox="1"/>
          <p:nvPr/>
        </p:nvSpPr>
        <p:spPr>
          <a:xfrm>
            <a:off x="2253996" y="1792224"/>
            <a:ext cx="626364" cy="237744"/>
          </a:xfrm>
          <a:prstGeom prst="rect">
            <a:avLst/>
          </a:prstGeom>
          <a:noFill/>
          <a:ln/>
        </p:spPr>
        <p:txBody>
          <a:bodyPr wrap="square" lIns="0" tIns="0" rIns="0" bIns="0" rtlCol="0" anchor="t"/>
          <a:lstStyle/>
          <a:p>
            <a:pPr algn="ctr" indent="0" marL="0">
              <a:lnSpc>
                <a:spcPct val="100000"/>
              </a:lnSpc>
              <a:buNone/>
            </a:pPr>
            <a:r>
              <a:rPr lang="en-US" sz="1050" b="1" dirty="0">
                <a:solidFill>
                  <a:srgbClr val="456174"/>
                </a:solidFill>
                <a:latin typeface="Aptos" pitchFamily="34" charset="0"/>
                <a:ea typeface="Aptos" pitchFamily="34" charset="-122"/>
                <a:cs typeface="Aptos" pitchFamily="34" charset="-120"/>
              </a:rPr>
              <a:t>08</a:t>
            </a:r>
            <a:endParaRPr lang="en-US" sz="1050" dirty="0"/>
          </a:p>
        </p:txBody>
      </p:sp>
      <p:sp>
        <p:nvSpPr>
          <p:cNvPr id="13" name="Shape 10"/>
          <p:cNvSpPr/>
          <p:nvPr/>
        </p:nvSpPr>
        <p:spPr>
          <a:xfrm>
            <a:off x="2253996" y="2121408"/>
            <a:ext cx="0" cy="3447288"/>
          </a:xfrm>
          <a:prstGeom prst="line">
            <a:avLst/>
          </a:prstGeom>
          <a:noFill/>
          <a:ln w="9525">
            <a:solidFill>
              <a:srgbClr val="EDF2F6"/>
            </a:solidFill>
            <a:prstDash val="solid"/>
          </a:ln>
        </p:spPr>
        <p:txBody>
          <a:bodyPr/>
          <a:p/>
        </p:txBody>
      </p:sp>
      <p:sp>
        <p:nvSpPr>
          <p:cNvPr id="14" name="Text 11"/>
          <p:cNvSpPr txBox="1"/>
          <p:nvPr/>
        </p:nvSpPr>
        <p:spPr>
          <a:xfrm>
            <a:off x="2880360" y="1792224"/>
            <a:ext cx="626364" cy="237744"/>
          </a:xfrm>
          <a:prstGeom prst="rect">
            <a:avLst/>
          </a:prstGeom>
          <a:noFill/>
          <a:ln/>
        </p:spPr>
        <p:txBody>
          <a:bodyPr wrap="square" lIns="0" tIns="0" rIns="0" bIns="0" rtlCol="0" anchor="t"/>
          <a:lstStyle/>
          <a:p>
            <a:pPr algn="ctr" indent="0" marL="0">
              <a:lnSpc>
                <a:spcPct val="100000"/>
              </a:lnSpc>
              <a:buNone/>
            </a:pPr>
            <a:r>
              <a:rPr lang="en-US" sz="1050" b="1" dirty="0">
                <a:solidFill>
                  <a:srgbClr val="456174"/>
                </a:solidFill>
                <a:latin typeface="Aptos" pitchFamily="34" charset="0"/>
                <a:ea typeface="Aptos" pitchFamily="34" charset="-122"/>
                <a:cs typeface="Aptos" pitchFamily="34" charset="-120"/>
              </a:rPr>
              <a:t>09</a:t>
            </a:r>
            <a:endParaRPr lang="en-US" sz="1050" dirty="0"/>
          </a:p>
        </p:txBody>
      </p:sp>
      <p:sp>
        <p:nvSpPr>
          <p:cNvPr id="15" name="Shape 12"/>
          <p:cNvSpPr/>
          <p:nvPr/>
        </p:nvSpPr>
        <p:spPr>
          <a:xfrm>
            <a:off x="2880360" y="2121408"/>
            <a:ext cx="0" cy="3447288"/>
          </a:xfrm>
          <a:prstGeom prst="line">
            <a:avLst/>
          </a:prstGeom>
          <a:noFill/>
          <a:ln w="9525">
            <a:solidFill>
              <a:srgbClr val="EDF2F6"/>
            </a:solidFill>
            <a:prstDash val="solid"/>
          </a:ln>
        </p:spPr>
        <p:txBody>
          <a:bodyPr/>
          <a:p/>
        </p:txBody>
      </p:sp>
      <p:sp>
        <p:nvSpPr>
          <p:cNvPr id="16" name="Text 13"/>
          <p:cNvSpPr txBox="1"/>
          <p:nvPr/>
        </p:nvSpPr>
        <p:spPr>
          <a:xfrm>
            <a:off x="3506724" y="1792224"/>
            <a:ext cx="626364" cy="237744"/>
          </a:xfrm>
          <a:prstGeom prst="rect">
            <a:avLst/>
          </a:prstGeom>
          <a:noFill/>
          <a:ln/>
        </p:spPr>
        <p:txBody>
          <a:bodyPr wrap="square" lIns="0" tIns="0" rIns="0" bIns="0" rtlCol="0" anchor="t"/>
          <a:lstStyle/>
          <a:p>
            <a:pPr algn="ctr" indent="0" marL="0">
              <a:lnSpc>
                <a:spcPct val="100000"/>
              </a:lnSpc>
              <a:buNone/>
            </a:pPr>
            <a:r>
              <a:rPr lang="en-US" sz="1050" b="1" dirty="0">
                <a:solidFill>
                  <a:srgbClr val="456174"/>
                </a:solidFill>
                <a:latin typeface="Aptos" pitchFamily="34" charset="0"/>
                <a:ea typeface="Aptos" pitchFamily="34" charset="-122"/>
                <a:cs typeface="Aptos" pitchFamily="34" charset="-120"/>
              </a:rPr>
              <a:t>10</a:t>
            </a:r>
            <a:endParaRPr lang="en-US" sz="1050" dirty="0"/>
          </a:p>
        </p:txBody>
      </p:sp>
      <p:sp>
        <p:nvSpPr>
          <p:cNvPr id="17" name="Shape 14"/>
          <p:cNvSpPr/>
          <p:nvPr/>
        </p:nvSpPr>
        <p:spPr>
          <a:xfrm>
            <a:off x="3506724" y="2121408"/>
            <a:ext cx="0" cy="3447288"/>
          </a:xfrm>
          <a:prstGeom prst="line">
            <a:avLst/>
          </a:prstGeom>
          <a:noFill/>
          <a:ln w="9525">
            <a:solidFill>
              <a:srgbClr val="EDF2F6"/>
            </a:solidFill>
            <a:prstDash val="solid"/>
          </a:ln>
        </p:spPr>
        <p:txBody>
          <a:bodyPr/>
          <a:p/>
        </p:txBody>
      </p:sp>
      <p:sp>
        <p:nvSpPr>
          <p:cNvPr id="18" name="Text 15"/>
          <p:cNvSpPr txBox="1"/>
          <p:nvPr/>
        </p:nvSpPr>
        <p:spPr>
          <a:xfrm>
            <a:off x="4133088" y="1792224"/>
            <a:ext cx="626364" cy="237744"/>
          </a:xfrm>
          <a:prstGeom prst="rect">
            <a:avLst/>
          </a:prstGeom>
          <a:noFill/>
          <a:ln/>
        </p:spPr>
        <p:txBody>
          <a:bodyPr wrap="square" lIns="0" tIns="0" rIns="0" bIns="0" rtlCol="0" anchor="t"/>
          <a:lstStyle/>
          <a:p>
            <a:pPr algn="ctr" indent="0" marL="0">
              <a:lnSpc>
                <a:spcPct val="100000"/>
              </a:lnSpc>
              <a:buNone/>
            </a:pPr>
            <a:r>
              <a:rPr lang="en-US" sz="1050" b="1" dirty="0">
                <a:solidFill>
                  <a:srgbClr val="456174"/>
                </a:solidFill>
                <a:latin typeface="Aptos" pitchFamily="34" charset="0"/>
                <a:ea typeface="Aptos" pitchFamily="34" charset="-122"/>
                <a:cs typeface="Aptos" pitchFamily="34" charset="-120"/>
              </a:rPr>
              <a:t>11</a:t>
            </a:r>
            <a:endParaRPr lang="en-US" sz="1050" dirty="0"/>
          </a:p>
        </p:txBody>
      </p:sp>
      <p:sp>
        <p:nvSpPr>
          <p:cNvPr id="19" name="Shape 16"/>
          <p:cNvSpPr/>
          <p:nvPr/>
        </p:nvSpPr>
        <p:spPr>
          <a:xfrm>
            <a:off x="4133088" y="2121408"/>
            <a:ext cx="0" cy="3447288"/>
          </a:xfrm>
          <a:prstGeom prst="line">
            <a:avLst/>
          </a:prstGeom>
          <a:noFill/>
          <a:ln w="9525">
            <a:solidFill>
              <a:srgbClr val="EDF2F6"/>
            </a:solidFill>
            <a:prstDash val="solid"/>
          </a:ln>
        </p:spPr>
        <p:txBody>
          <a:bodyPr/>
          <a:p/>
        </p:txBody>
      </p:sp>
      <p:sp>
        <p:nvSpPr>
          <p:cNvPr id="20" name="Text 17"/>
          <p:cNvSpPr txBox="1"/>
          <p:nvPr/>
        </p:nvSpPr>
        <p:spPr>
          <a:xfrm>
            <a:off x="4759452" y="1792224"/>
            <a:ext cx="626364" cy="237744"/>
          </a:xfrm>
          <a:prstGeom prst="rect">
            <a:avLst/>
          </a:prstGeom>
          <a:noFill/>
          <a:ln/>
        </p:spPr>
        <p:txBody>
          <a:bodyPr wrap="square" lIns="0" tIns="0" rIns="0" bIns="0" rtlCol="0" anchor="t"/>
          <a:lstStyle/>
          <a:p>
            <a:pPr algn="ctr" indent="0" marL="0">
              <a:lnSpc>
                <a:spcPct val="100000"/>
              </a:lnSpc>
              <a:buNone/>
            </a:pPr>
            <a:r>
              <a:rPr lang="en-US" sz="1050" b="1" dirty="0">
                <a:solidFill>
                  <a:srgbClr val="456174"/>
                </a:solidFill>
                <a:latin typeface="Aptos" pitchFamily="34" charset="0"/>
                <a:ea typeface="Aptos" pitchFamily="34" charset="-122"/>
                <a:cs typeface="Aptos" pitchFamily="34" charset="-120"/>
              </a:rPr>
              <a:t>12</a:t>
            </a:r>
            <a:endParaRPr lang="en-US" sz="1050" dirty="0"/>
          </a:p>
        </p:txBody>
      </p:sp>
      <p:sp>
        <p:nvSpPr>
          <p:cNvPr id="21" name="Shape 18"/>
          <p:cNvSpPr/>
          <p:nvPr/>
        </p:nvSpPr>
        <p:spPr>
          <a:xfrm>
            <a:off x="4759452" y="2121408"/>
            <a:ext cx="0" cy="3447288"/>
          </a:xfrm>
          <a:prstGeom prst="line">
            <a:avLst/>
          </a:prstGeom>
          <a:noFill/>
          <a:ln w="9525">
            <a:solidFill>
              <a:srgbClr val="EDF2F6"/>
            </a:solidFill>
            <a:prstDash val="solid"/>
          </a:ln>
        </p:spPr>
        <p:txBody>
          <a:bodyPr/>
          <a:p/>
        </p:txBody>
      </p:sp>
      <p:sp>
        <p:nvSpPr>
          <p:cNvPr id="22" name="Text 19"/>
          <p:cNvSpPr txBox="1"/>
          <p:nvPr/>
        </p:nvSpPr>
        <p:spPr>
          <a:xfrm>
            <a:off x="5385816" y="1792224"/>
            <a:ext cx="626364" cy="237744"/>
          </a:xfrm>
          <a:prstGeom prst="rect">
            <a:avLst/>
          </a:prstGeom>
          <a:noFill/>
          <a:ln/>
        </p:spPr>
        <p:txBody>
          <a:bodyPr wrap="square" lIns="0" tIns="0" rIns="0" bIns="0" rtlCol="0" anchor="t"/>
          <a:lstStyle/>
          <a:p>
            <a:pPr algn="ctr" indent="0" marL="0">
              <a:lnSpc>
                <a:spcPct val="100000"/>
              </a:lnSpc>
              <a:buNone/>
            </a:pPr>
            <a:r>
              <a:rPr lang="en-US" sz="1050" b="1" dirty="0">
                <a:solidFill>
                  <a:srgbClr val="456174"/>
                </a:solidFill>
                <a:latin typeface="Aptos" pitchFamily="34" charset="0"/>
                <a:ea typeface="Aptos" pitchFamily="34" charset="-122"/>
                <a:cs typeface="Aptos" pitchFamily="34" charset="-120"/>
              </a:rPr>
              <a:t>13</a:t>
            </a:r>
            <a:endParaRPr lang="en-US" sz="1050" dirty="0"/>
          </a:p>
        </p:txBody>
      </p:sp>
      <p:sp>
        <p:nvSpPr>
          <p:cNvPr id="23" name="Shape 20"/>
          <p:cNvSpPr/>
          <p:nvPr/>
        </p:nvSpPr>
        <p:spPr>
          <a:xfrm>
            <a:off x="5385816" y="2121408"/>
            <a:ext cx="0" cy="3447288"/>
          </a:xfrm>
          <a:prstGeom prst="line">
            <a:avLst/>
          </a:prstGeom>
          <a:noFill/>
          <a:ln w="9525">
            <a:solidFill>
              <a:srgbClr val="EDF2F6"/>
            </a:solidFill>
            <a:prstDash val="solid"/>
          </a:ln>
        </p:spPr>
        <p:txBody>
          <a:bodyPr/>
          <a:p/>
        </p:txBody>
      </p:sp>
      <p:sp>
        <p:nvSpPr>
          <p:cNvPr id="24" name="Text 21"/>
          <p:cNvSpPr txBox="1"/>
          <p:nvPr/>
        </p:nvSpPr>
        <p:spPr>
          <a:xfrm>
            <a:off x="6012180" y="1792224"/>
            <a:ext cx="626364" cy="237744"/>
          </a:xfrm>
          <a:prstGeom prst="rect">
            <a:avLst/>
          </a:prstGeom>
          <a:noFill/>
          <a:ln/>
        </p:spPr>
        <p:txBody>
          <a:bodyPr wrap="square" lIns="0" tIns="0" rIns="0" bIns="0" rtlCol="0" anchor="t"/>
          <a:lstStyle/>
          <a:p>
            <a:pPr algn="ctr" indent="0" marL="0">
              <a:lnSpc>
                <a:spcPct val="100000"/>
              </a:lnSpc>
              <a:buNone/>
            </a:pPr>
            <a:r>
              <a:rPr lang="en-US" sz="1050" b="1" dirty="0">
                <a:solidFill>
                  <a:srgbClr val="456174"/>
                </a:solidFill>
                <a:latin typeface="Aptos" pitchFamily="34" charset="0"/>
                <a:ea typeface="Aptos" pitchFamily="34" charset="-122"/>
                <a:cs typeface="Aptos" pitchFamily="34" charset="-120"/>
              </a:rPr>
              <a:t>14</a:t>
            </a:r>
            <a:endParaRPr lang="en-US" sz="1050" dirty="0"/>
          </a:p>
        </p:txBody>
      </p:sp>
      <p:sp>
        <p:nvSpPr>
          <p:cNvPr id="25" name="Shape 22"/>
          <p:cNvSpPr/>
          <p:nvPr/>
        </p:nvSpPr>
        <p:spPr>
          <a:xfrm>
            <a:off x="6012180" y="2121408"/>
            <a:ext cx="0" cy="3447288"/>
          </a:xfrm>
          <a:prstGeom prst="line">
            <a:avLst/>
          </a:prstGeom>
          <a:noFill/>
          <a:ln w="9525">
            <a:solidFill>
              <a:srgbClr val="EDF2F6"/>
            </a:solidFill>
            <a:prstDash val="solid"/>
          </a:ln>
        </p:spPr>
        <p:txBody>
          <a:bodyPr/>
          <a:p/>
        </p:txBody>
      </p:sp>
      <p:sp>
        <p:nvSpPr>
          <p:cNvPr id="26" name="Text 23"/>
          <p:cNvSpPr txBox="1"/>
          <p:nvPr/>
        </p:nvSpPr>
        <p:spPr>
          <a:xfrm>
            <a:off x="6638544" y="1792224"/>
            <a:ext cx="626364" cy="237744"/>
          </a:xfrm>
          <a:prstGeom prst="rect">
            <a:avLst/>
          </a:prstGeom>
          <a:noFill/>
          <a:ln/>
        </p:spPr>
        <p:txBody>
          <a:bodyPr wrap="square" lIns="0" tIns="0" rIns="0" bIns="0" rtlCol="0" anchor="t"/>
          <a:lstStyle/>
          <a:p>
            <a:pPr algn="ctr" indent="0" marL="0">
              <a:lnSpc>
                <a:spcPct val="100000"/>
              </a:lnSpc>
              <a:buNone/>
            </a:pPr>
            <a:r>
              <a:rPr lang="en-US" sz="1050" b="1" dirty="0">
                <a:solidFill>
                  <a:srgbClr val="456174"/>
                </a:solidFill>
                <a:latin typeface="Aptos" pitchFamily="34" charset="0"/>
                <a:ea typeface="Aptos" pitchFamily="34" charset="-122"/>
                <a:cs typeface="Aptos" pitchFamily="34" charset="-120"/>
              </a:rPr>
              <a:t>15</a:t>
            </a:r>
            <a:endParaRPr lang="en-US" sz="1050" dirty="0"/>
          </a:p>
        </p:txBody>
      </p:sp>
      <p:sp>
        <p:nvSpPr>
          <p:cNvPr id="27" name="Shape 24"/>
          <p:cNvSpPr/>
          <p:nvPr/>
        </p:nvSpPr>
        <p:spPr>
          <a:xfrm>
            <a:off x="6638544" y="2121408"/>
            <a:ext cx="0" cy="3447288"/>
          </a:xfrm>
          <a:prstGeom prst="line">
            <a:avLst/>
          </a:prstGeom>
          <a:noFill/>
          <a:ln w="9525">
            <a:solidFill>
              <a:srgbClr val="EDF2F6"/>
            </a:solidFill>
            <a:prstDash val="solid"/>
          </a:ln>
        </p:spPr>
        <p:txBody>
          <a:bodyPr/>
          <a:p/>
        </p:txBody>
      </p:sp>
      <p:sp>
        <p:nvSpPr>
          <p:cNvPr id="28" name="Text 25"/>
          <p:cNvSpPr txBox="1"/>
          <p:nvPr/>
        </p:nvSpPr>
        <p:spPr>
          <a:xfrm>
            <a:off x="7264908" y="1792224"/>
            <a:ext cx="626364" cy="237744"/>
          </a:xfrm>
          <a:prstGeom prst="rect">
            <a:avLst/>
          </a:prstGeom>
          <a:noFill/>
          <a:ln/>
        </p:spPr>
        <p:txBody>
          <a:bodyPr wrap="square" lIns="0" tIns="0" rIns="0" bIns="0" rtlCol="0" anchor="t"/>
          <a:lstStyle/>
          <a:p>
            <a:pPr algn="ctr" indent="0" marL="0">
              <a:lnSpc>
                <a:spcPct val="100000"/>
              </a:lnSpc>
              <a:buNone/>
            </a:pPr>
            <a:r>
              <a:rPr lang="en-US" sz="1050" b="1" dirty="0">
                <a:solidFill>
                  <a:srgbClr val="456174"/>
                </a:solidFill>
                <a:latin typeface="Aptos" pitchFamily="34" charset="0"/>
                <a:ea typeface="Aptos" pitchFamily="34" charset="-122"/>
                <a:cs typeface="Aptos" pitchFamily="34" charset="-120"/>
              </a:rPr>
              <a:t>16</a:t>
            </a:r>
            <a:endParaRPr lang="en-US" sz="1050" dirty="0"/>
          </a:p>
        </p:txBody>
      </p:sp>
      <p:sp>
        <p:nvSpPr>
          <p:cNvPr id="29" name="Shape 26"/>
          <p:cNvSpPr/>
          <p:nvPr/>
        </p:nvSpPr>
        <p:spPr>
          <a:xfrm>
            <a:off x="7264908" y="2121408"/>
            <a:ext cx="0" cy="3447288"/>
          </a:xfrm>
          <a:prstGeom prst="line">
            <a:avLst/>
          </a:prstGeom>
          <a:noFill/>
          <a:ln w="9525">
            <a:solidFill>
              <a:srgbClr val="EDF2F6"/>
            </a:solidFill>
            <a:prstDash val="solid"/>
          </a:ln>
        </p:spPr>
        <p:txBody>
          <a:bodyPr/>
          <a:p/>
        </p:txBody>
      </p:sp>
      <p:sp>
        <p:nvSpPr>
          <p:cNvPr id="30" name="Text 27"/>
          <p:cNvSpPr txBox="1"/>
          <p:nvPr/>
        </p:nvSpPr>
        <p:spPr>
          <a:xfrm>
            <a:off x="786384" y="2377440"/>
            <a:ext cx="822960" cy="256032"/>
          </a:xfrm>
          <a:prstGeom prst="rect">
            <a:avLst/>
          </a:prstGeom>
          <a:noFill/>
          <a:ln/>
        </p:spPr>
        <p:txBody>
          <a:bodyPr wrap="square" lIns="0" tIns="0" rIns="0" bIns="0" rtlCol="0" anchor="t"/>
          <a:lstStyle/>
          <a:p>
            <a:pPr algn="l" indent="0" marL="0">
              <a:lnSpc>
                <a:spcPct val="100000"/>
              </a:lnSpc>
              <a:buNone/>
            </a:pPr>
            <a:r>
              <a:rPr lang="en-US" sz="1100" b="1" dirty="0">
                <a:solidFill>
                  <a:srgbClr val="0B1F33"/>
                </a:solidFill>
                <a:latin typeface="Aptos" pitchFamily="34" charset="0"/>
                <a:ea typeface="Aptos" pitchFamily="34" charset="-122"/>
                <a:cs typeface="Aptos" pitchFamily="34" charset="-120"/>
              </a:rPr>
              <a:t>Door 1</a:t>
            </a:r>
            <a:endParaRPr lang="en-US" sz="1100" dirty="0"/>
          </a:p>
        </p:txBody>
      </p:sp>
      <p:sp>
        <p:nvSpPr>
          <p:cNvPr id="31" name="Shape 28"/>
          <p:cNvSpPr/>
          <p:nvPr/>
        </p:nvSpPr>
        <p:spPr>
          <a:xfrm>
            <a:off x="1627632" y="2834640"/>
            <a:ext cx="6263640" cy="0"/>
          </a:xfrm>
          <a:prstGeom prst="line">
            <a:avLst/>
          </a:prstGeom>
          <a:noFill/>
          <a:ln w="9525">
            <a:solidFill>
              <a:srgbClr val="EDF2F6"/>
            </a:solidFill>
            <a:prstDash val="solid"/>
          </a:ln>
        </p:spPr>
        <p:txBody>
          <a:bodyPr/>
          <a:p/>
        </p:txBody>
      </p:sp>
      <p:sp>
        <p:nvSpPr>
          <p:cNvPr id="32" name="Shape 29"/>
          <p:cNvSpPr/>
          <p:nvPr/>
        </p:nvSpPr>
        <p:spPr>
          <a:xfrm>
            <a:off x="2253996" y="2322576"/>
            <a:ext cx="689000" cy="402336"/>
          </a:xfrm>
          <a:prstGeom prst="roundRect">
            <a:avLst>
              <a:gd name="adj" fmla="val 11364"/>
            </a:avLst>
          </a:prstGeom>
          <a:solidFill>
            <a:srgbClr val="E4EFF9"/>
          </a:solidFill>
          <a:ln/>
        </p:spPr>
        <p:txBody>
          <a:bodyPr/>
          <a:p/>
        </p:txBody>
      </p:sp>
      <p:sp>
        <p:nvSpPr>
          <p:cNvPr id="33" name="Text 30"/>
          <p:cNvSpPr txBox="1"/>
          <p:nvPr/>
        </p:nvSpPr>
        <p:spPr>
          <a:xfrm>
            <a:off x="2290572" y="2423160"/>
            <a:ext cx="615848" cy="219456"/>
          </a:xfrm>
          <a:prstGeom prst="rect">
            <a:avLst/>
          </a:prstGeom>
          <a:noFill/>
          <a:ln/>
        </p:spPr>
        <p:txBody>
          <a:bodyPr wrap="square" lIns="0" tIns="0" rIns="0" bIns="0" rtlCol="0" anchor="t"/>
          <a:lstStyle/>
          <a:p>
            <a:pPr algn="ctr" indent="0" marL="0">
              <a:lnSpc>
                <a:spcPct val="100000"/>
              </a:lnSpc>
              <a:buNone/>
            </a:pPr>
            <a:r>
              <a:rPr lang="en-US" sz="850" b="1" dirty="0">
                <a:solidFill>
                  <a:srgbClr val="0877C9"/>
                </a:solidFill>
                <a:latin typeface="Aptos" pitchFamily="34" charset="0"/>
                <a:ea typeface="Aptos" pitchFamily="34" charset="-122"/>
                <a:cs typeface="Aptos" pitchFamily="34" charset="-120"/>
              </a:rPr>
              <a:t>Cascades</a:t>
            </a:r>
            <a:endParaRPr lang="en-US" sz="850" dirty="0"/>
          </a:p>
        </p:txBody>
      </p:sp>
      <p:sp>
        <p:nvSpPr>
          <p:cNvPr id="34" name="Shape 31"/>
          <p:cNvSpPr/>
          <p:nvPr/>
        </p:nvSpPr>
        <p:spPr>
          <a:xfrm>
            <a:off x="4258361" y="2322576"/>
            <a:ext cx="626364" cy="402336"/>
          </a:xfrm>
          <a:prstGeom prst="roundRect">
            <a:avLst>
              <a:gd name="adj" fmla="val 11364"/>
            </a:avLst>
          </a:prstGeom>
          <a:solidFill>
            <a:srgbClr val="E1F3EA"/>
          </a:solidFill>
          <a:ln/>
        </p:spPr>
        <p:txBody>
          <a:bodyPr/>
          <a:p/>
        </p:txBody>
      </p:sp>
      <p:sp>
        <p:nvSpPr>
          <p:cNvPr id="35" name="Text 32"/>
          <p:cNvSpPr txBox="1"/>
          <p:nvPr/>
        </p:nvSpPr>
        <p:spPr>
          <a:xfrm>
            <a:off x="4294937" y="2423160"/>
            <a:ext cx="553212" cy="219456"/>
          </a:xfrm>
          <a:prstGeom prst="rect">
            <a:avLst/>
          </a:prstGeom>
          <a:noFill/>
          <a:ln/>
        </p:spPr>
        <p:txBody>
          <a:bodyPr wrap="square" lIns="0" tIns="0" rIns="0" bIns="0" rtlCol="0" anchor="t"/>
          <a:lstStyle/>
          <a:p>
            <a:pPr algn="ctr" indent="0" marL="0">
              <a:lnSpc>
                <a:spcPct val="100000"/>
              </a:lnSpc>
              <a:buNone/>
            </a:pPr>
            <a:r>
              <a:rPr lang="en-US" sz="850" b="1" dirty="0">
                <a:solidFill>
                  <a:srgbClr val="14A66A"/>
                </a:solidFill>
                <a:latin typeface="Aptos" pitchFamily="34" charset="0"/>
                <a:ea typeface="Aptos" pitchFamily="34" charset="-122"/>
                <a:cs typeface="Aptos" pitchFamily="34" charset="-120"/>
              </a:rPr>
              <a:t>Received</a:t>
            </a:r>
            <a:endParaRPr lang="en-US" sz="850" dirty="0"/>
          </a:p>
        </p:txBody>
      </p:sp>
      <p:sp>
        <p:nvSpPr>
          <p:cNvPr id="36" name="Text 33"/>
          <p:cNvSpPr txBox="1"/>
          <p:nvPr/>
        </p:nvSpPr>
        <p:spPr>
          <a:xfrm>
            <a:off x="786384" y="3108960"/>
            <a:ext cx="822960" cy="256032"/>
          </a:xfrm>
          <a:prstGeom prst="rect">
            <a:avLst/>
          </a:prstGeom>
          <a:noFill/>
          <a:ln/>
        </p:spPr>
        <p:txBody>
          <a:bodyPr wrap="square" lIns="0" tIns="0" rIns="0" bIns="0" rtlCol="0" anchor="t"/>
          <a:lstStyle/>
          <a:p>
            <a:pPr algn="l" indent="0" marL="0">
              <a:lnSpc>
                <a:spcPct val="100000"/>
              </a:lnSpc>
              <a:buNone/>
            </a:pPr>
            <a:r>
              <a:rPr lang="en-US" sz="1100" b="1" dirty="0">
                <a:solidFill>
                  <a:srgbClr val="0B1F33"/>
                </a:solidFill>
                <a:latin typeface="Aptos" pitchFamily="34" charset="0"/>
                <a:ea typeface="Aptos" pitchFamily="34" charset="-122"/>
                <a:cs typeface="Aptos" pitchFamily="34" charset="-120"/>
              </a:rPr>
              <a:t>Door 2</a:t>
            </a:r>
            <a:endParaRPr lang="en-US" sz="1100" dirty="0"/>
          </a:p>
        </p:txBody>
      </p:sp>
      <p:sp>
        <p:nvSpPr>
          <p:cNvPr id="37" name="Shape 34"/>
          <p:cNvSpPr/>
          <p:nvPr/>
        </p:nvSpPr>
        <p:spPr>
          <a:xfrm>
            <a:off x="1627632" y="3566160"/>
            <a:ext cx="6263640" cy="0"/>
          </a:xfrm>
          <a:prstGeom prst="line">
            <a:avLst/>
          </a:prstGeom>
          <a:noFill/>
          <a:ln w="9525">
            <a:solidFill>
              <a:srgbClr val="EDF2F6"/>
            </a:solidFill>
            <a:prstDash val="solid"/>
          </a:ln>
        </p:spPr>
        <p:txBody>
          <a:bodyPr/>
          <a:p/>
        </p:txBody>
      </p:sp>
      <p:sp>
        <p:nvSpPr>
          <p:cNvPr id="38" name="Shape 35"/>
          <p:cNvSpPr/>
          <p:nvPr/>
        </p:nvSpPr>
        <p:spPr>
          <a:xfrm>
            <a:off x="2880360" y="3054096"/>
            <a:ext cx="689000" cy="402336"/>
          </a:xfrm>
          <a:prstGeom prst="roundRect">
            <a:avLst>
              <a:gd name="adj" fmla="val 11364"/>
            </a:avLst>
          </a:prstGeom>
          <a:solidFill>
            <a:srgbClr val="E4EFF9"/>
          </a:solidFill>
          <a:ln/>
        </p:spPr>
        <p:txBody>
          <a:bodyPr/>
          <a:p/>
        </p:txBody>
      </p:sp>
      <p:sp>
        <p:nvSpPr>
          <p:cNvPr id="39" name="Text 36"/>
          <p:cNvSpPr txBox="1"/>
          <p:nvPr/>
        </p:nvSpPr>
        <p:spPr>
          <a:xfrm>
            <a:off x="2916936" y="3154680"/>
            <a:ext cx="615848" cy="219456"/>
          </a:xfrm>
          <a:prstGeom prst="rect">
            <a:avLst/>
          </a:prstGeom>
          <a:noFill/>
          <a:ln/>
        </p:spPr>
        <p:txBody>
          <a:bodyPr wrap="square" lIns="0" tIns="0" rIns="0" bIns="0" rtlCol="0" anchor="t"/>
          <a:lstStyle/>
          <a:p>
            <a:pPr algn="ctr" indent="0" marL="0">
              <a:lnSpc>
                <a:spcPct val="100000"/>
              </a:lnSpc>
              <a:buNone/>
            </a:pPr>
            <a:r>
              <a:rPr lang="en-US" sz="850" b="1" dirty="0">
                <a:solidFill>
                  <a:srgbClr val="0877C9"/>
                </a:solidFill>
                <a:latin typeface="Aptos" pitchFamily="34" charset="0"/>
                <a:ea typeface="Aptos" pitchFamily="34" charset="-122"/>
                <a:cs typeface="Aptos" pitchFamily="34" charset="-120"/>
              </a:rPr>
              <a:t>Guelph</a:t>
            </a:r>
            <a:endParaRPr lang="en-US" sz="850" dirty="0"/>
          </a:p>
        </p:txBody>
      </p:sp>
      <p:sp>
        <p:nvSpPr>
          <p:cNvPr id="40" name="Shape 37"/>
          <p:cNvSpPr/>
          <p:nvPr/>
        </p:nvSpPr>
        <p:spPr>
          <a:xfrm>
            <a:off x="4884725" y="3054096"/>
            <a:ext cx="814273" cy="402336"/>
          </a:xfrm>
          <a:prstGeom prst="roundRect">
            <a:avLst>
              <a:gd name="adj" fmla="val 11364"/>
            </a:avLst>
          </a:prstGeom>
          <a:solidFill>
            <a:srgbClr val="FCF0DC"/>
          </a:solidFill>
          <a:ln/>
        </p:spPr>
        <p:txBody>
          <a:bodyPr/>
          <a:p/>
        </p:txBody>
      </p:sp>
      <p:sp>
        <p:nvSpPr>
          <p:cNvPr id="41" name="Text 38"/>
          <p:cNvSpPr txBox="1"/>
          <p:nvPr/>
        </p:nvSpPr>
        <p:spPr>
          <a:xfrm>
            <a:off x="4921301" y="3154680"/>
            <a:ext cx="741121" cy="219456"/>
          </a:xfrm>
          <a:prstGeom prst="rect">
            <a:avLst/>
          </a:prstGeom>
          <a:noFill/>
          <a:ln/>
        </p:spPr>
        <p:txBody>
          <a:bodyPr wrap="square" lIns="0" tIns="0" rIns="0" bIns="0" rtlCol="0" anchor="t"/>
          <a:lstStyle/>
          <a:p>
            <a:pPr algn="ctr" indent="0" marL="0">
              <a:lnSpc>
                <a:spcPct val="100000"/>
              </a:lnSpc>
              <a:buNone/>
            </a:pPr>
            <a:r>
              <a:rPr lang="en-US" sz="850" b="1" dirty="0">
                <a:solidFill>
                  <a:srgbClr val="C97F0A"/>
                </a:solidFill>
                <a:latin typeface="Aptos" pitchFamily="34" charset="0"/>
                <a:ea typeface="Aptos" pitchFamily="34" charset="-122"/>
                <a:cs typeface="Aptos" pitchFamily="34" charset="-120"/>
              </a:rPr>
              <a:t>Titanium</a:t>
            </a:r>
            <a:endParaRPr lang="en-US" sz="850" dirty="0"/>
          </a:p>
        </p:txBody>
      </p:sp>
      <p:sp>
        <p:nvSpPr>
          <p:cNvPr id="42" name="Text 39"/>
          <p:cNvSpPr txBox="1"/>
          <p:nvPr/>
        </p:nvSpPr>
        <p:spPr>
          <a:xfrm>
            <a:off x="786384" y="3840480"/>
            <a:ext cx="822960" cy="256032"/>
          </a:xfrm>
          <a:prstGeom prst="rect">
            <a:avLst/>
          </a:prstGeom>
          <a:noFill/>
          <a:ln/>
        </p:spPr>
        <p:txBody>
          <a:bodyPr wrap="square" lIns="0" tIns="0" rIns="0" bIns="0" rtlCol="0" anchor="t"/>
          <a:lstStyle/>
          <a:p>
            <a:pPr algn="l" indent="0" marL="0">
              <a:lnSpc>
                <a:spcPct val="100000"/>
              </a:lnSpc>
              <a:buNone/>
            </a:pPr>
            <a:r>
              <a:rPr lang="en-US" sz="1100" b="1" dirty="0">
                <a:solidFill>
                  <a:srgbClr val="0B1F33"/>
                </a:solidFill>
                <a:latin typeface="Aptos" pitchFamily="34" charset="0"/>
                <a:ea typeface="Aptos" pitchFamily="34" charset="-122"/>
                <a:cs typeface="Aptos" pitchFamily="34" charset="-120"/>
              </a:rPr>
              <a:t>Door 3</a:t>
            </a:r>
            <a:endParaRPr lang="en-US" sz="1100" dirty="0"/>
          </a:p>
        </p:txBody>
      </p:sp>
      <p:sp>
        <p:nvSpPr>
          <p:cNvPr id="43" name="Shape 40"/>
          <p:cNvSpPr/>
          <p:nvPr/>
        </p:nvSpPr>
        <p:spPr>
          <a:xfrm>
            <a:off x="1627632" y="4297680"/>
            <a:ext cx="6263640" cy="0"/>
          </a:xfrm>
          <a:prstGeom prst="line">
            <a:avLst/>
          </a:prstGeom>
          <a:noFill/>
          <a:ln w="9525">
            <a:solidFill>
              <a:srgbClr val="EDF2F6"/>
            </a:solidFill>
            <a:prstDash val="solid"/>
          </a:ln>
        </p:spPr>
        <p:txBody>
          <a:bodyPr/>
          <a:p/>
        </p:txBody>
      </p:sp>
      <p:sp>
        <p:nvSpPr>
          <p:cNvPr id="44" name="Shape 41"/>
          <p:cNvSpPr/>
          <p:nvPr/>
        </p:nvSpPr>
        <p:spPr>
          <a:xfrm>
            <a:off x="3757270" y="3785616"/>
            <a:ext cx="689000" cy="402336"/>
          </a:xfrm>
          <a:prstGeom prst="roundRect">
            <a:avLst>
              <a:gd name="adj" fmla="val 11364"/>
            </a:avLst>
          </a:prstGeom>
          <a:solidFill>
            <a:srgbClr val="E1F3EA"/>
          </a:solidFill>
          <a:ln/>
        </p:spPr>
        <p:txBody>
          <a:bodyPr/>
          <a:p/>
        </p:txBody>
      </p:sp>
      <p:sp>
        <p:nvSpPr>
          <p:cNvPr id="45" name="Text 42"/>
          <p:cNvSpPr txBox="1"/>
          <p:nvPr/>
        </p:nvSpPr>
        <p:spPr>
          <a:xfrm>
            <a:off x="3793846" y="3886200"/>
            <a:ext cx="615848" cy="219456"/>
          </a:xfrm>
          <a:prstGeom prst="rect">
            <a:avLst/>
          </a:prstGeom>
          <a:noFill/>
          <a:ln/>
        </p:spPr>
        <p:txBody>
          <a:bodyPr wrap="square" lIns="0" tIns="0" rIns="0" bIns="0" rtlCol="0" anchor="t"/>
          <a:lstStyle/>
          <a:p>
            <a:pPr algn="ctr" indent="0" marL="0">
              <a:lnSpc>
                <a:spcPct val="100000"/>
              </a:lnSpc>
              <a:buNone/>
            </a:pPr>
            <a:r>
              <a:rPr lang="en-US" sz="850" b="1" dirty="0">
                <a:solidFill>
                  <a:srgbClr val="14A66A"/>
                </a:solidFill>
                <a:latin typeface="Aptos" pitchFamily="34" charset="0"/>
                <a:ea typeface="Aptos" pitchFamily="34" charset="-122"/>
                <a:cs typeface="Aptos" pitchFamily="34" charset="-120"/>
              </a:rPr>
              <a:t>Received</a:t>
            </a:r>
            <a:endParaRPr lang="en-US" sz="850" dirty="0"/>
          </a:p>
        </p:txBody>
      </p:sp>
      <p:sp>
        <p:nvSpPr>
          <p:cNvPr id="46" name="Shape 43"/>
          <p:cNvSpPr/>
          <p:nvPr/>
        </p:nvSpPr>
        <p:spPr>
          <a:xfrm>
            <a:off x="5385816" y="3785616"/>
            <a:ext cx="1190092" cy="402336"/>
          </a:xfrm>
          <a:prstGeom prst="roundRect">
            <a:avLst>
              <a:gd name="adj" fmla="val 11364"/>
            </a:avLst>
          </a:prstGeom>
          <a:solidFill>
            <a:srgbClr val="E7E5F9"/>
          </a:solidFill>
          <a:ln/>
        </p:spPr>
        <p:txBody>
          <a:bodyPr/>
          <a:p/>
        </p:txBody>
      </p:sp>
      <p:sp>
        <p:nvSpPr>
          <p:cNvPr id="47" name="Text 44"/>
          <p:cNvSpPr txBox="1"/>
          <p:nvPr/>
        </p:nvSpPr>
        <p:spPr>
          <a:xfrm>
            <a:off x="5422392" y="3886200"/>
            <a:ext cx="1116940" cy="219456"/>
          </a:xfrm>
          <a:prstGeom prst="rect">
            <a:avLst/>
          </a:prstGeom>
          <a:noFill/>
          <a:ln/>
        </p:spPr>
        <p:txBody>
          <a:bodyPr wrap="square" lIns="0" tIns="0" rIns="0" bIns="0" rtlCol="0" anchor="t"/>
          <a:lstStyle/>
          <a:p>
            <a:pPr algn="ctr" indent="0" marL="0">
              <a:lnSpc>
                <a:spcPct val="100000"/>
              </a:lnSpc>
              <a:buNone/>
            </a:pPr>
            <a:r>
              <a:rPr lang="en-US" sz="850" b="1" dirty="0">
                <a:solidFill>
                  <a:srgbClr val="4A42B8"/>
                </a:solidFill>
                <a:latin typeface="Aptos" pitchFamily="34" charset="0"/>
                <a:ea typeface="Aptos" pitchFamily="34" charset="-122"/>
                <a:cs typeface="Aptos" pitchFamily="34" charset="-120"/>
              </a:rPr>
              <a:t>En route to Guelph</a:t>
            </a:r>
            <a:endParaRPr lang="en-US" sz="850" dirty="0"/>
          </a:p>
        </p:txBody>
      </p:sp>
      <p:sp>
        <p:nvSpPr>
          <p:cNvPr id="48" name="Text 45"/>
          <p:cNvSpPr txBox="1"/>
          <p:nvPr/>
        </p:nvSpPr>
        <p:spPr>
          <a:xfrm>
            <a:off x="786384" y="4572000"/>
            <a:ext cx="822960" cy="256032"/>
          </a:xfrm>
          <a:prstGeom prst="rect">
            <a:avLst/>
          </a:prstGeom>
          <a:noFill/>
          <a:ln/>
        </p:spPr>
        <p:txBody>
          <a:bodyPr wrap="square" lIns="0" tIns="0" rIns="0" bIns="0" rtlCol="0" anchor="t"/>
          <a:lstStyle/>
          <a:p>
            <a:pPr algn="l" indent="0" marL="0">
              <a:lnSpc>
                <a:spcPct val="100000"/>
              </a:lnSpc>
              <a:buNone/>
            </a:pPr>
            <a:r>
              <a:rPr lang="en-US" sz="1100" b="1" dirty="0">
                <a:solidFill>
                  <a:srgbClr val="0B1F33"/>
                </a:solidFill>
                <a:latin typeface="Aptos" pitchFamily="34" charset="0"/>
                <a:ea typeface="Aptos" pitchFamily="34" charset="-122"/>
                <a:cs typeface="Aptos" pitchFamily="34" charset="-120"/>
              </a:rPr>
              <a:t>Door 4</a:t>
            </a:r>
            <a:endParaRPr lang="en-US" sz="1100" dirty="0"/>
          </a:p>
        </p:txBody>
      </p:sp>
      <p:sp>
        <p:nvSpPr>
          <p:cNvPr id="49" name="Shape 46"/>
          <p:cNvSpPr/>
          <p:nvPr/>
        </p:nvSpPr>
        <p:spPr>
          <a:xfrm>
            <a:off x="1627632" y="5029200"/>
            <a:ext cx="6263640" cy="0"/>
          </a:xfrm>
          <a:prstGeom prst="line">
            <a:avLst/>
          </a:prstGeom>
          <a:noFill/>
          <a:ln w="9525">
            <a:solidFill>
              <a:srgbClr val="EDF2F6"/>
            </a:solidFill>
            <a:prstDash val="solid"/>
          </a:ln>
        </p:spPr>
        <p:txBody>
          <a:bodyPr/>
          <a:p/>
        </p:txBody>
      </p:sp>
      <p:sp>
        <p:nvSpPr>
          <p:cNvPr id="50" name="Shape 47"/>
          <p:cNvSpPr/>
          <p:nvPr/>
        </p:nvSpPr>
        <p:spPr>
          <a:xfrm>
            <a:off x="2629814" y="4517136"/>
            <a:ext cx="689000" cy="402336"/>
          </a:xfrm>
          <a:prstGeom prst="roundRect">
            <a:avLst>
              <a:gd name="adj" fmla="val 11364"/>
            </a:avLst>
          </a:prstGeom>
          <a:solidFill>
            <a:srgbClr val="FCF0DC"/>
          </a:solidFill>
          <a:ln/>
        </p:spPr>
        <p:txBody>
          <a:bodyPr/>
          <a:p/>
        </p:txBody>
      </p:sp>
      <p:sp>
        <p:nvSpPr>
          <p:cNvPr id="51" name="Text 48"/>
          <p:cNvSpPr txBox="1"/>
          <p:nvPr/>
        </p:nvSpPr>
        <p:spPr>
          <a:xfrm>
            <a:off x="2666390" y="4617720"/>
            <a:ext cx="615848" cy="219456"/>
          </a:xfrm>
          <a:prstGeom prst="rect">
            <a:avLst/>
          </a:prstGeom>
          <a:noFill/>
          <a:ln/>
        </p:spPr>
        <p:txBody>
          <a:bodyPr wrap="square" lIns="0" tIns="0" rIns="0" bIns="0" rtlCol="0" anchor="t"/>
          <a:lstStyle/>
          <a:p>
            <a:pPr algn="ctr" indent="0" marL="0">
              <a:lnSpc>
                <a:spcPct val="100000"/>
              </a:lnSpc>
              <a:buNone/>
            </a:pPr>
            <a:r>
              <a:rPr lang="en-US" sz="850" b="1" dirty="0">
                <a:solidFill>
                  <a:srgbClr val="C97F0A"/>
                </a:solidFill>
                <a:latin typeface="Aptos" pitchFamily="34" charset="0"/>
                <a:ea typeface="Aptos" pitchFamily="34" charset="-122"/>
                <a:cs typeface="Aptos" pitchFamily="34" charset="-120"/>
              </a:rPr>
              <a:t>Kruger</a:t>
            </a:r>
            <a:endParaRPr lang="en-US" sz="850" dirty="0"/>
          </a:p>
        </p:txBody>
      </p:sp>
      <p:sp>
        <p:nvSpPr>
          <p:cNvPr id="52" name="Shape 49"/>
          <p:cNvSpPr/>
          <p:nvPr/>
        </p:nvSpPr>
        <p:spPr>
          <a:xfrm>
            <a:off x="5886907" y="4517136"/>
            <a:ext cx="751637" cy="402336"/>
          </a:xfrm>
          <a:prstGeom prst="roundRect">
            <a:avLst>
              <a:gd name="adj" fmla="val 11364"/>
            </a:avLst>
          </a:prstGeom>
          <a:solidFill>
            <a:srgbClr val="E1F3EA"/>
          </a:solidFill>
          <a:ln/>
        </p:spPr>
        <p:txBody>
          <a:bodyPr/>
          <a:p/>
        </p:txBody>
      </p:sp>
      <p:sp>
        <p:nvSpPr>
          <p:cNvPr id="53" name="Text 50"/>
          <p:cNvSpPr txBox="1"/>
          <p:nvPr/>
        </p:nvSpPr>
        <p:spPr>
          <a:xfrm>
            <a:off x="5923483" y="4617720"/>
            <a:ext cx="678485" cy="219456"/>
          </a:xfrm>
          <a:prstGeom prst="rect">
            <a:avLst/>
          </a:prstGeom>
          <a:noFill/>
          <a:ln/>
        </p:spPr>
        <p:txBody>
          <a:bodyPr wrap="square" lIns="0" tIns="0" rIns="0" bIns="0" rtlCol="0" anchor="t"/>
          <a:lstStyle/>
          <a:p>
            <a:pPr algn="ctr" indent="0" marL="0">
              <a:lnSpc>
                <a:spcPct val="100000"/>
              </a:lnSpc>
              <a:buNone/>
            </a:pPr>
            <a:r>
              <a:rPr lang="en-US" sz="850" b="1" dirty="0">
                <a:solidFill>
                  <a:srgbClr val="14A66A"/>
                </a:solidFill>
                <a:latin typeface="Aptos" pitchFamily="34" charset="0"/>
                <a:ea typeface="Aptos" pitchFamily="34" charset="-122"/>
                <a:cs typeface="Aptos" pitchFamily="34" charset="-120"/>
              </a:rPr>
              <a:t>Pickering</a:t>
            </a:r>
            <a:endParaRPr lang="en-US" sz="850" dirty="0"/>
          </a:p>
        </p:txBody>
      </p:sp>
      <p:sp>
        <p:nvSpPr>
          <p:cNvPr id="54" name="Text 51"/>
          <p:cNvSpPr txBox="1"/>
          <p:nvPr/>
        </p:nvSpPr>
        <p:spPr>
          <a:xfrm>
            <a:off x="786384" y="5303520"/>
            <a:ext cx="822960" cy="256032"/>
          </a:xfrm>
          <a:prstGeom prst="rect">
            <a:avLst/>
          </a:prstGeom>
          <a:noFill/>
          <a:ln/>
        </p:spPr>
        <p:txBody>
          <a:bodyPr wrap="square" lIns="0" tIns="0" rIns="0" bIns="0" rtlCol="0" anchor="t"/>
          <a:lstStyle/>
          <a:p>
            <a:pPr algn="l" indent="0" marL="0">
              <a:lnSpc>
                <a:spcPct val="100000"/>
              </a:lnSpc>
              <a:buNone/>
            </a:pPr>
            <a:r>
              <a:rPr lang="en-US" sz="1100" b="1" dirty="0">
                <a:solidFill>
                  <a:srgbClr val="0B1F33"/>
                </a:solidFill>
                <a:latin typeface="Aptos" pitchFamily="34" charset="0"/>
                <a:ea typeface="Aptos" pitchFamily="34" charset="-122"/>
                <a:cs typeface="Aptos" pitchFamily="34" charset="-120"/>
              </a:rPr>
              <a:t>Door 5</a:t>
            </a:r>
            <a:endParaRPr lang="en-US" sz="1100" dirty="0"/>
          </a:p>
        </p:txBody>
      </p:sp>
      <p:sp>
        <p:nvSpPr>
          <p:cNvPr id="55" name="Shape 52"/>
          <p:cNvSpPr/>
          <p:nvPr/>
        </p:nvSpPr>
        <p:spPr>
          <a:xfrm>
            <a:off x="1627632" y="5760720"/>
            <a:ext cx="6263640" cy="0"/>
          </a:xfrm>
          <a:prstGeom prst="line">
            <a:avLst/>
          </a:prstGeom>
          <a:noFill/>
          <a:ln w="9525">
            <a:solidFill>
              <a:srgbClr val="EDF2F6"/>
            </a:solidFill>
            <a:prstDash val="solid"/>
          </a:ln>
        </p:spPr>
        <p:txBody>
          <a:bodyPr/>
          <a:p/>
        </p:txBody>
      </p:sp>
      <p:sp>
        <p:nvSpPr>
          <p:cNvPr id="56" name="Shape 53"/>
          <p:cNvSpPr/>
          <p:nvPr/>
        </p:nvSpPr>
        <p:spPr>
          <a:xfrm>
            <a:off x="1815541" y="5248656"/>
            <a:ext cx="751637" cy="402336"/>
          </a:xfrm>
          <a:prstGeom prst="roundRect">
            <a:avLst>
              <a:gd name="adj" fmla="val 11364"/>
            </a:avLst>
          </a:prstGeom>
          <a:solidFill>
            <a:srgbClr val="E4EFF9"/>
          </a:solidFill>
          <a:ln/>
        </p:spPr>
        <p:txBody>
          <a:bodyPr/>
          <a:p/>
        </p:txBody>
      </p:sp>
      <p:sp>
        <p:nvSpPr>
          <p:cNvPr id="57" name="Text 54"/>
          <p:cNvSpPr txBox="1"/>
          <p:nvPr/>
        </p:nvSpPr>
        <p:spPr>
          <a:xfrm>
            <a:off x="1852117" y="5349240"/>
            <a:ext cx="678485" cy="219456"/>
          </a:xfrm>
          <a:prstGeom prst="rect">
            <a:avLst/>
          </a:prstGeom>
          <a:noFill/>
          <a:ln/>
        </p:spPr>
        <p:txBody>
          <a:bodyPr wrap="square" lIns="0" tIns="0" rIns="0" bIns="0" rtlCol="0" anchor="t"/>
          <a:lstStyle/>
          <a:p>
            <a:pPr algn="ctr" indent="0" marL="0">
              <a:lnSpc>
                <a:spcPct val="100000"/>
              </a:lnSpc>
              <a:buNone/>
            </a:pPr>
            <a:r>
              <a:rPr lang="en-US" sz="850" b="1" dirty="0">
                <a:solidFill>
                  <a:srgbClr val="0877C9"/>
                </a:solidFill>
                <a:latin typeface="Aptos" pitchFamily="34" charset="0"/>
                <a:ea typeface="Aptos" pitchFamily="34" charset="-122"/>
                <a:cs typeface="Aptos" pitchFamily="34" charset="-120"/>
              </a:rPr>
              <a:t>Domtar</a:t>
            </a:r>
            <a:endParaRPr lang="en-US" sz="850" dirty="0"/>
          </a:p>
        </p:txBody>
      </p:sp>
      <p:sp>
        <p:nvSpPr>
          <p:cNvPr id="58" name="Shape 55"/>
          <p:cNvSpPr/>
          <p:nvPr/>
        </p:nvSpPr>
        <p:spPr>
          <a:xfrm>
            <a:off x="4571543" y="5248656"/>
            <a:ext cx="876910" cy="402336"/>
          </a:xfrm>
          <a:prstGeom prst="roundRect">
            <a:avLst>
              <a:gd name="adj" fmla="val 11364"/>
            </a:avLst>
          </a:prstGeom>
          <a:solidFill>
            <a:srgbClr val="FCF0DC"/>
          </a:solidFill>
          <a:ln/>
        </p:spPr>
        <p:txBody>
          <a:bodyPr/>
          <a:p/>
        </p:txBody>
      </p:sp>
      <p:sp>
        <p:nvSpPr>
          <p:cNvPr id="59" name="Text 56"/>
          <p:cNvSpPr txBox="1"/>
          <p:nvPr/>
        </p:nvSpPr>
        <p:spPr>
          <a:xfrm>
            <a:off x="4608119" y="5349240"/>
            <a:ext cx="803758" cy="219456"/>
          </a:xfrm>
          <a:prstGeom prst="rect">
            <a:avLst/>
          </a:prstGeom>
          <a:noFill/>
          <a:ln/>
        </p:spPr>
        <p:txBody>
          <a:bodyPr wrap="square" lIns="0" tIns="0" rIns="0" bIns="0" rtlCol="0" anchor="t"/>
          <a:lstStyle/>
          <a:p>
            <a:pPr algn="ctr" indent="0" marL="0">
              <a:lnSpc>
                <a:spcPct val="100000"/>
              </a:lnSpc>
              <a:buNone/>
            </a:pPr>
            <a:r>
              <a:rPr lang="en-US" sz="850" b="1" dirty="0">
                <a:solidFill>
                  <a:srgbClr val="C97F0A"/>
                </a:solidFill>
                <a:latin typeface="Aptos" pitchFamily="34" charset="0"/>
                <a:ea typeface="Aptos" pitchFamily="34" charset="-122"/>
                <a:cs typeface="Aptos" pitchFamily="34" charset="-120"/>
              </a:rPr>
              <a:t>Outbound</a:t>
            </a:r>
            <a:endParaRPr lang="en-US" sz="850" dirty="0"/>
          </a:p>
        </p:txBody>
      </p:sp>
      <p:sp>
        <p:nvSpPr>
          <p:cNvPr id="60" name="Shape 57"/>
          <p:cNvSpPr/>
          <p:nvPr/>
        </p:nvSpPr>
        <p:spPr>
          <a:xfrm>
            <a:off x="4853407" y="2103120"/>
            <a:ext cx="0" cy="3529584"/>
          </a:xfrm>
          <a:prstGeom prst="line">
            <a:avLst/>
          </a:prstGeom>
          <a:noFill/>
          <a:ln w="19050">
            <a:solidFill>
              <a:srgbClr val="D84C4C"/>
            </a:solidFill>
            <a:prstDash val="solid"/>
          </a:ln>
        </p:spPr>
        <p:txBody>
          <a:bodyPr/>
          <a:p/>
        </p:txBody>
      </p:sp>
      <p:sp>
        <p:nvSpPr>
          <p:cNvPr id="61" name="Text 58"/>
          <p:cNvSpPr txBox="1"/>
          <p:nvPr/>
        </p:nvSpPr>
        <p:spPr>
          <a:xfrm>
            <a:off x="4487647" y="5980176"/>
            <a:ext cx="731520" cy="219456"/>
          </a:xfrm>
          <a:prstGeom prst="rect">
            <a:avLst/>
          </a:prstGeom>
          <a:noFill/>
          <a:ln/>
        </p:spPr>
        <p:txBody>
          <a:bodyPr wrap="square" lIns="0" tIns="0" rIns="0" bIns="0" rtlCol="0" anchor="t"/>
          <a:lstStyle/>
          <a:p>
            <a:pPr algn="ctr" indent="0" marL="0">
              <a:lnSpc>
                <a:spcPct val="100000"/>
              </a:lnSpc>
              <a:buNone/>
            </a:pPr>
            <a:r>
              <a:rPr lang="en-US" sz="900" b="1" dirty="0">
                <a:solidFill>
                  <a:srgbClr val="D84C4C"/>
                </a:solidFill>
                <a:latin typeface="Aptos" pitchFamily="34" charset="0"/>
                <a:ea typeface="Aptos" pitchFamily="34" charset="-122"/>
                <a:cs typeface="Aptos" pitchFamily="34" charset="-120"/>
              </a:rPr>
              <a:t>Now</a:t>
            </a:r>
            <a:endParaRPr lang="en-US" sz="900" dirty="0"/>
          </a:p>
        </p:txBody>
      </p:sp>
      <p:sp>
        <p:nvSpPr>
          <p:cNvPr id="62" name="Text 59"/>
          <p:cNvSpPr txBox="1"/>
          <p:nvPr/>
        </p:nvSpPr>
        <p:spPr>
          <a:xfrm>
            <a:off x="8412480" y="1627632"/>
            <a:ext cx="3246120" cy="1371600"/>
          </a:xfrm>
          <a:prstGeom prst="rect">
            <a:avLst/>
          </a:prstGeom>
          <a:noFill/>
          <a:ln/>
        </p:spPr>
        <p:txBody>
          <a:bodyPr wrap="square" lIns="0" tIns="0" rIns="0" bIns="0" rtlCol="0" anchor="t"/>
          <a:lstStyle/>
          <a:p>
            <a:pPr algn="l" indent="0" marL="0">
              <a:lnSpc>
                <a:spcPct val="125000"/>
              </a:lnSpc>
              <a:buNone/>
            </a:pPr>
            <a:r>
              <a:rPr lang="en-US" sz="1200" dirty="0">
                <a:solidFill>
                  <a:srgbClr val="456174"/>
                </a:solidFill>
                <a:latin typeface="Aptos" pitchFamily="34" charset="0"/>
                <a:ea typeface="Aptos" pitchFamily="34" charset="-122"/>
                <a:cs typeface="Aptos" pitchFamily="34" charset="-120"/>
              </a:rPr>
              <a:t>It refreshes on its own, so a wall display is always current. Drag a load to another door and the rules travel with it.</a:t>
            </a:r>
            <a:endParaRPr lang="en-US" sz="1200" dirty="0"/>
          </a:p>
        </p:txBody>
      </p:sp>
      <p:sp>
        <p:nvSpPr>
          <p:cNvPr id="63" name="Shape 60"/>
          <p:cNvSpPr/>
          <p:nvPr/>
        </p:nvSpPr>
        <p:spPr>
          <a:xfrm>
            <a:off x="8412480" y="3127248"/>
            <a:ext cx="3246120" cy="0"/>
          </a:xfrm>
          <a:prstGeom prst="line">
            <a:avLst/>
          </a:prstGeom>
          <a:noFill/>
          <a:ln w="9525">
            <a:solidFill>
              <a:srgbClr val="D8E4EA"/>
            </a:solidFill>
            <a:prstDash val="solid"/>
          </a:ln>
        </p:spPr>
        <p:txBody>
          <a:bodyPr/>
          <a:p/>
        </p:txBody>
      </p:sp>
      <p:sp>
        <p:nvSpPr>
          <p:cNvPr id="64" name="Text 61"/>
          <p:cNvSpPr txBox="1"/>
          <p:nvPr/>
        </p:nvSpPr>
        <p:spPr>
          <a:xfrm>
            <a:off x="8412480" y="3310128"/>
            <a:ext cx="3246120" cy="219456"/>
          </a:xfrm>
          <a:prstGeom prst="rect">
            <a:avLst/>
          </a:prstGeom>
          <a:noFill/>
          <a:ln/>
        </p:spPr>
        <p:txBody>
          <a:bodyPr wrap="square" lIns="0" tIns="0" rIns="0" bIns="0" rtlCol="0" anchor="t"/>
          <a:lstStyle/>
          <a:p>
            <a:pPr algn="l" indent="0" marL="0">
              <a:lnSpc>
                <a:spcPct val="100000"/>
              </a:lnSpc>
              <a:buNone/>
            </a:pPr>
            <a:r>
              <a:rPr lang="en-US" sz="950" b="1" spc="80" kern="0" dirty="0">
                <a:solidFill>
                  <a:srgbClr val="6F8491"/>
                </a:solidFill>
                <a:latin typeface="Aptos" pitchFamily="34" charset="0"/>
                <a:ea typeface="Aptos" pitchFamily="34" charset="-122"/>
                <a:cs typeface="Aptos" pitchFamily="34" charset="-120"/>
              </a:rPr>
              <a:t>EVERY COLOUR IS A FACT</a:t>
            </a:r>
            <a:endParaRPr lang="en-US" sz="950" dirty="0"/>
          </a:p>
        </p:txBody>
      </p:sp>
      <p:sp>
        <p:nvSpPr>
          <p:cNvPr id="65" name="Shape 62"/>
          <p:cNvSpPr/>
          <p:nvPr/>
        </p:nvSpPr>
        <p:spPr>
          <a:xfrm>
            <a:off x="8412480" y="3675888"/>
            <a:ext cx="292608" cy="292608"/>
          </a:xfrm>
          <a:prstGeom prst="roundRect">
            <a:avLst>
              <a:gd name="adj" fmla="val 15625"/>
            </a:avLst>
          </a:prstGeom>
          <a:solidFill>
            <a:srgbClr val="E4EFF9"/>
          </a:solidFill>
          <a:ln/>
        </p:spPr>
        <p:txBody>
          <a:bodyPr/>
          <a:p/>
        </p:txBody>
      </p:sp>
      <p:sp>
        <p:nvSpPr>
          <p:cNvPr id="66" name="Text 63"/>
          <p:cNvSpPr txBox="1"/>
          <p:nvPr/>
        </p:nvSpPr>
        <p:spPr>
          <a:xfrm>
            <a:off x="8869680" y="3721608"/>
            <a:ext cx="2194560" cy="237744"/>
          </a:xfrm>
          <a:prstGeom prst="rect">
            <a:avLst/>
          </a:prstGeom>
          <a:noFill/>
          <a:ln/>
        </p:spPr>
        <p:txBody>
          <a:bodyPr wrap="square" lIns="0" tIns="0" rIns="0" bIns="0" rtlCol="0" anchor="t"/>
          <a:lstStyle/>
          <a:p>
            <a:pPr algn="l" indent="0" marL="0">
              <a:lnSpc>
                <a:spcPct val="100000"/>
              </a:lnSpc>
              <a:buNone/>
            </a:pPr>
            <a:r>
              <a:rPr lang="en-US" sz="1150" b="1" dirty="0">
                <a:solidFill>
                  <a:srgbClr val="0877C9"/>
                </a:solidFill>
                <a:latin typeface="Aptos" pitchFamily="34" charset="0"/>
                <a:ea typeface="Aptos" pitchFamily="34" charset="-122"/>
                <a:cs typeface="Aptos" pitchFamily="34" charset="-120"/>
              </a:rPr>
              <a:t>Inbound</a:t>
            </a:r>
            <a:endParaRPr lang="en-US" sz="1150" dirty="0"/>
          </a:p>
        </p:txBody>
      </p:sp>
      <p:sp>
        <p:nvSpPr>
          <p:cNvPr id="67" name="Shape 64"/>
          <p:cNvSpPr/>
          <p:nvPr/>
        </p:nvSpPr>
        <p:spPr>
          <a:xfrm>
            <a:off x="8412480" y="4151376"/>
            <a:ext cx="292608" cy="292608"/>
          </a:xfrm>
          <a:prstGeom prst="roundRect">
            <a:avLst>
              <a:gd name="adj" fmla="val 15625"/>
            </a:avLst>
          </a:prstGeom>
          <a:solidFill>
            <a:srgbClr val="FCF0DC"/>
          </a:solidFill>
          <a:ln/>
        </p:spPr>
        <p:txBody>
          <a:bodyPr/>
          <a:p/>
        </p:txBody>
      </p:sp>
      <p:sp>
        <p:nvSpPr>
          <p:cNvPr id="68" name="Text 65"/>
          <p:cNvSpPr txBox="1"/>
          <p:nvPr/>
        </p:nvSpPr>
        <p:spPr>
          <a:xfrm>
            <a:off x="8869680" y="4197096"/>
            <a:ext cx="2194560" cy="237744"/>
          </a:xfrm>
          <a:prstGeom prst="rect">
            <a:avLst/>
          </a:prstGeom>
          <a:noFill/>
          <a:ln/>
        </p:spPr>
        <p:txBody>
          <a:bodyPr wrap="square" lIns="0" tIns="0" rIns="0" bIns="0" rtlCol="0" anchor="t"/>
          <a:lstStyle/>
          <a:p>
            <a:pPr algn="l" indent="0" marL="0">
              <a:lnSpc>
                <a:spcPct val="100000"/>
              </a:lnSpc>
              <a:buNone/>
            </a:pPr>
            <a:r>
              <a:rPr lang="en-US" sz="1150" b="1" dirty="0">
                <a:solidFill>
                  <a:srgbClr val="C97F0A"/>
                </a:solidFill>
                <a:latin typeface="Aptos" pitchFamily="34" charset="0"/>
                <a:ea typeface="Aptos" pitchFamily="34" charset="-122"/>
                <a:cs typeface="Aptos" pitchFamily="34" charset="-120"/>
              </a:rPr>
              <a:t>Outbound</a:t>
            </a:r>
            <a:endParaRPr lang="en-US" sz="1150" dirty="0"/>
          </a:p>
        </p:txBody>
      </p:sp>
      <p:sp>
        <p:nvSpPr>
          <p:cNvPr id="69" name="Shape 66"/>
          <p:cNvSpPr/>
          <p:nvPr/>
        </p:nvSpPr>
        <p:spPr>
          <a:xfrm>
            <a:off x="8412480" y="4626864"/>
            <a:ext cx="292608" cy="292608"/>
          </a:xfrm>
          <a:prstGeom prst="roundRect">
            <a:avLst>
              <a:gd name="adj" fmla="val 15625"/>
            </a:avLst>
          </a:prstGeom>
          <a:solidFill>
            <a:srgbClr val="E1F3EA"/>
          </a:solidFill>
          <a:ln/>
        </p:spPr>
        <p:txBody>
          <a:bodyPr/>
          <a:p/>
        </p:txBody>
      </p:sp>
      <p:sp>
        <p:nvSpPr>
          <p:cNvPr id="70" name="Text 67"/>
          <p:cNvSpPr txBox="1"/>
          <p:nvPr/>
        </p:nvSpPr>
        <p:spPr>
          <a:xfrm>
            <a:off x="8869680" y="4672584"/>
            <a:ext cx="2194560" cy="237744"/>
          </a:xfrm>
          <a:prstGeom prst="rect">
            <a:avLst/>
          </a:prstGeom>
          <a:noFill/>
          <a:ln/>
        </p:spPr>
        <p:txBody>
          <a:bodyPr wrap="square" lIns="0" tIns="0" rIns="0" bIns="0" rtlCol="0" anchor="t"/>
          <a:lstStyle/>
          <a:p>
            <a:pPr algn="l" indent="0" marL="0">
              <a:lnSpc>
                <a:spcPct val="100000"/>
              </a:lnSpc>
              <a:buNone/>
            </a:pPr>
            <a:r>
              <a:rPr lang="en-US" sz="1150" b="1" dirty="0">
                <a:solidFill>
                  <a:srgbClr val="14A66A"/>
                </a:solidFill>
                <a:latin typeface="Aptos" pitchFamily="34" charset="0"/>
                <a:ea typeface="Aptos" pitchFamily="34" charset="-122"/>
                <a:cs typeface="Aptos" pitchFamily="34" charset="-120"/>
              </a:rPr>
              <a:t>Received</a:t>
            </a:r>
            <a:endParaRPr lang="en-US" sz="1150" dirty="0"/>
          </a:p>
        </p:txBody>
      </p:sp>
      <p:sp>
        <p:nvSpPr>
          <p:cNvPr id="71" name="Shape 68"/>
          <p:cNvSpPr/>
          <p:nvPr/>
        </p:nvSpPr>
        <p:spPr>
          <a:xfrm>
            <a:off x="8412480" y="5102352"/>
            <a:ext cx="292608" cy="292608"/>
          </a:xfrm>
          <a:prstGeom prst="roundRect">
            <a:avLst>
              <a:gd name="adj" fmla="val 15625"/>
            </a:avLst>
          </a:prstGeom>
          <a:solidFill>
            <a:srgbClr val="E7E5F9"/>
          </a:solidFill>
          <a:ln/>
        </p:spPr>
        <p:txBody>
          <a:bodyPr/>
          <a:p/>
        </p:txBody>
      </p:sp>
      <p:sp>
        <p:nvSpPr>
          <p:cNvPr id="72" name="Text 69"/>
          <p:cNvSpPr txBox="1"/>
          <p:nvPr/>
        </p:nvSpPr>
        <p:spPr>
          <a:xfrm>
            <a:off x="8869680" y="5148072"/>
            <a:ext cx="2194560" cy="237744"/>
          </a:xfrm>
          <a:prstGeom prst="rect">
            <a:avLst/>
          </a:prstGeom>
          <a:noFill/>
          <a:ln/>
        </p:spPr>
        <p:txBody>
          <a:bodyPr wrap="square" lIns="0" tIns="0" rIns="0" bIns="0" rtlCol="0" anchor="t"/>
          <a:lstStyle/>
          <a:p>
            <a:pPr algn="l" indent="0" marL="0">
              <a:lnSpc>
                <a:spcPct val="100000"/>
              </a:lnSpc>
              <a:buNone/>
            </a:pPr>
            <a:r>
              <a:rPr lang="en-US" sz="1150" b="1" dirty="0">
                <a:solidFill>
                  <a:srgbClr val="4A42B8"/>
                </a:solidFill>
                <a:latin typeface="Aptos" pitchFamily="34" charset="0"/>
                <a:ea typeface="Aptos" pitchFamily="34" charset="-122"/>
                <a:cs typeface="Aptos" pitchFamily="34" charset="-120"/>
              </a:rPr>
              <a:t>En route</a:t>
            </a:r>
            <a:endParaRPr lang="en-US" sz="1150" dirty="0"/>
          </a:p>
        </p:txBody>
      </p:sp>
      <p:sp>
        <p:nvSpPr>
          <p:cNvPr id="73" name="Text 70"/>
          <p:cNvSpPr txBox="1"/>
          <p:nvPr/>
        </p:nvSpPr>
        <p:spPr>
          <a:xfrm>
            <a:off x="8412480" y="5596128"/>
            <a:ext cx="3246120" cy="640080"/>
          </a:xfrm>
          <a:prstGeom prst="rect">
            <a:avLst/>
          </a:prstGeom>
          <a:noFill/>
          <a:ln/>
        </p:spPr>
        <p:txBody>
          <a:bodyPr wrap="square" lIns="0" tIns="0" rIns="0" bIns="0" rtlCol="0" anchor="t"/>
          <a:lstStyle/>
          <a:p>
            <a:pPr algn="l" indent="0" marL="0">
              <a:lnSpc>
                <a:spcPct val="115000"/>
              </a:lnSpc>
              <a:buNone/>
            </a:pPr>
            <a:r>
              <a:rPr lang="en-US" sz="1050" i="1" dirty="0">
                <a:solidFill>
                  <a:srgbClr val="6F8491"/>
                </a:solidFill>
                <a:latin typeface="Aptos" pitchFamily="34" charset="0"/>
                <a:ea typeface="Aptos" pitchFamily="34" charset="-122"/>
                <a:cs typeface="Aptos" pitchFamily="34" charset="-120"/>
              </a:rPr>
              <a:t>Inbound, outbound, received, and on the road between two of our own plants.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10</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THE REAL SCREEN</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This is the dock board today.</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Not a mock-up. This is MaxDock running, captured from the build described in this deck.</a:t>
            </a:r>
            <a:endParaRPr lang="en-US" sz="1200" dirty="0"/>
          </a:p>
        </p:txBody>
      </p:sp>
      <p:sp>
        <p:nvSpPr>
          <p:cNvPr id="10" name="Shape 7"/>
          <p:cNvSpPr/>
          <p:nvPr/>
        </p:nvSpPr>
        <p:spPr>
          <a:xfrm>
            <a:off x="475488" y="1517904"/>
            <a:ext cx="7424928" cy="4681728"/>
          </a:xfrm>
          <a:prstGeom prst="roundRect">
            <a:avLst>
              <a:gd name="adj" fmla="val 1563"/>
            </a:avLst>
          </a:prstGeom>
          <a:solidFill>
            <a:srgbClr val="EDF3F7"/>
          </a:solidFill>
          <a:ln/>
        </p:spPr>
        <p:txBody>
          <a:bodyPr/>
          <a:p/>
        </p:txBody>
      </p:sp>
      <p:pic>
        <p:nvPicPr>
          <p:cNvPr id="11" name="Image 1" descr="unpacked/ppt/media/image-6-2.png">    </p:cNvPr>
          <p:cNvPicPr>
            <a:picLocks noChangeAspect="1"/>
          </p:cNvPicPr>
          <p:nvPr/>
        </p:nvPicPr>
        <p:blipFill>
          <a:blip r:embed="rId2"/>
          <a:stretch>
            <a:fillRect/>
          </a:stretch>
        </p:blipFill>
        <p:spPr>
          <a:xfrm>
            <a:off x="530352" y="1572768"/>
            <a:ext cx="7315200" cy="4572000"/>
          </a:xfrm>
          <a:prstGeom prst="rect">
            <a:avLst/>
          </a:prstGeom>
        </p:spPr>
      </p:pic>
      <p:sp>
        <p:nvSpPr>
          <p:cNvPr id="12" name="Shape 8"/>
          <p:cNvSpPr/>
          <p:nvPr/>
        </p:nvSpPr>
        <p:spPr>
          <a:xfrm>
            <a:off x="8183880" y="1609344"/>
            <a:ext cx="256032" cy="256032"/>
          </a:xfrm>
          <a:prstGeom prst="roundRect">
            <a:avLst>
              <a:gd name="adj" fmla="val 17857"/>
            </a:avLst>
          </a:prstGeom>
          <a:solidFill>
            <a:srgbClr val="0877C9"/>
          </a:solidFill>
          <a:ln/>
        </p:spPr>
        <p:txBody>
          <a:bodyPr/>
          <a:p/>
        </p:txBody>
      </p:sp>
      <p:sp>
        <p:nvSpPr>
          <p:cNvPr id="13" name="Text 9"/>
          <p:cNvSpPr txBox="1"/>
          <p:nvPr/>
        </p:nvSpPr>
        <p:spPr>
          <a:xfrm>
            <a:off x="8604504" y="1572768"/>
            <a:ext cx="3054096" cy="310896"/>
          </a:xfrm>
          <a:prstGeom prst="rect">
            <a:avLst/>
          </a:prstGeom>
          <a:noFill/>
          <a:ln/>
        </p:spPr>
        <p:txBody>
          <a:bodyPr wrap="square" lIns="0" tIns="0" rIns="0" bIns="0" rtlCol="0" anchor="t"/>
          <a:lstStyle/>
          <a:p>
            <a:pPr algn="l" indent="0" marL="0">
              <a:lnSpc>
                <a:spcPct val="100000"/>
              </a:lnSpc>
              <a:buNone/>
            </a:pPr>
            <a:r>
              <a:rPr lang="en-US" sz="1400" b="1" dirty="0">
                <a:solidFill>
                  <a:srgbClr val="0B1F33"/>
                </a:solidFill>
                <a:latin typeface="Aptos Display" pitchFamily="34" charset="0"/>
                <a:ea typeface="Aptos Display" pitchFamily="34" charset="-122"/>
                <a:cs typeface="Aptos Display" pitchFamily="34" charset="-120"/>
              </a:rPr>
              <a:t>Site and date</a:t>
            </a:r>
            <a:endParaRPr lang="en-US" sz="1400" dirty="0"/>
          </a:p>
        </p:txBody>
      </p:sp>
      <p:sp>
        <p:nvSpPr>
          <p:cNvPr id="14" name="Text 10"/>
          <p:cNvSpPr txBox="1"/>
          <p:nvPr/>
        </p:nvSpPr>
        <p:spPr>
          <a:xfrm>
            <a:off x="8183880" y="1938528"/>
            <a:ext cx="3474720" cy="475488"/>
          </a:xfrm>
          <a:prstGeom prst="rect">
            <a:avLst/>
          </a:prstGeom>
          <a:noFill/>
          <a:ln/>
        </p:spPr>
        <p:txBody>
          <a:bodyPr wrap="square" lIns="0" tIns="0" rIns="0" bIns="0" rtlCol="0" anchor="t"/>
          <a:lstStyle/>
          <a:p>
            <a:pPr algn="l" indent="0" marL="0">
              <a:lnSpc>
                <a:spcPct val="116000"/>
              </a:lnSpc>
              <a:buNone/>
            </a:pPr>
            <a:r>
              <a:rPr lang="en-US" sz="1050" dirty="0">
                <a:solidFill>
                  <a:srgbClr val="456174"/>
                </a:solidFill>
                <a:latin typeface="Aptos" pitchFamily="34" charset="0"/>
                <a:ea typeface="Aptos" pitchFamily="34" charset="-122"/>
                <a:cs typeface="Aptos" pitchFamily="34" charset="-120"/>
              </a:rPr>
              <a:t>One picker moves the whole board between plants and days.</a:t>
            </a:r>
            <a:endParaRPr lang="en-US" sz="1050" dirty="0"/>
          </a:p>
        </p:txBody>
      </p:sp>
      <p:sp>
        <p:nvSpPr>
          <p:cNvPr id="15" name="Shape 11"/>
          <p:cNvSpPr/>
          <p:nvPr/>
        </p:nvSpPr>
        <p:spPr>
          <a:xfrm>
            <a:off x="8183880" y="2542032"/>
            <a:ext cx="256032" cy="256032"/>
          </a:xfrm>
          <a:prstGeom prst="roundRect">
            <a:avLst>
              <a:gd name="adj" fmla="val 17857"/>
            </a:avLst>
          </a:prstGeom>
          <a:solidFill>
            <a:srgbClr val="0877C9"/>
          </a:solidFill>
          <a:ln/>
        </p:spPr>
        <p:txBody>
          <a:bodyPr/>
          <a:p/>
        </p:txBody>
      </p:sp>
      <p:sp>
        <p:nvSpPr>
          <p:cNvPr id="16" name="Text 12"/>
          <p:cNvSpPr txBox="1"/>
          <p:nvPr/>
        </p:nvSpPr>
        <p:spPr>
          <a:xfrm>
            <a:off x="8604504" y="2505456"/>
            <a:ext cx="3054096" cy="310896"/>
          </a:xfrm>
          <a:prstGeom prst="rect">
            <a:avLst/>
          </a:prstGeom>
          <a:noFill/>
          <a:ln/>
        </p:spPr>
        <p:txBody>
          <a:bodyPr wrap="square" lIns="0" tIns="0" rIns="0" bIns="0" rtlCol="0" anchor="t"/>
          <a:lstStyle/>
          <a:p>
            <a:pPr algn="l" indent="0" marL="0">
              <a:lnSpc>
                <a:spcPct val="100000"/>
              </a:lnSpc>
              <a:buNone/>
            </a:pPr>
            <a:r>
              <a:rPr lang="en-US" sz="1400" b="1" dirty="0">
                <a:solidFill>
                  <a:srgbClr val="0B1F33"/>
                </a:solidFill>
                <a:latin typeface="Aptos Display" pitchFamily="34" charset="0"/>
                <a:ea typeface="Aptos Display" pitchFamily="34" charset="-122"/>
                <a:cs typeface="Aptos Display" pitchFamily="34" charset="-120"/>
              </a:rPr>
              <a:t>The seven counts</a:t>
            </a:r>
            <a:endParaRPr lang="en-US" sz="1400" dirty="0"/>
          </a:p>
        </p:txBody>
      </p:sp>
      <p:sp>
        <p:nvSpPr>
          <p:cNvPr id="17" name="Text 13"/>
          <p:cNvSpPr txBox="1"/>
          <p:nvPr/>
        </p:nvSpPr>
        <p:spPr>
          <a:xfrm>
            <a:off x="8183880" y="2871216"/>
            <a:ext cx="3474720" cy="475488"/>
          </a:xfrm>
          <a:prstGeom prst="rect">
            <a:avLst/>
          </a:prstGeom>
          <a:noFill/>
          <a:ln/>
        </p:spPr>
        <p:txBody>
          <a:bodyPr wrap="square" lIns="0" tIns="0" rIns="0" bIns="0" rtlCol="0" anchor="t"/>
          <a:lstStyle/>
          <a:p>
            <a:pPr algn="l" indent="0" marL="0">
              <a:lnSpc>
                <a:spcPct val="116000"/>
              </a:lnSpc>
              <a:buNone/>
            </a:pPr>
            <a:r>
              <a:rPr lang="en-US" sz="1050" dirty="0">
                <a:solidFill>
                  <a:srgbClr val="456174"/>
                </a:solidFill>
                <a:latin typeface="Aptos" pitchFamily="34" charset="0"/>
                <a:ea typeface="Aptos" pitchFamily="34" charset="-122"/>
                <a:cs typeface="Aptos" pitchFamily="34" charset="-120"/>
              </a:rPr>
              <a:t>Trucks and skids in and out, active trucks, blocked doors.</a:t>
            </a:r>
            <a:endParaRPr lang="en-US" sz="1050" dirty="0"/>
          </a:p>
        </p:txBody>
      </p:sp>
      <p:sp>
        <p:nvSpPr>
          <p:cNvPr id="18" name="Shape 14"/>
          <p:cNvSpPr/>
          <p:nvPr/>
        </p:nvSpPr>
        <p:spPr>
          <a:xfrm>
            <a:off x="8183880" y="3474720"/>
            <a:ext cx="256032" cy="256032"/>
          </a:xfrm>
          <a:prstGeom prst="roundRect">
            <a:avLst>
              <a:gd name="adj" fmla="val 17857"/>
            </a:avLst>
          </a:prstGeom>
          <a:solidFill>
            <a:srgbClr val="14A66A"/>
          </a:solidFill>
          <a:ln/>
        </p:spPr>
        <p:txBody>
          <a:bodyPr/>
          <a:p/>
        </p:txBody>
      </p:sp>
      <p:sp>
        <p:nvSpPr>
          <p:cNvPr id="19" name="Text 15"/>
          <p:cNvSpPr txBox="1"/>
          <p:nvPr/>
        </p:nvSpPr>
        <p:spPr>
          <a:xfrm>
            <a:off x="8604504" y="3438144"/>
            <a:ext cx="3054096" cy="310896"/>
          </a:xfrm>
          <a:prstGeom prst="rect">
            <a:avLst/>
          </a:prstGeom>
          <a:noFill/>
          <a:ln/>
        </p:spPr>
        <p:txBody>
          <a:bodyPr wrap="square" lIns="0" tIns="0" rIns="0" bIns="0" rtlCol="0" anchor="t"/>
          <a:lstStyle/>
          <a:p>
            <a:pPr algn="l" indent="0" marL="0">
              <a:lnSpc>
                <a:spcPct val="100000"/>
              </a:lnSpc>
              <a:buNone/>
            </a:pPr>
            <a:r>
              <a:rPr lang="en-US" sz="1400" b="1" dirty="0">
                <a:solidFill>
                  <a:srgbClr val="0B1F33"/>
                </a:solidFill>
                <a:latin typeface="Aptos Display" pitchFamily="34" charset="0"/>
                <a:ea typeface="Aptos Display" pitchFamily="34" charset="-122"/>
                <a:cs typeface="Aptos Display" pitchFamily="34" charset="-120"/>
              </a:rPr>
              <a:t>The now line</a:t>
            </a:r>
            <a:endParaRPr lang="en-US" sz="1400" dirty="0"/>
          </a:p>
        </p:txBody>
      </p:sp>
      <p:sp>
        <p:nvSpPr>
          <p:cNvPr id="20" name="Text 16"/>
          <p:cNvSpPr txBox="1"/>
          <p:nvPr/>
        </p:nvSpPr>
        <p:spPr>
          <a:xfrm>
            <a:off x="8183880" y="3803904"/>
            <a:ext cx="3474720" cy="475488"/>
          </a:xfrm>
          <a:prstGeom prst="rect">
            <a:avLst/>
          </a:prstGeom>
          <a:noFill/>
          <a:ln/>
        </p:spPr>
        <p:txBody>
          <a:bodyPr wrap="square" lIns="0" tIns="0" rIns="0" bIns="0" rtlCol="0" anchor="t"/>
          <a:lstStyle/>
          <a:p>
            <a:pPr algn="l" indent="0" marL="0">
              <a:lnSpc>
                <a:spcPct val="116000"/>
              </a:lnSpc>
              <a:buNone/>
            </a:pPr>
            <a:r>
              <a:rPr lang="en-US" sz="1050" dirty="0">
                <a:solidFill>
                  <a:srgbClr val="456174"/>
                </a:solidFill>
                <a:latin typeface="Aptos" pitchFamily="34" charset="0"/>
                <a:ea typeface="Aptos" pitchFamily="34" charset="-122"/>
                <a:cs typeface="Aptos" pitchFamily="34" charset="-120"/>
              </a:rPr>
              <a:t>The current time at that plant, in its own time zone.</a:t>
            </a:r>
            <a:endParaRPr lang="en-US" sz="1050" dirty="0"/>
          </a:p>
        </p:txBody>
      </p:sp>
      <p:sp>
        <p:nvSpPr>
          <p:cNvPr id="21" name="Shape 17"/>
          <p:cNvSpPr/>
          <p:nvPr/>
        </p:nvSpPr>
        <p:spPr>
          <a:xfrm>
            <a:off x="8183880" y="4407408"/>
            <a:ext cx="256032" cy="256032"/>
          </a:xfrm>
          <a:prstGeom prst="roundRect">
            <a:avLst>
              <a:gd name="adj" fmla="val 17857"/>
            </a:avLst>
          </a:prstGeom>
          <a:solidFill>
            <a:srgbClr val="14A66A"/>
          </a:solidFill>
          <a:ln/>
        </p:spPr>
        <p:txBody>
          <a:bodyPr/>
          <a:p/>
        </p:txBody>
      </p:sp>
      <p:sp>
        <p:nvSpPr>
          <p:cNvPr id="22" name="Text 18"/>
          <p:cNvSpPr txBox="1"/>
          <p:nvPr/>
        </p:nvSpPr>
        <p:spPr>
          <a:xfrm>
            <a:off x="8604504" y="4370832"/>
            <a:ext cx="3054096" cy="310896"/>
          </a:xfrm>
          <a:prstGeom prst="rect">
            <a:avLst/>
          </a:prstGeom>
          <a:noFill/>
          <a:ln/>
        </p:spPr>
        <p:txBody>
          <a:bodyPr wrap="square" lIns="0" tIns="0" rIns="0" bIns="0" rtlCol="0" anchor="t"/>
          <a:lstStyle/>
          <a:p>
            <a:pPr algn="l" indent="0" marL="0">
              <a:lnSpc>
                <a:spcPct val="100000"/>
              </a:lnSpc>
              <a:buNone/>
            </a:pPr>
            <a:r>
              <a:rPr lang="en-US" sz="1400" b="1" dirty="0">
                <a:solidFill>
                  <a:srgbClr val="0B1F33"/>
                </a:solidFill>
                <a:latin typeface="Aptos Display" pitchFamily="34" charset="0"/>
                <a:ea typeface="Aptos Display" pitchFamily="34" charset="-122"/>
                <a:cs typeface="Aptos Display" pitchFamily="34" charset="-120"/>
              </a:rPr>
              <a:t>Each block</a:t>
            </a:r>
            <a:endParaRPr lang="en-US" sz="1400" dirty="0"/>
          </a:p>
        </p:txBody>
      </p:sp>
      <p:sp>
        <p:nvSpPr>
          <p:cNvPr id="23" name="Text 19"/>
          <p:cNvSpPr txBox="1"/>
          <p:nvPr/>
        </p:nvSpPr>
        <p:spPr>
          <a:xfrm>
            <a:off x="8183880" y="4736592"/>
            <a:ext cx="3474720" cy="475488"/>
          </a:xfrm>
          <a:prstGeom prst="rect">
            <a:avLst/>
          </a:prstGeom>
          <a:noFill/>
          <a:ln/>
        </p:spPr>
        <p:txBody>
          <a:bodyPr wrap="square" lIns="0" tIns="0" rIns="0" bIns="0" rtlCol="0" anchor="t"/>
          <a:lstStyle/>
          <a:p>
            <a:pPr algn="l" indent="0" marL="0">
              <a:lnSpc>
                <a:spcPct val="116000"/>
              </a:lnSpc>
              <a:buNone/>
            </a:pPr>
            <a:r>
              <a:rPr lang="en-US" sz="1050" dirty="0">
                <a:solidFill>
                  <a:srgbClr val="456174"/>
                </a:solidFill>
                <a:latin typeface="Aptos" pitchFamily="34" charset="0"/>
                <a:ea typeface="Aptos" pitchFamily="34" charset="-122"/>
                <a:cs typeface="Aptos" pitchFamily="34" charset="-120"/>
              </a:rPr>
              <a:t>Reference, status and destination. Click for the full load.</a:t>
            </a:r>
            <a:endParaRPr lang="en-US" sz="1050" dirty="0"/>
          </a:p>
        </p:txBody>
      </p:sp>
      <p:sp>
        <p:nvSpPr>
          <p:cNvPr id="24" name="Shape 20"/>
          <p:cNvSpPr/>
          <p:nvPr/>
        </p:nvSpPr>
        <p:spPr>
          <a:xfrm>
            <a:off x="8183880" y="5340096"/>
            <a:ext cx="256032" cy="256032"/>
          </a:xfrm>
          <a:prstGeom prst="roundRect">
            <a:avLst>
              <a:gd name="adj" fmla="val 17857"/>
            </a:avLst>
          </a:prstGeom>
          <a:solidFill>
            <a:srgbClr val="F2A11B"/>
          </a:solidFill>
          <a:ln/>
        </p:spPr>
        <p:txBody>
          <a:bodyPr/>
          <a:p/>
        </p:txBody>
      </p:sp>
      <p:sp>
        <p:nvSpPr>
          <p:cNvPr id="25" name="Text 21"/>
          <p:cNvSpPr txBox="1"/>
          <p:nvPr/>
        </p:nvSpPr>
        <p:spPr>
          <a:xfrm>
            <a:off x="8604504" y="5303520"/>
            <a:ext cx="3054096" cy="310896"/>
          </a:xfrm>
          <a:prstGeom prst="rect">
            <a:avLst/>
          </a:prstGeom>
          <a:noFill/>
          <a:ln/>
        </p:spPr>
        <p:txBody>
          <a:bodyPr wrap="square" lIns="0" tIns="0" rIns="0" bIns="0" rtlCol="0" anchor="t"/>
          <a:lstStyle/>
          <a:p>
            <a:pPr algn="l" indent="0" marL="0">
              <a:lnSpc>
                <a:spcPct val="100000"/>
              </a:lnSpc>
              <a:buNone/>
            </a:pPr>
            <a:r>
              <a:rPr lang="en-US" sz="1400" b="1" dirty="0">
                <a:solidFill>
                  <a:srgbClr val="0B1F33"/>
                </a:solidFill>
                <a:latin typeface="Aptos Display" pitchFamily="34" charset="0"/>
                <a:ea typeface="Aptos Display" pitchFamily="34" charset="-122"/>
                <a:cs typeface="Aptos Display" pitchFamily="34" charset="-120"/>
              </a:rPr>
              <a:t>Book appointment</a:t>
            </a:r>
            <a:endParaRPr lang="en-US" sz="1400" dirty="0"/>
          </a:p>
        </p:txBody>
      </p:sp>
      <p:sp>
        <p:nvSpPr>
          <p:cNvPr id="26" name="Text 22"/>
          <p:cNvSpPr txBox="1"/>
          <p:nvPr/>
        </p:nvSpPr>
        <p:spPr>
          <a:xfrm>
            <a:off x="8183880" y="5669280"/>
            <a:ext cx="3474720" cy="475488"/>
          </a:xfrm>
          <a:prstGeom prst="rect">
            <a:avLst/>
          </a:prstGeom>
          <a:noFill/>
          <a:ln/>
        </p:spPr>
        <p:txBody>
          <a:bodyPr wrap="square" lIns="0" tIns="0" rIns="0" bIns="0" rtlCol="0" anchor="t"/>
          <a:lstStyle/>
          <a:p>
            <a:pPr algn="l" indent="0" marL="0">
              <a:lnSpc>
                <a:spcPct val="116000"/>
              </a:lnSpc>
              <a:buNone/>
            </a:pPr>
            <a:r>
              <a:rPr lang="en-US" sz="1050" dirty="0">
                <a:solidFill>
                  <a:srgbClr val="456174"/>
                </a:solidFill>
                <a:latin typeface="Aptos" pitchFamily="34" charset="0"/>
                <a:ea typeface="Aptos" pitchFamily="34" charset="-122"/>
                <a:cs typeface="Aptos" pitchFamily="34" charset="-120"/>
              </a:rPr>
              <a:t>The same wizard an outside company sees.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11</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THE ONE WITH MONEY ATTACHED</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Two half-empty trailers are one truck.</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MaxDock spots two loads going the same way on the same day, and offers to merge them.</a:t>
            </a:r>
            <a:endParaRPr lang="en-US" sz="1200" dirty="0"/>
          </a:p>
        </p:txBody>
      </p:sp>
      <p:sp>
        <p:nvSpPr>
          <p:cNvPr id="10" name="Text 7"/>
          <p:cNvSpPr txBox="1"/>
          <p:nvPr/>
        </p:nvSpPr>
        <p:spPr>
          <a:xfrm>
            <a:off x="530352" y="1517904"/>
            <a:ext cx="11130991" cy="256032"/>
          </a:xfrm>
          <a:prstGeom prst="rect">
            <a:avLst/>
          </a:prstGeom>
          <a:noFill/>
          <a:ln/>
        </p:spPr>
        <p:txBody>
          <a:bodyPr wrap="square" lIns="0" tIns="0" rIns="0" bIns="0" rtlCol="0" anchor="t"/>
          <a:lstStyle/>
          <a:p>
            <a:pPr algn="l" indent="0" marL="0">
              <a:lnSpc>
                <a:spcPct val="100000"/>
              </a:lnSpc>
              <a:buNone/>
            </a:pPr>
            <a:r>
              <a:rPr lang="en-US" sz="1250" b="1" dirty="0">
                <a:solidFill>
                  <a:srgbClr val="0877C9"/>
                </a:solidFill>
                <a:latin typeface="Aptos" pitchFamily="34" charset="0"/>
                <a:ea typeface="Aptos" pitchFamily="34" charset="-122"/>
                <a:cs typeface="Aptos" pitchFamily="34" charset="-120"/>
              </a:rPr>
              <a:t>Outbound · Mississauga to Guelph · Thursday</a:t>
            </a:r>
            <a:endParaRPr lang="en-US" sz="1250" dirty="0"/>
          </a:p>
        </p:txBody>
      </p:sp>
      <p:sp>
        <p:nvSpPr>
          <p:cNvPr id="11" name="Text 8"/>
          <p:cNvSpPr txBox="1"/>
          <p:nvPr/>
        </p:nvSpPr>
        <p:spPr>
          <a:xfrm>
            <a:off x="530352" y="1920240"/>
            <a:ext cx="2743200" cy="219456"/>
          </a:xfrm>
          <a:prstGeom prst="rect">
            <a:avLst/>
          </a:prstGeom>
          <a:noFill/>
          <a:ln/>
        </p:spPr>
        <p:txBody>
          <a:bodyPr wrap="square" lIns="0" tIns="0" rIns="0" bIns="0" rtlCol="0" anchor="t"/>
          <a:lstStyle/>
          <a:p>
            <a:pPr algn="l" indent="0" marL="0">
              <a:lnSpc>
                <a:spcPct val="100000"/>
              </a:lnSpc>
              <a:buNone/>
            </a:pPr>
            <a:r>
              <a:rPr lang="en-US" sz="950" b="1" spc="80" kern="0" dirty="0">
                <a:solidFill>
                  <a:srgbClr val="6F8491"/>
                </a:solidFill>
                <a:latin typeface="Aptos" pitchFamily="34" charset="0"/>
                <a:ea typeface="Aptos" pitchFamily="34" charset="-122"/>
                <a:cs typeface="Aptos" pitchFamily="34" charset="-120"/>
              </a:rPr>
              <a:t>BEFORE</a:t>
            </a:r>
            <a:endParaRPr lang="en-US" sz="950" dirty="0"/>
          </a:p>
        </p:txBody>
      </p:sp>
      <p:sp>
        <p:nvSpPr>
          <p:cNvPr id="12" name="Text 9"/>
          <p:cNvSpPr txBox="1"/>
          <p:nvPr/>
        </p:nvSpPr>
        <p:spPr>
          <a:xfrm>
            <a:off x="7086600" y="1920240"/>
            <a:ext cx="2743200" cy="219456"/>
          </a:xfrm>
          <a:prstGeom prst="rect">
            <a:avLst/>
          </a:prstGeom>
          <a:noFill/>
          <a:ln/>
        </p:spPr>
        <p:txBody>
          <a:bodyPr wrap="square" lIns="0" tIns="0" rIns="0" bIns="0" rtlCol="0" anchor="t"/>
          <a:lstStyle/>
          <a:p>
            <a:pPr algn="l" indent="0" marL="0">
              <a:lnSpc>
                <a:spcPct val="100000"/>
              </a:lnSpc>
              <a:buNone/>
            </a:pPr>
            <a:r>
              <a:rPr lang="en-US" sz="950" b="1" spc="80" kern="0" dirty="0">
                <a:solidFill>
                  <a:srgbClr val="6F8491"/>
                </a:solidFill>
                <a:latin typeface="Aptos" pitchFamily="34" charset="0"/>
                <a:ea typeface="Aptos" pitchFamily="34" charset="-122"/>
                <a:cs typeface="Aptos" pitchFamily="34" charset="-120"/>
              </a:rPr>
              <a:t>AFTER</a:t>
            </a:r>
            <a:endParaRPr lang="en-US" sz="950" dirty="0"/>
          </a:p>
        </p:txBody>
      </p:sp>
      <p:sp>
        <p:nvSpPr>
          <p:cNvPr id="13" name="Shape 10"/>
          <p:cNvSpPr/>
          <p:nvPr/>
        </p:nvSpPr>
        <p:spPr>
          <a:xfrm>
            <a:off x="530352" y="2231136"/>
            <a:ext cx="2871216" cy="1792224"/>
          </a:xfrm>
          <a:prstGeom prst="roundRect">
            <a:avLst>
              <a:gd name="adj" fmla="val 4082"/>
            </a:avLst>
          </a:prstGeom>
          <a:solidFill>
            <a:srgbClr val="FFFFFF"/>
          </a:solidFill>
          <a:ln w="9525">
            <a:solidFill>
              <a:srgbClr val="D8E4EA"/>
            </a:solidFill>
            <a:prstDash val="solid"/>
          </a:ln>
        </p:spPr>
        <p:txBody>
          <a:bodyPr/>
          <a:p/>
        </p:txBody>
      </p:sp>
      <p:sp>
        <p:nvSpPr>
          <p:cNvPr id="14" name="Text 11"/>
          <p:cNvSpPr txBox="1"/>
          <p:nvPr/>
        </p:nvSpPr>
        <p:spPr>
          <a:xfrm>
            <a:off x="804672" y="2487168"/>
            <a:ext cx="2377440" cy="292608"/>
          </a:xfrm>
          <a:prstGeom prst="rect">
            <a:avLst/>
          </a:prstGeom>
          <a:noFill/>
          <a:ln/>
        </p:spPr>
        <p:txBody>
          <a:bodyPr wrap="square" lIns="0" tIns="0" rIns="0" bIns="0" rtlCol="0" anchor="t"/>
          <a:lstStyle/>
          <a:p>
            <a:pPr algn="l" indent="0" marL="0">
              <a:lnSpc>
                <a:spcPct val="100000"/>
              </a:lnSpc>
              <a:buNone/>
            </a:pPr>
            <a:r>
              <a:rPr lang="en-US" sz="1400" b="1" dirty="0">
                <a:solidFill>
                  <a:srgbClr val="0B1F33"/>
                </a:solidFill>
                <a:latin typeface="Aptos Display" pitchFamily="34" charset="0"/>
                <a:ea typeface="Aptos Display" pitchFamily="34" charset="-122"/>
                <a:cs typeface="Aptos Display" pitchFamily="34" charset="-120"/>
              </a:rPr>
              <a:t>MXD-2026-000071</a:t>
            </a:r>
            <a:endParaRPr lang="en-US" sz="1400" dirty="0"/>
          </a:p>
        </p:txBody>
      </p:sp>
      <p:sp>
        <p:nvSpPr>
          <p:cNvPr id="15" name="Text 12"/>
          <p:cNvSpPr txBox="1"/>
          <p:nvPr/>
        </p:nvSpPr>
        <p:spPr>
          <a:xfrm>
            <a:off x="804672" y="2834640"/>
            <a:ext cx="2377440" cy="256032"/>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53 ft · 26 skids</a:t>
            </a:r>
            <a:endParaRPr lang="en-US" sz="1150" dirty="0"/>
          </a:p>
        </p:txBody>
      </p:sp>
      <p:sp>
        <p:nvSpPr>
          <p:cNvPr id="16" name="Shape 13"/>
          <p:cNvSpPr/>
          <p:nvPr/>
        </p:nvSpPr>
        <p:spPr>
          <a:xfrm>
            <a:off x="804672" y="3255264"/>
            <a:ext cx="1691640" cy="219456"/>
          </a:xfrm>
          <a:prstGeom prst="roundRect">
            <a:avLst>
              <a:gd name="adj" fmla="val 50000"/>
            </a:avLst>
          </a:prstGeom>
          <a:solidFill>
            <a:srgbClr val="E7EDF1"/>
          </a:solidFill>
          <a:ln/>
        </p:spPr>
        <p:txBody>
          <a:bodyPr/>
          <a:p/>
        </p:txBody>
      </p:sp>
      <p:sp>
        <p:nvSpPr>
          <p:cNvPr id="17" name="Shape 14"/>
          <p:cNvSpPr/>
          <p:nvPr/>
        </p:nvSpPr>
        <p:spPr>
          <a:xfrm>
            <a:off x="804672" y="3255264"/>
            <a:ext cx="795071" cy="219456"/>
          </a:xfrm>
          <a:prstGeom prst="roundRect">
            <a:avLst>
              <a:gd name="adj" fmla="val 50000"/>
            </a:avLst>
          </a:prstGeom>
          <a:solidFill>
            <a:srgbClr val="0877C9"/>
          </a:solidFill>
          <a:ln/>
        </p:spPr>
        <p:txBody>
          <a:bodyPr/>
          <a:p/>
        </p:txBody>
      </p:sp>
      <p:sp>
        <p:nvSpPr>
          <p:cNvPr id="18" name="Text 15"/>
          <p:cNvSpPr txBox="1"/>
          <p:nvPr/>
        </p:nvSpPr>
        <p:spPr>
          <a:xfrm>
            <a:off x="2587752" y="3200400"/>
            <a:ext cx="640080" cy="310896"/>
          </a:xfrm>
          <a:prstGeom prst="rect">
            <a:avLst/>
          </a:prstGeom>
          <a:noFill/>
          <a:ln/>
        </p:spPr>
        <p:txBody>
          <a:bodyPr wrap="square" lIns="0" tIns="0" rIns="0" bIns="0" rtlCol="0" anchor="t"/>
          <a:lstStyle/>
          <a:p>
            <a:pPr algn="r" indent="0" marL="0">
              <a:lnSpc>
                <a:spcPct val="100000"/>
              </a:lnSpc>
              <a:buNone/>
            </a:pPr>
            <a:r>
              <a:rPr lang="en-US" sz="1400" b="1" dirty="0">
                <a:solidFill>
                  <a:srgbClr val="0877C9"/>
                </a:solidFill>
                <a:latin typeface="Aptos" pitchFamily="34" charset="0"/>
                <a:ea typeface="Aptos" pitchFamily="34" charset="-122"/>
                <a:cs typeface="Aptos" pitchFamily="34" charset="-120"/>
              </a:rPr>
              <a:t>47%</a:t>
            </a:r>
            <a:endParaRPr lang="en-US" sz="1400" dirty="0"/>
          </a:p>
        </p:txBody>
      </p:sp>
      <p:sp>
        <p:nvSpPr>
          <p:cNvPr id="19" name="Shape 16"/>
          <p:cNvSpPr/>
          <p:nvPr/>
        </p:nvSpPr>
        <p:spPr>
          <a:xfrm>
            <a:off x="3657600" y="2231136"/>
            <a:ext cx="2871216" cy="1792224"/>
          </a:xfrm>
          <a:prstGeom prst="roundRect">
            <a:avLst>
              <a:gd name="adj" fmla="val 4082"/>
            </a:avLst>
          </a:prstGeom>
          <a:solidFill>
            <a:srgbClr val="FFFFFF"/>
          </a:solidFill>
          <a:ln w="9525">
            <a:solidFill>
              <a:srgbClr val="D8E4EA"/>
            </a:solidFill>
            <a:prstDash val="solid"/>
          </a:ln>
        </p:spPr>
        <p:txBody>
          <a:bodyPr/>
          <a:p/>
        </p:txBody>
      </p:sp>
      <p:sp>
        <p:nvSpPr>
          <p:cNvPr id="20" name="Text 17"/>
          <p:cNvSpPr txBox="1"/>
          <p:nvPr/>
        </p:nvSpPr>
        <p:spPr>
          <a:xfrm>
            <a:off x="3931920" y="2487168"/>
            <a:ext cx="2377440" cy="292608"/>
          </a:xfrm>
          <a:prstGeom prst="rect">
            <a:avLst/>
          </a:prstGeom>
          <a:noFill/>
          <a:ln/>
        </p:spPr>
        <p:txBody>
          <a:bodyPr wrap="square" lIns="0" tIns="0" rIns="0" bIns="0" rtlCol="0" anchor="t"/>
          <a:lstStyle/>
          <a:p>
            <a:pPr algn="l" indent="0" marL="0">
              <a:lnSpc>
                <a:spcPct val="100000"/>
              </a:lnSpc>
              <a:buNone/>
            </a:pPr>
            <a:r>
              <a:rPr lang="en-US" sz="1400" b="1" dirty="0">
                <a:solidFill>
                  <a:srgbClr val="0B1F33"/>
                </a:solidFill>
                <a:latin typeface="Aptos Display" pitchFamily="34" charset="0"/>
                <a:ea typeface="Aptos Display" pitchFamily="34" charset="-122"/>
                <a:cs typeface="Aptos Display" pitchFamily="34" charset="-120"/>
              </a:rPr>
              <a:t>MXD-2026-000074</a:t>
            </a:r>
            <a:endParaRPr lang="en-US" sz="1400" dirty="0"/>
          </a:p>
        </p:txBody>
      </p:sp>
      <p:sp>
        <p:nvSpPr>
          <p:cNvPr id="21" name="Text 18"/>
          <p:cNvSpPr txBox="1"/>
          <p:nvPr/>
        </p:nvSpPr>
        <p:spPr>
          <a:xfrm>
            <a:off x="3931920" y="2834640"/>
            <a:ext cx="2377440" cy="256032"/>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53 ft · 26 skids</a:t>
            </a:r>
            <a:endParaRPr lang="en-US" sz="1150" dirty="0"/>
          </a:p>
        </p:txBody>
      </p:sp>
      <p:sp>
        <p:nvSpPr>
          <p:cNvPr id="22" name="Shape 19"/>
          <p:cNvSpPr/>
          <p:nvPr/>
        </p:nvSpPr>
        <p:spPr>
          <a:xfrm>
            <a:off x="3931920" y="3255264"/>
            <a:ext cx="1691640" cy="219456"/>
          </a:xfrm>
          <a:prstGeom prst="roundRect">
            <a:avLst>
              <a:gd name="adj" fmla="val 50000"/>
            </a:avLst>
          </a:prstGeom>
          <a:solidFill>
            <a:srgbClr val="E7EDF1"/>
          </a:solidFill>
          <a:ln/>
        </p:spPr>
        <p:txBody>
          <a:bodyPr/>
          <a:p/>
        </p:txBody>
      </p:sp>
      <p:sp>
        <p:nvSpPr>
          <p:cNvPr id="23" name="Shape 20"/>
          <p:cNvSpPr/>
          <p:nvPr/>
        </p:nvSpPr>
        <p:spPr>
          <a:xfrm>
            <a:off x="3931920" y="3255264"/>
            <a:ext cx="693572" cy="219456"/>
          </a:xfrm>
          <a:prstGeom prst="roundRect">
            <a:avLst>
              <a:gd name="adj" fmla="val 50000"/>
            </a:avLst>
          </a:prstGeom>
          <a:solidFill>
            <a:srgbClr val="F2A11B"/>
          </a:solidFill>
          <a:ln/>
        </p:spPr>
        <p:txBody>
          <a:bodyPr/>
          <a:p/>
        </p:txBody>
      </p:sp>
      <p:sp>
        <p:nvSpPr>
          <p:cNvPr id="24" name="Text 21"/>
          <p:cNvSpPr txBox="1"/>
          <p:nvPr/>
        </p:nvSpPr>
        <p:spPr>
          <a:xfrm>
            <a:off x="5715000" y="3200400"/>
            <a:ext cx="640080" cy="310896"/>
          </a:xfrm>
          <a:prstGeom prst="rect">
            <a:avLst/>
          </a:prstGeom>
          <a:noFill/>
          <a:ln/>
        </p:spPr>
        <p:txBody>
          <a:bodyPr wrap="square" lIns="0" tIns="0" rIns="0" bIns="0" rtlCol="0" anchor="t"/>
          <a:lstStyle/>
          <a:p>
            <a:pPr algn="r" indent="0" marL="0">
              <a:lnSpc>
                <a:spcPct val="100000"/>
              </a:lnSpc>
              <a:buNone/>
            </a:pPr>
            <a:r>
              <a:rPr lang="en-US" sz="1400" b="1" dirty="0">
                <a:solidFill>
                  <a:srgbClr val="F2A11B"/>
                </a:solidFill>
                <a:latin typeface="Aptos" pitchFamily="34" charset="0"/>
                <a:ea typeface="Aptos" pitchFamily="34" charset="-122"/>
                <a:cs typeface="Aptos" pitchFamily="34" charset="-120"/>
              </a:rPr>
              <a:t>41%</a:t>
            </a:r>
            <a:endParaRPr lang="en-US" sz="1400" dirty="0"/>
          </a:p>
        </p:txBody>
      </p:sp>
      <p:sp>
        <p:nvSpPr>
          <p:cNvPr id="25" name="Shape 22"/>
          <p:cNvSpPr/>
          <p:nvPr/>
        </p:nvSpPr>
        <p:spPr>
          <a:xfrm>
            <a:off x="6419088" y="3127248"/>
            <a:ext cx="502920" cy="0"/>
          </a:xfrm>
          <a:prstGeom prst="line">
            <a:avLst/>
          </a:prstGeom>
          <a:noFill/>
          <a:ln w="19050">
            <a:solidFill>
              <a:srgbClr val="0877C9"/>
            </a:solidFill>
            <a:prstDash val="solid"/>
            <a:tailEnd type="triangle"/>
          </a:ln>
        </p:spPr>
        <p:txBody>
          <a:bodyPr/>
          <a:p/>
        </p:txBody>
      </p:sp>
      <p:sp>
        <p:nvSpPr>
          <p:cNvPr id="26" name="Shape 23"/>
          <p:cNvSpPr/>
          <p:nvPr/>
        </p:nvSpPr>
        <p:spPr>
          <a:xfrm>
            <a:off x="7086600" y="2231136"/>
            <a:ext cx="4572000" cy="1792224"/>
          </a:xfrm>
          <a:prstGeom prst="roundRect">
            <a:avLst>
              <a:gd name="adj" fmla="val 4082"/>
            </a:avLst>
          </a:prstGeom>
          <a:solidFill>
            <a:srgbClr val="E1F3EA"/>
          </a:solidFill>
          <a:ln w="9525">
            <a:solidFill>
              <a:srgbClr val="BFE3D0"/>
            </a:solidFill>
            <a:prstDash val="solid"/>
          </a:ln>
        </p:spPr>
        <p:txBody>
          <a:bodyPr/>
          <a:p/>
        </p:txBody>
      </p:sp>
      <p:sp>
        <p:nvSpPr>
          <p:cNvPr id="27" name="Text 24"/>
          <p:cNvSpPr txBox="1"/>
          <p:nvPr/>
        </p:nvSpPr>
        <p:spPr>
          <a:xfrm>
            <a:off x="7360920" y="2487168"/>
            <a:ext cx="4023360" cy="365760"/>
          </a:xfrm>
          <a:prstGeom prst="rect">
            <a:avLst/>
          </a:prstGeom>
          <a:noFill/>
          <a:ln/>
        </p:spPr>
        <p:txBody>
          <a:bodyPr wrap="square" lIns="0" tIns="0" rIns="0" bIns="0" rtlCol="0" anchor="t"/>
          <a:lstStyle/>
          <a:p>
            <a:pPr algn="l" indent="0" marL="0">
              <a:lnSpc>
                <a:spcPct val="100000"/>
              </a:lnSpc>
              <a:buNone/>
            </a:pPr>
            <a:r>
              <a:rPr lang="en-US" sz="1800" b="1" dirty="0">
                <a:solidFill>
                  <a:srgbClr val="14A66A"/>
                </a:solidFill>
                <a:latin typeface="Aptos Display" pitchFamily="34" charset="0"/>
                <a:ea typeface="Aptos Display" pitchFamily="34" charset="-122"/>
                <a:cs typeface="Aptos Display" pitchFamily="34" charset="-120"/>
              </a:rPr>
              <a:t>One trailer at 88%</a:t>
            </a:r>
            <a:endParaRPr lang="en-US" sz="1800" dirty="0"/>
          </a:p>
        </p:txBody>
      </p:sp>
      <p:sp>
        <p:nvSpPr>
          <p:cNvPr id="28" name="Shape 25"/>
          <p:cNvSpPr/>
          <p:nvPr/>
        </p:nvSpPr>
        <p:spPr>
          <a:xfrm>
            <a:off x="7360920" y="2999232"/>
            <a:ext cx="4023360" cy="237744"/>
          </a:xfrm>
          <a:prstGeom prst="roundRect">
            <a:avLst>
              <a:gd name="adj" fmla="val 50000"/>
            </a:avLst>
          </a:prstGeom>
          <a:solidFill>
            <a:srgbClr val="CDE9DA"/>
          </a:solidFill>
          <a:ln/>
        </p:spPr>
        <p:txBody>
          <a:bodyPr/>
          <a:p/>
        </p:txBody>
      </p:sp>
      <p:sp>
        <p:nvSpPr>
          <p:cNvPr id="29" name="Shape 26"/>
          <p:cNvSpPr/>
          <p:nvPr/>
        </p:nvSpPr>
        <p:spPr>
          <a:xfrm>
            <a:off x="7360920" y="2999232"/>
            <a:ext cx="3540557" cy="237744"/>
          </a:xfrm>
          <a:prstGeom prst="roundRect">
            <a:avLst>
              <a:gd name="adj" fmla="val 50000"/>
            </a:avLst>
          </a:prstGeom>
          <a:solidFill>
            <a:srgbClr val="14A66A"/>
          </a:solidFill>
          <a:ln/>
        </p:spPr>
        <p:txBody>
          <a:bodyPr/>
          <a:p/>
        </p:txBody>
      </p:sp>
      <p:sp>
        <p:nvSpPr>
          <p:cNvPr id="30" name="Text 27"/>
          <p:cNvSpPr txBox="1"/>
          <p:nvPr/>
        </p:nvSpPr>
        <p:spPr>
          <a:xfrm>
            <a:off x="7360920" y="3383280"/>
            <a:ext cx="4023360" cy="502920"/>
          </a:xfrm>
          <a:prstGeom prst="rect">
            <a:avLst/>
          </a:prstGeom>
          <a:noFill/>
          <a:ln/>
        </p:spPr>
        <p:txBody>
          <a:bodyPr wrap="square" lIns="0" tIns="0" rIns="0" bIns="0" rtlCol="0" anchor="t"/>
          <a:lstStyle/>
          <a:p>
            <a:pPr algn="l" indent="0" marL="0">
              <a:lnSpc>
                <a:spcPct val="118000"/>
              </a:lnSpc>
              <a:buNone/>
            </a:pPr>
            <a:r>
              <a:rPr lang="en-US" sz="1150" dirty="0">
                <a:solidFill>
                  <a:srgbClr val="10603F"/>
                </a:solidFill>
                <a:latin typeface="Aptos" pitchFamily="34" charset="0"/>
                <a:ea typeface="Aptos" pitchFamily="34" charset="-122"/>
                <a:cs typeface="Aptos" pitchFamily="34" charset="-120"/>
              </a:rPr>
              <a:t>Same two loads. Same day. One full freight charge removed.</a:t>
            </a:r>
            <a:endParaRPr lang="en-US" sz="1150" dirty="0"/>
          </a:p>
        </p:txBody>
      </p:sp>
      <p:sp>
        <p:nvSpPr>
          <p:cNvPr id="31" name="Shape 28"/>
          <p:cNvSpPr/>
          <p:nvPr/>
        </p:nvSpPr>
        <p:spPr>
          <a:xfrm>
            <a:off x="530352" y="4443984"/>
            <a:ext cx="5303520" cy="1115568"/>
          </a:xfrm>
          <a:prstGeom prst="roundRect">
            <a:avLst>
              <a:gd name="adj" fmla="val 6250"/>
            </a:avLst>
          </a:prstGeom>
          <a:solidFill>
            <a:srgbClr val="FFFFFF"/>
          </a:solidFill>
          <a:ln w="9525">
            <a:solidFill>
              <a:srgbClr val="D8E4EA"/>
            </a:solidFill>
            <a:prstDash val="solid"/>
          </a:ln>
        </p:spPr>
        <p:txBody>
          <a:bodyPr/>
          <a:p/>
        </p:txBody>
      </p:sp>
      <p:sp>
        <p:nvSpPr>
          <p:cNvPr id="32" name="Text 29"/>
          <p:cNvSpPr txBox="1"/>
          <p:nvPr/>
        </p:nvSpPr>
        <p:spPr>
          <a:xfrm>
            <a:off x="822960" y="4626864"/>
            <a:ext cx="4663440" cy="274320"/>
          </a:xfrm>
          <a:prstGeom prst="rect">
            <a:avLst/>
          </a:prstGeom>
          <a:noFill/>
          <a:ln/>
        </p:spPr>
        <p:txBody>
          <a:bodyPr wrap="square" lIns="0" tIns="0" rIns="0" bIns="0" rtlCol="0" anchor="t"/>
          <a:lstStyle/>
          <a:p>
            <a:pPr algn="l" indent="0" marL="0">
              <a:lnSpc>
                <a:spcPct val="100000"/>
              </a:lnSpc>
              <a:buNone/>
            </a:pPr>
            <a:r>
              <a:rPr lang="en-US" sz="1300" b="1" dirty="0">
                <a:solidFill>
                  <a:srgbClr val="0B1F33"/>
                </a:solidFill>
                <a:latin typeface="Aptos" pitchFamily="34" charset="0"/>
                <a:ea typeface="Aptos" pitchFamily="34" charset="-122"/>
                <a:cs typeface="Aptos" pitchFamily="34" charset="-120"/>
              </a:rPr>
              <a:t>Why it matters here</a:t>
            </a:r>
            <a:endParaRPr lang="en-US" sz="1300" dirty="0"/>
          </a:p>
        </p:txBody>
      </p:sp>
      <p:sp>
        <p:nvSpPr>
          <p:cNvPr id="33" name="Text 30"/>
          <p:cNvSpPr txBox="1"/>
          <p:nvPr/>
        </p:nvSpPr>
        <p:spPr>
          <a:xfrm>
            <a:off x="822960" y="4919472"/>
            <a:ext cx="4718304" cy="603504"/>
          </a:xfrm>
          <a:prstGeom prst="rect">
            <a:avLst/>
          </a:prstGeom>
          <a:noFill/>
          <a:ln/>
        </p:spPr>
        <p:txBody>
          <a:bodyPr wrap="square" lIns="0" tIns="0" rIns="0" bIns="0" rtlCol="0" anchor="t"/>
          <a:lstStyle/>
          <a:p>
            <a:pPr algn="l" indent="0" marL="0">
              <a:lnSpc>
                <a:spcPct val="116000"/>
              </a:lnSpc>
              <a:buNone/>
            </a:pPr>
            <a:r>
              <a:rPr lang="en-US" sz="1100" dirty="0">
                <a:solidFill>
                  <a:srgbClr val="456174"/>
                </a:solidFill>
                <a:latin typeface="Aptos" pitchFamily="34" charset="0"/>
                <a:ea typeface="Aptos" pitchFamily="34" charset="-122"/>
                <a:cs typeface="Aptos" pitchFamily="34" charset="-120"/>
              </a:rPr>
              <a:t>We ship partial trailers constantly. Every truck avoided is a freight bill nobody pays.</a:t>
            </a:r>
            <a:endParaRPr lang="en-US" sz="1100" dirty="0"/>
          </a:p>
        </p:txBody>
      </p:sp>
      <p:sp>
        <p:nvSpPr>
          <p:cNvPr id="34" name="Shape 31"/>
          <p:cNvSpPr/>
          <p:nvPr/>
        </p:nvSpPr>
        <p:spPr>
          <a:xfrm>
            <a:off x="6355080" y="4443984"/>
            <a:ext cx="5303520" cy="1115568"/>
          </a:xfrm>
          <a:prstGeom prst="roundRect">
            <a:avLst>
              <a:gd name="adj" fmla="val 6250"/>
            </a:avLst>
          </a:prstGeom>
          <a:solidFill>
            <a:srgbClr val="FFFFFF"/>
          </a:solidFill>
          <a:ln w="9525">
            <a:solidFill>
              <a:srgbClr val="D8E4EA"/>
            </a:solidFill>
            <a:prstDash val="solid"/>
          </a:ln>
        </p:spPr>
        <p:txBody>
          <a:bodyPr/>
          <a:p/>
        </p:txBody>
      </p:sp>
      <p:sp>
        <p:nvSpPr>
          <p:cNvPr id="35" name="Text 32"/>
          <p:cNvSpPr txBox="1"/>
          <p:nvPr/>
        </p:nvSpPr>
        <p:spPr>
          <a:xfrm>
            <a:off x="6647688" y="4626864"/>
            <a:ext cx="4663440" cy="274320"/>
          </a:xfrm>
          <a:prstGeom prst="rect">
            <a:avLst/>
          </a:prstGeom>
          <a:noFill/>
          <a:ln/>
        </p:spPr>
        <p:txBody>
          <a:bodyPr wrap="square" lIns="0" tIns="0" rIns="0" bIns="0" rtlCol="0" anchor="t"/>
          <a:lstStyle/>
          <a:p>
            <a:pPr algn="l" indent="0" marL="0">
              <a:lnSpc>
                <a:spcPct val="100000"/>
              </a:lnSpc>
              <a:buNone/>
            </a:pPr>
            <a:r>
              <a:rPr lang="en-US" sz="1300" b="1" dirty="0">
                <a:solidFill>
                  <a:srgbClr val="0B1F33"/>
                </a:solidFill>
                <a:latin typeface="Aptos" pitchFamily="34" charset="0"/>
                <a:ea typeface="Aptos" pitchFamily="34" charset="-122"/>
                <a:cs typeface="Aptos" pitchFamily="34" charset="-120"/>
              </a:rPr>
              <a:t>The customer still sees their booking</a:t>
            </a:r>
            <a:endParaRPr lang="en-US" sz="1300" dirty="0"/>
          </a:p>
        </p:txBody>
      </p:sp>
      <p:sp>
        <p:nvSpPr>
          <p:cNvPr id="36" name="Text 33"/>
          <p:cNvSpPr txBox="1"/>
          <p:nvPr/>
        </p:nvSpPr>
        <p:spPr>
          <a:xfrm>
            <a:off x="6647688" y="4919472"/>
            <a:ext cx="4718304" cy="603504"/>
          </a:xfrm>
          <a:prstGeom prst="rect">
            <a:avLst/>
          </a:prstGeom>
          <a:noFill/>
          <a:ln/>
        </p:spPr>
        <p:txBody>
          <a:bodyPr wrap="square" lIns="0" tIns="0" rIns="0" bIns="0" rtlCol="0" anchor="t"/>
          <a:lstStyle/>
          <a:p>
            <a:pPr algn="l" indent="0" marL="0">
              <a:lnSpc>
                <a:spcPct val="116000"/>
              </a:lnSpc>
              <a:buNone/>
            </a:pPr>
            <a:r>
              <a:rPr lang="en-US" sz="1100" dirty="0">
                <a:solidFill>
                  <a:srgbClr val="456174"/>
                </a:solidFill>
                <a:latin typeface="Aptos" pitchFamily="34" charset="0"/>
                <a:ea typeface="Aptos" pitchFamily="34" charset="-122"/>
                <a:cs typeface="Aptos" pitchFamily="34" charset="-120"/>
              </a:rPr>
              <a:t>Both numbers are kept, and the merged booking records what each load put on the truck.</a:t>
            </a:r>
            <a:endParaRPr lang="en-US" sz="1100" dirty="0"/>
          </a:p>
        </p:txBody>
      </p:sp>
      <p:sp>
        <p:nvSpPr>
          <p:cNvPr id="37" name="Shape 34"/>
          <p:cNvSpPr/>
          <p:nvPr/>
        </p:nvSpPr>
        <p:spPr>
          <a:xfrm>
            <a:off x="530352" y="5760720"/>
            <a:ext cx="11130991" cy="566928"/>
          </a:xfrm>
          <a:prstGeom prst="roundRect">
            <a:avLst>
              <a:gd name="adj" fmla="val 10526"/>
            </a:avLst>
          </a:prstGeom>
          <a:solidFill>
            <a:srgbClr val="072238"/>
          </a:solidFill>
          <a:ln/>
        </p:spPr>
        <p:txBody>
          <a:bodyPr/>
          <a:p/>
        </p:txBody>
      </p:sp>
      <p:sp>
        <p:nvSpPr>
          <p:cNvPr id="38" name="Text 35"/>
          <p:cNvSpPr txBox="1"/>
          <p:nvPr/>
        </p:nvSpPr>
        <p:spPr>
          <a:xfrm>
            <a:off x="877824" y="5907024"/>
            <a:ext cx="10436047" cy="402336"/>
          </a:xfrm>
          <a:prstGeom prst="rect">
            <a:avLst/>
          </a:prstGeom>
          <a:noFill/>
          <a:ln/>
        </p:spPr>
        <p:txBody>
          <a:bodyPr wrap="square" lIns="0" tIns="0" rIns="0" bIns="0" rtlCol="0" anchor="ctr"/>
          <a:lstStyle/>
          <a:p>
            <a:pPr algn="l" indent="0" marL="0">
              <a:lnSpc>
                <a:spcPct val="115000"/>
              </a:lnSpc>
              <a:buNone/>
            </a:pPr>
            <a:r>
              <a:rPr lang="en-US" sz="1250" b="1" dirty="0">
                <a:solidFill>
                  <a:srgbClr val="FFFFFF"/>
                </a:solidFill>
                <a:latin typeface="Aptos" pitchFamily="34" charset="0"/>
                <a:ea typeface="Aptos" pitchFamily="34" charset="-122"/>
                <a:cs typeface="Aptos" pitchFamily="34" charset="-120"/>
              </a:rPr>
              <a:t>No other dock product does this. They schedule doors; they do not look inside the trailer.</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12</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THE DETAIL THAT MAKES IT USABLE</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It offers a bigger trailer, not a later day.</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The difference between a suggestion a coordinator takes and one they learn to ignore.</a:t>
            </a:r>
            <a:endParaRPr lang="en-US" sz="1200" dirty="0"/>
          </a:p>
        </p:txBody>
      </p:sp>
      <p:sp>
        <p:nvSpPr>
          <p:cNvPr id="10" name="Text 7"/>
          <p:cNvSpPr txBox="1"/>
          <p:nvPr/>
        </p:nvSpPr>
        <p:spPr>
          <a:xfrm>
            <a:off x="530352" y="1517904"/>
            <a:ext cx="11130991" cy="256032"/>
          </a:xfrm>
          <a:prstGeom prst="rect">
            <a:avLst/>
          </a:prstGeom>
          <a:noFill/>
          <a:ln/>
        </p:spPr>
        <p:txBody>
          <a:bodyPr wrap="square" lIns="0" tIns="0" rIns="0" bIns="0" rtlCol="0" anchor="t"/>
          <a:lstStyle/>
          <a:p>
            <a:pPr algn="l" indent="0" marL="0">
              <a:lnSpc>
                <a:spcPct val="100000"/>
              </a:lnSpc>
              <a:buNone/>
            </a:pPr>
            <a:r>
              <a:rPr lang="en-US" sz="1250" b="1" dirty="0">
                <a:solidFill>
                  <a:srgbClr val="0877C9"/>
                </a:solidFill>
                <a:latin typeface="Aptos" pitchFamily="34" charset="0"/>
                <a:ea typeface="Aptos" pitchFamily="34" charset="-122"/>
                <a:cs typeface="Aptos" pitchFamily="34" charset="-120"/>
              </a:rPr>
              <a:t>Two loads, one lane, Thursday</a:t>
            </a:r>
            <a:endParaRPr lang="en-US" sz="1250" dirty="0"/>
          </a:p>
        </p:txBody>
      </p:sp>
      <p:sp>
        <p:nvSpPr>
          <p:cNvPr id="11" name="Shape 8"/>
          <p:cNvSpPr/>
          <p:nvPr/>
        </p:nvSpPr>
        <p:spPr>
          <a:xfrm>
            <a:off x="530352" y="1993392"/>
            <a:ext cx="3154680" cy="2377440"/>
          </a:xfrm>
          <a:prstGeom prst="roundRect">
            <a:avLst>
              <a:gd name="adj" fmla="val 3200"/>
            </a:avLst>
          </a:prstGeom>
          <a:solidFill>
            <a:srgbClr val="FFFFFF"/>
          </a:solidFill>
          <a:ln w="9525">
            <a:solidFill>
              <a:srgbClr val="D8E4EA"/>
            </a:solidFill>
            <a:prstDash val="solid"/>
          </a:ln>
        </p:spPr>
        <p:txBody>
          <a:bodyPr/>
          <a:p/>
        </p:txBody>
      </p:sp>
      <p:sp>
        <p:nvSpPr>
          <p:cNvPr id="12" name="Shape 9"/>
          <p:cNvSpPr/>
          <p:nvPr/>
        </p:nvSpPr>
        <p:spPr>
          <a:xfrm>
            <a:off x="822960" y="2267712"/>
            <a:ext cx="274320" cy="274320"/>
          </a:xfrm>
          <a:prstGeom prst="roundRect">
            <a:avLst>
              <a:gd name="adj" fmla="val 16667"/>
            </a:avLst>
          </a:prstGeom>
          <a:solidFill>
            <a:srgbClr val="0877C9"/>
          </a:solidFill>
          <a:ln/>
        </p:spPr>
        <p:txBody>
          <a:bodyPr/>
          <a:p/>
        </p:txBody>
      </p:sp>
      <p:sp>
        <p:nvSpPr>
          <p:cNvPr id="13" name="Text 10"/>
          <p:cNvSpPr txBox="1"/>
          <p:nvPr/>
        </p:nvSpPr>
        <p:spPr>
          <a:xfrm>
            <a:off x="822960" y="2688336"/>
            <a:ext cx="2570378" cy="640080"/>
          </a:xfrm>
          <a:prstGeom prst="rect">
            <a:avLst/>
          </a:prstGeom>
          <a:noFill/>
          <a:ln/>
        </p:spPr>
        <p:txBody>
          <a:bodyPr wrap="square" lIns="0" tIns="0" rIns="0" bIns="0" rtlCol="0" anchor="t"/>
          <a:lstStyle/>
          <a:p>
            <a:pPr algn="l" indent="0" marL="0">
              <a:lnSpc>
                <a:spcPct val="105000"/>
              </a:lnSpc>
              <a:buNone/>
            </a:pPr>
            <a:r>
              <a:rPr lang="en-US" sz="1550" b="1" dirty="0">
                <a:solidFill>
                  <a:srgbClr val="0B1F33"/>
                </a:solidFill>
                <a:latin typeface="Aptos Display" pitchFamily="34" charset="0"/>
                <a:ea typeface="Aptos Display" pitchFamily="34" charset="-122"/>
                <a:cs typeface="Aptos Display" pitchFamily="34" charset="-120"/>
              </a:rPr>
              <a:t>Booked separately</a:t>
            </a:r>
            <a:endParaRPr lang="en-US" sz="1550" dirty="0"/>
          </a:p>
        </p:txBody>
      </p:sp>
      <p:sp>
        <p:nvSpPr>
          <p:cNvPr id="14" name="Text 11"/>
          <p:cNvSpPr txBox="1"/>
          <p:nvPr/>
        </p:nvSpPr>
        <p:spPr>
          <a:xfrm>
            <a:off x="822960" y="3291840"/>
            <a:ext cx="2570378" cy="274320"/>
          </a:xfrm>
          <a:prstGeom prst="rect">
            <a:avLst/>
          </a:prstGeom>
          <a:noFill/>
          <a:ln/>
        </p:spPr>
        <p:txBody>
          <a:bodyPr wrap="square" lIns="0" tIns="0" rIns="0" bIns="0" rtlCol="0" anchor="t"/>
          <a:lstStyle/>
          <a:p>
            <a:pPr algn="l" indent="0" marL="0">
              <a:lnSpc>
                <a:spcPct val="100000"/>
              </a:lnSpc>
              <a:buNone/>
            </a:pPr>
            <a:r>
              <a:rPr lang="en-US" sz="1200" dirty="0">
                <a:solidFill>
                  <a:srgbClr val="456174"/>
                </a:solidFill>
                <a:latin typeface="Aptos" pitchFamily="34" charset="0"/>
                <a:ea typeface="Aptos" pitchFamily="34" charset="-122"/>
                <a:cs typeface="Aptos" pitchFamily="34" charset="-120"/>
              </a:rPr>
              <a:t>14 skids + 12 skids</a:t>
            </a:r>
            <a:endParaRPr lang="en-US" sz="1200" dirty="0"/>
          </a:p>
        </p:txBody>
      </p:sp>
      <p:sp>
        <p:nvSpPr>
          <p:cNvPr id="15" name="Shape 12"/>
          <p:cNvSpPr/>
          <p:nvPr/>
        </p:nvSpPr>
        <p:spPr>
          <a:xfrm>
            <a:off x="822960" y="3511296"/>
            <a:ext cx="2570378" cy="182880"/>
          </a:xfrm>
          <a:prstGeom prst="roundRect">
            <a:avLst>
              <a:gd name="adj" fmla="val 50000"/>
            </a:avLst>
          </a:prstGeom>
          <a:solidFill>
            <a:srgbClr val="E7EDF1"/>
          </a:solidFill>
          <a:ln/>
        </p:spPr>
        <p:txBody>
          <a:bodyPr/>
          <a:p/>
        </p:txBody>
      </p:sp>
      <p:sp>
        <p:nvSpPr>
          <p:cNvPr id="16" name="Shape 13"/>
          <p:cNvSpPr/>
          <p:nvPr/>
        </p:nvSpPr>
        <p:spPr>
          <a:xfrm>
            <a:off x="822960" y="3511296"/>
            <a:ext cx="1282763" cy="182880"/>
          </a:xfrm>
          <a:prstGeom prst="roundRect">
            <a:avLst>
              <a:gd name="adj" fmla="val 50000"/>
            </a:avLst>
          </a:prstGeom>
          <a:solidFill>
            <a:srgbClr val="0877C9"/>
          </a:solidFill>
          <a:ln/>
        </p:spPr>
        <p:txBody>
          <a:bodyPr/>
          <a:p/>
        </p:txBody>
      </p:sp>
      <p:sp>
        <p:nvSpPr>
          <p:cNvPr id="17" name="Shape 14"/>
          <p:cNvSpPr/>
          <p:nvPr/>
        </p:nvSpPr>
        <p:spPr>
          <a:xfrm>
            <a:off x="822960" y="3730752"/>
            <a:ext cx="2570378" cy="182880"/>
          </a:xfrm>
          <a:prstGeom prst="roundRect">
            <a:avLst>
              <a:gd name="adj" fmla="val 50000"/>
            </a:avLst>
          </a:prstGeom>
          <a:solidFill>
            <a:srgbClr val="E7EDF1"/>
          </a:solidFill>
          <a:ln/>
        </p:spPr>
        <p:txBody>
          <a:bodyPr/>
          <a:p/>
        </p:txBody>
      </p:sp>
      <p:sp>
        <p:nvSpPr>
          <p:cNvPr id="18" name="Shape 15"/>
          <p:cNvSpPr/>
          <p:nvPr/>
        </p:nvSpPr>
        <p:spPr>
          <a:xfrm>
            <a:off x="822960" y="3730752"/>
            <a:ext cx="1068160" cy="182880"/>
          </a:xfrm>
          <a:prstGeom prst="roundRect">
            <a:avLst>
              <a:gd name="adj" fmla="val 50000"/>
            </a:avLst>
          </a:prstGeom>
          <a:solidFill>
            <a:srgbClr val="0877C9"/>
          </a:solidFill>
          <a:ln/>
        </p:spPr>
        <p:txBody>
          <a:bodyPr/>
          <a:p/>
        </p:txBody>
      </p:sp>
      <p:sp>
        <p:nvSpPr>
          <p:cNvPr id="19" name="Shape 16"/>
          <p:cNvSpPr/>
          <p:nvPr/>
        </p:nvSpPr>
        <p:spPr>
          <a:xfrm>
            <a:off x="3397977" y="3474720"/>
            <a:ext cx="0" cy="475488"/>
          </a:xfrm>
          <a:prstGeom prst="line">
            <a:avLst/>
          </a:prstGeom>
          <a:noFill/>
          <a:ln w="12700">
            <a:solidFill>
              <a:srgbClr val="0B1F33"/>
            </a:solidFill>
            <a:prstDash val="solid"/>
          </a:ln>
        </p:spPr>
        <p:txBody>
          <a:bodyPr/>
          <a:p/>
        </p:txBody>
      </p:sp>
      <p:sp>
        <p:nvSpPr>
          <p:cNvPr id="20" name="Text 17"/>
          <p:cNvSpPr txBox="1"/>
          <p:nvPr/>
        </p:nvSpPr>
        <p:spPr>
          <a:xfrm>
            <a:off x="822960" y="3950208"/>
            <a:ext cx="2570378" cy="237744"/>
          </a:xfrm>
          <a:prstGeom prst="rect">
            <a:avLst/>
          </a:prstGeom>
          <a:noFill/>
          <a:ln/>
        </p:spPr>
        <p:txBody>
          <a:bodyPr wrap="square" lIns="0" tIns="0" rIns="0" bIns="0" rtlCol="0" anchor="t"/>
          <a:lstStyle/>
          <a:p>
            <a:pPr algn="l" indent="0" marL="0">
              <a:lnSpc>
                <a:spcPct val="100000"/>
              </a:lnSpc>
              <a:buNone/>
            </a:pPr>
            <a:r>
              <a:rPr lang="en-US" sz="1000" dirty="0">
                <a:solidFill>
                  <a:srgbClr val="6F8491"/>
                </a:solidFill>
                <a:latin typeface="Aptos" pitchFamily="34" charset="0"/>
                <a:ea typeface="Aptos" pitchFamily="34" charset="-122"/>
                <a:cs typeface="Aptos" pitchFamily="34" charset="-120"/>
              </a:rPr>
              <a:t>48 ft holds 24</a:t>
            </a:r>
            <a:endParaRPr lang="en-US" sz="1000" dirty="0"/>
          </a:p>
        </p:txBody>
      </p:sp>
      <p:sp>
        <p:nvSpPr>
          <p:cNvPr id="21" name="Shape 18"/>
          <p:cNvSpPr/>
          <p:nvPr/>
        </p:nvSpPr>
        <p:spPr>
          <a:xfrm>
            <a:off x="4517136" y="1993392"/>
            <a:ext cx="3154680" cy="2377440"/>
          </a:xfrm>
          <a:prstGeom prst="roundRect">
            <a:avLst>
              <a:gd name="adj" fmla="val 3200"/>
            </a:avLst>
          </a:prstGeom>
          <a:solidFill>
            <a:srgbClr val="FFFFFF"/>
          </a:solidFill>
          <a:ln w="9525">
            <a:solidFill>
              <a:srgbClr val="D8E4EA"/>
            </a:solidFill>
            <a:prstDash val="solid"/>
          </a:ln>
        </p:spPr>
        <p:txBody>
          <a:bodyPr/>
          <a:p/>
        </p:txBody>
      </p:sp>
      <p:sp>
        <p:nvSpPr>
          <p:cNvPr id="22" name="Shape 19"/>
          <p:cNvSpPr/>
          <p:nvPr/>
        </p:nvSpPr>
        <p:spPr>
          <a:xfrm>
            <a:off x="4810658" y="2267712"/>
            <a:ext cx="274320" cy="274320"/>
          </a:xfrm>
          <a:prstGeom prst="roundRect">
            <a:avLst>
              <a:gd name="adj" fmla="val 16667"/>
            </a:avLst>
          </a:prstGeom>
          <a:solidFill>
            <a:srgbClr val="D84C4C"/>
          </a:solidFill>
          <a:ln/>
        </p:spPr>
        <p:txBody>
          <a:bodyPr/>
          <a:p/>
        </p:txBody>
      </p:sp>
      <p:sp>
        <p:nvSpPr>
          <p:cNvPr id="23" name="Text 20"/>
          <p:cNvSpPr txBox="1"/>
          <p:nvPr/>
        </p:nvSpPr>
        <p:spPr>
          <a:xfrm>
            <a:off x="4810658" y="2688336"/>
            <a:ext cx="2570378" cy="640080"/>
          </a:xfrm>
          <a:prstGeom prst="rect">
            <a:avLst/>
          </a:prstGeom>
          <a:noFill/>
          <a:ln/>
        </p:spPr>
        <p:txBody>
          <a:bodyPr wrap="square" lIns="0" tIns="0" rIns="0" bIns="0" rtlCol="0" anchor="t"/>
          <a:lstStyle/>
          <a:p>
            <a:pPr algn="l" indent="0" marL="0">
              <a:lnSpc>
                <a:spcPct val="105000"/>
              </a:lnSpc>
              <a:buNone/>
            </a:pPr>
            <a:r>
              <a:rPr lang="en-US" sz="1550" b="1" dirty="0">
                <a:solidFill>
                  <a:srgbClr val="0B1F33"/>
                </a:solidFill>
                <a:latin typeface="Aptos Display" pitchFamily="34" charset="0"/>
                <a:ea typeface="Aptos Display" pitchFamily="34" charset="-122"/>
                <a:cs typeface="Aptos Display" pitchFamily="34" charset="-120"/>
              </a:rPr>
              <a:t>Combined onto the 48 ft</a:t>
            </a:r>
            <a:endParaRPr lang="en-US" sz="1550" dirty="0"/>
          </a:p>
        </p:txBody>
      </p:sp>
      <p:sp>
        <p:nvSpPr>
          <p:cNvPr id="24" name="Text 21"/>
          <p:cNvSpPr txBox="1"/>
          <p:nvPr/>
        </p:nvSpPr>
        <p:spPr>
          <a:xfrm>
            <a:off x="4810658" y="3291840"/>
            <a:ext cx="2570378" cy="274320"/>
          </a:xfrm>
          <a:prstGeom prst="rect">
            <a:avLst/>
          </a:prstGeom>
          <a:noFill/>
          <a:ln/>
        </p:spPr>
        <p:txBody>
          <a:bodyPr wrap="square" lIns="0" tIns="0" rIns="0" bIns="0" rtlCol="0" anchor="t"/>
          <a:lstStyle/>
          <a:p>
            <a:pPr algn="l" indent="0" marL="0">
              <a:lnSpc>
                <a:spcPct val="100000"/>
              </a:lnSpc>
              <a:buNone/>
            </a:pPr>
            <a:r>
              <a:rPr lang="en-US" sz="1200" dirty="0">
                <a:solidFill>
                  <a:srgbClr val="456174"/>
                </a:solidFill>
                <a:latin typeface="Aptos" pitchFamily="34" charset="0"/>
                <a:ea typeface="Aptos" pitchFamily="34" charset="-122"/>
                <a:cs typeface="Aptos" pitchFamily="34" charset="-120"/>
              </a:rPr>
              <a:t>26 of 24 — over by 2</a:t>
            </a:r>
            <a:endParaRPr lang="en-US" sz="1200" dirty="0"/>
          </a:p>
        </p:txBody>
      </p:sp>
      <p:sp>
        <p:nvSpPr>
          <p:cNvPr id="25" name="Shape 22"/>
          <p:cNvSpPr/>
          <p:nvPr/>
        </p:nvSpPr>
        <p:spPr>
          <a:xfrm>
            <a:off x="4810658" y="3657600"/>
            <a:ext cx="2570378" cy="237744"/>
          </a:xfrm>
          <a:prstGeom prst="roundRect">
            <a:avLst>
              <a:gd name="adj" fmla="val 50000"/>
            </a:avLst>
          </a:prstGeom>
          <a:solidFill>
            <a:srgbClr val="E7EDF1"/>
          </a:solidFill>
          <a:ln/>
        </p:spPr>
        <p:txBody>
          <a:bodyPr/>
          <a:p/>
        </p:txBody>
      </p:sp>
      <p:sp>
        <p:nvSpPr>
          <p:cNvPr id="26" name="Shape 23"/>
          <p:cNvSpPr/>
          <p:nvPr/>
        </p:nvSpPr>
        <p:spPr>
          <a:xfrm>
            <a:off x="4810658" y="3657600"/>
            <a:ext cx="2570378" cy="237744"/>
          </a:xfrm>
          <a:prstGeom prst="roundRect">
            <a:avLst>
              <a:gd name="adj" fmla="val 50000"/>
            </a:avLst>
          </a:prstGeom>
          <a:solidFill>
            <a:srgbClr val="D84C4C"/>
          </a:solidFill>
          <a:ln/>
        </p:spPr>
        <p:txBody>
          <a:bodyPr/>
          <a:p/>
        </p:txBody>
      </p:sp>
      <p:sp>
        <p:nvSpPr>
          <p:cNvPr id="27" name="Shape 24"/>
          <p:cNvSpPr/>
          <p:nvPr/>
        </p:nvSpPr>
        <p:spPr>
          <a:xfrm>
            <a:off x="7385676" y="3547872"/>
            <a:ext cx="0" cy="457200"/>
          </a:xfrm>
          <a:prstGeom prst="line">
            <a:avLst/>
          </a:prstGeom>
          <a:noFill/>
          <a:ln w="12700">
            <a:solidFill>
              <a:srgbClr val="0B1F33"/>
            </a:solidFill>
            <a:prstDash val="solid"/>
          </a:ln>
        </p:spPr>
        <p:txBody>
          <a:bodyPr/>
          <a:p/>
        </p:txBody>
      </p:sp>
      <p:sp>
        <p:nvSpPr>
          <p:cNvPr id="28" name="Text 25"/>
          <p:cNvSpPr txBox="1"/>
          <p:nvPr/>
        </p:nvSpPr>
        <p:spPr>
          <a:xfrm>
            <a:off x="4810658" y="3950208"/>
            <a:ext cx="2570378" cy="237744"/>
          </a:xfrm>
          <a:prstGeom prst="rect">
            <a:avLst/>
          </a:prstGeom>
          <a:noFill/>
          <a:ln/>
        </p:spPr>
        <p:txBody>
          <a:bodyPr wrap="square" lIns="0" tIns="0" rIns="0" bIns="0" rtlCol="0" anchor="t"/>
          <a:lstStyle/>
          <a:p>
            <a:pPr algn="l" indent="0" marL="0">
              <a:lnSpc>
                <a:spcPct val="100000"/>
              </a:lnSpc>
              <a:buNone/>
            </a:pPr>
            <a:r>
              <a:rPr lang="en-US" sz="1000" dirty="0">
                <a:solidFill>
                  <a:srgbClr val="6F8491"/>
                </a:solidFill>
                <a:latin typeface="Aptos" pitchFamily="34" charset="0"/>
                <a:ea typeface="Aptos" pitchFamily="34" charset="-122"/>
                <a:cs typeface="Aptos" pitchFamily="34" charset="-120"/>
              </a:rPr>
              <a:t>48 ft holds 24</a:t>
            </a:r>
            <a:endParaRPr lang="en-US" sz="1000" dirty="0"/>
          </a:p>
        </p:txBody>
      </p:sp>
      <p:sp>
        <p:nvSpPr>
          <p:cNvPr id="29" name="Shape 26"/>
          <p:cNvSpPr/>
          <p:nvPr/>
        </p:nvSpPr>
        <p:spPr>
          <a:xfrm>
            <a:off x="8503920" y="1993392"/>
            <a:ext cx="3154680" cy="2377440"/>
          </a:xfrm>
          <a:prstGeom prst="roundRect">
            <a:avLst>
              <a:gd name="adj" fmla="val 3200"/>
            </a:avLst>
          </a:prstGeom>
          <a:solidFill>
            <a:srgbClr val="FFFFFF"/>
          </a:solidFill>
          <a:ln w="9525">
            <a:solidFill>
              <a:srgbClr val="D8E4EA"/>
            </a:solidFill>
            <a:prstDash val="solid"/>
          </a:ln>
        </p:spPr>
        <p:txBody>
          <a:bodyPr/>
          <a:p/>
        </p:txBody>
      </p:sp>
      <p:sp>
        <p:nvSpPr>
          <p:cNvPr id="30" name="Shape 27"/>
          <p:cNvSpPr/>
          <p:nvPr/>
        </p:nvSpPr>
        <p:spPr>
          <a:xfrm>
            <a:off x="8798357" y="2267712"/>
            <a:ext cx="274320" cy="274320"/>
          </a:xfrm>
          <a:prstGeom prst="roundRect">
            <a:avLst>
              <a:gd name="adj" fmla="val 16667"/>
            </a:avLst>
          </a:prstGeom>
          <a:solidFill>
            <a:srgbClr val="14A66A"/>
          </a:solidFill>
          <a:ln/>
        </p:spPr>
        <p:txBody>
          <a:bodyPr/>
          <a:p/>
        </p:txBody>
      </p:sp>
      <p:sp>
        <p:nvSpPr>
          <p:cNvPr id="31" name="Text 28"/>
          <p:cNvSpPr txBox="1"/>
          <p:nvPr/>
        </p:nvSpPr>
        <p:spPr>
          <a:xfrm>
            <a:off x="8798357" y="2688336"/>
            <a:ext cx="2570378" cy="640080"/>
          </a:xfrm>
          <a:prstGeom prst="rect">
            <a:avLst/>
          </a:prstGeom>
          <a:noFill/>
          <a:ln/>
        </p:spPr>
        <p:txBody>
          <a:bodyPr wrap="square" lIns="0" tIns="0" rIns="0" bIns="0" rtlCol="0" anchor="t"/>
          <a:lstStyle/>
          <a:p>
            <a:pPr algn="l" indent="0" marL="0">
              <a:lnSpc>
                <a:spcPct val="105000"/>
              </a:lnSpc>
              <a:buNone/>
            </a:pPr>
            <a:r>
              <a:rPr lang="en-US" sz="1550" b="1" dirty="0">
                <a:solidFill>
                  <a:srgbClr val="0B1F33"/>
                </a:solidFill>
                <a:latin typeface="Aptos Display" pitchFamily="34" charset="0"/>
                <a:ea typeface="Aptos Display" pitchFamily="34" charset="-122"/>
                <a:cs typeface="Aptos Display" pitchFamily="34" charset="-120"/>
              </a:rPr>
              <a:t>MaxDock offers the 53 ft</a:t>
            </a:r>
            <a:endParaRPr lang="en-US" sz="1550" dirty="0"/>
          </a:p>
        </p:txBody>
      </p:sp>
      <p:sp>
        <p:nvSpPr>
          <p:cNvPr id="32" name="Text 29"/>
          <p:cNvSpPr txBox="1"/>
          <p:nvPr/>
        </p:nvSpPr>
        <p:spPr>
          <a:xfrm>
            <a:off x="8798357" y="3291840"/>
            <a:ext cx="2570378" cy="274320"/>
          </a:xfrm>
          <a:prstGeom prst="rect">
            <a:avLst/>
          </a:prstGeom>
          <a:noFill/>
          <a:ln/>
        </p:spPr>
        <p:txBody>
          <a:bodyPr wrap="square" lIns="0" tIns="0" rIns="0" bIns="0" rtlCol="0" anchor="t"/>
          <a:lstStyle/>
          <a:p>
            <a:pPr algn="l" indent="0" marL="0">
              <a:lnSpc>
                <a:spcPct val="100000"/>
              </a:lnSpc>
              <a:buNone/>
            </a:pPr>
            <a:r>
              <a:rPr lang="en-US" sz="1200" dirty="0">
                <a:solidFill>
                  <a:srgbClr val="456174"/>
                </a:solidFill>
                <a:latin typeface="Aptos" pitchFamily="34" charset="0"/>
                <a:ea typeface="Aptos" pitchFamily="34" charset="-122"/>
                <a:cs typeface="Aptos" pitchFamily="34" charset="-120"/>
              </a:rPr>
              <a:t>26 of 26 — fits</a:t>
            </a:r>
            <a:endParaRPr lang="en-US" sz="1200" dirty="0"/>
          </a:p>
        </p:txBody>
      </p:sp>
      <p:sp>
        <p:nvSpPr>
          <p:cNvPr id="33" name="Shape 30"/>
          <p:cNvSpPr/>
          <p:nvPr/>
        </p:nvSpPr>
        <p:spPr>
          <a:xfrm>
            <a:off x="8798357" y="3657600"/>
            <a:ext cx="2570378" cy="237744"/>
          </a:xfrm>
          <a:prstGeom prst="roundRect">
            <a:avLst>
              <a:gd name="adj" fmla="val 50000"/>
            </a:avLst>
          </a:prstGeom>
          <a:solidFill>
            <a:srgbClr val="E7EDF1"/>
          </a:solidFill>
          <a:ln/>
        </p:spPr>
        <p:txBody>
          <a:bodyPr/>
          <a:p/>
        </p:txBody>
      </p:sp>
      <p:sp>
        <p:nvSpPr>
          <p:cNvPr id="34" name="Shape 31"/>
          <p:cNvSpPr/>
          <p:nvPr/>
        </p:nvSpPr>
        <p:spPr>
          <a:xfrm>
            <a:off x="8798357" y="3657600"/>
            <a:ext cx="2570378" cy="237744"/>
          </a:xfrm>
          <a:prstGeom prst="roundRect">
            <a:avLst>
              <a:gd name="adj" fmla="val 50000"/>
            </a:avLst>
          </a:prstGeom>
          <a:solidFill>
            <a:srgbClr val="14A66A"/>
          </a:solidFill>
          <a:ln/>
        </p:spPr>
        <p:txBody>
          <a:bodyPr/>
          <a:p/>
        </p:txBody>
      </p:sp>
      <p:sp>
        <p:nvSpPr>
          <p:cNvPr id="35" name="Shape 32"/>
          <p:cNvSpPr/>
          <p:nvPr/>
        </p:nvSpPr>
        <p:spPr>
          <a:xfrm>
            <a:off x="11588191" y="3547872"/>
            <a:ext cx="0" cy="457200"/>
          </a:xfrm>
          <a:prstGeom prst="line">
            <a:avLst/>
          </a:prstGeom>
          <a:noFill/>
          <a:ln w="12700">
            <a:solidFill>
              <a:srgbClr val="0B1F33"/>
            </a:solidFill>
            <a:prstDash val="solid"/>
          </a:ln>
        </p:spPr>
        <p:txBody>
          <a:bodyPr/>
          <a:p/>
        </p:txBody>
      </p:sp>
      <p:sp>
        <p:nvSpPr>
          <p:cNvPr id="36" name="Text 33"/>
          <p:cNvSpPr txBox="1"/>
          <p:nvPr/>
        </p:nvSpPr>
        <p:spPr>
          <a:xfrm>
            <a:off x="8798357" y="3950208"/>
            <a:ext cx="2570378" cy="237744"/>
          </a:xfrm>
          <a:prstGeom prst="rect">
            <a:avLst/>
          </a:prstGeom>
          <a:noFill/>
          <a:ln/>
        </p:spPr>
        <p:txBody>
          <a:bodyPr wrap="square" lIns="0" tIns="0" rIns="0" bIns="0" rtlCol="0" anchor="t"/>
          <a:lstStyle/>
          <a:p>
            <a:pPr algn="l" indent="0" marL="0">
              <a:lnSpc>
                <a:spcPct val="100000"/>
              </a:lnSpc>
              <a:buNone/>
            </a:pPr>
            <a:r>
              <a:rPr lang="en-US" sz="1000" dirty="0">
                <a:solidFill>
                  <a:srgbClr val="6F8491"/>
                </a:solidFill>
                <a:latin typeface="Aptos" pitchFamily="34" charset="0"/>
                <a:ea typeface="Aptos" pitchFamily="34" charset="-122"/>
                <a:cs typeface="Aptos" pitchFamily="34" charset="-120"/>
              </a:rPr>
              <a:t>53 ft holds 26</a:t>
            </a:r>
            <a:endParaRPr lang="en-US" sz="1000" dirty="0"/>
          </a:p>
        </p:txBody>
      </p:sp>
      <p:sp>
        <p:nvSpPr>
          <p:cNvPr id="37" name="Shape 34"/>
          <p:cNvSpPr/>
          <p:nvPr/>
        </p:nvSpPr>
        <p:spPr>
          <a:xfrm>
            <a:off x="3996842" y="3081528"/>
            <a:ext cx="329184" cy="0"/>
          </a:xfrm>
          <a:prstGeom prst="line">
            <a:avLst/>
          </a:prstGeom>
          <a:noFill/>
          <a:ln w="19050">
            <a:solidFill>
              <a:srgbClr val="0877C9"/>
            </a:solidFill>
            <a:prstDash val="solid"/>
            <a:tailEnd type="triangle"/>
          </a:ln>
        </p:spPr>
        <p:txBody>
          <a:bodyPr/>
          <a:p/>
        </p:txBody>
      </p:sp>
      <p:sp>
        <p:nvSpPr>
          <p:cNvPr id="38" name="Shape 35"/>
          <p:cNvSpPr/>
          <p:nvPr/>
        </p:nvSpPr>
        <p:spPr>
          <a:xfrm>
            <a:off x="7874813" y="3081528"/>
            <a:ext cx="329184" cy="0"/>
          </a:xfrm>
          <a:prstGeom prst="line">
            <a:avLst/>
          </a:prstGeom>
          <a:noFill/>
          <a:ln w="19050">
            <a:solidFill>
              <a:srgbClr val="0877C9"/>
            </a:solidFill>
            <a:prstDash val="solid"/>
            <a:tailEnd type="triangle"/>
          </a:ln>
        </p:spPr>
        <p:txBody>
          <a:bodyPr/>
          <a:p/>
        </p:txBody>
      </p:sp>
      <p:sp>
        <p:nvSpPr>
          <p:cNvPr id="39" name="Shape 36"/>
          <p:cNvSpPr/>
          <p:nvPr/>
        </p:nvSpPr>
        <p:spPr>
          <a:xfrm>
            <a:off x="530352" y="4590288"/>
            <a:ext cx="5303520" cy="1042416"/>
          </a:xfrm>
          <a:prstGeom prst="roundRect">
            <a:avLst>
              <a:gd name="adj" fmla="val 6897"/>
            </a:avLst>
          </a:prstGeom>
          <a:solidFill>
            <a:srgbClr val="FAE7E7"/>
          </a:solidFill>
          <a:ln/>
        </p:spPr>
        <p:txBody>
          <a:bodyPr/>
          <a:p/>
        </p:txBody>
      </p:sp>
      <p:sp>
        <p:nvSpPr>
          <p:cNvPr id="40" name="Text 37"/>
          <p:cNvSpPr txBox="1"/>
          <p:nvPr/>
        </p:nvSpPr>
        <p:spPr>
          <a:xfrm>
            <a:off x="822960" y="4736592"/>
            <a:ext cx="4718304" cy="768096"/>
          </a:xfrm>
          <a:prstGeom prst="rect">
            <a:avLst/>
          </a:prstGeom>
          <a:noFill/>
          <a:ln/>
        </p:spPr>
        <p:txBody>
          <a:bodyPr wrap="square" lIns="0" tIns="0" rIns="0" bIns="0" rtlCol="0" anchor="ctr"/>
          <a:lstStyle/>
          <a:p>
            <a:pPr algn="l" indent="0" marL="0">
              <a:lnSpc>
                <a:spcPct val="118000"/>
              </a:lnSpc>
              <a:buNone/>
            </a:pPr>
            <a:r>
              <a:rPr lang="en-US" sz="1200" b="1" dirty="0">
                <a:solidFill>
                  <a:srgbClr val="8E2F2F"/>
                </a:solidFill>
                <a:latin typeface="Aptos" pitchFamily="34" charset="0"/>
                <a:ea typeface="Aptos" pitchFamily="34" charset="-122"/>
                <a:cs typeface="Aptos" pitchFamily="34" charset="-120"/>
              </a:rPr>
              <a:t>The naive version says “try Friday.” Useless, and they stop reading it.</a:t>
            </a:r>
            <a:endParaRPr lang="en-US" sz="1200" dirty="0"/>
          </a:p>
        </p:txBody>
      </p:sp>
      <p:sp>
        <p:nvSpPr>
          <p:cNvPr id="41" name="Shape 38"/>
          <p:cNvSpPr/>
          <p:nvPr/>
        </p:nvSpPr>
        <p:spPr>
          <a:xfrm>
            <a:off x="6355080" y="4590288"/>
            <a:ext cx="5303520" cy="1042416"/>
          </a:xfrm>
          <a:prstGeom prst="roundRect">
            <a:avLst>
              <a:gd name="adj" fmla="val 6897"/>
            </a:avLst>
          </a:prstGeom>
          <a:solidFill>
            <a:srgbClr val="E1F3EA"/>
          </a:solidFill>
          <a:ln/>
        </p:spPr>
        <p:txBody>
          <a:bodyPr/>
          <a:p/>
        </p:txBody>
      </p:sp>
      <p:sp>
        <p:nvSpPr>
          <p:cNvPr id="42" name="Text 39"/>
          <p:cNvSpPr txBox="1"/>
          <p:nvPr/>
        </p:nvSpPr>
        <p:spPr>
          <a:xfrm>
            <a:off x="6647688" y="4736592"/>
            <a:ext cx="4718304" cy="768096"/>
          </a:xfrm>
          <a:prstGeom prst="rect">
            <a:avLst/>
          </a:prstGeom>
          <a:noFill/>
          <a:ln/>
        </p:spPr>
        <p:txBody>
          <a:bodyPr wrap="square" lIns="0" tIns="0" rIns="0" bIns="0" rtlCol="0" anchor="ctr"/>
          <a:lstStyle/>
          <a:p>
            <a:pPr algn="l" indent="0" marL="0">
              <a:lnSpc>
                <a:spcPct val="118000"/>
              </a:lnSpc>
              <a:buNone/>
            </a:pPr>
            <a:r>
              <a:rPr lang="en-US" sz="1200" b="1" dirty="0">
                <a:solidFill>
                  <a:srgbClr val="10603F"/>
                </a:solidFill>
                <a:latin typeface="Aptos" pitchFamily="34" charset="0"/>
                <a:ea typeface="Aptos" pitchFamily="34" charset="-122"/>
                <a:cs typeface="Aptos" pitchFamily="34" charset="-120"/>
              </a:rPr>
              <a:t>MaxDock tries every other trailer the plant runs before it gives up on the day.</a:t>
            </a:r>
            <a:endParaRPr lang="en-US" sz="1200" dirty="0"/>
          </a:p>
        </p:txBody>
      </p:sp>
      <p:sp>
        <p:nvSpPr>
          <p:cNvPr id="43" name="Text 40"/>
          <p:cNvSpPr txBox="1"/>
          <p:nvPr/>
        </p:nvSpPr>
        <p:spPr>
          <a:xfrm>
            <a:off x="530352" y="5961888"/>
            <a:ext cx="11130991" cy="310896"/>
          </a:xfrm>
          <a:prstGeom prst="rect">
            <a:avLst/>
          </a:prstGeom>
          <a:noFill/>
          <a:ln/>
        </p:spPr>
        <p:txBody>
          <a:bodyPr wrap="square" lIns="0" tIns="0" rIns="0" bIns="0" rtlCol="0" anchor="t"/>
          <a:lstStyle/>
          <a:p>
            <a:pPr algn="l" indent="0" marL="0">
              <a:lnSpc>
                <a:spcPct val="100000"/>
              </a:lnSpc>
              <a:buNone/>
            </a:pPr>
            <a:r>
              <a:rPr lang="en-US" sz="1100" i="1" dirty="0">
                <a:solidFill>
                  <a:srgbClr val="6F8491"/>
                </a:solidFill>
                <a:latin typeface="Aptos" pitchFamily="34" charset="0"/>
                <a:ea typeface="Aptos" pitchFamily="34" charset="-122"/>
                <a:cs typeface="Aptos" pitchFamily="34" charset="-120"/>
              </a:rPr>
              <a:t>Every bar is on one scale; full width is 26 skids.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13</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MAX TO MAX</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One booking. A door at both ends.</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Half of what we move is ours going to ourselves — two phone calls, two diary entries.</a:t>
            </a:r>
            <a:endParaRPr lang="en-US" sz="1200" dirty="0"/>
          </a:p>
        </p:txBody>
      </p:sp>
      <p:sp>
        <p:nvSpPr>
          <p:cNvPr id="10" name="Text 7"/>
          <p:cNvSpPr txBox="1"/>
          <p:nvPr/>
        </p:nvSpPr>
        <p:spPr>
          <a:xfrm>
            <a:off x="530352" y="1517904"/>
            <a:ext cx="11130991" cy="256032"/>
          </a:xfrm>
          <a:prstGeom prst="rect">
            <a:avLst/>
          </a:prstGeom>
          <a:noFill/>
          <a:ln/>
        </p:spPr>
        <p:txBody>
          <a:bodyPr wrap="square" lIns="0" tIns="0" rIns="0" bIns="0" rtlCol="0" anchor="t"/>
          <a:lstStyle/>
          <a:p>
            <a:pPr algn="l" indent="0" marL="0">
              <a:lnSpc>
                <a:spcPct val="100000"/>
              </a:lnSpc>
              <a:buNone/>
            </a:pPr>
            <a:r>
              <a:rPr lang="en-US" sz="1250" b="1" dirty="0">
                <a:solidFill>
                  <a:srgbClr val="0877C9"/>
                </a:solidFill>
                <a:latin typeface="Aptos" pitchFamily="34" charset="0"/>
                <a:ea typeface="Aptos" pitchFamily="34" charset="-122"/>
                <a:cs typeface="Aptos" pitchFamily="34" charset="-120"/>
              </a:rPr>
              <a:t>Mississauga to Guelph · MXD-2026-000074</a:t>
            </a:r>
            <a:endParaRPr lang="en-US" sz="1250" dirty="0"/>
          </a:p>
        </p:txBody>
      </p:sp>
      <p:sp>
        <p:nvSpPr>
          <p:cNvPr id="11" name="Shape 8"/>
          <p:cNvSpPr/>
          <p:nvPr/>
        </p:nvSpPr>
        <p:spPr>
          <a:xfrm>
            <a:off x="530352" y="1956816"/>
            <a:ext cx="4297680" cy="1700784"/>
          </a:xfrm>
          <a:prstGeom prst="roundRect">
            <a:avLst>
              <a:gd name="adj" fmla="val 4301"/>
            </a:avLst>
          </a:prstGeom>
          <a:solidFill>
            <a:srgbClr val="FFFFFF"/>
          </a:solidFill>
          <a:ln w="9525">
            <a:solidFill>
              <a:srgbClr val="D8E4EA"/>
            </a:solidFill>
            <a:prstDash val="solid"/>
          </a:ln>
        </p:spPr>
        <p:txBody>
          <a:bodyPr/>
          <a:p/>
        </p:txBody>
      </p:sp>
      <p:sp>
        <p:nvSpPr>
          <p:cNvPr id="12" name="Shape 9"/>
          <p:cNvSpPr/>
          <p:nvPr/>
        </p:nvSpPr>
        <p:spPr>
          <a:xfrm>
            <a:off x="841248" y="2212848"/>
            <a:ext cx="1051560" cy="292608"/>
          </a:xfrm>
          <a:prstGeom prst="roundRect">
            <a:avLst>
              <a:gd name="adj" fmla="val 18750"/>
            </a:avLst>
          </a:prstGeom>
          <a:solidFill>
            <a:srgbClr val="E4EFF9"/>
          </a:solidFill>
          <a:ln/>
        </p:spPr>
        <p:txBody>
          <a:bodyPr/>
          <a:p/>
        </p:txBody>
      </p:sp>
      <p:sp>
        <p:nvSpPr>
          <p:cNvPr id="13" name="Text 10"/>
          <p:cNvSpPr txBox="1"/>
          <p:nvPr/>
        </p:nvSpPr>
        <p:spPr>
          <a:xfrm>
            <a:off x="841248" y="2258568"/>
            <a:ext cx="1051560" cy="201168"/>
          </a:xfrm>
          <a:prstGeom prst="rect">
            <a:avLst/>
          </a:prstGeom>
          <a:noFill/>
          <a:ln/>
        </p:spPr>
        <p:txBody>
          <a:bodyPr wrap="square" lIns="0" tIns="0" rIns="0" bIns="0" rtlCol="0" anchor="t"/>
          <a:lstStyle/>
          <a:p>
            <a:pPr algn="ctr" indent="0" marL="0">
              <a:lnSpc>
                <a:spcPct val="100000"/>
              </a:lnSpc>
              <a:buNone/>
            </a:pPr>
            <a:r>
              <a:rPr lang="en-US" sz="900" b="1" dirty="0">
                <a:solidFill>
                  <a:srgbClr val="0877C9"/>
                </a:solidFill>
                <a:latin typeface="Aptos" pitchFamily="34" charset="0"/>
                <a:ea typeface="Aptos" pitchFamily="34" charset="-122"/>
                <a:cs typeface="Aptos" pitchFamily="34" charset="-120"/>
              </a:rPr>
              <a:t>Outbound</a:t>
            </a:r>
            <a:endParaRPr lang="en-US" sz="900" dirty="0"/>
          </a:p>
        </p:txBody>
      </p:sp>
      <p:sp>
        <p:nvSpPr>
          <p:cNvPr id="14" name="Text 11"/>
          <p:cNvSpPr txBox="1"/>
          <p:nvPr/>
        </p:nvSpPr>
        <p:spPr>
          <a:xfrm>
            <a:off x="841248" y="2651760"/>
            <a:ext cx="3657600" cy="420624"/>
          </a:xfrm>
          <a:prstGeom prst="rect">
            <a:avLst/>
          </a:prstGeom>
          <a:noFill/>
          <a:ln/>
        </p:spPr>
        <p:txBody>
          <a:bodyPr wrap="square" lIns="0" tIns="0" rIns="0" bIns="0" rtlCol="0" anchor="t"/>
          <a:lstStyle/>
          <a:p>
            <a:pPr algn="l" indent="0" marL="0">
              <a:lnSpc>
                <a:spcPct val="100000"/>
              </a:lnSpc>
              <a:buNone/>
            </a:pPr>
            <a:r>
              <a:rPr lang="en-US" sz="2200" b="1" dirty="0">
                <a:solidFill>
                  <a:srgbClr val="0B1F33"/>
                </a:solidFill>
                <a:latin typeface="Aptos Display" pitchFamily="34" charset="0"/>
                <a:ea typeface="Aptos Display" pitchFamily="34" charset="-122"/>
                <a:cs typeface="Aptos Display" pitchFamily="34" charset="-120"/>
              </a:rPr>
              <a:t>Mississauga</a:t>
            </a:r>
            <a:endParaRPr lang="en-US" sz="2200" dirty="0"/>
          </a:p>
        </p:txBody>
      </p:sp>
      <p:sp>
        <p:nvSpPr>
          <p:cNvPr id="15" name="Text 12"/>
          <p:cNvSpPr txBox="1"/>
          <p:nvPr/>
        </p:nvSpPr>
        <p:spPr>
          <a:xfrm>
            <a:off x="841248" y="3127248"/>
            <a:ext cx="3657600" cy="274320"/>
          </a:xfrm>
          <a:prstGeom prst="rect">
            <a:avLst/>
          </a:prstGeom>
          <a:noFill/>
          <a:ln/>
        </p:spPr>
        <p:txBody>
          <a:bodyPr wrap="square" lIns="0" tIns="0" rIns="0" bIns="0" rtlCol="0" anchor="t"/>
          <a:lstStyle/>
          <a:p>
            <a:pPr algn="l" indent="0" marL="0">
              <a:lnSpc>
                <a:spcPct val="100000"/>
              </a:lnSpc>
              <a:buNone/>
            </a:pPr>
            <a:r>
              <a:rPr lang="en-US" sz="1250" dirty="0">
                <a:solidFill>
                  <a:srgbClr val="456174"/>
                </a:solidFill>
                <a:latin typeface="Aptos" pitchFamily="34" charset="0"/>
                <a:ea typeface="Aptos" pitchFamily="34" charset="-122"/>
                <a:cs typeface="Aptos" pitchFamily="34" charset="-120"/>
              </a:rPr>
              <a:t>Shipping · Door 2</a:t>
            </a:r>
            <a:endParaRPr lang="en-US" sz="1250" dirty="0"/>
          </a:p>
        </p:txBody>
      </p:sp>
      <p:sp>
        <p:nvSpPr>
          <p:cNvPr id="16" name="Shape 13"/>
          <p:cNvSpPr/>
          <p:nvPr/>
        </p:nvSpPr>
        <p:spPr>
          <a:xfrm>
            <a:off x="7360920" y="1956816"/>
            <a:ext cx="4297680" cy="1700784"/>
          </a:xfrm>
          <a:prstGeom prst="roundRect">
            <a:avLst>
              <a:gd name="adj" fmla="val 4301"/>
            </a:avLst>
          </a:prstGeom>
          <a:solidFill>
            <a:srgbClr val="FFFFFF"/>
          </a:solidFill>
          <a:ln w="9525">
            <a:solidFill>
              <a:srgbClr val="D8E4EA"/>
            </a:solidFill>
            <a:prstDash val="solid"/>
          </a:ln>
        </p:spPr>
        <p:txBody>
          <a:bodyPr/>
          <a:p/>
        </p:txBody>
      </p:sp>
      <p:sp>
        <p:nvSpPr>
          <p:cNvPr id="17" name="Shape 14"/>
          <p:cNvSpPr/>
          <p:nvPr/>
        </p:nvSpPr>
        <p:spPr>
          <a:xfrm>
            <a:off x="7671816" y="2212848"/>
            <a:ext cx="1051560" cy="292608"/>
          </a:xfrm>
          <a:prstGeom prst="roundRect">
            <a:avLst>
              <a:gd name="adj" fmla="val 18750"/>
            </a:avLst>
          </a:prstGeom>
          <a:solidFill>
            <a:srgbClr val="E1F3EA"/>
          </a:solidFill>
          <a:ln/>
        </p:spPr>
        <p:txBody>
          <a:bodyPr/>
          <a:p/>
        </p:txBody>
      </p:sp>
      <p:sp>
        <p:nvSpPr>
          <p:cNvPr id="18" name="Text 15"/>
          <p:cNvSpPr txBox="1"/>
          <p:nvPr/>
        </p:nvSpPr>
        <p:spPr>
          <a:xfrm>
            <a:off x="7671816" y="2258568"/>
            <a:ext cx="1051560" cy="201168"/>
          </a:xfrm>
          <a:prstGeom prst="rect">
            <a:avLst/>
          </a:prstGeom>
          <a:noFill/>
          <a:ln/>
        </p:spPr>
        <p:txBody>
          <a:bodyPr wrap="square" lIns="0" tIns="0" rIns="0" bIns="0" rtlCol="0" anchor="t"/>
          <a:lstStyle/>
          <a:p>
            <a:pPr algn="ctr" indent="0" marL="0">
              <a:lnSpc>
                <a:spcPct val="100000"/>
              </a:lnSpc>
              <a:buNone/>
            </a:pPr>
            <a:r>
              <a:rPr lang="en-US" sz="900" b="1" dirty="0">
                <a:solidFill>
                  <a:srgbClr val="14A66A"/>
                </a:solidFill>
                <a:latin typeface="Aptos" pitchFamily="34" charset="0"/>
                <a:ea typeface="Aptos" pitchFamily="34" charset="-122"/>
                <a:cs typeface="Aptos" pitchFamily="34" charset="-120"/>
              </a:rPr>
              <a:t>Inbound</a:t>
            </a:r>
            <a:endParaRPr lang="en-US" sz="900" dirty="0"/>
          </a:p>
        </p:txBody>
      </p:sp>
      <p:sp>
        <p:nvSpPr>
          <p:cNvPr id="19" name="Text 16"/>
          <p:cNvSpPr txBox="1"/>
          <p:nvPr/>
        </p:nvSpPr>
        <p:spPr>
          <a:xfrm>
            <a:off x="7671816" y="2651760"/>
            <a:ext cx="3657600" cy="420624"/>
          </a:xfrm>
          <a:prstGeom prst="rect">
            <a:avLst/>
          </a:prstGeom>
          <a:noFill/>
          <a:ln/>
        </p:spPr>
        <p:txBody>
          <a:bodyPr wrap="square" lIns="0" tIns="0" rIns="0" bIns="0" rtlCol="0" anchor="t"/>
          <a:lstStyle/>
          <a:p>
            <a:pPr algn="l" indent="0" marL="0">
              <a:lnSpc>
                <a:spcPct val="100000"/>
              </a:lnSpc>
              <a:buNone/>
            </a:pPr>
            <a:r>
              <a:rPr lang="en-US" sz="2200" b="1" dirty="0">
                <a:solidFill>
                  <a:srgbClr val="0B1F33"/>
                </a:solidFill>
                <a:latin typeface="Aptos Display" pitchFamily="34" charset="0"/>
                <a:ea typeface="Aptos Display" pitchFamily="34" charset="-122"/>
                <a:cs typeface="Aptos Display" pitchFamily="34" charset="-120"/>
              </a:rPr>
              <a:t>Guelph</a:t>
            </a:r>
            <a:endParaRPr lang="en-US" sz="2200" dirty="0"/>
          </a:p>
        </p:txBody>
      </p:sp>
      <p:sp>
        <p:nvSpPr>
          <p:cNvPr id="20" name="Text 17"/>
          <p:cNvSpPr txBox="1"/>
          <p:nvPr/>
        </p:nvSpPr>
        <p:spPr>
          <a:xfrm>
            <a:off x="7671816" y="3127248"/>
            <a:ext cx="3657600" cy="274320"/>
          </a:xfrm>
          <a:prstGeom prst="rect">
            <a:avLst/>
          </a:prstGeom>
          <a:noFill/>
          <a:ln/>
        </p:spPr>
        <p:txBody>
          <a:bodyPr wrap="square" lIns="0" tIns="0" rIns="0" bIns="0" rtlCol="0" anchor="t"/>
          <a:lstStyle/>
          <a:p>
            <a:pPr algn="l" indent="0" marL="0">
              <a:lnSpc>
                <a:spcPct val="100000"/>
              </a:lnSpc>
              <a:buNone/>
            </a:pPr>
            <a:r>
              <a:rPr lang="en-US" sz="1250" dirty="0">
                <a:solidFill>
                  <a:srgbClr val="456174"/>
                </a:solidFill>
                <a:latin typeface="Aptos" pitchFamily="34" charset="0"/>
                <a:ea typeface="Aptos" pitchFamily="34" charset="-122"/>
                <a:cs typeface="Aptos" pitchFamily="34" charset="-120"/>
              </a:rPr>
              <a:t>Receiving · Door 4</a:t>
            </a:r>
            <a:endParaRPr lang="en-US" sz="1250" dirty="0"/>
          </a:p>
        </p:txBody>
      </p:sp>
      <p:sp>
        <p:nvSpPr>
          <p:cNvPr id="21" name="Text 18"/>
          <p:cNvSpPr txBox="1"/>
          <p:nvPr/>
        </p:nvSpPr>
        <p:spPr>
          <a:xfrm>
            <a:off x="5029200" y="2432304"/>
            <a:ext cx="2194560" cy="457200"/>
          </a:xfrm>
          <a:prstGeom prst="rect">
            <a:avLst/>
          </a:prstGeom>
          <a:noFill/>
          <a:ln/>
        </p:spPr>
        <p:txBody>
          <a:bodyPr wrap="square" lIns="0" tIns="0" rIns="0" bIns="0" rtlCol="0" anchor="t"/>
          <a:lstStyle/>
          <a:p>
            <a:pPr algn="ctr" indent="0" marL="0">
              <a:lnSpc>
                <a:spcPct val="110000"/>
              </a:lnSpc>
              <a:buNone/>
            </a:pPr>
            <a:r>
              <a:rPr lang="en-US" sz="1050" b="1" dirty="0">
                <a:solidFill>
                  <a:srgbClr val="0877C9"/>
                </a:solidFill>
                <a:latin typeface="Aptos" pitchFamily="34" charset="0"/>
                <a:ea typeface="Aptos" pitchFamily="34" charset="-122"/>
                <a:cs typeface="Aptos" pitchFamily="34" charset="-120"/>
              </a:rPr>
              <a:t>Guelph knew before anybody phoned</a:t>
            </a:r>
            <a:endParaRPr lang="en-US" sz="1050" dirty="0"/>
          </a:p>
        </p:txBody>
      </p:sp>
      <p:sp>
        <p:nvSpPr>
          <p:cNvPr id="22" name="Shape 19"/>
          <p:cNvSpPr/>
          <p:nvPr/>
        </p:nvSpPr>
        <p:spPr>
          <a:xfrm>
            <a:off x="5074920" y="2962656"/>
            <a:ext cx="2103120" cy="0"/>
          </a:xfrm>
          <a:prstGeom prst="line">
            <a:avLst/>
          </a:prstGeom>
          <a:noFill/>
          <a:ln w="19050">
            <a:solidFill>
              <a:srgbClr val="0877C9"/>
            </a:solidFill>
            <a:prstDash val="solid"/>
            <a:tailEnd type="triangle"/>
          </a:ln>
        </p:spPr>
        <p:txBody>
          <a:bodyPr/>
          <a:p/>
        </p:txBody>
      </p:sp>
      <p:sp>
        <p:nvSpPr>
          <p:cNvPr id="23" name="Text 20"/>
          <p:cNvSpPr txBox="1"/>
          <p:nvPr/>
        </p:nvSpPr>
        <p:spPr>
          <a:xfrm>
            <a:off x="5029200" y="3072384"/>
            <a:ext cx="2194560" cy="237744"/>
          </a:xfrm>
          <a:prstGeom prst="rect">
            <a:avLst/>
          </a:prstGeom>
          <a:noFill/>
          <a:ln/>
        </p:spPr>
        <p:txBody>
          <a:bodyPr wrap="square" lIns="0" tIns="0" rIns="0" bIns="0" rtlCol="0" anchor="t"/>
          <a:lstStyle/>
          <a:p>
            <a:pPr algn="ctr" indent="0" marL="0">
              <a:lnSpc>
                <a:spcPct val="100000"/>
              </a:lnSpc>
              <a:buNone/>
            </a:pPr>
            <a:r>
              <a:rPr lang="en-US" sz="1000" i="1" dirty="0">
                <a:solidFill>
                  <a:srgbClr val="6F8491"/>
                </a:solidFill>
                <a:latin typeface="Aptos" pitchFamily="34" charset="0"/>
                <a:ea typeface="Aptos" pitchFamily="34" charset="-122"/>
                <a:cs typeface="Aptos" pitchFamily="34" charset="-120"/>
              </a:rPr>
              <a:t>one booking</a:t>
            </a:r>
            <a:endParaRPr lang="en-US" sz="1000" dirty="0"/>
          </a:p>
        </p:txBody>
      </p:sp>
      <p:sp>
        <p:nvSpPr>
          <p:cNvPr id="24" name="Shape 21"/>
          <p:cNvSpPr/>
          <p:nvPr/>
        </p:nvSpPr>
        <p:spPr>
          <a:xfrm>
            <a:off x="530352" y="3913632"/>
            <a:ext cx="11130991" cy="1188720"/>
          </a:xfrm>
          <a:prstGeom prst="roundRect">
            <a:avLst>
              <a:gd name="adj" fmla="val 6154"/>
            </a:avLst>
          </a:prstGeom>
          <a:solidFill>
            <a:srgbClr val="FFFFFF"/>
          </a:solidFill>
          <a:ln w="9525">
            <a:solidFill>
              <a:srgbClr val="D8E4EA"/>
            </a:solidFill>
            <a:prstDash val="solid"/>
          </a:ln>
        </p:spPr>
        <p:txBody>
          <a:bodyPr/>
          <a:p/>
        </p:txBody>
      </p:sp>
      <p:sp>
        <p:nvSpPr>
          <p:cNvPr id="25" name="Text 22"/>
          <p:cNvSpPr txBox="1"/>
          <p:nvPr/>
        </p:nvSpPr>
        <p:spPr>
          <a:xfrm>
            <a:off x="841248" y="4096512"/>
            <a:ext cx="2743200" cy="219456"/>
          </a:xfrm>
          <a:prstGeom prst="rect">
            <a:avLst/>
          </a:prstGeom>
          <a:noFill/>
          <a:ln/>
        </p:spPr>
        <p:txBody>
          <a:bodyPr wrap="square" lIns="0" tIns="0" rIns="0" bIns="0" rtlCol="0" anchor="t"/>
          <a:lstStyle/>
          <a:p>
            <a:pPr algn="l" indent="0" marL="0">
              <a:lnSpc>
                <a:spcPct val="100000"/>
              </a:lnSpc>
              <a:buNone/>
            </a:pPr>
            <a:r>
              <a:rPr lang="en-US" sz="950" b="1" spc="80" kern="0" dirty="0">
                <a:solidFill>
                  <a:srgbClr val="6F8491"/>
                </a:solidFill>
                <a:latin typeface="Aptos" pitchFamily="34" charset="0"/>
                <a:ea typeface="Aptos" pitchFamily="34" charset="-122"/>
                <a:cs typeface="Aptos" pitchFamily="34" charset="-120"/>
              </a:rPr>
              <a:t>ONE TAP, TWO BOARDS</a:t>
            </a:r>
            <a:endParaRPr lang="en-US" sz="950" dirty="0"/>
          </a:p>
        </p:txBody>
      </p:sp>
      <p:sp>
        <p:nvSpPr>
          <p:cNvPr id="26" name="Shape 23"/>
          <p:cNvSpPr/>
          <p:nvPr/>
        </p:nvSpPr>
        <p:spPr>
          <a:xfrm>
            <a:off x="841248" y="4407408"/>
            <a:ext cx="2651760" cy="457200"/>
          </a:xfrm>
          <a:prstGeom prst="roundRect">
            <a:avLst>
              <a:gd name="adj" fmla="val 12000"/>
            </a:avLst>
          </a:prstGeom>
          <a:solidFill>
            <a:srgbClr val="E1F3EA"/>
          </a:solidFill>
          <a:ln/>
        </p:spPr>
        <p:txBody>
          <a:bodyPr/>
          <a:p/>
        </p:txBody>
      </p:sp>
      <p:sp>
        <p:nvSpPr>
          <p:cNvPr id="27" name="Text 24"/>
          <p:cNvSpPr txBox="1"/>
          <p:nvPr/>
        </p:nvSpPr>
        <p:spPr>
          <a:xfrm>
            <a:off x="841248" y="4535424"/>
            <a:ext cx="2651760" cy="201168"/>
          </a:xfrm>
          <a:prstGeom prst="rect">
            <a:avLst/>
          </a:prstGeom>
          <a:noFill/>
          <a:ln/>
        </p:spPr>
        <p:txBody>
          <a:bodyPr wrap="square" lIns="0" tIns="0" rIns="0" bIns="0" rtlCol="0" anchor="t"/>
          <a:lstStyle/>
          <a:p>
            <a:pPr algn="ctr" indent="0" marL="0">
              <a:lnSpc>
                <a:spcPct val="100000"/>
              </a:lnSpc>
              <a:buNone/>
            </a:pPr>
            <a:r>
              <a:rPr lang="en-US" sz="1100" b="1" dirty="0">
                <a:solidFill>
                  <a:srgbClr val="10603F"/>
                </a:solidFill>
                <a:latin typeface="Aptos" pitchFamily="34" charset="0"/>
                <a:ea typeface="Aptos" pitchFamily="34" charset="-122"/>
                <a:cs typeface="Aptos" pitchFamily="34" charset="-120"/>
              </a:rPr>
              <a:t>Mississauga · Shipped</a:t>
            </a:r>
            <a:endParaRPr lang="en-US" sz="1100" dirty="0"/>
          </a:p>
        </p:txBody>
      </p:sp>
      <p:sp>
        <p:nvSpPr>
          <p:cNvPr id="28" name="Shape 25"/>
          <p:cNvSpPr/>
          <p:nvPr/>
        </p:nvSpPr>
        <p:spPr>
          <a:xfrm>
            <a:off x="3429000" y="4636008"/>
            <a:ext cx="2286000" cy="0"/>
          </a:xfrm>
          <a:prstGeom prst="line">
            <a:avLst/>
          </a:prstGeom>
          <a:noFill/>
          <a:ln w="19050">
            <a:solidFill>
              <a:srgbClr val="14A66A"/>
            </a:solidFill>
            <a:prstDash val="solid"/>
            <a:tailEnd type="triangle"/>
          </a:ln>
        </p:spPr>
        <p:txBody>
          <a:bodyPr/>
          <a:p/>
        </p:txBody>
      </p:sp>
      <p:sp>
        <p:nvSpPr>
          <p:cNvPr id="29" name="Shape 26"/>
          <p:cNvSpPr/>
          <p:nvPr/>
        </p:nvSpPr>
        <p:spPr>
          <a:xfrm>
            <a:off x="5943600" y="4407408"/>
            <a:ext cx="2377440" cy="457200"/>
          </a:xfrm>
          <a:prstGeom prst="roundRect">
            <a:avLst>
              <a:gd name="adj" fmla="val 12000"/>
            </a:avLst>
          </a:prstGeom>
          <a:solidFill>
            <a:srgbClr val="E4EFF9"/>
          </a:solidFill>
          <a:ln/>
        </p:spPr>
        <p:txBody>
          <a:bodyPr/>
          <a:p/>
        </p:txBody>
      </p:sp>
      <p:sp>
        <p:nvSpPr>
          <p:cNvPr id="30" name="Text 27"/>
          <p:cNvSpPr txBox="1"/>
          <p:nvPr/>
        </p:nvSpPr>
        <p:spPr>
          <a:xfrm>
            <a:off x="5943600" y="4535424"/>
            <a:ext cx="2377440" cy="201168"/>
          </a:xfrm>
          <a:prstGeom prst="rect">
            <a:avLst/>
          </a:prstGeom>
          <a:noFill/>
          <a:ln/>
        </p:spPr>
        <p:txBody>
          <a:bodyPr wrap="square" lIns="0" tIns="0" rIns="0" bIns="0" rtlCol="0" anchor="t"/>
          <a:lstStyle/>
          <a:p>
            <a:pPr algn="ctr" indent="0" marL="0">
              <a:lnSpc>
                <a:spcPct val="100000"/>
              </a:lnSpc>
              <a:buNone/>
            </a:pPr>
            <a:r>
              <a:rPr lang="en-US" sz="1100" b="1" dirty="0">
                <a:solidFill>
                  <a:srgbClr val="0877C9"/>
                </a:solidFill>
                <a:latin typeface="Aptos" pitchFamily="34" charset="0"/>
                <a:ea typeface="Aptos" pitchFamily="34" charset="-122"/>
                <a:cs typeface="Aptos" pitchFamily="34" charset="-120"/>
              </a:rPr>
              <a:t>Guelph · En route</a:t>
            </a:r>
            <a:endParaRPr lang="en-US" sz="1100" dirty="0"/>
          </a:p>
        </p:txBody>
      </p:sp>
      <p:sp>
        <p:nvSpPr>
          <p:cNvPr id="31" name="Text 28"/>
          <p:cNvSpPr txBox="1"/>
          <p:nvPr/>
        </p:nvSpPr>
        <p:spPr>
          <a:xfrm>
            <a:off x="8503920" y="4517136"/>
            <a:ext cx="2926080" cy="256032"/>
          </a:xfrm>
          <a:prstGeom prst="rect">
            <a:avLst/>
          </a:prstGeom>
          <a:noFill/>
          <a:ln/>
        </p:spPr>
        <p:txBody>
          <a:bodyPr wrap="square" lIns="0" tIns="0" rIns="0" bIns="0" rtlCol="0" anchor="t"/>
          <a:lstStyle/>
          <a:p>
            <a:pPr algn="l" indent="0" marL="0">
              <a:lnSpc>
                <a:spcPct val="100000"/>
              </a:lnSpc>
              <a:buNone/>
            </a:pPr>
            <a:r>
              <a:rPr lang="en-US" sz="1050" i="1" dirty="0">
                <a:solidFill>
                  <a:srgbClr val="6F8491"/>
                </a:solidFill>
                <a:latin typeface="Aptos" pitchFamily="34" charset="0"/>
                <a:ea typeface="Aptos" pitchFamily="34" charset="-122"/>
                <a:cs typeface="Aptos" pitchFamily="34" charset="-120"/>
              </a:rPr>
              <a:t>a second later</a:t>
            </a:r>
            <a:endParaRPr lang="en-US" sz="1050" dirty="0"/>
          </a:p>
        </p:txBody>
      </p:sp>
      <p:sp>
        <p:nvSpPr>
          <p:cNvPr id="32" name="Shape 29"/>
          <p:cNvSpPr/>
          <p:nvPr/>
        </p:nvSpPr>
        <p:spPr>
          <a:xfrm>
            <a:off x="530352" y="5321808"/>
            <a:ext cx="11130991" cy="1005840"/>
          </a:xfrm>
          <a:prstGeom prst="roundRect">
            <a:avLst>
              <a:gd name="adj" fmla="val 7273"/>
            </a:avLst>
          </a:prstGeom>
          <a:solidFill>
            <a:srgbClr val="072238"/>
          </a:solidFill>
          <a:ln/>
        </p:spPr>
        <p:txBody>
          <a:bodyPr/>
          <a:p/>
        </p:txBody>
      </p:sp>
      <p:sp>
        <p:nvSpPr>
          <p:cNvPr id="33" name="Text 30"/>
          <p:cNvSpPr txBox="1"/>
          <p:nvPr/>
        </p:nvSpPr>
        <p:spPr>
          <a:xfrm>
            <a:off x="877824" y="5468112"/>
            <a:ext cx="10436047" cy="713232"/>
          </a:xfrm>
          <a:prstGeom prst="rect">
            <a:avLst/>
          </a:prstGeom>
          <a:noFill/>
          <a:ln/>
        </p:spPr>
        <p:txBody>
          <a:bodyPr wrap="square" lIns="0" tIns="0" rIns="0" bIns="0" rtlCol="0" anchor="ctr"/>
          <a:lstStyle/>
          <a:p>
            <a:pPr algn="l" indent="0" marL="0">
              <a:lnSpc>
                <a:spcPct val="115000"/>
              </a:lnSpc>
              <a:buNone/>
            </a:pPr>
            <a:r>
              <a:rPr lang="en-US" sz="1250" b="1" dirty="0">
                <a:solidFill>
                  <a:srgbClr val="FFFFFF"/>
                </a:solidFill>
                <a:latin typeface="Aptos" pitchFamily="34" charset="0"/>
                <a:ea typeface="Aptos" pitchFamily="34" charset="-122"/>
                <a:cs typeface="Aptos" pitchFamily="34" charset="-120"/>
              </a:rPr>
              <a:t>Mississauga taps Shipped. That tap is the departure, so Guelph's board reads En route.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A"/>
        </a:solidFill>
      </p:bgPr>
    </p:bg>
    <p:spTree>
      <p:nvGrpSpPr>
        <p:cNvPr id="1" name=""/>
        <p:cNvGrpSpPr/>
        <p:nvPr/>
      </p:nvGrpSpPr>
      <p:grpSpPr>
        <a:xfrm>
          <a:off x="0" y="0"/>
          <a:ext cx="0" cy="0"/>
          <a:chOff x="0" y="0"/>
          <a:chExt cx="0" cy="0"/>
        </a:xfrm>
      </p:grpSpPr>
      <p:sp>
        <p:nvSpPr>
          <p:cNvPr id="2" name="Rectangle 1"/>
          <p:cNvSpPr/>
          <p:nvPr/>
        </p:nvSpPr>
        <p:spPr>
          <a:xfrm>
            <a:off x="502920" y="6464808"/>
            <a:ext cx="11192256" cy="9525"/>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4"/>
          <a:stretch>
            <a:fillRect/>
          </a:stretch>
        </p:blipFill>
        <p:spPr>
          <a:xfrm>
            <a:off x="502920" y="6547104"/>
            <a:ext cx="146304" cy="146304"/>
          </a:xfrm>
          <a:prstGeom prst="rect">
            <a:avLst/>
          </a:prstGeom>
        </p:spPr>
      </p:pic>
      <p:sp>
        <p:nvSpPr>
          <p:cNvPr id="4" name="TextBox 3"/>
          <p:cNvSpPr txBox="1"/>
          <p:nvPr/>
        </p:nvSpPr>
        <p:spPr>
          <a:xfrm>
            <a:off x="713232" y="6547104"/>
            <a:ext cx="1005840" cy="146304"/>
          </a:xfrm>
          <a:prstGeom prst="rect">
            <a:avLst/>
          </a:prstGeom>
          <a:noFill/>
        </p:spPr>
        <p:txBody>
          <a:bodyPr wrap="square" lIns="0" rIns="0" tIns="0" bIns="0" anchor="t">
            <a:spAutoFit/>
          </a:bodyPr>
          <a:lstStyle/>
          <a:p>
            <a:pPr algn="l">
              <a:lnSpc>
                <a:spcPct val="100000"/>
              </a:lnSpc>
            </a:pPr>
            <a:r>
              <a:rPr sz="670" b="0" i="0">
                <a:solidFill>
                  <a:srgbClr val="6F8491"/>
                </a:solidFill>
                <a:latin typeface="Aptos"/>
              </a:rPr>
              <a:t>MaxDock</a:t>
            </a:r>
          </a:p>
        </p:txBody>
      </p:sp>
      <p:sp>
        <p:nvSpPr>
          <p:cNvPr id="5" name="TextBox 4"/>
          <p:cNvSpPr txBox="1"/>
          <p:nvPr/>
        </p:nvSpPr>
        <p:spPr>
          <a:xfrm>
            <a:off x="5870448" y="6547104"/>
            <a:ext cx="457200" cy="146304"/>
          </a:xfrm>
          <a:prstGeom prst="rect">
            <a:avLst/>
          </a:prstGeom>
          <a:noFill/>
        </p:spPr>
        <p:txBody>
          <a:bodyPr wrap="square" lIns="0" rIns="0" tIns="0" bIns="0" anchor="t">
            <a:spAutoFit/>
          </a:bodyPr>
          <a:lstStyle/>
          <a:p>
            <a:pPr algn="ctr">
              <a:lnSpc>
                <a:spcPct val="100000"/>
              </a:lnSpc>
            </a:pPr>
            <a:r>
              <a:rPr sz="670" b="0" i="0">
                <a:solidFill>
                  <a:srgbClr val="6F8491"/>
                </a:solidFill>
                <a:latin typeface="Aptos"/>
              </a:rPr>
              <a:t>14</a:t>
            </a:r>
          </a:p>
        </p:txBody>
      </p:sp>
      <p:sp>
        <p:nvSpPr>
          <p:cNvPr id="6" name="TextBox 5"/>
          <p:cNvSpPr txBox="1"/>
          <p:nvPr/>
        </p:nvSpPr>
        <p:spPr>
          <a:xfrm>
            <a:off x="10241280" y="6547104"/>
            <a:ext cx="1444752" cy="146304"/>
          </a:xfrm>
          <a:prstGeom prst="rect">
            <a:avLst/>
          </a:prstGeom>
          <a:noFill/>
        </p:spPr>
        <p:txBody>
          <a:bodyPr wrap="square" lIns="0" rIns="0" tIns="0" bIns="0" anchor="t">
            <a:spAutoFit/>
          </a:bodyPr>
          <a:lstStyle/>
          <a:p>
            <a:pPr algn="r">
              <a:lnSpc>
                <a:spcPct val="100000"/>
              </a:lnSpc>
            </a:pPr>
            <a:r>
              <a:rPr sz="670" b="1" i="0" spc="60">
                <a:solidFill>
                  <a:srgbClr val="6F8491"/>
                </a:solidFill>
                <a:latin typeface="Aptos"/>
              </a:rPr>
              <a:t>MAX SOLUTIONS</a:t>
            </a:r>
          </a:p>
        </p:txBody>
      </p:sp>
      <p:sp>
        <p:nvSpPr>
          <p:cNvPr id="7" name="TextBox 6"/>
          <p:cNvSpPr txBox="1"/>
          <p:nvPr/>
        </p:nvSpPr>
        <p:spPr>
          <a:xfrm>
            <a:off x="530352" y="310896"/>
            <a:ext cx="11128248" cy="201168"/>
          </a:xfrm>
          <a:prstGeom prst="rect">
            <a:avLst/>
          </a:prstGeom>
          <a:noFill/>
        </p:spPr>
        <p:txBody>
          <a:bodyPr wrap="square" lIns="0" rIns="0" tIns="0" bIns="0" anchor="t">
            <a:spAutoFit/>
          </a:bodyPr>
          <a:lstStyle/>
          <a:p>
            <a:pPr algn="l">
              <a:lnSpc>
                <a:spcPct val="100000"/>
              </a:lnSpc>
            </a:pPr>
            <a:r>
              <a:rPr sz="900" b="1" i="0" spc="90">
                <a:solidFill>
                  <a:srgbClr val="0877C9"/>
                </a:solidFill>
                <a:latin typeface="Aptos"/>
              </a:rPr>
              <a:t>WHERE THIS IS GOING</a:t>
            </a:r>
          </a:p>
        </p:txBody>
      </p:sp>
      <p:sp>
        <p:nvSpPr>
          <p:cNvPr id="8" name="TextBox 7"/>
          <p:cNvSpPr txBox="1"/>
          <p:nvPr/>
        </p:nvSpPr>
        <p:spPr>
          <a:xfrm>
            <a:off x="530352" y="530352"/>
            <a:ext cx="11128248" cy="566928"/>
          </a:xfrm>
          <a:prstGeom prst="rect">
            <a:avLst/>
          </a:prstGeom>
          <a:noFill/>
        </p:spPr>
        <p:txBody>
          <a:bodyPr wrap="square" lIns="0" rIns="0" tIns="0" bIns="0" anchor="t">
            <a:spAutoFit/>
          </a:bodyPr>
          <a:lstStyle/>
          <a:p>
            <a:pPr algn="l">
              <a:lnSpc>
                <a:spcPct val="102000"/>
              </a:lnSpc>
            </a:pPr>
            <a:r>
              <a:rPr sz="2500" b="1" i="0">
                <a:solidFill>
                  <a:srgbClr val="0B1F33"/>
                </a:solidFill>
                <a:latin typeface="Aptos Display"/>
              </a:rPr>
              <a:t>The appointment books itself.</a:t>
            </a:r>
          </a:p>
        </p:txBody>
      </p:sp>
      <p:sp>
        <p:nvSpPr>
          <p:cNvPr id="9" name="TextBox 8"/>
          <p:cNvSpPr txBox="1"/>
          <p:nvPr/>
        </p:nvSpPr>
        <p:spPr>
          <a:xfrm>
            <a:off x="530352" y="1152144"/>
            <a:ext cx="11128248" cy="274320"/>
          </a:xfrm>
          <a:prstGeom prst="rect">
            <a:avLst/>
          </a:prstGeom>
          <a:noFill/>
        </p:spPr>
        <p:txBody>
          <a:bodyPr wrap="square" lIns="0" rIns="0" tIns="0" bIns="0" anchor="t">
            <a:spAutoFit/>
          </a:bodyPr>
          <a:lstStyle/>
          <a:p>
            <a:pPr algn="l">
              <a:lnSpc>
                <a:spcPct val="110000"/>
              </a:lnSpc>
            </a:pPr>
            <a:r>
              <a:rPr sz="1200" b="0" i="0">
                <a:solidFill>
                  <a:srgbClr val="456174"/>
                </a:solidFill>
                <a:latin typeface="Aptos"/>
              </a:rPr>
              <a:t>However a booking is created, it meets the same rules. The bridge to TMS and CABL is in build.</a:t>
            </a:r>
          </a:p>
        </p:txBody>
      </p:sp>
      <p:sp>
        <p:nvSpPr>
          <p:cNvPr id="10" name="TextBox 9"/>
          <p:cNvSpPr txBox="1"/>
          <p:nvPr/>
        </p:nvSpPr>
        <p:spPr>
          <a:xfrm>
            <a:off x="530352" y="1591056"/>
            <a:ext cx="2926080" cy="201168"/>
          </a:xfrm>
          <a:prstGeom prst="rect">
            <a:avLst/>
          </a:prstGeom>
          <a:noFill/>
        </p:spPr>
        <p:txBody>
          <a:bodyPr wrap="square" lIns="0" rIns="0" tIns="0" bIns="0" anchor="t">
            <a:spAutoFit/>
          </a:bodyPr>
          <a:lstStyle/>
          <a:p>
            <a:pPr algn="l">
              <a:lnSpc>
                <a:spcPct val="100000"/>
              </a:lnSpc>
            </a:pPr>
            <a:r>
              <a:rPr sz="900" b="1" i="0" spc="60">
                <a:solidFill>
                  <a:srgbClr val="6F8491"/>
                </a:solidFill>
                <a:latin typeface="Aptos"/>
              </a:rPr>
              <a:t>WHERE A BOOKING COMES FROM</a:t>
            </a:r>
          </a:p>
        </p:txBody>
      </p:sp>
      <p:sp>
        <p:nvSpPr>
          <p:cNvPr id="11" name="TextBox 10"/>
          <p:cNvSpPr txBox="1"/>
          <p:nvPr/>
        </p:nvSpPr>
        <p:spPr>
          <a:xfrm>
            <a:off x="4261104" y="1591056"/>
            <a:ext cx="2944368" cy="201168"/>
          </a:xfrm>
          <a:prstGeom prst="rect">
            <a:avLst/>
          </a:prstGeom>
          <a:noFill/>
        </p:spPr>
        <p:txBody>
          <a:bodyPr wrap="square" lIns="0" rIns="0" tIns="0" bIns="0" anchor="t">
            <a:spAutoFit/>
          </a:bodyPr>
          <a:lstStyle/>
          <a:p>
            <a:pPr algn="l">
              <a:lnSpc>
                <a:spcPct val="100000"/>
              </a:lnSpc>
            </a:pPr>
            <a:r>
              <a:rPr sz="900" b="1" i="0" spc="60">
                <a:solidFill>
                  <a:srgbClr val="6F8491"/>
                </a:solidFill>
                <a:latin typeface="Aptos"/>
              </a:rPr>
              <a:t>WHAT CHECKS IT</a:t>
            </a:r>
          </a:p>
        </p:txBody>
      </p:sp>
      <p:sp>
        <p:nvSpPr>
          <p:cNvPr id="12" name="TextBox 11"/>
          <p:cNvSpPr txBox="1"/>
          <p:nvPr/>
        </p:nvSpPr>
        <p:spPr>
          <a:xfrm>
            <a:off x="7863840" y="1591056"/>
            <a:ext cx="3794760" cy="201168"/>
          </a:xfrm>
          <a:prstGeom prst="rect">
            <a:avLst/>
          </a:prstGeom>
          <a:noFill/>
        </p:spPr>
        <p:txBody>
          <a:bodyPr wrap="square" lIns="0" rIns="0" tIns="0" bIns="0" anchor="t">
            <a:spAutoFit/>
          </a:bodyPr>
          <a:lstStyle/>
          <a:p>
            <a:pPr algn="l">
              <a:lnSpc>
                <a:spcPct val="100000"/>
              </a:lnSpc>
            </a:pPr>
            <a:r>
              <a:rPr sz="900" b="1" i="0" spc="60">
                <a:solidFill>
                  <a:srgbClr val="6F8491"/>
                </a:solidFill>
                <a:latin typeface="Aptos"/>
              </a:rPr>
              <a:t>WHERE IT LANDS</a:t>
            </a:r>
          </a:p>
        </p:txBody>
      </p:sp>
      <p:sp>
        <p:nvSpPr>
          <p:cNvPr id="13" name="Rounded Rectangle 12"/>
          <p:cNvSpPr/>
          <p:nvPr/>
        </p:nvSpPr>
        <p:spPr>
          <a:xfrm>
            <a:off x="530352" y="1901952"/>
            <a:ext cx="2926080" cy="640080"/>
          </a:xfrm>
          <a:prstGeom prst="roundRect">
            <a:avLst>
              <a:gd name="adj" fmla="val 10428"/>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86384" y="1901952"/>
            <a:ext cx="1554480" cy="640080"/>
          </a:xfrm>
          <a:prstGeom prst="rect">
            <a:avLst/>
          </a:prstGeom>
          <a:noFill/>
        </p:spPr>
        <p:txBody>
          <a:bodyPr wrap="square" lIns="0" rIns="0" tIns="0" bIns="0" anchor="ctr">
            <a:spAutoFit/>
          </a:bodyPr>
          <a:lstStyle/>
          <a:p>
            <a:pPr algn="l">
              <a:lnSpc>
                <a:spcPct val="100000"/>
              </a:lnSpc>
            </a:pPr>
            <a:r>
              <a:rPr sz="1250" b="1" i="0">
                <a:solidFill>
                  <a:srgbClr val="0B1F33"/>
                </a:solidFill>
                <a:latin typeface="Aptos Display"/>
              </a:rPr>
              <a:t>Customer or carrier</a:t>
            </a:r>
          </a:p>
        </p:txBody>
      </p:sp>
      <p:sp>
        <p:nvSpPr>
          <p:cNvPr id="15" name="Rounded Rectangle 14"/>
          <p:cNvSpPr/>
          <p:nvPr/>
        </p:nvSpPr>
        <p:spPr>
          <a:xfrm>
            <a:off x="2377440" y="2084832"/>
            <a:ext cx="914400" cy="274320"/>
          </a:xfrm>
          <a:prstGeom prst="roundRect">
            <a:avLst>
              <a:gd name="adj" fmla="val 20000"/>
            </a:avLst>
          </a:prstGeom>
          <a:solidFill>
            <a:srgbClr val="E1F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377440" y="2084832"/>
            <a:ext cx="914400" cy="274320"/>
          </a:xfrm>
          <a:prstGeom prst="rect">
            <a:avLst/>
          </a:prstGeom>
          <a:noFill/>
        </p:spPr>
        <p:txBody>
          <a:bodyPr wrap="square" lIns="0" rIns="0" tIns="0" bIns="0" anchor="ctr">
            <a:spAutoFit/>
          </a:bodyPr>
          <a:lstStyle/>
          <a:p>
            <a:pPr algn="ctr">
              <a:lnSpc>
                <a:spcPct val="100000"/>
              </a:lnSpc>
            </a:pPr>
            <a:r>
              <a:rPr sz="900" b="1" i="0">
                <a:solidFill>
                  <a:srgbClr val="10603F"/>
                </a:solidFill>
                <a:latin typeface="Aptos"/>
              </a:rPr>
              <a:t>Live today</a:t>
            </a:r>
          </a:p>
        </p:txBody>
      </p:sp>
      <p:sp>
        <p:nvSpPr>
          <p:cNvPr id="17" name="Rectangle 16"/>
          <p:cNvSpPr/>
          <p:nvPr/>
        </p:nvSpPr>
        <p:spPr>
          <a:xfrm>
            <a:off x="3456432" y="2221992"/>
            <a:ext cx="384048" cy="9525"/>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30352" y="2779776"/>
            <a:ext cx="2926080" cy="640080"/>
          </a:xfrm>
          <a:prstGeom prst="roundRect">
            <a:avLst>
              <a:gd name="adj" fmla="val 10428"/>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86384" y="2779776"/>
            <a:ext cx="1554480" cy="640080"/>
          </a:xfrm>
          <a:prstGeom prst="rect">
            <a:avLst/>
          </a:prstGeom>
          <a:noFill/>
        </p:spPr>
        <p:txBody>
          <a:bodyPr wrap="square" lIns="0" rIns="0" tIns="0" bIns="0" anchor="ctr">
            <a:spAutoFit/>
          </a:bodyPr>
          <a:lstStyle/>
          <a:p>
            <a:pPr algn="l">
              <a:lnSpc>
                <a:spcPct val="100000"/>
              </a:lnSpc>
            </a:pPr>
            <a:r>
              <a:rPr sz="1250" b="1" i="0">
                <a:solidFill>
                  <a:srgbClr val="0B1F33"/>
                </a:solidFill>
                <a:latin typeface="Aptos Display"/>
              </a:rPr>
              <a:t>Coordinator</a:t>
            </a:r>
          </a:p>
        </p:txBody>
      </p:sp>
      <p:sp>
        <p:nvSpPr>
          <p:cNvPr id="20" name="Rounded Rectangle 19"/>
          <p:cNvSpPr/>
          <p:nvPr/>
        </p:nvSpPr>
        <p:spPr>
          <a:xfrm>
            <a:off x="2377440" y="2962656"/>
            <a:ext cx="914400" cy="274320"/>
          </a:xfrm>
          <a:prstGeom prst="roundRect">
            <a:avLst>
              <a:gd name="adj" fmla="val 20000"/>
            </a:avLst>
          </a:prstGeom>
          <a:solidFill>
            <a:srgbClr val="E1F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377440" y="2962656"/>
            <a:ext cx="914400" cy="274320"/>
          </a:xfrm>
          <a:prstGeom prst="rect">
            <a:avLst/>
          </a:prstGeom>
          <a:noFill/>
        </p:spPr>
        <p:txBody>
          <a:bodyPr wrap="square" lIns="0" rIns="0" tIns="0" bIns="0" anchor="ctr">
            <a:spAutoFit/>
          </a:bodyPr>
          <a:lstStyle/>
          <a:p>
            <a:pPr algn="ctr">
              <a:lnSpc>
                <a:spcPct val="100000"/>
              </a:lnSpc>
            </a:pPr>
            <a:r>
              <a:rPr sz="900" b="1" i="0">
                <a:solidFill>
                  <a:srgbClr val="10603F"/>
                </a:solidFill>
                <a:latin typeface="Aptos"/>
              </a:rPr>
              <a:t>Live today</a:t>
            </a:r>
          </a:p>
        </p:txBody>
      </p:sp>
      <p:sp>
        <p:nvSpPr>
          <p:cNvPr id="22" name="Rectangle 21"/>
          <p:cNvSpPr/>
          <p:nvPr/>
        </p:nvSpPr>
        <p:spPr>
          <a:xfrm>
            <a:off x="3456432" y="3099816"/>
            <a:ext cx="384048" cy="9525"/>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30352" y="3657600"/>
            <a:ext cx="2926080" cy="640080"/>
          </a:xfrm>
          <a:prstGeom prst="roundRect">
            <a:avLst>
              <a:gd name="adj" fmla="val 10428"/>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86384" y="3657600"/>
            <a:ext cx="1554480" cy="640080"/>
          </a:xfrm>
          <a:prstGeom prst="rect">
            <a:avLst/>
          </a:prstGeom>
          <a:noFill/>
        </p:spPr>
        <p:txBody>
          <a:bodyPr wrap="square" lIns="0" rIns="0" tIns="0" bIns="0" anchor="ctr">
            <a:spAutoFit/>
          </a:bodyPr>
          <a:lstStyle/>
          <a:p>
            <a:pPr algn="l">
              <a:lnSpc>
                <a:spcPct val="100000"/>
              </a:lnSpc>
            </a:pPr>
            <a:r>
              <a:rPr sz="1250" b="1" i="0">
                <a:solidFill>
                  <a:srgbClr val="0B1F33"/>
                </a:solidFill>
                <a:latin typeface="Aptos Display"/>
              </a:rPr>
              <a:t>TMS</a:t>
            </a:r>
          </a:p>
        </p:txBody>
      </p:sp>
      <p:sp>
        <p:nvSpPr>
          <p:cNvPr id="25" name="Rounded Rectangle 24"/>
          <p:cNvSpPr/>
          <p:nvPr/>
        </p:nvSpPr>
        <p:spPr>
          <a:xfrm>
            <a:off x="2377440" y="3840480"/>
            <a:ext cx="914400" cy="274320"/>
          </a:xfrm>
          <a:prstGeom prst="roundRect">
            <a:avLst>
              <a:gd name="adj" fmla="val 20000"/>
            </a:avLst>
          </a:prstGeom>
          <a:solidFill>
            <a:srgbClr val="FCF0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2377440" y="3840480"/>
            <a:ext cx="914400" cy="274320"/>
          </a:xfrm>
          <a:prstGeom prst="rect">
            <a:avLst/>
          </a:prstGeom>
          <a:noFill/>
        </p:spPr>
        <p:txBody>
          <a:bodyPr wrap="square" lIns="0" rIns="0" tIns="0" bIns="0" anchor="ctr">
            <a:spAutoFit/>
          </a:bodyPr>
          <a:lstStyle/>
          <a:p>
            <a:pPr algn="ctr">
              <a:lnSpc>
                <a:spcPct val="100000"/>
              </a:lnSpc>
            </a:pPr>
            <a:r>
              <a:rPr sz="900" b="1" i="0">
                <a:solidFill>
                  <a:srgbClr val="8A5B06"/>
                </a:solidFill>
                <a:latin typeface="Aptos"/>
              </a:rPr>
              <a:t>In build</a:t>
            </a:r>
          </a:p>
        </p:txBody>
      </p:sp>
      <p:sp>
        <p:nvSpPr>
          <p:cNvPr id="27" name="Rectangle 26"/>
          <p:cNvSpPr/>
          <p:nvPr/>
        </p:nvSpPr>
        <p:spPr>
          <a:xfrm>
            <a:off x="3456432" y="3977640"/>
            <a:ext cx="384048" cy="9525"/>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30352" y="4535424"/>
            <a:ext cx="2926080" cy="640080"/>
          </a:xfrm>
          <a:prstGeom prst="roundRect">
            <a:avLst>
              <a:gd name="adj" fmla="val 10428"/>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86384" y="4535424"/>
            <a:ext cx="1554480" cy="640080"/>
          </a:xfrm>
          <a:prstGeom prst="rect">
            <a:avLst/>
          </a:prstGeom>
          <a:noFill/>
        </p:spPr>
        <p:txBody>
          <a:bodyPr wrap="square" lIns="0" rIns="0" tIns="0" bIns="0" anchor="ctr">
            <a:spAutoFit/>
          </a:bodyPr>
          <a:lstStyle/>
          <a:p>
            <a:pPr algn="l">
              <a:lnSpc>
                <a:spcPct val="100000"/>
              </a:lnSpc>
            </a:pPr>
            <a:r>
              <a:rPr sz="1250" b="1" i="0">
                <a:solidFill>
                  <a:srgbClr val="0B1F33"/>
                </a:solidFill>
                <a:latin typeface="Aptos Display"/>
              </a:rPr>
              <a:t>CABL</a:t>
            </a:r>
          </a:p>
        </p:txBody>
      </p:sp>
      <p:sp>
        <p:nvSpPr>
          <p:cNvPr id="30" name="Rounded Rectangle 29"/>
          <p:cNvSpPr/>
          <p:nvPr/>
        </p:nvSpPr>
        <p:spPr>
          <a:xfrm>
            <a:off x="2377440" y="4718304"/>
            <a:ext cx="914400" cy="274320"/>
          </a:xfrm>
          <a:prstGeom prst="roundRect">
            <a:avLst>
              <a:gd name="adj" fmla="val 20000"/>
            </a:avLst>
          </a:prstGeom>
          <a:solidFill>
            <a:srgbClr val="FCF0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2377440" y="4718304"/>
            <a:ext cx="914400" cy="274320"/>
          </a:xfrm>
          <a:prstGeom prst="rect">
            <a:avLst/>
          </a:prstGeom>
          <a:noFill/>
        </p:spPr>
        <p:txBody>
          <a:bodyPr wrap="square" lIns="0" rIns="0" tIns="0" bIns="0" anchor="ctr">
            <a:spAutoFit/>
          </a:bodyPr>
          <a:lstStyle/>
          <a:p>
            <a:pPr algn="ctr">
              <a:lnSpc>
                <a:spcPct val="100000"/>
              </a:lnSpc>
            </a:pPr>
            <a:r>
              <a:rPr sz="900" b="1" i="0">
                <a:solidFill>
                  <a:srgbClr val="8A5B06"/>
                </a:solidFill>
                <a:latin typeface="Aptos"/>
              </a:rPr>
              <a:t>In build</a:t>
            </a:r>
          </a:p>
        </p:txBody>
      </p:sp>
      <p:sp>
        <p:nvSpPr>
          <p:cNvPr id="32" name="Rectangle 31"/>
          <p:cNvSpPr/>
          <p:nvPr/>
        </p:nvSpPr>
        <p:spPr>
          <a:xfrm>
            <a:off x="3456432" y="4855464"/>
            <a:ext cx="384048" cy="9525"/>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840480" y="2221992"/>
            <a:ext cx="9525" cy="2633472"/>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840480" y="3529584"/>
            <a:ext cx="420624" cy="9525"/>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261104" y="1901952"/>
            <a:ext cx="2944368" cy="3273552"/>
          </a:xfrm>
          <a:prstGeom prst="roundRect">
            <a:avLst>
              <a:gd name="adj" fmla="val 2267"/>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4572000" y="2231136"/>
            <a:ext cx="2322576" cy="402336"/>
          </a:xfrm>
          <a:prstGeom prst="rect">
            <a:avLst/>
          </a:prstGeom>
          <a:noFill/>
        </p:spPr>
        <p:txBody>
          <a:bodyPr wrap="square" lIns="0" rIns="0" tIns="0" bIns="0" anchor="t">
            <a:spAutoFit/>
          </a:bodyPr>
          <a:lstStyle/>
          <a:p>
            <a:pPr algn="l">
              <a:lnSpc>
                <a:spcPct val="100000"/>
              </a:lnSpc>
            </a:pPr>
            <a:r>
              <a:rPr sz="2000" b="1" i="0">
                <a:solidFill>
                  <a:srgbClr val="FFFFFF"/>
                </a:solidFill>
                <a:latin typeface="Aptos Display"/>
              </a:rPr>
              <a:t>MaxDock</a:t>
            </a:r>
          </a:p>
        </p:txBody>
      </p:sp>
      <p:sp>
        <p:nvSpPr>
          <p:cNvPr id="37" name="TextBox 36"/>
          <p:cNvSpPr txBox="1"/>
          <p:nvPr/>
        </p:nvSpPr>
        <p:spPr>
          <a:xfrm>
            <a:off x="4572000" y="2724912"/>
            <a:ext cx="2322576" cy="219456"/>
          </a:xfrm>
          <a:prstGeom prst="rect">
            <a:avLst/>
          </a:prstGeom>
          <a:noFill/>
        </p:spPr>
        <p:txBody>
          <a:bodyPr wrap="square" lIns="0" rIns="0" tIns="0" bIns="0" anchor="t">
            <a:spAutoFit/>
          </a:bodyPr>
          <a:lstStyle/>
          <a:p>
            <a:pPr algn="l">
              <a:lnSpc>
                <a:spcPct val="100000"/>
              </a:lnSpc>
            </a:pPr>
            <a:r>
              <a:rPr sz="800" b="1" i="0" spc="60">
                <a:solidFill>
                  <a:srgbClr val="14AEE8"/>
                </a:solidFill>
                <a:latin typeface="Aptos"/>
              </a:rPr>
              <a:t>CHECKS THE RULES, HOLDS THE DOOR</a:t>
            </a:r>
          </a:p>
        </p:txBody>
      </p:sp>
      <p:sp>
        <p:nvSpPr>
          <p:cNvPr id="38" name="Rectangle 37"/>
          <p:cNvSpPr/>
          <p:nvPr/>
        </p:nvSpPr>
        <p:spPr>
          <a:xfrm>
            <a:off x="4572000" y="3054096"/>
            <a:ext cx="2322576" cy="9525"/>
          </a:xfrm>
          <a:prstGeom prst="rect">
            <a:avLst/>
          </a:prstGeom>
          <a:solidFill>
            <a:srgbClr val="1E4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4572000" y="3364992"/>
            <a:ext cx="118872" cy="118872"/>
          </a:xfrm>
          <a:prstGeom prst="roundRect">
            <a:avLst>
              <a:gd name="adj" fmla="val 15384"/>
            </a:avLst>
          </a:prstGeom>
          <a:solidFill>
            <a:srgbClr val="14AE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846320" y="3310128"/>
            <a:ext cx="2048256" cy="493776"/>
          </a:xfrm>
          <a:prstGeom prst="rect">
            <a:avLst/>
          </a:prstGeom>
          <a:noFill/>
        </p:spPr>
        <p:txBody>
          <a:bodyPr wrap="square" lIns="0" rIns="0" tIns="0" bIns="0" anchor="t">
            <a:spAutoFit/>
          </a:bodyPr>
          <a:lstStyle/>
          <a:p>
            <a:pPr algn="l">
              <a:lnSpc>
                <a:spcPct val="116000"/>
              </a:lnSpc>
            </a:pPr>
            <a:r>
              <a:rPr sz="1050" b="0" i="0">
                <a:solidFill>
                  <a:srgbClr val="B9D7E8"/>
                </a:solidFill>
                <a:latin typeface="Aptos"/>
              </a:rPr>
              <a:t>The plant's own duration rules, not a fixed hour</a:t>
            </a:r>
          </a:p>
        </p:txBody>
      </p:sp>
      <p:sp>
        <p:nvSpPr>
          <p:cNvPr id="41" name="Rounded Rectangle 40"/>
          <p:cNvSpPr/>
          <p:nvPr/>
        </p:nvSpPr>
        <p:spPr>
          <a:xfrm>
            <a:off x="4572000" y="3968496"/>
            <a:ext cx="118872" cy="118872"/>
          </a:xfrm>
          <a:prstGeom prst="roundRect">
            <a:avLst>
              <a:gd name="adj" fmla="val 15384"/>
            </a:avLst>
          </a:prstGeom>
          <a:solidFill>
            <a:srgbClr val="14AE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4846320" y="3913632"/>
            <a:ext cx="2048256" cy="493776"/>
          </a:xfrm>
          <a:prstGeom prst="rect">
            <a:avLst/>
          </a:prstGeom>
          <a:noFill/>
        </p:spPr>
        <p:txBody>
          <a:bodyPr wrap="square" lIns="0" rIns="0" tIns="0" bIns="0" anchor="t">
            <a:spAutoFit/>
          </a:bodyPr>
          <a:lstStyle/>
          <a:p>
            <a:pPr algn="l">
              <a:lnSpc>
                <a:spcPct val="116000"/>
              </a:lnSpc>
            </a:pPr>
            <a:r>
              <a:rPr sz="1050" b="0" i="0">
                <a:solidFill>
                  <a:srgbClr val="B9D7E8"/>
                </a:solidFill>
                <a:latin typeface="Aptos"/>
              </a:rPr>
              <a:t>A door that is free, fits the trailer, has floor space</a:t>
            </a:r>
          </a:p>
        </p:txBody>
      </p:sp>
      <p:sp>
        <p:nvSpPr>
          <p:cNvPr id="43" name="Rounded Rectangle 42"/>
          <p:cNvSpPr/>
          <p:nvPr/>
        </p:nvSpPr>
        <p:spPr>
          <a:xfrm>
            <a:off x="4572000" y="4572000"/>
            <a:ext cx="118872" cy="118872"/>
          </a:xfrm>
          <a:prstGeom prst="roundRect">
            <a:avLst>
              <a:gd name="adj" fmla="val 15384"/>
            </a:avLst>
          </a:prstGeom>
          <a:solidFill>
            <a:srgbClr val="14AE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4846320" y="4517136"/>
            <a:ext cx="2048256" cy="493776"/>
          </a:xfrm>
          <a:prstGeom prst="rect">
            <a:avLst/>
          </a:prstGeom>
          <a:noFill/>
        </p:spPr>
        <p:txBody>
          <a:bodyPr wrap="square" lIns="0" rIns="0" tIns="0" bIns="0" anchor="t">
            <a:spAutoFit/>
          </a:bodyPr>
          <a:lstStyle/>
          <a:p>
            <a:pPr algn="l">
              <a:lnSpc>
                <a:spcPct val="116000"/>
              </a:lnSpc>
            </a:pPr>
            <a:r>
              <a:rPr sz="1050" b="0" i="0">
                <a:solidFill>
                  <a:srgbClr val="B9D7E8"/>
                </a:solidFill>
                <a:latin typeface="Aptos"/>
              </a:rPr>
              <a:t>One reference and one QR code, whatever created it</a:t>
            </a:r>
          </a:p>
        </p:txBody>
      </p:sp>
      <p:sp>
        <p:nvSpPr>
          <p:cNvPr id="45" name="Rectangle 44"/>
          <p:cNvSpPr/>
          <p:nvPr/>
        </p:nvSpPr>
        <p:spPr>
          <a:xfrm>
            <a:off x="7205472" y="3529584"/>
            <a:ext cx="658368" cy="9525"/>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7863840" y="1901952"/>
            <a:ext cx="3794760" cy="3273552"/>
          </a:xfrm>
          <a:prstGeom prst="roundRect">
            <a:avLst>
              <a:gd name="adj" fmla="val 2039"/>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8174736" y="2231136"/>
            <a:ext cx="3172968" cy="402336"/>
          </a:xfrm>
          <a:prstGeom prst="rect">
            <a:avLst/>
          </a:prstGeom>
          <a:noFill/>
        </p:spPr>
        <p:txBody>
          <a:bodyPr wrap="square" lIns="0" rIns="0" tIns="0" bIns="0" anchor="t">
            <a:spAutoFit/>
          </a:bodyPr>
          <a:lstStyle/>
          <a:p>
            <a:pPr algn="l">
              <a:lnSpc>
                <a:spcPct val="100000"/>
              </a:lnSpc>
            </a:pPr>
            <a:r>
              <a:rPr sz="2000" b="1" i="0">
                <a:solidFill>
                  <a:srgbClr val="0B1F33"/>
                </a:solidFill>
                <a:latin typeface="Aptos Display"/>
              </a:rPr>
              <a:t>One dock board</a:t>
            </a:r>
          </a:p>
        </p:txBody>
      </p:sp>
      <p:sp>
        <p:nvSpPr>
          <p:cNvPr id="48" name="TextBox 47"/>
          <p:cNvSpPr txBox="1"/>
          <p:nvPr/>
        </p:nvSpPr>
        <p:spPr>
          <a:xfrm>
            <a:off x="8174736" y="2761488"/>
            <a:ext cx="3172968" cy="512064"/>
          </a:xfrm>
          <a:prstGeom prst="rect">
            <a:avLst/>
          </a:prstGeom>
          <a:noFill/>
        </p:spPr>
        <p:txBody>
          <a:bodyPr wrap="square" lIns="0" rIns="0" tIns="0" bIns="0" anchor="t">
            <a:spAutoFit/>
          </a:bodyPr>
          <a:lstStyle/>
          <a:p>
            <a:pPr algn="l">
              <a:lnSpc>
                <a:spcPct val="116000"/>
              </a:lnSpc>
            </a:pPr>
            <a:r>
              <a:rPr sz="1100" b="0" i="0">
                <a:solidFill>
                  <a:srgbClr val="456174"/>
                </a:solidFill>
                <a:latin typeface="Aptos"/>
              </a:rPr>
              <a:t>Typed by a supplier, by a coordinator, or created by the bridge.</a:t>
            </a:r>
          </a:p>
        </p:txBody>
      </p:sp>
      <p:sp>
        <p:nvSpPr>
          <p:cNvPr id="49" name="Rectangle 48"/>
          <p:cNvSpPr/>
          <p:nvPr/>
        </p:nvSpPr>
        <p:spPr>
          <a:xfrm>
            <a:off x="8174736" y="3474720"/>
            <a:ext cx="3172968" cy="9525"/>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8174736" y="3758184"/>
            <a:ext cx="118872" cy="118872"/>
          </a:xfrm>
          <a:prstGeom prst="roundRect">
            <a:avLst>
              <a:gd name="adj" fmla="val 15384"/>
            </a:avLst>
          </a:prstGeom>
          <a:solidFill>
            <a:srgbClr val="14A6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8467344" y="3712464"/>
            <a:ext cx="2880360" cy="256032"/>
          </a:xfrm>
          <a:prstGeom prst="rect">
            <a:avLst/>
          </a:prstGeom>
          <a:noFill/>
        </p:spPr>
        <p:txBody>
          <a:bodyPr wrap="square" lIns="0" rIns="0" tIns="0" bIns="0" anchor="t">
            <a:spAutoFit/>
          </a:bodyPr>
          <a:lstStyle/>
          <a:p>
            <a:pPr algn="l">
              <a:lnSpc>
                <a:spcPct val="100000"/>
              </a:lnSpc>
            </a:pPr>
            <a:r>
              <a:rPr sz="1100" b="0" i="0">
                <a:solidFill>
                  <a:srgbClr val="0B1F33"/>
                </a:solidFill>
                <a:latin typeface="Aptos"/>
              </a:rPr>
              <a:t>It lands under the same rules</a:t>
            </a:r>
          </a:p>
        </p:txBody>
      </p:sp>
      <p:sp>
        <p:nvSpPr>
          <p:cNvPr id="52" name="Rounded Rectangle 51"/>
          <p:cNvSpPr/>
          <p:nvPr/>
        </p:nvSpPr>
        <p:spPr>
          <a:xfrm>
            <a:off x="8174736" y="4233672"/>
            <a:ext cx="118872" cy="118872"/>
          </a:xfrm>
          <a:prstGeom prst="roundRect">
            <a:avLst>
              <a:gd name="adj" fmla="val 15384"/>
            </a:avLst>
          </a:prstGeom>
          <a:solidFill>
            <a:srgbClr val="14A6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8467344" y="4187952"/>
            <a:ext cx="2880360" cy="256032"/>
          </a:xfrm>
          <a:prstGeom prst="rect">
            <a:avLst/>
          </a:prstGeom>
          <a:noFill/>
        </p:spPr>
        <p:txBody>
          <a:bodyPr wrap="square" lIns="0" rIns="0" tIns="0" bIns="0" anchor="t">
            <a:spAutoFit/>
          </a:bodyPr>
          <a:lstStyle/>
          <a:p>
            <a:pPr algn="l">
              <a:lnSpc>
                <a:spcPct val="100000"/>
              </a:lnSpc>
            </a:pPr>
            <a:r>
              <a:rPr sz="1100" b="0" i="0">
                <a:solidFill>
                  <a:srgbClr val="0B1F33"/>
                </a:solidFill>
                <a:latin typeface="Aptos"/>
              </a:rPr>
              <a:t>On the same board and queue</a:t>
            </a:r>
          </a:p>
        </p:txBody>
      </p:sp>
      <p:sp>
        <p:nvSpPr>
          <p:cNvPr id="54" name="Rounded Rectangle 53"/>
          <p:cNvSpPr/>
          <p:nvPr/>
        </p:nvSpPr>
        <p:spPr>
          <a:xfrm>
            <a:off x="8174736" y="4709160"/>
            <a:ext cx="118872" cy="118872"/>
          </a:xfrm>
          <a:prstGeom prst="roundRect">
            <a:avLst>
              <a:gd name="adj" fmla="val 15384"/>
            </a:avLst>
          </a:prstGeom>
          <a:solidFill>
            <a:srgbClr val="14A6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8467344" y="4663440"/>
            <a:ext cx="2880360" cy="256032"/>
          </a:xfrm>
          <a:prstGeom prst="rect">
            <a:avLst/>
          </a:prstGeom>
          <a:noFill/>
        </p:spPr>
        <p:txBody>
          <a:bodyPr wrap="square" lIns="0" rIns="0" tIns="0" bIns="0" anchor="t">
            <a:spAutoFit/>
          </a:bodyPr>
          <a:lstStyle/>
          <a:p>
            <a:pPr algn="l">
              <a:lnSpc>
                <a:spcPct val="100000"/>
              </a:lnSpc>
            </a:pPr>
            <a:r>
              <a:rPr sz="1100" b="0" i="0">
                <a:solidFill>
                  <a:srgbClr val="0B1F33"/>
                </a:solidFill>
                <a:latin typeface="Aptos"/>
              </a:rPr>
              <a:t>With the same audit history</a:t>
            </a:r>
          </a:p>
        </p:txBody>
      </p:sp>
      <p:sp>
        <p:nvSpPr>
          <p:cNvPr id="56" name="Rounded Rectangle 55"/>
          <p:cNvSpPr/>
          <p:nvPr/>
        </p:nvSpPr>
        <p:spPr>
          <a:xfrm>
            <a:off x="530352" y="5504688"/>
            <a:ext cx="11128248" cy="822960"/>
          </a:xfrm>
          <a:prstGeom prst="roundRect">
            <a:avLst>
              <a:gd name="adj" fmla="val 8111"/>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914400" y="5650992"/>
            <a:ext cx="10378440" cy="530352"/>
          </a:xfrm>
          <a:prstGeom prst="rect">
            <a:avLst/>
          </a:prstGeom>
          <a:noFill/>
        </p:spPr>
        <p:txBody>
          <a:bodyPr wrap="square" lIns="0" rIns="0" tIns="0" bIns="0" anchor="ctr">
            <a:spAutoFit/>
          </a:bodyPr>
          <a:lstStyle/>
          <a:p>
            <a:pPr algn="l">
              <a:lnSpc>
                <a:spcPct val="100000"/>
              </a:lnSpc>
            </a:pPr>
            <a:r>
              <a:rPr sz="1250" b="1" i="0">
                <a:solidFill>
                  <a:srgbClr val="FFFFFF"/>
                </a:solidFill>
                <a:latin typeface="Aptos"/>
              </a:rPr>
              <a:t>MaxDock does not wait for the bridge. </a:t>
            </a:r>
            <a:r>
              <a:rPr sz="1250" b="0" i="0">
                <a:solidFill>
                  <a:srgbClr val="B9D7E8"/>
                </a:solidFill>
                <a:latin typeface="Aptos"/>
              </a:rPr>
              <a:t>The bridge removes the typing; it does not switch the product 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15</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SELF-SERVICE BOOKING</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The supplier books it. Nobody answers the phone.</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A customer, vendor or carrier signs in and books against that plant's real rules.</a:t>
            </a:r>
            <a:endParaRPr lang="en-US" sz="1200" dirty="0"/>
          </a:p>
        </p:txBody>
      </p:sp>
      <p:sp>
        <p:nvSpPr>
          <p:cNvPr id="10" name="Shape 7"/>
          <p:cNvSpPr/>
          <p:nvPr/>
        </p:nvSpPr>
        <p:spPr>
          <a:xfrm>
            <a:off x="530352" y="1627632"/>
            <a:ext cx="3300984" cy="3163824"/>
          </a:xfrm>
          <a:prstGeom prst="roundRect">
            <a:avLst>
              <a:gd name="adj" fmla="val 2286"/>
            </a:avLst>
          </a:prstGeom>
          <a:solidFill>
            <a:srgbClr val="FFFFFF"/>
          </a:solidFill>
          <a:ln w="9525">
            <a:solidFill>
              <a:srgbClr val="D8E4EA"/>
            </a:solidFill>
            <a:prstDash val="solid"/>
          </a:ln>
        </p:spPr>
        <p:txBody>
          <a:bodyPr/>
          <a:p/>
        </p:txBody>
      </p:sp>
      <p:sp>
        <p:nvSpPr>
          <p:cNvPr id="11" name="Text 8"/>
          <p:cNvSpPr txBox="1"/>
          <p:nvPr/>
        </p:nvSpPr>
        <p:spPr>
          <a:xfrm>
            <a:off x="841248" y="1847088"/>
            <a:ext cx="457200" cy="502920"/>
          </a:xfrm>
          <a:prstGeom prst="rect">
            <a:avLst/>
          </a:prstGeom>
          <a:noFill/>
          <a:ln/>
        </p:spPr>
        <p:txBody>
          <a:bodyPr wrap="square" lIns="0" tIns="0" rIns="0" bIns="0" rtlCol="0" anchor="t"/>
          <a:lstStyle/>
          <a:p>
            <a:pPr algn="l" indent="0" marL="0">
              <a:lnSpc>
                <a:spcPct val="100000"/>
              </a:lnSpc>
              <a:buNone/>
            </a:pPr>
            <a:r>
              <a:rPr lang="en-US" sz="3000" b="1" dirty="0">
                <a:solidFill>
                  <a:srgbClr val="0877C9"/>
                </a:solidFill>
                <a:latin typeface="Aptos Display" pitchFamily="34" charset="0"/>
                <a:ea typeface="Aptos Display" pitchFamily="34" charset="-122"/>
                <a:cs typeface="Aptos Display" pitchFamily="34" charset="-120"/>
              </a:rPr>
              <a:t>1</a:t>
            </a:r>
            <a:endParaRPr lang="en-US" sz="3000" dirty="0"/>
          </a:p>
        </p:txBody>
      </p:sp>
      <p:sp>
        <p:nvSpPr>
          <p:cNvPr id="12" name="Text 9"/>
          <p:cNvSpPr txBox="1"/>
          <p:nvPr/>
        </p:nvSpPr>
        <p:spPr>
          <a:xfrm>
            <a:off x="1444752" y="1920240"/>
            <a:ext cx="2110130" cy="384048"/>
          </a:xfrm>
          <a:prstGeom prst="rect">
            <a:avLst/>
          </a:prstGeom>
          <a:noFill/>
          <a:ln/>
        </p:spPr>
        <p:txBody>
          <a:bodyPr wrap="square" lIns="0" tIns="0" rIns="0" bIns="0" rtlCol="0" anchor="t"/>
          <a:lstStyle/>
          <a:p>
            <a:pPr algn="l" indent="0" marL="0">
              <a:lnSpc>
                <a:spcPct val="100000"/>
              </a:lnSpc>
              <a:buNone/>
            </a:pPr>
            <a:r>
              <a:rPr lang="en-US" sz="1800" b="1" dirty="0">
                <a:solidFill>
                  <a:srgbClr val="0B1F33"/>
                </a:solidFill>
                <a:latin typeface="Aptos Display" pitchFamily="34" charset="0"/>
                <a:ea typeface="Aptos Display" pitchFamily="34" charset="-122"/>
                <a:cs typeface="Aptos Display" pitchFamily="34" charset="-120"/>
              </a:rPr>
              <a:t>Load &amp; truck</a:t>
            </a:r>
            <a:endParaRPr lang="en-US" sz="1800" dirty="0"/>
          </a:p>
        </p:txBody>
      </p:sp>
      <p:sp>
        <p:nvSpPr>
          <p:cNvPr id="13" name="Text 10"/>
          <p:cNvSpPr txBox="1"/>
          <p:nvPr/>
        </p:nvSpPr>
        <p:spPr>
          <a:xfrm>
            <a:off x="841248" y="2523744"/>
            <a:ext cx="2677058" cy="1005840"/>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Skids, trailer, handling. MaxDock works out how long the door is held, from that plant's own rules.</a:t>
            </a:r>
            <a:endParaRPr lang="en-US" sz="1150" dirty="0"/>
          </a:p>
        </p:txBody>
      </p:sp>
      <p:sp>
        <p:nvSpPr>
          <p:cNvPr id="14" name="Shape 11"/>
          <p:cNvSpPr/>
          <p:nvPr/>
        </p:nvSpPr>
        <p:spPr>
          <a:xfrm>
            <a:off x="841248" y="3621024"/>
            <a:ext cx="2677058" cy="658368"/>
          </a:xfrm>
          <a:prstGeom prst="roundRect">
            <a:avLst>
              <a:gd name="adj" fmla="val 8333"/>
            </a:avLst>
          </a:prstGeom>
          <a:solidFill>
            <a:srgbClr val="E9EFF4"/>
          </a:solidFill>
          <a:ln/>
        </p:spPr>
        <p:txBody>
          <a:bodyPr/>
          <a:p/>
        </p:txBody>
      </p:sp>
      <p:sp>
        <p:nvSpPr>
          <p:cNvPr id="15" name="Shape 12"/>
          <p:cNvSpPr/>
          <p:nvPr/>
        </p:nvSpPr>
        <p:spPr>
          <a:xfrm>
            <a:off x="1042416" y="3767328"/>
            <a:ext cx="201168" cy="201168"/>
          </a:xfrm>
          <a:prstGeom prst="roundRect">
            <a:avLst>
              <a:gd name="adj" fmla="val 13636"/>
            </a:avLst>
          </a:prstGeom>
          <a:solidFill>
            <a:srgbClr val="0877C9"/>
          </a:solidFill>
          <a:ln/>
        </p:spPr>
        <p:txBody>
          <a:bodyPr/>
          <a:p/>
        </p:txBody>
      </p:sp>
      <p:sp>
        <p:nvSpPr>
          <p:cNvPr id="16" name="Shape 13"/>
          <p:cNvSpPr/>
          <p:nvPr/>
        </p:nvSpPr>
        <p:spPr>
          <a:xfrm>
            <a:off x="1316736" y="3767328"/>
            <a:ext cx="201168" cy="201168"/>
          </a:xfrm>
          <a:prstGeom prst="roundRect">
            <a:avLst>
              <a:gd name="adj" fmla="val 13636"/>
            </a:avLst>
          </a:prstGeom>
          <a:solidFill>
            <a:srgbClr val="0877C9"/>
          </a:solidFill>
          <a:ln/>
        </p:spPr>
        <p:txBody>
          <a:bodyPr/>
          <a:p/>
        </p:txBody>
      </p:sp>
      <p:sp>
        <p:nvSpPr>
          <p:cNvPr id="17" name="Shape 14"/>
          <p:cNvSpPr/>
          <p:nvPr/>
        </p:nvSpPr>
        <p:spPr>
          <a:xfrm>
            <a:off x="1591056" y="3767328"/>
            <a:ext cx="201168" cy="201168"/>
          </a:xfrm>
          <a:prstGeom prst="roundRect">
            <a:avLst>
              <a:gd name="adj" fmla="val 13636"/>
            </a:avLst>
          </a:prstGeom>
          <a:solidFill>
            <a:srgbClr val="0877C9"/>
          </a:solidFill>
          <a:ln/>
        </p:spPr>
        <p:txBody>
          <a:bodyPr/>
          <a:p/>
        </p:txBody>
      </p:sp>
      <p:sp>
        <p:nvSpPr>
          <p:cNvPr id="18" name="Shape 15"/>
          <p:cNvSpPr/>
          <p:nvPr/>
        </p:nvSpPr>
        <p:spPr>
          <a:xfrm>
            <a:off x="1865376" y="3767328"/>
            <a:ext cx="201168" cy="201168"/>
          </a:xfrm>
          <a:prstGeom prst="roundRect">
            <a:avLst>
              <a:gd name="adj" fmla="val 13636"/>
            </a:avLst>
          </a:prstGeom>
          <a:solidFill>
            <a:srgbClr val="0877C9"/>
          </a:solidFill>
          <a:ln/>
        </p:spPr>
        <p:txBody>
          <a:bodyPr/>
          <a:p/>
        </p:txBody>
      </p:sp>
      <p:sp>
        <p:nvSpPr>
          <p:cNvPr id="19" name="Shape 16"/>
          <p:cNvSpPr/>
          <p:nvPr/>
        </p:nvSpPr>
        <p:spPr>
          <a:xfrm>
            <a:off x="2139696" y="3767328"/>
            <a:ext cx="201168" cy="201168"/>
          </a:xfrm>
          <a:prstGeom prst="roundRect">
            <a:avLst>
              <a:gd name="adj" fmla="val 13636"/>
            </a:avLst>
          </a:prstGeom>
          <a:solidFill>
            <a:srgbClr val="0877C9"/>
          </a:solidFill>
          <a:ln/>
        </p:spPr>
        <p:txBody>
          <a:bodyPr/>
          <a:p/>
        </p:txBody>
      </p:sp>
      <p:sp>
        <p:nvSpPr>
          <p:cNvPr id="20" name="Shape 17"/>
          <p:cNvSpPr/>
          <p:nvPr/>
        </p:nvSpPr>
        <p:spPr>
          <a:xfrm>
            <a:off x="2414016" y="3767328"/>
            <a:ext cx="201168" cy="201168"/>
          </a:xfrm>
          <a:prstGeom prst="roundRect">
            <a:avLst>
              <a:gd name="adj" fmla="val 13636"/>
            </a:avLst>
          </a:prstGeom>
          <a:solidFill>
            <a:srgbClr val="0877C9"/>
          </a:solidFill>
          <a:ln/>
        </p:spPr>
        <p:txBody>
          <a:bodyPr/>
          <a:p/>
        </p:txBody>
      </p:sp>
      <p:sp>
        <p:nvSpPr>
          <p:cNvPr id="21" name="Shape 18"/>
          <p:cNvSpPr/>
          <p:nvPr/>
        </p:nvSpPr>
        <p:spPr>
          <a:xfrm>
            <a:off x="2688336" y="3767328"/>
            <a:ext cx="201168" cy="201168"/>
          </a:xfrm>
          <a:prstGeom prst="roundRect">
            <a:avLst>
              <a:gd name="adj" fmla="val 13636"/>
            </a:avLst>
          </a:prstGeom>
          <a:solidFill>
            <a:srgbClr val="FFFFFF"/>
          </a:solidFill>
          <a:ln w="9525">
            <a:solidFill>
              <a:srgbClr val="C9D6DF"/>
            </a:solidFill>
            <a:prstDash val="solid"/>
          </a:ln>
        </p:spPr>
        <p:txBody>
          <a:bodyPr/>
          <a:p/>
        </p:txBody>
      </p:sp>
      <p:sp>
        <p:nvSpPr>
          <p:cNvPr id="22" name="Shape 19"/>
          <p:cNvSpPr/>
          <p:nvPr/>
        </p:nvSpPr>
        <p:spPr>
          <a:xfrm>
            <a:off x="2962656" y="3767328"/>
            <a:ext cx="201168" cy="201168"/>
          </a:xfrm>
          <a:prstGeom prst="roundRect">
            <a:avLst>
              <a:gd name="adj" fmla="val 13636"/>
            </a:avLst>
          </a:prstGeom>
          <a:solidFill>
            <a:srgbClr val="FFFFFF"/>
          </a:solidFill>
          <a:ln w="9525">
            <a:solidFill>
              <a:srgbClr val="C9D6DF"/>
            </a:solidFill>
            <a:prstDash val="solid"/>
          </a:ln>
        </p:spPr>
        <p:txBody>
          <a:bodyPr/>
          <a:p/>
        </p:txBody>
      </p:sp>
      <p:sp>
        <p:nvSpPr>
          <p:cNvPr id="23" name="Text 20"/>
          <p:cNvSpPr txBox="1"/>
          <p:nvPr/>
        </p:nvSpPr>
        <p:spPr>
          <a:xfrm>
            <a:off x="1042416" y="4023360"/>
            <a:ext cx="2366162" cy="201168"/>
          </a:xfrm>
          <a:prstGeom prst="rect">
            <a:avLst/>
          </a:prstGeom>
          <a:noFill/>
          <a:ln/>
        </p:spPr>
        <p:txBody>
          <a:bodyPr wrap="square" lIns="0" tIns="0" rIns="0" bIns="0" rtlCol="0" anchor="t"/>
          <a:lstStyle/>
          <a:p>
            <a:pPr algn="l" indent="0" marL="0">
              <a:lnSpc>
                <a:spcPct val="100000"/>
              </a:lnSpc>
              <a:buNone/>
            </a:pPr>
            <a:r>
              <a:rPr lang="en-US" sz="850" dirty="0">
                <a:solidFill>
                  <a:srgbClr val="6F8491"/>
                </a:solidFill>
                <a:latin typeface="Aptos" pitchFamily="34" charset="0"/>
                <a:ea typeface="Aptos" pitchFamily="34" charset="-122"/>
                <a:cs typeface="Aptos" pitchFamily="34" charset="-120"/>
              </a:rPr>
              <a:t>22 skids · 53 ft · 90 minutes at the door</a:t>
            </a:r>
            <a:endParaRPr lang="en-US" sz="850" dirty="0"/>
          </a:p>
        </p:txBody>
      </p:sp>
      <p:sp>
        <p:nvSpPr>
          <p:cNvPr id="24" name="Text 21"/>
          <p:cNvSpPr txBox="1"/>
          <p:nvPr/>
        </p:nvSpPr>
        <p:spPr>
          <a:xfrm>
            <a:off x="841248" y="4389120"/>
            <a:ext cx="2677058" cy="347472"/>
          </a:xfrm>
          <a:prstGeom prst="rect">
            <a:avLst/>
          </a:prstGeom>
          <a:noFill/>
          <a:ln/>
        </p:spPr>
        <p:txBody>
          <a:bodyPr wrap="square" lIns="0" tIns="0" rIns="0" bIns="0" rtlCol="0" anchor="t"/>
          <a:lstStyle/>
          <a:p>
            <a:pPr algn="l" indent="0" marL="0">
              <a:lnSpc>
                <a:spcPct val="110000"/>
              </a:lnSpc>
              <a:buNone/>
            </a:pPr>
            <a:r>
              <a:rPr lang="en-US" sz="1050" b="1" dirty="0">
                <a:solidFill>
                  <a:srgbClr val="0877C9"/>
                </a:solidFill>
                <a:latin typeface="Aptos" pitchFamily="34" charset="0"/>
                <a:ea typeface="Aptos" pitchFamily="34" charset="-122"/>
                <a:cs typeface="Aptos" pitchFamily="34" charset="-120"/>
              </a:rPr>
              <a:t>Nothing typed that the plant cannot honour</a:t>
            </a:r>
            <a:endParaRPr lang="en-US" sz="1050" dirty="0"/>
          </a:p>
        </p:txBody>
      </p:sp>
      <p:sp>
        <p:nvSpPr>
          <p:cNvPr id="25" name="Shape 22"/>
          <p:cNvSpPr/>
          <p:nvPr/>
        </p:nvSpPr>
        <p:spPr>
          <a:xfrm>
            <a:off x="4443984" y="1627632"/>
            <a:ext cx="3300984" cy="3163824"/>
          </a:xfrm>
          <a:prstGeom prst="roundRect">
            <a:avLst>
              <a:gd name="adj" fmla="val 2286"/>
            </a:avLst>
          </a:prstGeom>
          <a:solidFill>
            <a:srgbClr val="FFFFFF"/>
          </a:solidFill>
          <a:ln w="9525">
            <a:solidFill>
              <a:srgbClr val="D8E4EA"/>
            </a:solidFill>
            <a:prstDash val="solid"/>
          </a:ln>
        </p:spPr>
        <p:txBody>
          <a:bodyPr/>
          <a:p/>
        </p:txBody>
      </p:sp>
      <p:sp>
        <p:nvSpPr>
          <p:cNvPr id="26" name="Text 23"/>
          <p:cNvSpPr txBox="1"/>
          <p:nvPr/>
        </p:nvSpPr>
        <p:spPr>
          <a:xfrm>
            <a:off x="4752746" y="1847088"/>
            <a:ext cx="457200" cy="502920"/>
          </a:xfrm>
          <a:prstGeom prst="rect">
            <a:avLst/>
          </a:prstGeom>
          <a:noFill/>
          <a:ln/>
        </p:spPr>
        <p:txBody>
          <a:bodyPr wrap="square" lIns="0" tIns="0" rIns="0" bIns="0" rtlCol="0" anchor="t"/>
          <a:lstStyle/>
          <a:p>
            <a:pPr algn="l" indent="0" marL="0">
              <a:lnSpc>
                <a:spcPct val="100000"/>
              </a:lnSpc>
              <a:buNone/>
            </a:pPr>
            <a:r>
              <a:rPr lang="en-US" sz="3000" b="1" dirty="0">
                <a:solidFill>
                  <a:srgbClr val="14A66A"/>
                </a:solidFill>
                <a:latin typeface="Aptos Display" pitchFamily="34" charset="0"/>
                <a:ea typeface="Aptos Display" pitchFamily="34" charset="-122"/>
                <a:cs typeface="Aptos Display" pitchFamily="34" charset="-120"/>
              </a:rPr>
              <a:t>2</a:t>
            </a:r>
            <a:endParaRPr lang="en-US" sz="3000" dirty="0"/>
          </a:p>
        </p:txBody>
      </p:sp>
      <p:sp>
        <p:nvSpPr>
          <p:cNvPr id="27" name="Text 24"/>
          <p:cNvSpPr txBox="1"/>
          <p:nvPr/>
        </p:nvSpPr>
        <p:spPr>
          <a:xfrm>
            <a:off x="5356250" y="1920240"/>
            <a:ext cx="2110130" cy="384048"/>
          </a:xfrm>
          <a:prstGeom prst="rect">
            <a:avLst/>
          </a:prstGeom>
          <a:noFill/>
          <a:ln/>
        </p:spPr>
        <p:txBody>
          <a:bodyPr wrap="square" lIns="0" tIns="0" rIns="0" bIns="0" rtlCol="0" anchor="t"/>
          <a:lstStyle/>
          <a:p>
            <a:pPr algn="l" indent="0" marL="0">
              <a:lnSpc>
                <a:spcPct val="100000"/>
              </a:lnSpc>
              <a:buNone/>
            </a:pPr>
            <a:r>
              <a:rPr lang="en-US" sz="1800" b="1" dirty="0">
                <a:solidFill>
                  <a:srgbClr val="0B1F33"/>
                </a:solidFill>
                <a:latin typeface="Aptos Display" pitchFamily="34" charset="0"/>
                <a:ea typeface="Aptos Display" pitchFamily="34" charset="-122"/>
                <a:cs typeface="Aptos Display" pitchFamily="34" charset="-120"/>
              </a:rPr>
              <a:t>Time</a:t>
            </a:r>
            <a:endParaRPr lang="en-US" sz="1800" dirty="0"/>
          </a:p>
        </p:txBody>
      </p:sp>
      <p:sp>
        <p:nvSpPr>
          <p:cNvPr id="28" name="Text 25"/>
          <p:cNvSpPr txBox="1"/>
          <p:nvPr/>
        </p:nvSpPr>
        <p:spPr>
          <a:xfrm>
            <a:off x="4752746" y="2523744"/>
            <a:ext cx="2677058" cy="1005840"/>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Only times that genuinely work are offered. Nothing that would be refused ever appears.</a:t>
            </a:r>
            <a:endParaRPr lang="en-US" sz="1150" dirty="0"/>
          </a:p>
        </p:txBody>
      </p:sp>
      <p:sp>
        <p:nvSpPr>
          <p:cNvPr id="29" name="Shape 26"/>
          <p:cNvSpPr/>
          <p:nvPr/>
        </p:nvSpPr>
        <p:spPr>
          <a:xfrm>
            <a:off x="4752746" y="3621024"/>
            <a:ext cx="2677058" cy="658368"/>
          </a:xfrm>
          <a:prstGeom prst="roundRect">
            <a:avLst>
              <a:gd name="adj" fmla="val 8333"/>
            </a:avLst>
          </a:prstGeom>
          <a:solidFill>
            <a:srgbClr val="E9EFF4"/>
          </a:solidFill>
          <a:ln/>
        </p:spPr>
        <p:txBody>
          <a:bodyPr/>
          <a:p/>
        </p:txBody>
      </p:sp>
      <p:sp>
        <p:nvSpPr>
          <p:cNvPr id="30" name="Shape 27"/>
          <p:cNvSpPr/>
          <p:nvPr/>
        </p:nvSpPr>
        <p:spPr>
          <a:xfrm>
            <a:off x="4935626" y="3749040"/>
            <a:ext cx="640080" cy="237744"/>
          </a:xfrm>
          <a:prstGeom prst="roundRect">
            <a:avLst>
              <a:gd name="adj" fmla="val 15385"/>
            </a:avLst>
          </a:prstGeom>
          <a:solidFill>
            <a:srgbClr val="FFFFFF"/>
          </a:solidFill>
          <a:ln w="9525">
            <a:solidFill>
              <a:srgbClr val="C9D6DF"/>
            </a:solidFill>
            <a:prstDash val="solid"/>
          </a:ln>
        </p:spPr>
        <p:txBody>
          <a:bodyPr/>
          <a:p/>
        </p:txBody>
      </p:sp>
      <p:sp>
        <p:nvSpPr>
          <p:cNvPr id="31" name="Text 28"/>
          <p:cNvSpPr txBox="1"/>
          <p:nvPr/>
        </p:nvSpPr>
        <p:spPr>
          <a:xfrm>
            <a:off x="4935626" y="3794760"/>
            <a:ext cx="640080" cy="164592"/>
          </a:xfrm>
          <a:prstGeom prst="rect">
            <a:avLst/>
          </a:prstGeom>
          <a:noFill/>
          <a:ln/>
        </p:spPr>
        <p:txBody>
          <a:bodyPr wrap="square" lIns="0" tIns="0" rIns="0" bIns="0" rtlCol="0" anchor="t"/>
          <a:lstStyle/>
          <a:p>
            <a:pPr algn="ctr" indent="0" marL="0">
              <a:lnSpc>
                <a:spcPct val="100000"/>
              </a:lnSpc>
              <a:buNone/>
            </a:pPr>
            <a:r>
              <a:rPr lang="en-US" sz="750" b="1" dirty="0">
                <a:solidFill>
                  <a:srgbClr val="AFC0CB"/>
                </a:solidFill>
                <a:latin typeface="Aptos" pitchFamily="34" charset="0"/>
                <a:ea typeface="Aptos" pitchFamily="34" charset="-122"/>
                <a:cs typeface="Aptos" pitchFamily="34" charset="-120"/>
              </a:rPr>
              <a:t>08:30</a:t>
            </a:r>
            <a:endParaRPr lang="en-US" sz="750" dirty="0"/>
          </a:p>
        </p:txBody>
      </p:sp>
      <p:sp>
        <p:nvSpPr>
          <p:cNvPr id="32" name="Shape 29"/>
          <p:cNvSpPr/>
          <p:nvPr/>
        </p:nvSpPr>
        <p:spPr>
          <a:xfrm>
            <a:off x="5658002" y="3749040"/>
            <a:ext cx="640080" cy="237744"/>
          </a:xfrm>
          <a:prstGeom prst="roundRect">
            <a:avLst>
              <a:gd name="adj" fmla="val 15385"/>
            </a:avLst>
          </a:prstGeom>
          <a:solidFill>
            <a:srgbClr val="14A66A"/>
          </a:solidFill>
          <a:ln/>
        </p:spPr>
        <p:txBody>
          <a:bodyPr/>
          <a:p/>
        </p:txBody>
      </p:sp>
      <p:sp>
        <p:nvSpPr>
          <p:cNvPr id="33" name="Text 30"/>
          <p:cNvSpPr txBox="1"/>
          <p:nvPr/>
        </p:nvSpPr>
        <p:spPr>
          <a:xfrm>
            <a:off x="5658002" y="3794760"/>
            <a:ext cx="640080" cy="164592"/>
          </a:xfrm>
          <a:prstGeom prst="rect">
            <a:avLst/>
          </a:prstGeom>
          <a:noFill/>
          <a:ln/>
        </p:spPr>
        <p:txBody>
          <a:bodyPr wrap="square" lIns="0" tIns="0" rIns="0" bIns="0" rtlCol="0" anchor="t"/>
          <a:lstStyle/>
          <a:p>
            <a:pPr algn="ctr" indent="0" marL="0">
              <a:lnSpc>
                <a:spcPct val="100000"/>
              </a:lnSpc>
              <a:buNone/>
            </a:pPr>
            <a:r>
              <a:rPr lang="en-US" sz="750" b="1" dirty="0">
                <a:solidFill>
                  <a:srgbClr val="FFFFFF"/>
                </a:solidFill>
                <a:latin typeface="Aptos" pitchFamily="34" charset="0"/>
                <a:ea typeface="Aptos" pitchFamily="34" charset="-122"/>
                <a:cs typeface="Aptos" pitchFamily="34" charset="-120"/>
              </a:rPr>
              <a:t>09:00</a:t>
            </a:r>
            <a:endParaRPr lang="en-US" sz="750" dirty="0"/>
          </a:p>
        </p:txBody>
      </p:sp>
      <p:sp>
        <p:nvSpPr>
          <p:cNvPr id="34" name="Shape 31"/>
          <p:cNvSpPr/>
          <p:nvPr/>
        </p:nvSpPr>
        <p:spPr>
          <a:xfrm>
            <a:off x="6380378" y="3749040"/>
            <a:ext cx="640080" cy="237744"/>
          </a:xfrm>
          <a:prstGeom prst="roundRect">
            <a:avLst>
              <a:gd name="adj" fmla="val 15385"/>
            </a:avLst>
          </a:prstGeom>
          <a:solidFill>
            <a:srgbClr val="14A66A"/>
          </a:solidFill>
          <a:ln/>
        </p:spPr>
        <p:txBody>
          <a:bodyPr/>
          <a:p/>
        </p:txBody>
      </p:sp>
      <p:sp>
        <p:nvSpPr>
          <p:cNvPr id="35" name="Text 32"/>
          <p:cNvSpPr txBox="1"/>
          <p:nvPr/>
        </p:nvSpPr>
        <p:spPr>
          <a:xfrm>
            <a:off x="6380378" y="3794760"/>
            <a:ext cx="640080" cy="164592"/>
          </a:xfrm>
          <a:prstGeom prst="rect">
            <a:avLst/>
          </a:prstGeom>
          <a:noFill/>
          <a:ln/>
        </p:spPr>
        <p:txBody>
          <a:bodyPr wrap="square" lIns="0" tIns="0" rIns="0" bIns="0" rtlCol="0" anchor="t"/>
          <a:lstStyle/>
          <a:p>
            <a:pPr algn="ctr" indent="0" marL="0">
              <a:lnSpc>
                <a:spcPct val="100000"/>
              </a:lnSpc>
              <a:buNone/>
            </a:pPr>
            <a:r>
              <a:rPr lang="en-US" sz="750" b="1" dirty="0">
                <a:solidFill>
                  <a:srgbClr val="FFFFFF"/>
                </a:solidFill>
                <a:latin typeface="Aptos" pitchFamily="34" charset="0"/>
                <a:ea typeface="Aptos" pitchFamily="34" charset="-122"/>
                <a:cs typeface="Aptos" pitchFamily="34" charset="-120"/>
              </a:rPr>
              <a:t>10:30</a:t>
            </a:r>
            <a:endParaRPr lang="en-US" sz="750" dirty="0"/>
          </a:p>
        </p:txBody>
      </p:sp>
      <p:sp>
        <p:nvSpPr>
          <p:cNvPr id="36" name="Shape 33"/>
          <p:cNvSpPr/>
          <p:nvPr/>
        </p:nvSpPr>
        <p:spPr>
          <a:xfrm>
            <a:off x="7102754" y="3749040"/>
            <a:ext cx="640080" cy="237744"/>
          </a:xfrm>
          <a:prstGeom prst="roundRect">
            <a:avLst>
              <a:gd name="adj" fmla="val 15385"/>
            </a:avLst>
          </a:prstGeom>
          <a:solidFill>
            <a:srgbClr val="FFFFFF"/>
          </a:solidFill>
          <a:ln w="9525">
            <a:solidFill>
              <a:srgbClr val="C9D6DF"/>
            </a:solidFill>
            <a:prstDash val="solid"/>
          </a:ln>
        </p:spPr>
        <p:txBody>
          <a:bodyPr/>
          <a:p/>
        </p:txBody>
      </p:sp>
      <p:sp>
        <p:nvSpPr>
          <p:cNvPr id="37" name="Text 34"/>
          <p:cNvSpPr txBox="1"/>
          <p:nvPr/>
        </p:nvSpPr>
        <p:spPr>
          <a:xfrm>
            <a:off x="7102754" y="3794760"/>
            <a:ext cx="640080" cy="164592"/>
          </a:xfrm>
          <a:prstGeom prst="rect">
            <a:avLst/>
          </a:prstGeom>
          <a:noFill/>
          <a:ln/>
        </p:spPr>
        <p:txBody>
          <a:bodyPr wrap="square" lIns="0" tIns="0" rIns="0" bIns="0" rtlCol="0" anchor="t"/>
          <a:lstStyle/>
          <a:p>
            <a:pPr algn="ctr" indent="0" marL="0">
              <a:lnSpc>
                <a:spcPct val="100000"/>
              </a:lnSpc>
              <a:buNone/>
            </a:pPr>
            <a:r>
              <a:rPr lang="en-US" sz="750" b="1" dirty="0">
                <a:solidFill>
                  <a:srgbClr val="AFC0CB"/>
                </a:solidFill>
                <a:latin typeface="Aptos" pitchFamily="34" charset="0"/>
                <a:ea typeface="Aptos" pitchFamily="34" charset="-122"/>
                <a:cs typeface="Aptos" pitchFamily="34" charset="-120"/>
              </a:rPr>
              <a:t>13:00</a:t>
            </a:r>
            <a:endParaRPr lang="en-US" sz="750" dirty="0"/>
          </a:p>
        </p:txBody>
      </p:sp>
      <p:sp>
        <p:nvSpPr>
          <p:cNvPr id="38" name="Text 35"/>
          <p:cNvSpPr txBox="1"/>
          <p:nvPr/>
        </p:nvSpPr>
        <p:spPr>
          <a:xfrm>
            <a:off x="4935626" y="4041648"/>
            <a:ext cx="2366162" cy="182880"/>
          </a:xfrm>
          <a:prstGeom prst="rect">
            <a:avLst/>
          </a:prstGeom>
          <a:noFill/>
          <a:ln/>
        </p:spPr>
        <p:txBody>
          <a:bodyPr wrap="square" lIns="0" tIns="0" rIns="0" bIns="0" rtlCol="0" anchor="t"/>
          <a:lstStyle/>
          <a:p>
            <a:pPr algn="l" indent="0" marL="0">
              <a:lnSpc>
                <a:spcPct val="100000"/>
              </a:lnSpc>
              <a:buNone/>
            </a:pPr>
            <a:r>
              <a:rPr lang="en-US" sz="850" dirty="0">
                <a:solidFill>
                  <a:srgbClr val="6F8491"/>
                </a:solidFill>
                <a:latin typeface="Aptos" pitchFamily="34" charset="0"/>
                <a:ea typeface="Aptos" pitchFamily="34" charset="-122"/>
                <a:cs typeface="Aptos" pitchFamily="34" charset="-120"/>
              </a:rPr>
              <a:t>Only what survives every rule is offered</a:t>
            </a:r>
            <a:endParaRPr lang="en-US" sz="850" dirty="0"/>
          </a:p>
        </p:txBody>
      </p:sp>
      <p:sp>
        <p:nvSpPr>
          <p:cNvPr id="39" name="Text 36"/>
          <p:cNvSpPr txBox="1"/>
          <p:nvPr/>
        </p:nvSpPr>
        <p:spPr>
          <a:xfrm>
            <a:off x="4752746" y="4389120"/>
            <a:ext cx="2677058" cy="347472"/>
          </a:xfrm>
          <a:prstGeom prst="rect">
            <a:avLst/>
          </a:prstGeom>
          <a:noFill/>
          <a:ln/>
        </p:spPr>
        <p:txBody>
          <a:bodyPr wrap="square" lIns="0" tIns="0" rIns="0" bIns="0" rtlCol="0" anchor="t"/>
          <a:lstStyle/>
          <a:p>
            <a:pPr algn="l" indent="0" marL="0">
              <a:lnSpc>
                <a:spcPct val="110000"/>
              </a:lnSpc>
              <a:buNone/>
            </a:pPr>
            <a:r>
              <a:rPr lang="en-US" sz="1050" b="1" dirty="0">
                <a:solidFill>
                  <a:srgbClr val="14A66A"/>
                </a:solidFill>
                <a:latin typeface="Aptos" pitchFamily="34" charset="0"/>
                <a:ea typeface="Aptos" pitchFamily="34" charset="-122"/>
                <a:cs typeface="Aptos" pitchFamily="34" charset="-120"/>
              </a:rPr>
              <a:t>A slot on the screen is a slot you will get</a:t>
            </a:r>
            <a:endParaRPr lang="en-US" sz="1050" dirty="0"/>
          </a:p>
        </p:txBody>
      </p:sp>
      <p:sp>
        <p:nvSpPr>
          <p:cNvPr id="40" name="Shape 37"/>
          <p:cNvSpPr/>
          <p:nvPr/>
        </p:nvSpPr>
        <p:spPr>
          <a:xfrm>
            <a:off x="8357616" y="1627632"/>
            <a:ext cx="3300984" cy="3163824"/>
          </a:xfrm>
          <a:prstGeom prst="roundRect">
            <a:avLst>
              <a:gd name="adj" fmla="val 2286"/>
            </a:avLst>
          </a:prstGeom>
          <a:solidFill>
            <a:srgbClr val="FFFFFF"/>
          </a:solidFill>
          <a:ln w="9525">
            <a:solidFill>
              <a:srgbClr val="D8E4EA"/>
            </a:solidFill>
            <a:prstDash val="solid"/>
          </a:ln>
        </p:spPr>
        <p:txBody>
          <a:bodyPr/>
          <a:p/>
        </p:txBody>
      </p:sp>
      <p:sp>
        <p:nvSpPr>
          <p:cNvPr id="41" name="Text 38"/>
          <p:cNvSpPr txBox="1"/>
          <p:nvPr/>
        </p:nvSpPr>
        <p:spPr>
          <a:xfrm>
            <a:off x="8664245" y="1847088"/>
            <a:ext cx="457200" cy="502920"/>
          </a:xfrm>
          <a:prstGeom prst="rect">
            <a:avLst/>
          </a:prstGeom>
          <a:noFill/>
          <a:ln/>
        </p:spPr>
        <p:txBody>
          <a:bodyPr wrap="square" lIns="0" tIns="0" rIns="0" bIns="0" rtlCol="0" anchor="t"/>
          <a:lstStyle/>
          <a:p>
            <a:pPr algn="l" indent="0" marL="0">
              <a:lnSpc>
                <a:spcPct val="100000"/>
              </a:lnSpc>
              <a:buNone/>
            </a:pPr>
            <a:r>
              <a:rPr lang="en-US" sz="3000" b="1" dirty="0">
                <a:solidFill>
                  <a:srgbClr val="F2A11B"/>
                </a:solidFill>
                <a:latin typeface="Aptos Display" pitchFamily="34" charset="0"/>
                <a:ea typeface="Aptos Display" pitchFamily="34" charset="-122"/>
                <a:cs typeface="Aptos Display" pitchFamily="34" charset="-120"/>
              </a:rPr>
              <a:t>3</a:t>
            </a:r>
            <a:endParaRPr lang="en-US" sz="3000" dirty="0"/>
          </a:p>
        </p:txBody>
      </p:sp>
      <p:sp>
        <p:nvSpPr>
          <p:cNvPr id="42" name="Text 39"/>
          <p:cNvSpPr txBox="1"/>
          <p:nvPr/>
        </p:nvSpPr>
        <p:spPr>
          <a:xfrm>
            <a:off x="9267749" y="1920240"/>
            <a:ext cx="2110130" cy="384048"/>
          </a:xfrm>
          <a:prstGeom prst="rect">
            <a:avLst/>
          </a:prstGeom>
          <a:noFill/>
          <a:ln/>
        </p:spPr>
        <p:txBody>
          <a:bodyPr wrap="square" lIns="0" tIns="0" rIns="0" bIns="0" rtlCol="0" anchor="t"/>
          <a:lstStyle/>
          <a:p>
            <a:pPr algn="l" indent="0" marL="0">
              <a:lnSpc>
                <a:spcPct val="100000"/>
              </a:lnSpc>
              <a:buNone/>
            </a:pPr>
            <a:r>
              <a:rPr lang="en-US" sz="1800" b="1" dirty="0">
                <a:solidFill>
                  <a:srgbClr val="0B1F33"/>
                </a:solidFill>
                <a:latin typeface="Aptos Display" pitchFamily="34" charset="0"/>
                <a:ea typeface="Aptos Display" pitchFamily="34" charset="-122"/>
                <a:cs typeface="Aptos Display" pitchFamily="34" charset="-120"/>
              </a:rPr>
              <a:t>Confirm</a:t>
            </a:r>
            <a:endParaRPr lang="en-US" sz="1800" dirty="0"/>
          </a:p>
        </p:txBody>
      </p:sp>
      <p:sp>
        <p:nvSpPr>
          <p:cNvPr id="43" name="Text 40"/>
          <p:cNvSpPr txBox="1"/>
          <p:nvPr/>
        </p:nvSpPr>
        <p:spPr>
          <a:xfrm>
            <a:off x="8664245" y="2523744"/>
            <a:ext cx="2677058" cy="1005840"/>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A reference and a QR code, shareable to any driver. If a load could share the truck, it says so here.</a:t>
            </a:r>
            <a:endParaRPr lang="en-US" sz="1150" dirty="0"/>
          </a:p>
        </p:txBody>
      </p:sp>
      <p:sp>
        <p:nvSpPr>
          <p:cNvPr id="44" name="Shape 41"/>
          <p:cNvSpPr/>
          <p:nvPr/>
        </p:nvSpPr>
        <p:spPr>
          <a:xfrm>
            <a:off x="8664245" y="3621024"/>
            <a:ext cx="2677058" cy="658368"/>
          </a:xfrm>
          <a:prstGeom prst="roundRect">
            <a:avLst>
              <a:gd name="adj" fmla="val 8333"/>
            </a:avLst>
          </a:prstGeom>
          <a:solidFill>
            <a:srgbClr val="E9EFF4"/>
          </a:solidFill>
          <a:ln/>
        </p:spPr>
        <p:txBody>
          <a:bodyPr/>
          <a:p/>
        </p:txBody>
      </p:sp>
      <p:sp>
        <p:nvSpPr>
          <p:cNvPr id="45" name="Shape 42"/>
          <p:cNvSpPr/>
          <p:nvPr/>
        </p:nvSpPr>
        <p:spPr>
          <a:xfrm>
            <a:off x="8865413" y="3730752"/>
            <a:ext cx="54864" cy="54864"/>
          </a:xfrm>
          <a:prstGeom prst="rect">
            <a:avLst/>
          </a:prstGeom>
          <a:solidFill>
            <a:srgbClr val="0B1F33"/>
          </a:solidFill>
          <a:ln/>
        </p:spPr>
        <p:txBody>
          <a:bodyPr/>
          <a:p/>
        </p:txBody>
      </p:sp>
      <p:sp>
        <p:nvSpPr>
          <p:cNvPr id="46" name="Shape 43"/>
          <p:cNvSpPr/>
          <p:nvPr/>
        </p:nvSpPr>
        <p:spPr>
          <a:xfrm>
            <a:off x="8929421" y="3730752"/>
            <a:ext cx="54864" cy="54864"/>
          </a:xfrm>
          <a:prstGeom prst="rect">
            <a:avLst/>
          </a:prstGeom>
          <a:solidFill>
            <a:srgbClr val="0B1F33"/>
          </a:solidFill>
          <a:ln/>
        </p:spPr>
        <p:txBody>
          <a:bodyPr/>
          <a:p/>
        </p:txBody>
      </p:sp>
      <p:sp>
        <p:nvSpPr>
          <p:cNvPr id="47" name="Shape 44"/>
          <p:cNvSpPr/>
          <p:nvPr/>
        </p:nvSpPr>
        <p:spPr>
          <a:xfrm>
            <a:off x="8993429" y="3730752"/>
            <a:ext cx="54864" cy="54864"/>
          </a:xfrm>
          <a:prstGeom prst="rect">
            <a:avLst/>
          </a:prstGeom>
          <a:solidFill>
            <a:srgbClr val="0B1F33"/>
          </a:solidFill>
          <a:ln/>
        </p:spPr>
        <p:txBody>
          <a:bodyPr/>
          <a:p/>
        </p:txBody>
      </p:sp>
      <p:sp>
        <p:nvSpPr>
          <p:cNvPr id="48" name="Shape 45"/>
          <p:cNvSpPr/>
          <p:nvPr/>
        </p:nvSpPr>
        <p:spPr>
          <a:xfrm>
            <a:off x="9121445" y="3730752"/>
            <a:ext cx="54864" cy="54864"/>
          </a:xfrm>
          <a:prstGeom prst="rect">
            <a:avLst/>
          </a:prstGeom>
          <a:solidFill>
            <a:srgbClr val="0B1F33"/>
          </a:solidFill>
          <a:ln/>
        </p:spPr>
        <p:txBody>
          <a:bodyPr/>
          <a:p/>
        </p:txBody>
      </p:sp>
      <p:sp>
        <p:nvSpPr>
          <p:cNvPr id="49" name="Shape 46"/>
          <p:cNvSpPr/>
          <p:nvPr/>
        </p:nvSpPr>
        <p:spPr>
          <a:xfrm>
            <a:off x="9249461" y="3730752"/>
            <a:ext cx="54864" cy="54864"/>
          </a:xfrm>
          <a:prstGeom prst="rect">
            <a:avLst/>
          </a:prstGeom>
          <a:solidFill>
            <a:srgbClr val="0B1F33"/>
          </a:solidFill>
          <a:ln/>
        </p:spPr>
        <p:txBody>
          <a:bodyPr/>
          <a:p/>
        </p:txBody>
      </p:sp>
      <p:sp>
        <p:nvSpPr>
          <p:cNvPr id="50" name="Shape 47"/>
          <p:cNvSpPr/>
          <p:nvPr/>
        </p:nvSpPr>
        <p:spPr>
          <a:xfrm>
            <a:off x="8865413" y="3794760"/>
            <a:ext cx="54864" cy="54864"/>
          </a:xfrm>
          <a:prstGeom prst="rect">
            <a:avLst/>
          </a:prstGeom>
          <a:solidFill>
            <a:srgbClr val="0B1F33"/>
          </a:solidFill>
          <a:ln/>
        </p:spPr>
        <p:txBody>
          <a:bodyPr/>
          <a:p/>
        </p:txBody>
      </p:sp>
      <p:sp>
        <p:nvSpPr>
          <p:cNvPr id="51" name="Shape 48"/>
          <p:cNvSpPr/>
          <p:nvPr/>
        </p:nvSpPr>
        <p:spPr>
          <a:xfrm>
            <a:off x="8993429" y="3794760"/>
            <a:ext cx="54864" cy="54864"/>
          </a:xfrm>
          <a:prstGeom prst="rect">
            <a:avLst/>
          </a:prstGeom>
          <a:solidFill>
            <a:srgbClr val="0B1F33"/>
          </a:solidFill>
          <a:ln/>
        </p:spPr>
        <p:txBody>
          <a:bodyPr/>
          <a:p/>
        </p:txBody>
      </p:sp>
      <p:sp>
        <p:nvSpPr>
          <p:cNvPr id="52" name="Shape 49"/>
          <p:cNvSpPr/>
          <p:nvPr/>
        </p:nvSpPr>
        <p:spPr>
          <a:xfrm>
            <a:off x="9185453" y="3794760"/>
            <a:ext cx="54864" cy="54864"/>
          </a:xfrm>
          <a:prstGeom prst="rect">
            <a:avLst/>
          </a:prstGeom>
          <a:solidFill>
            <a:srgbClr val="0B1F33"/>
          </a:solidFill>
          <a:ln/>
        </p:spPr>
        <p:txBody>
          <a:bodyPr/>
          <a:p/>
        </p:txBody>
      </p:sp>
      <p:sp>
        <p:nvSpPr>
          <p:cNvPr id="53" name="Shape 50"/>
          <p:cNvSpPr/>
          <p:nvPr/>
        </p:nvSpPr>
        <p:spPr>
          <a:xfrm>
            <a:off x="9249461" y="3794760"/>
            <a:ext cx="54864" cy="54864"/>
          </a:xfrm>
          <a:prstGeom prst="rect">
            <a:avLst/>
          </a:prstGeom>
          <a:solidFill>
            <a:srgbClr val="0B1F33"/>
          </a:solidFill>
          <a:ln/>
        </p:spPr>
        <p:txBody>
          <a:bodyPr/>
          <a:p/>
        </p:txBody>
      </p:sp>
      <p:sp>
        <p:nvSpPr>
          <p:cNvPr id="54" name="Shape 51"/>
          <p:cNvSpPr/>
          <p:nvPr/>
        </p:nvSpPr>
        <p:spPr>
          <a:xfrm>
            <a:off x="8865413" y="3858768"/>
            <a:ext cx="54864" cy="54864"/>
          </a:xfrm>
          <a:prstGeom prst="rect">
            <a:avLst/>
          </a:prstGeom>
          <a:solidFill>
            <a:srgbClr val="0B1F33"/>
          </a:solidFill>
          <a:ln/>
        </p:spPr>
        <p:txBody>
          <a:bodyPr/>
          <a:p/>
        </p:txBody>
      </p:sp>
      <p:sp>
        <p:nvSpPr>
          <p:cNvPr id="55" name="Shape 52"/>
          <p:cNvSpPr/>
          <p:nvPr/>
        </p:nvSpPr>
        <p:spPr>
          <a:xfrm>
            <a:off x="8929421" y="3858768"/>
            <a:ext cx="54864" cy="54864"/>
          </a:xfrm>
          <a:prstGeom prst="rect">
            <a:avLst/>
          </a:prstGeom>
          <a:solidFill>
            <a:srgbClr val="0B1F33"/>
          </a:solidFill>
          <a:ln/>
        </p:spPr>
        <p:txBody>
          <a:bodyPr/>
          <a:p/>
        </p:txBody>
      </p:sp>
      <p:sp>
        <p:nvSpPr>
          <p:cNvPr id="56" name="Shape 53"/>
          <p:cNvSpPr/>
          <p:nvPr/>
        </p:nvSpPr>
        <p:spPr>
          <a:xfrm>
            <a:off x="8993429" y="3858768"/>
            <a:ext cx="54864" cy="54864"/>
          </a:xfrm>
          <a:prstGeom prst="rect">
            <a:avLst/>
          </a:prstGeom>
          <a:solidFill>
            <a:srgbClr val="0B1F33"/>
          </a:solidFill>
          <a:ln/>
        </p:spPr>
        <p:txBody>
          <a:bodyPr/>
          <a:p/>
        </p:txBody>
      </p:sp>
      <p:sp>
        <p:nvSpPr>
          <p:cNvPr id="57" name="Shape 54"/>
          <p:cNvSpPr/>
          <p:nvPr/>
        </p:nvSpPr>
        <p:spPr>
          <a:xfrm>
            <a:off x="9057437" y="3858768"/>
            <a:ext cx="54864" cy="54864"/>
          </a:xfrm>
          <a:prstGeom prst="rect">
            <a:avLst/>
          </a:prstGeom>
          <a:solidFill>
            <a:srgbClr val="0B1F33"/>
          </a:solidFill>
          <a:ln/>
        </p:spPr>
        <p:txBody>
          <a:bodyPr/>
          <a:p/>
        </p:txBody>
      </p:sp>
      <p:sp>
        <p:nvSpPr>
          <p:cNvPr id="58" name="Shape 55"/>
          <p:cNvSpPr/>
          <p:nvPr/>
        </p:nvSpPr>
        <p:spPr>
          <a:xfrm>
            <a:off x="9249461" y="3858768"/>
            <a:ext cx="54864" cy="54864"/>
          </a:xfrm>
          <a:prstGeom prst="rect">
            <a:avLst/>
          </a:prstGeom>
          <a:solidFill>
            <a:srgbClr val="0B1F33"/>
          </a:solidFill>
          <a:ln/>
        </p:spPr>
        <p:txBody>
          <a:bodyPr/>
          <a:p/>
        </p:txBody>
      </p:sp>
      <p:sp>
        <p:nvSpPr>
          <p:cNvPr id="59" name="Shape 56"/>
          <p:cNvSpPr/>
          <p:nvPr/>
        </p:nvSpPr>
        <p:spPr>
          <a:xfrm>
            <a:off x="9057437" y="3922776"/>
            <a:ext cx="54864" cy="54864"/>
          </a:xfrm>
          <a:prstGeom prst="rect">
            <a:avLst/>
          </a:prstGeom>
          <a:solidFill>
            <a:srgbClr val="0B1F33"/>
          </a:solidFill>
          <a:ln/>
        </p:spPr>
        <p:txBody>
          <a:bodyPr/>
          <a:p/>
        </p:txBody>
      </p:sp>
      <p:sp>
        <p:nvSpPr>
          <p:cNvPr id="60" name="Shape 57"/>
          <p:cNvSpPr/>
          <p:nvPr/>
        </p:nvSpPr>
        <p:spPr>
          <a:xfrm>
            <a:off x="9121445" y="3922776"/>
            <a:ext cx="54864" cy="54864"/>
          </a:xfrm>
          <a:prstGeom prst="rect">
            <a:avLst/>
          </a:prstGeom>
          <a:solidFill>
            <a:srgbClr val="0B1F33"/>
          </a:solidFill>
          <a:ln/>
        </p:spPr>
        <p:txBody>
          <a:bodyPr/>
          <a:p/>
        </p:txBody>
      </p:sp>
      <p:sp>
        <p:nvSpPr>
          <p:cNvPr id="61" name="Shape 58"/>
          <p:cNvSpPr/>
          <p:nvPr/>
        </p:nvSpPr>
        <p:spPr>
          <a:xfrm>
            <a:off x="9185453" y="3922776"/>
            <a:ext cx="54864" cy="54864"/>
          </a:xfrm>
          <a:prstGeom prst="rect">
            <a:avLst/>
          </a:prstGeom>
          <a:solidFill>
            <a:srgbClr val="0B1F33"/>
          </a:solidFill>
          <a:ln/>
        </p:spPr>
        <p:txBody>
          <a:bodyPr/>
          <a:p/>
        </p:txBody>
      </p:sp>
      <p:sp>
        <p:nvSpPr>
          <p:cNvPr id="62" name="Shape 59"/>
          <p:cNvSpPr/>
          <p:nvPr/>
        </p:nvSpPr>
        <p:spPr>
          <a:xfrm>
            <a:off x="8865413" y="3986784"/>
            <a:ext cx="54864" cy="54864"/>
          </a:xfrm>
          <a:prstGeom prst="rect">
            <a:avLst/>
          </a:prstGeom>
          <a:solidFill>
            <a:srgbClr val="0B1F33"/>
          </a:solidFill>
          <a:ln/>
        </p:spPr>
        <p:txBody>
          <a:bodyPr/>
          <a:p/>
        </p:txBody>
      </p:sp>
      <p:sp>
        <p:nvSpPr>
          <p:cNvPr id="63" name="Shape 60"/>
          <p:cNvSpPr/>
          <p:nvPr/>
        </p:nvSpPr>
        <p:spPr>
          <a:xfrm>
            <a:off x="8929421" y="3986784"/>
            <a:ext cx="54864" cy="54864"/>
          </a:xfrm>
          <a:prstGeom prst="rect">
            <a:avLst/>
          </a:prstGeom>
          <a:solidFill>
            <a:srgbClr val="0B1F33"/>
          </a:solidFill>
          <a:ln/>
        </p:spPr>
        <p:txBody>
          <a:bodyPr/>
          <a:p/>
        </p:txBody>
      </p:sp>
      <p:sp>
        <p:nvSpPr>
          <p:cNvPr id="64" name="Shape 61"/>
          <p:cNvSpPr/>
          <p:nvPr/>
        </p:nvSpPr>
        <p:spPr>
          <a:xfrm>
            <a:off x="9057437" y="3986784"/>
            <a:ext cx="54864" cy="54864"/>
          </a:xfrm>
          <a:prstGeom prst="rect">
            <a:avLst/>
          </a:prstGeom>
          <a:solidFill>
            <a:srgbClr val="0B1F33"/>
          </a:solidFill>
          <a:ln/>
        </p:spPr>
        <p:txBody>
          <a:bodyPr/>
          <a:p/>
        </p:txBody>
      </p:sp>
      <p:sp>
        <p:nvSpPr>
          <p:cNvPr id="65" name="Shape 62"/>
          <p:cNvSpPr/>
          <p:nvPr/>
        </p:nvSpPr>
        <p:spPr>
          <a:xfrm>
            <a:off x="9185453" y="3986784"/>
            <a:ext cx="54864" cy="54864"/>
          </a:xfrm>
          <a:prstGeom prst="rect">
            <a:avLst/>
          </a:prstGeom>
          <a:solidFill>
            <a:srgbClr val="0B1F33"/>
          </a:solidFill>
          <a:ln/>
        </p:spPr>
        <p:txBody>
          <a:bodyPr/>
          <a:p/>
        </p:txBody>
      </p:sp>
      <p:sp>
        <p:nvSpPr>
          <p:cNvPr id="66" name="Shape 63"/>
          <p:cNvSpPr/>
          <p:nvPr/>
        </p:nvSpPr>
        <p:spPr>
          <a:xfrm>
            <a:off x="9249461" y="3986784"/>
            <a:ext cx="54864" cy="54864"/>
          </a:xfrm>
          <a:prstGeom prst="rect">
            <a:avLst/>
          </a:prstGeom>
          <a:solidFill>
            <a:srgbClr val="0B1F33"/>
          </a:solidFill>
          <a:ln/>
        </p:spPr>
        <p:txBody>
          <a:bodyPr/>
          <a:p/>
        </p:txBody>
      </p:sp>
      <p:sp>
        <p:nvSpPr>
          <p:cNvPr id="67" name="Shape 64"/>
          <p:cNvSpPr/>
          <p:nvPr/>
        </p:nvSpPr>
        <p:spPr>
          <a:xfrm>
            <a:off x="8865413" y="4050792"/>
            <a:ext cx="54864" cy="54864"/>
          </a:xfrm>
          <a:prstGeom prst="rect">
            <a:avLst/>
          </a:prstGeom>
          <a:solidFill>
            <a:srgbClr val="0B1F33"/>
          </a:solidFill>
          <a:ln/>
        </p:spPr>
        <p:txBody>
          <a:bodyPr/>
          <a:p/>
        </p:txBody>
      </p:sp>
      <p:sp>
        <p:nvSpPr>
          <p:cNvPr id="68" name="Shape 65"/>
          <p:cNvSpPr/>
          <p:nvPr/>
        </p:nvSpPr>
        <p:spPr>
          <a:xfrm>
            <a:off x="8993429" y="4050792"/>
            <a:ext cx="54864" cy="54864"/>
          </a:xfrm>
          <a:prstGeom prst="rect">
            <a:avLst/>
          </a:prstGeom>
          <a:solidFill>
            <a:srgbClr val="0B1F33"/>
          </a:solidFill>
          <a:ln/>
        </p:spPr>
        <p:txBody>
          <a:bodyPr/>
          <a:p/>
        </p:txBody>
      </p:sp>
      <p:sp>
        <p:nvSpPr>
          <p:cNvPr id="69" name="Shape 66"/>
          <p:cNvSpPr/>
          <p:nvPr/>
        </p:nvSpPr>
        <p:spPr>
          <a:xfrm>
            <a:off x="9121445" y="4050792"/>
            <a:ext cx="54864" cy="54864"/>
          </a:xfrm>
          <a:prstGeom prst="rect">
            <a:avLst/>
          </a:prstGeom>
          <a:solidFill>
            <a:srgbClr val="0B1F33"/>
          </a:solidFill>
          <a:ln/>
        </p:spPr>
        <p:txBody>
          <a:bodyPr/>
          <a:p/>
        </p:txBody>
      </p:sp>
      <p:sp>
        <p:nvSpPr>
          <p:cNvPr id="70" name="Shape 67"/>
          <p:cNvSpPr/>
          <p:nvPr/>
        </p:nvSpPr>
        <p:spPr>
          <a:xfrm>
            <a:off x="9185453" y="4050792"/>
            <a:ext cx="54864" cy="54864"/>
          </a:xfrm>
          <a:prstGeom prst="rect">
            <a:avLst/>
          </a:prstGeom>
          <a:solidFill>
            <a:srgbClr val="0B1F33"/>
          </a:solidFill>
          <a:ln/>
        </p:spPr>
        <p:txBody>
          <a:bodyPr/>
          <a:p/>
        </p:txBody>
      </p:sp>
      <p:sp>
        <p:nvSpPr>
          <p:cNvPr id="71" name="Shape 68"/>
          <p:cNvSpPr/>
          <p:nvPr/>
        </p:nvSpPr>
        <p:spPr>
          <a:xfrm>
            <a:off x="8865413" y="4114800"/>
            <a:ext cx="54864" cy="54864"/>
          </a:xfrm>
          <a:prstGeom prst="rect">
            <a:avLst/>
          </a:prstGeom>
          <a:solidFill>
            <a:srgbClr val="0B1F33"/>
          </a:solidFill>
          <a:ln/>
        </p:spPr>
        <p:txBody>
          <a:bodyPr/>
          <a:p/>
        </p:txBody>
      </p:sp>
      <p:sp>
        <p:nvSpPr>
          <p:cNvPr id="72" name="Shape 69"/>
          <p:cNvSpPr/>
          <p:nvPr/>
        </p:nvSpPr>
        <p:spPr>
          <a:xfrm>
            <a:off x="8929421" y="4114800"/>
            <a:ext cx="54864" cy="54864"/>
          </a:xfrm>
          <a:prstGeom prst="rect">
            <a:avLst/>
          </a:prstGeom>
          <a:solidFill>
            <a:srgbClr val="0B1F33"/>
          </a:solidFill>
          <a:ln/>
        </p:spPr>
        <p:txBody>
          <a:bodyPr/>
          <a:p/>
        </p:txBody>
      </p:sp>
      <p:sp>
        <p:nvSpPr>
          <p:cNvPr id="73" name="Shape 70"/>
          <p:cNvSpPr/>
          <p:nvPr/>
        </p:nvSpPr>
        <p:spPr>
          <a:xfrm>
            <a:off x="8993429" y="4114800"/>
            <a:ext cx="54864" cy="54864"/>
          </a:xfrm>
          <a:prstGeom prst="rect">
            <a:avLst/>
          </a:prstGeom>
          <a:solidFill>
            <a:srgbClr val="0B1F33"/>
          </a:solidFill>
          <a:ln/>
        </p:spPr>
        <p:txBody>
          <a:bodyPr/>
          <a:p/>
        </p:txBody>
      </p:sp>
      <p:sp>
        <p:nvSpPr>
          <p:cNvPr id="74" name="Shape 71"/>
          <p:cNvSpPr/>
          <p:nvPr/>
        </p:nvSpPr>
        <p:spPr>
          <a:xfrm>
            <a:off x="9121445" y="4114800"/>
            <a:ext cx="54864" cy="54864"/>
          </a:xfrm>
          <a:prstGeom prst="rect">
            <a:avLst/>
          </a:prstGeom>
          <a:solidFill>
            <a:srgbClr val="0B1F33"/>
          </a:solidFill>
          <a:ln/>
        </p:spPr>
        <p:txBody>
          <a:bodyPr/>
          <a:p/>
        </p:txBody>
      </p:sp>
      <p:sp>
        <p:nvSpPr>
          <p:cNvPr id="75" name="Shape 72"/>
          <p:cNvSpPr/>
          <p:nvPr/>
        </p:nvSpPr>
        <p:spPr>
          <a:xfrm>
            <a:off x="9249461" y="4114800"/>
            <a:ext cx="54864" cy="54864"/>
          </a:xfrm>
          <a:prstGeom prst="rect">
            <a:avLst/>
          </a:prstGeom>
          <a:solidFill>
            <a:srgbClr val="0B1F33"/>
          </a:solidFill>
          <a:ln/>
        </p:spPr>
        <p:txBody>
          <a:bodyPr/>
          <a:p/>
        </p:txBody>
      </p:sp>
      <p:sp>
        <p:nvSpPr>
          <p:cNvPr id="76" name="Text 73"/>
          <p:cNvSpPr txBox="1"/>
          <p:nvPr/>
        </p:nvSpPr>
        <p:spPr>
          <a:xfrm>
            <a:off x="9414053" y="3785616"/>
            <a:ext cx="1854098" cy="201168"/>
          </a:xfrm>
          <a:prstGeom prst="rect">
            <a:avLst/>
          </a:prstGeom>
          <a:noFill/>
          <a:ln/>
        </p:spPr>
        <p:txBody>
          <a:bodyPr wrap="square" lIns="0" tIns="0" rIns="0" bIns="0" rtlCol="0" anchor="t"/>
          <a:lstStyle/>
          <a:p>
            <a:pPr algn="l" indent="0" marL="0">
              <a:lnSpc>
                <a:spcPct val="100000"/>
              </a:lnSpc>
              <a:buNone/>
            </a:pPr>
            <a:r>
              <a:rPr lang="en-US" sz="950" b="1" dirty="0">
                <a:solidFill>
                  <a:srgbClr val="0B1F33"/>
                </a:solidFill>
                <a:latin typeface="Aptos" pitchFamily="34" charset="0"/>
                <a:ea typeface="Aptos" pitchFamily="34" charset="-122"/>
                <a:cs typeface="Aptos" pitchFamily="34" charset="-120"/>
              </a:rPr>
              <a:t>MXD-2026-000074</a:t>
            </a:r>
            <a:endParaRPr lang="en-US" sz="950" dirty="0"/>
          </a:p>
        </p:txBody>
      </p:sp>
      <p:sp>
        <p:nvSpPr>
          <p:cNvPr id="77" name="Text 74"/>
          <p:cNvSpPr txBox="1"/>
          <p:nvPr/>
        </p:nvSpPr>
        <p:spPr>
          <a:xfrm>
            <a:off x="9414053" y="4005072"/>
            <a:ext cx="1854098" cy="182880"/>
          </a:xfrm>
          <a:prstGeom prst="rect">
            <a:avLst/>
          </a:prstGeom>
          <a:noFill/>
          <a:ln/>
        </p:spPr>
        <p:txBody>
          <a:bodyPr wrap="square" lIns="0" tIns="0" rIns="0" bIns="0" rtlCol="0" anchor="t"/>
          <a:lstStyle/>
          <a:p>
            <a:pPr algn="l" indent="0" marL="0">
              <a:lnSpc>
                <a:spcPct val="100000"/>
              </a:lnSpc>
              <a:buNone/>
            </a:pPr>
            <a:r>
              <a:rPr lang="en-US" sz="850" dirty="0">
                <a:solidFill>
                  <a:srgbClr val="6F8491"/>
                </a:solidFill>
                <a:latin typeface="Aptos" pitchFamily="34" charset="0"/>
                <a:ea typeface="Aptos" pitchFamily="34" charset="-122"/>
                <a:cs typeface="Aptos" pitchFamily="34" charset="-120"/>
              </a:rPr>
              <a:t>Scanned at the door</a:t>
            </a:r>
            <a:endParaRPr lang="en-US" sz="850" dirty="0"/>
          </a:p>
        </p:txBody>
      </p:sp>
      <p:sp>
        <p:nvSpPr>
          <p:cNvPr id="78" name="Text 75"/>
          <p:cNvSpPr txBox="1"/>
          <p:nvPr/>
        </p:nvSpPr>
        <p:spPr>
          <a:xfrm>
            <a:off x="8664245" y="4389120"/>
            <a:ext cx="2677058" cy="347472"/>
          </a:xfrm>
          <a:prstGeom prst="rect">
            <a:avLst/>
          </a:prstGeom>
          <a:noFill/>
          <a:ln/>
        </p:spPr>
        <p:txBody>
          <a:bodyPr wrap="square" lIns="0" tIns="0" rIns="0" bIns="0" rtlCol="0" anchor="t"/>
          <a:lstStyle/>
          <a:p>
            <a:pPr algn="l" indent="0" marL="0">
              <a:lnSpc>
                <a:spcPct val="110000"/>
              </a:lnSpc>
              <a:buNone/>
            </a:pPr>
            <a:r>
              <a:rPr lang="en-US" sz="1050" b="1" dirty="0">
                <a:solidFill>
                  <a:srgbClr val="F2A11B"/>
                </a:solidFill>
                <a:latin typeface="Aptos" pitchFamily="34" charset="0"/>
                <a:ea typeface="Aptos" pitchFamily="34" charset="-122"/>
                <a:cs typeface="Aptos" pitchFamily="34" charset="-120"/>
              </a:rPr>
              <a:t>The driver needs no account and no app</a:t>
            </a:r>
            <a:endParaRPr lang="en-US" sz="1050" dirty="0"/>
          </a:p>
        </p:txBody>
      </p:sp>
      <p:sp>
        <p:nvSpPr>
          <p:cNvPr id="79" name="Shape 76"/>
          <p:cNvSpPr/>
          <p:nvPr/>
        </p:nvSpPr>
        <p:spPr>
          <a:xfrm>
            <a:off x="530352" y="5084064"/>
            <a:ext cx="5303520" cy="841248"/>
          </a:xfrm>
          <a:prstGeom prst="roundRect">
            <a:avLst>
              <a:gd name="adj" fmla="val 8163"/>
            </a:avLst>
          </a:prstGeom>
          <a:solidFill>
            <a:srgbClr val="FFFFFF"/>
          </a:solidFill>
          <a:ln w="9525">
            <a:solidFill>
              <a:srgbClr val="D8E4EA"/>
            </a:solidFill>
            <a:prstDash val="solid"/>
          </a:ln>
        </p:spPr>
        <p:txBody>
          <a:bodyPr/>
          <a:p/>
        </p:txBody>
      </p:sp>
      <p:sp>
        <p:nvSpPr>
          <p:cNvPr id="80" name="Text 77"/>
          <p:cNvSpPr txBox="1"/>
          <p:nvPr/>
        </p:nvSpPr>
        <p:spPr>
          <a:xfrm>
            <a:off x="822960" y="5212080"/>
            <a:ext cx="4718304" cy="640080"/>
          </a:xfrm>
          <a:prstGeom prst="rect">
            <a:avLst/>
          </a:prstGeom>
          <a:noFill/>
          <a:ln/>
        </p:spPr>
        <p:txBody>
          <a:bodyPr wrap="square" lIns="0" tIns="0" rIns="0" bIns="0" rtlCol="0" anchor="ctr"/>
          <a:lstStyle/>
          <a:p>
            <a:pPr algn="l" indent="0" marL="0">
              <a:lnSpc>
                <a:spcPct val="116000"/>
              </a:lnSpc>
              <a:buNone/>
            </a:pPr>
            <a:r>
              <a:rPr lang="en-US" sz="1150" b="1" dirty="0">
                <a:solidFill>
                  <a:srgbClr val="0B1F33"/>
                </a:solidFill>
                <a:latin typeface="Aptos" pitchFamily="34" charset="0"/>
                <a:ea typeface="Aptos" pitchFamily="34" charset="-122"/>
                <a:cs typeface="Aptos" pitchFamily="34" charset="-120"/>
              </a:rPr>
              <a:t>Each outside company sees only its own bookings, enforced in the database.</a:t>
            </a:r>
            <a:endParaRPr lang="en-US" sz="1150" dirty="0"/>
          </a:p>
        </p:txBody>
      </p:sp>
      <p:sp>
        <p:nvSpPr>
          <p:cNvPr id="81" name="Shape 78"/>
          <p:cNvSpPr/>
          <p:nvPr/>
        </p:nvSpPr>
        <p:spPr>
          <a:xfrm>
            <a:off x="6355080" y="5084064"/>
            <a:ext cx="5303520" cy="841248"/>
          </a:xfrm>
          <a:prstGeom prst="roundRect">
            <a:avLst>
              <a:gd name="adj" fmla="val 8163"/>
            </a:avLst>
          </a:prstGeom>
          <a:solidFill>
            <a:srgbClr val="FFFFFF"/>
          </a:solidFill>
          <a:ln w="9525">
            <a:solidFill>
              <a:srgbClr val="D8E4EA"/>
            </a:solidFill>
            <a:prstDash val="solid"/>
          </a:ln>
        </p:spPr>
        <p:txBody>
          <a:bodyPr/>
          <a:p/>
        </p:txBody>
      </p:sp>
      <p:sp>
        <p:nvSpPr>
          <p:cNvPr id="82" name="Text 79"/>
          <p:cNvSpPr txBox="1"/>
          <p:nvPr/>
        </p:nvSpPr>
        <p:spPr>
          <a:xfrm>
            <a:off x="6647688" y="5212080"/>
            <a:ext cx="4718304" cy="640080"/>
          </a:xfrm>
          <a:prstGeom prst="rect">
            <a:avLst/>
          </a:prstGeom>
          <a:noFill/>
          <a:ln/>
        </p:spPr>
        <p:txBody>
          <a:bodyPr wrap="square" lIns="0" tIns="0" rIns="0" bIns="0" rtlCol="0" anchor="ctr"/>
          <a:lstStyle/>
          <a:p>
            <a:pPr algn="l" indent="0" marL="0">
              <a:lnSpc>
                <a:spcPct val="116000"/>
              </a:lnSpc>
              <a:buNone/>
            </a:pPr>
            <a:r>
              <a:rPr lang="en-US" sz="1150" dirty="0">
                <a:solidFill>
                  <a:srgbClr val="456174"/>
                </a:solidFill>
                <a:latin typeface="Aptos" pitchFamily="34" charset="0"/>
                <a:ea typeface="Aptos" pitchFamily="34" charset="-122"/>
                <a:cs typeface="Aptos" pitchFamily="34" charset="-120"/>
              </a:rPr>
              <a:t>A coordinator can still book on somebody's behalf, and it lands on the same board.</a:t>
            </a:r>
            <a:endParaRPr lang="en-US" sz="1150" dirty="0"/>
          </a:p>
        </p:txBody>
      </p:sp>
      <p:sp>
        <p:nvSpPr>
          <p:cNvPr id="83" name="Text 80"/>
          <p:cNvSpPr txBox="1"/>
          <p:nvPr/>
        </p:nvSpPr>
        <p:spPr>
          <a:xfrm>
            <a:off x="530352" y="6053328"/>
            <a:ext cx="11130991" cy="274320"/>
          </a:xfrm>
          <a:prstGeom prst="rect">
            <a:avLst/>
          </a:prstGeom>
          <a:noFill/>
          <a:ln/>
        </p:spPr>
        <p:txBody>
          <a:bodyPr wrap="square" lIns="0" tIns="0" rIns="0" bIns="0" rtlCol="0" anchor="t"/>
          <a:lstStyle/>
          <a:p>
            <a:pPr algn="l" indent="0" marL="0">
              <a:lnSpc>
                <a:spcPct val="100000"/>
              </a:lnSpc>
              <a:buNone/>
            </a:pPr>
            <a:r>
              <a:rPr lang="en-US" sz="1100" i="1" dirty="0">
                <a:solidFill>
                  <a:srgbClr val="6F8491"/>
                </a:solidFill>
                <a:latin typeface="Aptos" pitchFamily="34" charset="0"/>
                <a:ea typeface="Aptos" pitchFamily="34" charset="-122"/>
                <a:cs typeface="Aptos" pitchFamily="34" charset="-120"/>
              </a:rPr>
              <a:t>Three steps. It used to be five.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16</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THE REAL SCREEN</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What the supplier actually fills in.</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Step one of three. Pick the site and the load; MaxDock works out the door time.</a:t>
            </a:r>
            <a:endParaRPr lang="en-US" sz="1200" dirty="0"/>
          </a:p>
        </p:txBody>
      </p:sp>
      <p:sp>
        <p:nvSpPr>
          <p:cNvPr id="10" name="Shape 7"/>
          <p:cNvSpPr/>
          <p:nvPr/>
        </p:nvSpPr>
        <p:spPr>
          <a:xfrm>
            <a:off x="475488" y="1517904"/>
            <a:ext cx="7424928" cy="4681728"/>
          </a:xfrm>
          <a:prstGeom prst="roundRect">
            <a:avLst>
              <a:gd name="adj" fmla="val 1563"/>
            </a:avLst>
          </a:prstGeom>
          <a:solidFill>
            <a:srgbClr val="EDF3F7"/>
          </a:solidFill>
          <a:ln/>
        </p:spPr>
        <p:txBody>
          <a:bodyPr/>
          <a:p/>
        </p:txBody>
      </p:sp>
      <p:pic>
        <p:nvPicPr>
          <p:cNvPr id="11" name="Image 1" descr="unpacked/ppt/media/image-12-2.png">    </p:cNvPr>
          <p:cNvPicPr>
            <a:picLocks noChangeAspect="1"/>
          </p:cNvPicPr>
          <p:nvPr/>
        </p:nvPicPr>
        <p:blipFill>
          <a:blip r:embed="rId2"/>
          <a:stretch>
            <a:fillRect/>
          </a:stretch>
        </p:blipFill>
        <p:spPr>
          <a:xfrm>
            <a:off x="530352" y="1572768"/>
            <a:ext cx="7315200" cy="4572000"/>
          </a:xfrm>
          <a:prstGeom prst="rect">
            <a:avLst/>
          </a:prstGeom>
        </p:spPr>
      </p:pic>
      <p:sp>
        <p:nvSpPr>
          <p:cNvPr id="12" name="Shape 8"/>
          <p:cNvSpPr/>
          <p:nvPr/>
        </p:nvSpPr>
        <p:spPr>
          <a:xfrm>
            <a:off x="8183880" y="1700784"/>
            <a:ext cx="292608" cy="292608"/>
          </a:xfrm>
          <a:prstGeom prst="roundRect">
            <a:avLst>
              <a:gd name="adj" fmla="val 15625"/>
            </a:avLst>
          </a:prstGeom>
          <a:solidFill>
            <a:srgbClr val="0877C9"/>
          </a:solidFill>
          <a:ln/>
        </p:spPr>
        <p:txBody>
          <a:bodyPr/>
          <a:p/>
        </p:txBody>
      </p:sp>
      <p:sp>
        <p:nvSpPr>
          <p:cNvPr id="13" name="Text 9"/>
          <p:cNvSpPr txBox="1"/>
          <p:nvPr/>
        </p:nvSpPr>
        <p:spPr>
          <a:xfrm>
            <a:off x="8183880" y="2139696"/>
            <a:ext cx="3474720" cy="365760"/>
          </a:xfrm>
          <a:prstGeom prst="rect">
            <a:avLst/>
          </a:prstGeom>
          <a:noFill/>
          <a:ln/>
        </p:spPr>
        <p:txBody>
          <a:bodyPr wrap="square" lIns="0" tIns="0" rIns="0" bIns="0" rtlCol="0" anchor="t"/>
          <a:lstStyle/>
          <a:p>
            <a:pPr algn="l" indent="0" marL="0">
              <a:lnSpc>
                <a:spcPct val="100000"/>
              </a:lnSpc>
              <a:buNone/>
            </a:pPr>
            <a:r>
              <a:rPr lang="en-US" sz="1600" b="1" dirty="0">
                <a:solidFill>
                  <a:srgbClr val="0B1F33"/>
                </a:solidFill>
                <a:latin typeface="Aptos Display" pitchFamily="34" charset="0"/>
                <a:ea typeface="Aptos Display" pitchFamily="34" charset="-122"/>
                <a:cs typeface="Aptos Display" pitchFamily="34" charset="-120"/>
              </a:rPr>
              <a:t>No free-text times</a:t>
            </a:r>
            <a:endParaRPr lang="en-US" sz="1600" dirty="0"/>
          </a:p>
        </p:txBody>
      </p:sp>
      <p:sp>
        <p:nvSpPr>
          <p:cNvPr id="14" name="Text 10"/>
          <p:cNvSpPr txBox="1"/>
          <p:nvPr/>
        </p:nvSpPr>
        <p:spPr>
          <a:xfrm>
            <a:off x="8183880" y="2560320"/>
            <a:ext cx="3474720" cy="566928"/>
          </a:xfrm>
          <a:prstGeom prst="rect">
            <a:avLst/>
          </a:prstGeom>
          <a:noFill/>
          <a:ln/>
        </p:spPr>
        <p:txBody>
          <a:bodyPr wrap="square" lIns="0" tIns="0" rIns="0" bIns="0" rtlCol="0" anchor="t"/>
          <a:lstStyle/>
          <a:p>
            <a:pPr algn="l" indent="0" marL="0">
              <a:lnSpc>
                <a:spcPct val="120000"/>
              </a:lnSpc>
              <a:buNone/>
            </a:pPr>
            <a:r>
              <a:rPr lang="en-US" sz="1100" dirty="0">
                <a:solidFill>
                  <a:srgbClr val="456174"/>
                </a:solidFill>
                <a:latin typeface="Aptos" pitchFamily="34" charset="0"/>
                <a:ea typeface="Aptos" pitchFamily="34" charset="-122"/>
                <a:cs typeface="Aptos" pitchFamily="34" charset="-120"/>
              </a:rPr>
              <a:t>Nobody types a time. They pick from what is actually free that day.</a:t>
            </a:r>
            <a:endParaRPr lang="en-US" sz="1100" dirty="0"/>
          </a:p>
        </p:txBody>
      </p:sp>
      <p:sp>
        <p:nvSpPr>
          <p:cNvPr id="15" name="Shape 11"/>
          <p:cNvSpPr/>
          <p:nvPr/>
        </p:nvSpPr>
        <p:spPr>
          <a:xfrm>
            <a:off x="8183880" y="3209544"/>
            <a:ext cx="292608" cy="292608"/>
          </a:xfrm>
          <a:prstGeom prst="roundRect">
            <a:avLst>
              <a:gd name="adj" fmla="val 15625"/>
            </a:avLst>
          </a:prstGeom>
          <a:solidFill>
            <a:srgbClr val="14A66A"/>
          </a:solidFill>
          <a:ln/>
        </p:spPr>
        <p:txBody>
          <a:bodyPr/>
          <a:p/>
        </p:txBody>
      </p:sp>
      <p:sp>
        <p:nvSpPr>
          <p:cNvPr id="16" name="Text 12"/>
          <p:cNvSpPr txBox="1"/>
          <p:nvPr/>
        </p:nvSpPr>
        <p:spPr>
          <a:xfrm>
            <a:off x="8183880" y="3648456"/>
            <a:ext cx="3474720" cy="365760"/>
          </a:xfrm>
          <a:prstGeom prst="rect">
            <a:avLst/>
          </a:prstGeom>
          <a:noFill/>
          <a:ln/>
        </p:spPr>
        <p:txBody>
          <a:bodyPr wrap="square" lIns="0" tIns="0" rIns="0" bIns="0" rtlCol="0" anchor="t"/>
          <a:lstStyle/>
          <a:p>
            <a:pPr algn="l" indent="0" marL="0">
              <a:lnSpc>
                <a:spcPct val="100000"/>
              </a:lnSpc>
              <a:buNone/>
            </a:pPr>
            <a:r>
              <a:rPr lang="en-US" sz="1600" b="1" dirty="0">
                <a:solidFill>
                  <a:srgbClr val="0B1F33"/>
                </a:solidFill>
                <a:latin typeface="Aptos Display" pitchFamily="34" charset="0"/>
                <a:ea typeface="Aptos Display" pitchFamily="34" charset="-122"/>
                <a:cs typeface="Aptos Display" pitchFamily="34" charset="-120"/>
              </a:rPr>
              <a:t>Skids, not guesses</a:t>
            </a:r>
            <a:endParaRPr lang="en-US" sz="1600" dirty="0"/>
          </a:p>
        </p:txBody>
      </p:sp>
      <p:sp>
        <p:nvSpPr>
          <p:cNvPr id="17" name="Text 13"/>
          <p:cNvSpPr txBox="1"/>
          <p:nvPr/>
        </p:nvSpPr>
        <p:spPr>
          <a:xfrm>
            <a:off x="8183880" y="4069080"/>
            <a:ext cx="3474720" cy="566928"/>
          </a:xfrm>
          <a:prstGeom prst="rect">
            <a:avLst/>
          </a:prstGeom>
          <a:noFill/>
          <a:ln/>
        </p:spPr>
        <p:txBody>
          <a:bodyPr wrap="square" lIns="0" tIns="0" rIns="0" bIns="0" rtlCol="0" anchor="t"/>
          <a:lstStyle/>
          <a:p>
            <a:pPr algn="l" indent="0" marL="0">
              <a:lnSpc>
                <a:spcPct val="120000"/>
              </a:lnSpc>
              <a:buNone/>
            </a:pPr>
            <a:r>
              <a:rPr lang="en-US" sz="1100" dirty="0">
                <a:solidFill>
                  <a:srgbClr val="456174"/>
                </a:solidFill>
                <a:latin typeface="Aptos" pitchFamily="34" charset="0"/>
                <a:ea typeface="Aptos" pitchFamily="34" charset="-122"/>
                <a:cs typeface="Aptos" pitchFamily="34" charset="-120"/>
              </a:rPr>
              <a:t>Trailer and skid count drive how long the door is held.</a:t>
            </a:r>
            <a:endParaRPr lang="en-US" sz="1100" dirty="0"/>
          </a:p>
        </p:txBody>
      </p:sp>
      <p:sp>
        <p:nvSpPr>
          <p:cNvPr id="18" name="Shape 14"/>
          <p:cNvSpPr/>
          <p:nvPr/>
        </p:nvSpPr>
        <p:spPr>
          <a:xfrm>
            <a:off x="8183880" y="4718304"/>
            <a:ext cx="292608" cy="292608"/>
          </a:xfrm>
          <a:prstGeom prst="roundRect">
            <a:avLst>
              <a:gd name="adj" fmla="val 15625"/>
            </a:avLst>
          </a:prstGeom>
          <a:solidFill>
            <a:srgbClr val="F2A11B"/>
          </a:solidFill>
          <a:ln/>
        </p:spPr>
        <p:txBody>
          <a:bodyPr/>
          <a:p/>
        </p:txBody>
      </p:sp>
      <p:sp>
        <p:nvSpPr>
          <p:cNvPr id="19" name="Text 15"/>
          <p:cNvSpPr txBox="1"/>
          <p:nvPr/>
        </p:nvSpPr>
        <p:spPr>
          <a:xfrm>
            <a:off x="8183880" y="5157216"/>
            <a:ext cx="3474720" cy="365760"/>
          </a:xfrm>
          <a:prstGeom prst="rect">
            <a:avLst/>
          </a:prstGeom>
          <a:noFill/>
          <a:ln/>
        </p:spPr>
        <p:txBody>
          <a:bodyPr wrap="square" lIns="0" tIns="0" rIns="0" bIns="0" rtlCol="0" anchor="t"/>
          <a:lstStyle/>
          <a:p>
            <a:pPr algn="l" indent="0" marL="0">
              <a:lnSpc>
                <a:spcPct val="100000"/>
              </a:lnSpc>
              <a:buNone/>
            </a:pPr>
            <a:r>
              <a:rPr lang="en-US" sz="1600" b="1" dirty="0">
                <a:solidFill>
                  <a:srgbClr val="0B1F33"/>
                </a:solidFill>
                <a:latin typeface="Aptos Display" pitchFamily="34" charset="0"/>
                <a:ea typeface="Aptos Display" pitchFamily="34" charset="-122"/>
                <a:cs typeface="Aptos Display" pitchFamily="34" charset="-120"/>
              </a:rPr>
              <a:t>One screen, three steps</a:t>
            </a:r>
            <a:endParaRPr lang="en-US" sz="1600" dirty="0"/>
          </a:p>
        </p:txBody>
      </p:sp>
      <p:sp>
        <p:nvSpPr>
          <p:cNvPr id="20" name="Text 16"/>
          <p:cNvSpPr txBox="1"/>
          <p:nvPr/>
        </p:nvSpPr>
        <p:spPr>
          <a:xfrm>
            <a:off x="8183880" y="5577840"/>
            <a:ext cx="3474720" cy="566928"/>
          </a:xfrm>
          <a:prstGeom prst="rect">
            <a:avLst/>
          </a:prstGeom>
          <a:noFill/>
          <a:ln/>
        </p:spPr>
        <p:txBody>
          <a:bodyPr wrap="square" lIns="0" tIns="0" rIns="0" bIns="0" rtlCol="0" anchor="t"/>
          <a:lstStyle/>
          <a:p>
            <a:pPr algn="l" indent="0" marL="0">
              <a:lnSpc>
                <a:spcPct val="120000"/>
              </a:lnSpc>
              <a:buNone/>
            </a:pPr>
            <a:r>
              <a:rPr lang="en-US" sz="1100" dirty="0">
                <a:solidFill>
                  <a:srgbClr val="456174"/>
                </a:solidFill>
                <a:latin typeface="Aptos" pitchFamily="34" charset="0"/>
                <a:ea typeface="Aptos" pitchFamily="34" charset="-122"/>
                <a:cs typeface="Aptos" pitchFamily="34" charset="-120"/>
              </a:rPr>
              <a:t>It used to be five. Every step removed is a booking that gets finished.</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17</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STEP TWO, IN DETAIL</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A time is only offered if it survives every rule.</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Thursday at Mississauga starts with twenty half-hour slots. Six of them are real.</a:t>
            </a:r>
            <a:endParaRPr lang="en-US" sz="1200" dirty="0"/>
          </a:p>
        </p:txBody>
      </p:sp>
      <p:sp>
        <p:nvSpPr>
          <p:cNvPr id="10" name="Text 7"/>
          <p:cNvSpPr txBox="1"/>
          <p:nvPr/>
        </p:nvSpPr>
        <p:spPr>
          <a:xfrm>
            <a:off x="530352" y="1700784"/>
            <a:ext cx="4114800" cy="292608"/>
          </a:xfrm>
          <a:prstGeom prst="rect">
            <a:avLst/>
          </a:prstGeom>
          <a:noFill/>
          <a:ln/>
        </p:spPr>
        <p:txBody>
          <a:bodyPr wrap="square" lIns="0" tIns="0" rIns="0" bIns="0" rtlCol="0" anchor="t"/>
          <a:lstStyle/>
          <a:p>
            <a:pPr algn="l" indent="0" marL="0">
              <a:lnSpc>
                <a:spcPct val="100000"/>
              </a:lnSpc>
              <a:buNone/>
            </a:pPr>
            <a:r>
              <a:rPr lang="en-US" sz="1200" b="1" dirty="0">
                <a:solidFill>
                  <a:srgbClr val="0B1F33"/>
                </a:solidFill>
                <a:latin typeface="Aptos" pitchFamily="34" charset="0"/>
                <a:ea typeface="Aptos" pitchFamily="34" charset="-122"/>
                <a:cs typeface="Aptos" pitchFamily="34" charset="-120"/>
              </a:rPr>
              <a:t>Every half-hour slot, 07:00 to 17:00</a:t>
            </a:r>
            <a:endParaRPr lang="en-US" sz="1200" dirty="0"/>
          </a:p>
        </p:txBody>
      </p:sp>
      <p:sp>
        <p:nvSpPr>
          <p:cNvPr id="11" name="Shape 8"/>
          <p:cNvSpPr/>
          <p:nvPr/>
        </p:nvSpPr>
        <p:spPr>
          <a:xfrm>
            <a:off x="4800600" y="1709928"/>
            <a:ext cx="4754880" cy="256032"/>
          </a:xfrm>
          <a:prstGeom prst="roundRect">
            <a:avLst>
              <a:gd name="adj" fmla="val 50000"/>
            </a:avLst>
          </a:prstGeom>
          <a:solidFill>
            <a:srgbClr val="E7EDF1"/>
          </a:solidFill>
          <a:ln/>
        </p:spPr>
        <p:txBody>
          <a:bodyPr/>
          <a:p/>
        </p:txBody>
      </p:sp>
      <p:sp>
        <p:nvSpPr>
          <p:cNvPr id="12" name="Shape 9"/>
          <p:cNvSpPr/>
          <p:nvPr/>
        </p:nvSpPr>
        <p:spPr>
          <a:xfrm>
            <a:off x="4800600" y="1709928"/>
            <a:ext cx="4754880" cy="256032"/>
          </a:xfrm>
          <a:prstGeom prst="roundRect">
            <a:avLst>
              <a:gd name="adj" fmla="val 50000"/>
            </a:avLst>
          </a:prstGeom>
          <a:solidFill>
            <a:srgbClr val="0877C9"/>
          </a:solidFill>
          <a:ln/>
        </p:spPr>
        <p:txBody>
          <a:bodyPr/>
          <a:p/>
        </p:txBody>
      </p:sp>
      <p:sp>
        <p:nvSpPr>
          <p:cNvPr id="13" name="Text 10"/>
          <p:cNvSpPr txBox="1"/>
          <p:nvPr/>
        </p:nvSpPr>
        <p:spPr>
          <a:xfrm>
            <a:off x="9738360" y="1664208"/>
            <a:ext cx="1920240" cy="329184"/>
          </a:xfrm>
          <a:prstGeom prst="rect">
            <a:avLst/>
          </a:prstGeom>
          <a:noFill/>
          <a:ln/>
        </p:spPr>
        <p:txBody>
          <a:bodyPr wrap="square" lIns="0" tIns="0" rIns="0" bIns="0" rtlCol="0" anchor="t"/>
          <a:lstStyle/>
          <a:p>
            <a:pPr algn="l" indent="0" marL="0">
              <a:lnSpc>
                <a:spcPct val="100000"/>
              </a:lnSpc>
              <a:buNone/>
            </a:pPr>
            <a:r>
              <a:rPr lang="en-US" sz="1400" b="1" dirty="0">
                <a:solidFill>
                  <a:srgbClr val="0877C9"/>
                </a:solidFill>
                <a:latin typeface="Aptos" pitchFamily="34" charset="0"/>
                <a:ea typeface="Aptos" pitchFamily="34" charset="-122"/>
                <a:cs typeface="Aptos" pitchFamily="34" charset="-120"/>
              </a:rPr>
              <a:t>20 times</a:t>
            </a:r>
            <a:endParaRPr lang="en-US" sz="1400" dirty="0"/>
          </a:p>
        </p:txBody>
      </p:sp>
      <p:sp>
        <p:nvSpPr>
          <p:cNvPr id="14" name="Shape 11"/>
          <p:cNvSpPr/>
          <p:nvPr/>
        </p:nvSpPr>
        <p:spPr>
          <a:xfrm>
            <a:off x="530352" y="2103120"/>
            <a:ext cx="11130991" cy="0"/>
          </a:xfrm>
          <a:prstGeom prst="line">
            <a:avLst/>
          </a:prstGeom>
          <a:noFill/>
          <a:ln w="9525">
            <a:solidFill>
              <a:srgbClr val="E7EDF1"/>
            </a:solidFill>
            <a:prstDash val="solid"/>
          </a:ln>
        </p:spPr>
        <p:txBody>
          <a:bodyPr/>
          <a:p/>
        </p:txBody>
      </p:sp>
      <p:sp>
        <p:nvSpPr>
          <p:cNvPr id="15" name="Text 12"/>
          <p:cNvSpPr txBox="1"/>
          <p:nvPr/>
        </p:nvSpPr>
        <p:spPr>
          <a:xfrm>
            <a:off x="530352" y="2359152"/>
            <a:ext cx="4114800" cy="292608"/>
          </a:xfrm>
          <a:prstGeom prst="rect">
            <a:avLst/>
          </a:prstGeom>
          <a:noFill/>
          <a:ln/>
        </p:spPr>
        <p:txBody>
          <a:bodyPr wrap="square" lIns="0" tIns="0" rIns="0" bIns="0" rtlCol="0" anchor="t"/>
          <a:lstStyle/>
          <a:p>
            <a:pPr algn="l" indent="0" marL="0">
              <a:lnSpc>
                <a:spcPct val="100000"/>
              </a:lnSpc>
              <a:buNone/>
            </a:pPr>
            <a:r>
              <a:rPr lang="en-US" sz="1200" dirty="0">
                <a:solidFill>
                  <a:srgbClr val="456174"/>
                </a:solidFill>
                <a:latin typeface="Aptos" pitchFamily="34" charset="0"/>
                <a:ea typeface="Aptos" pitchFamily="34" charset="-122"/>
                <a:cs typeface="Aptos" pitchFamily="34" charset="-120"/>
              </a:rPr>
              <a:t>Inside this plant's operating hours</a:t>
            </a:r>
            <a:endParaRPr lang="en-US" sz="1200" dirty="0"/>
          </a:p>
        </p:txBody>
      </p:sp>
      <p:sp>
        <p:nvSpPr>
          <p:cNvPr id="16" name="Shape 13"/>
          <p:cNvSpPr/>
          <p:nvPr/>
        </p:nvSpPr>
        <p:spPr>
          <a:xfrm>
            <a:off x="4800600" y="2368296"/>
            <a:ext cx="4754880" cy="256032"/>
          </a:xfrm>
          <a:prstGeom prst="roundRect">
            <a:avLst>
              <a:gd name="adj" fmla="val 50000"/>
            </a:avLst>
          </a:prstGeom>
          <a:solidFill>
            <a:srgbClr val="E7EDF1"/>
          </a:solidFill>
          <a:ln/>
        </p:spPr>
        <p:txBody>
          <a:bodyPr/>
          <a:p/>
        </p:txBody>
      </p:sp>
      <p:sp>
        <p:nvSpPr>
          <p:cNvPr id="17" name="Shape 14"/>
          <p:cNvSpPr/>
          <p:nvPr/>
        </p:nvSpPr>
        <p:spPr>
          <a:xfrm>
            <a:off x="4800600" y="2368296"/>
            <a:ext cx="4279392" cy="256032"/>
          </a:xfrm>
          <a:prstGeom prst="roundRect">
            <a:avLst>
              <a:gd name="adj" fmla="val 50000"/>
            </a:avLst>
          </a:prstGeom>
          <a:solidFill>
            <a:srgbClr val="0877C9"/>
          </a:solidFill>
          <a:ln/>
        </p:spPr>
        <p:txBody>
          <a:bodyPr/>
          <a:p/>
        </p:txBody>
      </p:sp>
      <p:sp>
        <p:nvSpPr>
          <p:cNvPr id="18" name="Text 15"/>
          <p:cNvSpPr txBox="1"/>
          <p:nvPr/>
        </p:nvSpPr>
        <p:spPr>
          <a:xfrm>
            <a:off x="9738360" y="2322576"/>
            <a:ext cx="1920240" cy="329184"/>
          </a:xfrm>
          <a:prstGeom prst="rect">
            <a:avLst/>
          </a:prstGeom>
          <a:noFill/>
          <a:ln/>
        </p:spPr>
        <p:txBody>
          <a:bodyPr wrap="square" lIns="0" tIns="0" rIns="0" bIns="0" rtlCol="0" anchor="t"/>
          <a:lstStyle/>
          <a:p>
            <a:pPr algn="l" indent="0" marL="0">
              <a:lnSpc>
                <a:spcPct val="100000"/>
              </a:lnSpc>
              <a:buNone/>
            </a:pPr>
            <a:r>
              <a:rPr lang="en-US" sz="1400" b="1" dirty="0">
                <a:solidFill>
                  <a:srgbClr val="0877C9"/>
                </a:solidFill>
                <a:latin typeface="Aptos" pitchFamily="34" charset="0"/>
                <a:ea typeface="Aptos" pitchFamily="34" charset="-122"/>
                <a:cs typeface="Aptos" pitchFamily="34" charset="-120"/>
              </a:rPr>
              <a:t>18 times</a:t>
            </a:r>
            <a:endParaRPr lang="en-US" sz="1400" dirty="0"/>
          </a:p>
        </p:txBody>
      </p:sp>
      <p:sp>
        <p:nvSpPr>
          <p:cNvPr id="19" name="Shape 16"/>
          <p:cNvSpPr/>
          <p:nvPr/>
        </p:nvSpPr>
        <p:spPr>
          <a:xfrm>
            <a:off x="530352" y="2743200"/>
            <a:ext cx="11130991" cy="0"/>
          </a:xfrm>
          <a:prstGeom prst="line">
            <a:avLst/>
          </a:prstGeom>
          <a:noFill/>
          <a:ln w="9525">
            <a:solidFill>
              <a:srgbClr val="E7EDF1"/>
            </a:solidFill>
            <a:prstDash val="solid"/>
          </a:ln>
        </p:spPr>
        <p:txBody>
          <a:bodyPr/>
          <a:p/>
        </p:txBody>
      </p:sp>
      <p:sp>
        <p:nvSpPr>
          <p:cNvPr id="20" name="Text 17"/>
          <p:cNvSpPr txBox="1"/>
          <p:nvPr/>
        </p:nvSpPr>
        <p:spPr>
          <a:xfrm>
            <a:off x="530352" y="3017520"/>
            <a:ext cx="4114800" cy="292608"/>
          </a:xfrm>
          <a:prstGeom prst="rect">
            <a:avLst/>
          </a:prstGeom>
          <a:noFill/>
          <a:ln/>
        </p:spPr>
        <p:txBody>
          <a:bodyPr wrap="square" lIns="0" tIns="0" rIns="0" bIns="0" rtlCol="0" anchor="t"/>
          <a:lstStyle/>
          <a:p>
            <a:pPr algn="l" indent="0" marL="0">
              <a:lnSpc>
                <a:spcPct val="100000"/>
              </a:lnSpc>
              <a:buNone/>
            </a:pPr>
            <a:r>
              <a:rPr lang="en-US" sz="1200" dirty="0">
                <a:solidFill>
                  <a:srgbClr val="456174"/>
                </a:solidFill>
                <a:latin typeface="Aptos" pitchFamily="34" charset="0"/>
                <a:ea typeface="Aptos" pitchFamily="34" charset="-122"/>
                <a:cs typeface="Aptos" pitchFamily="34" charset="-120"/>
              </a:rPr>
              <a:t>Past the notice period this site requires</a:t>
            </a:r>
            <a:endParaRPr lang="en-US" sz="1200" dirty="0"/>
          </a:p>
        </p:txBody>
      </p:sp>
      <p:sp>
        <p:nvSpPr>
          <p:cNvPr id="21" name="Shape 18"/>
          <p:cNvSpPr/>
          <p:nvPr/>
        </p:nvSpPr>
        <p:spPr>
          <a:xfrm>
            <a:off x="4800600" y="3026664"/>
            <a:ext cx="4754880" cy="256032"/>
          </a:xfrm>
          <a:prstGeom prst="roundRect">
            <a:avLst>
              <a:gd name="adj" fmla="val 50000"/>
            </a:avLst>
          </a:prstGeom>
          <a:solidFill>
            <a:srgbClr val="E7EDF1"/>
          </a:solidFill>
          <a:ln/>
        </p:spPr>
        <p:txBody>
          <a:bodyPr/>
          <a:p/>
        </p:txBody>
      </p:sp>
      <p:sp>
        <p:nvSpPr>
          <p:cNvPr id="22" name="Shape 19"/>
          <p:cNvSpPr/>
          <p:nvPr/>
        </p:nvSpPr>
        <p:spPr>
          <a:xfrm>
            <a:off x="4800600" y="3026664"/>
            <a:ext cx="3566160" cy="256032"/>
          </a:xfrm>
          <a:prstGeom prst="roundRect">
            <a:avLst>
              <a:gd name="adj" fmla="val 50000"/>
            </a:avLst>
          </a:prstGeom>
          <a:solidFill>
            <a:srgbClr val="14A66A"/>
          </a:solidFill>
          <a:ln/>
        </p:spPr>
        <p:txBody>
          <a:bodyPr/>
          <a:p/>
        </p:txBody>
      </p:sp>
      <p:sp>
        <p:nvSpPr>
          <p:cNvPr id="23" name="Text 20"/>
          <p:cNvSpPr txBox="1"/>
          <p:nvPr/>
        </p:nvSpPr>
        <p:spPr>
          <a:xfrm>
            <a:off x="9738360" y="2980944"/>
            <a:ext cx="1920240" cy="329184"/>
          </a:xfrm>
          <a:prstGeom prst="rect">
            <a:avLst/>
          </a:prstGeom>
          <a:noFill/>
          <a:ln/>
        </p:spPr>
        <p:txBody>
          <a:bodyPr wrap="square" lIns="0" tIns="0" rIns="0" bIns="0" rtlCol="0" anchor="t"/>
          <a:lstStyle/>
          <a:p>
            <a:pPr algn="l" indent="0" marL="0">
              <a:lnSpc>
                <a:spcPct val="100000"/>
              </a:lnSpc>
              <a:buNone/>
            </a:pPr>
            <a:r>
              <a:rPr lang="en-US" sz="1400" b="1" dirty="0">
                <a:solidFill>
                  <a:srgbClr val="14A66A"/>
                </a:solidFill>
                <a:latin typeface="Aptos" pitchFamily="34" charset="0"/>
                <a:ea typeface="Aptos" pitchFamily="34" charset="-122"/>
                <a:cs typeface="Aptos" pitchFamily="34" charset="-120"/>
              </a:rPr>
              <a:t>15 times</a:t>
            </a:r>
            <a:endParaRPr lang="en-US" sz="1400" dirty="0"/>
          </a:p>
        </p:txBody>
      </p:sp>
      <p:sp>
        <p:nvSpPr>
          <p:cNvPr id="24" name="Shape 21"/>
          <p:cNvSpPr/>
          <p:nvPr/>
        </p:nvSpPr>
        <p:spPr>
          <a:xfrm>
            <a:off x="530352" y="3383280"/>
            <a:ext cx="11130991" cy="0"/>
          </a:xfrm>
          <a:prstGeom prst="line">
            <a:avLst/>
          </a:prstGeom>
          <a:noFill/>
          <a:ln w="9525">
            <a:solidFill>
              <a:srgbClr val="E7EDF1"/>
            </a:solidFill>
            <a:prstDash val="solid"/>
          </a:ln>
        </p:spPr>
        <p:txBody>
          <a:bodyPr/>
          <a:p/>
        </p:txBody>
      </p:sp>
      <p:sp>
        <p:nvSpPr>
          <p:cNvPr id="25" name="Text 22"/>
          <p:cNvSpPr txBox="1"/>
          <p:nvPr/>
        </p:nvSpPr>
        <p:spPr>
          <a:xfrm>
            <a:off x="530352" y="3675888"/>
            <a:ext cx="4114800" cy="292608"/>
          </a:xfrm>
          <a:prstGeom prst="rect">
            <a:avLst/>
          </a:prstGeom>
          <a:noFill/>
          <a:ln/>
        </p:spPr>
        <p:txBody>
          <a:bodyPr wrap="square" lIns="0" tIns="0" rIns="0" bIns="0" rtlCol="0" anchor="t"/>
          <a:lstStyle/>
          <a:p>
            <a:pPr algn="l" indent="0" marL="0">
              <a:lnSpc>
                <a:spcPct val="100000"/>
              </a:lnSpc>
              <a:buNone/>
            </a:pPr>
            <a:r>
              <a:rPr lang="en-US" sz="1200" dirty="0">
                <a:solidFill>
                  <a:srgbClr val="456174"/>
                </a:solidFill>
                <a:latin typeface="Aptos" pitchFamily="34" charset="0"/>
                <a:ea typeface="Aptos" pitchFamily="34" charset="-122"/>
                <a:cs typeface="Aptos" pitchFamily="34" charset="-120"/>
              </a:rPr>
              <a:t>A door that is actually free</a:t>
            </a:r>
            <a:endParaRPr lang="en-US" sz="1200" dirty="0"/>
          </a:p>
        </p:txBody>
      </p:sp>
      <p:sp>
        <p:nvSpPr>
          <p:cNvPr id="26" name="Shape 23"/>
          <p:cNvSpPr/>
          <p:nvPr/>
        </p:nvSpPr>
        <p:spPr>
          <a:xfrm>
            <a:off x="4800600" y="3685032"/>
            <a:ext cx="4754880" cy="256032"/>
          </a:xfrm>
          <a:prstGeom prst="roundRect">
            <a:avLst>
              <a:gd name="adj" fmla="val 50000"/>
            </a:avLst>
          </a:prstGeom>
          <a:solidFill>
            <a:srgbClr val="E7EDF1"/>
          </a:solidFill>
          <a:ln/>
        </p:spPr>
        <p:txBody>
          <a:bodyPr/>
          <a:p/>
        </p:txBody>
      </p:sp>
      <p:sp>
        <p:nvSpPr>
          <p:cNvPr id="27" name="Shape 24"/>
          <p:cNvSpPr/>
          <p:nvPr/>
        </p:nvSpPr>
        <p:spPr>
          <a:xfrm>
            <a:off x="4800600" y="3685032"/>
            <a:ext cx="2615184" cy="256032"/>
          </a:xfrm>
          <a:prstGeom prst="roundRect">
            <a:avLst>
              <a:gd name="adj" fmla="val 50000"/>
            </a:avLst>
          </a:prstGeom>
          <a:solidFill>
            <a:srgbClr val="14A66A"/>
          </a:solidFill>
          <a:ln/>
        </p:spPr>
        <p:txBody>
          <a:bodyPr/>
          <a:p/>
        </p:txBody>
      </p:sp>
      <p:sp>
        <p:nvSpPr>
          <p:cNvPr id="28" name="Text 25"/>
          <p:cNvSpPr txBox="1"/>
          <p:nvPr/>
        </p:nvSpPr>
        <p:spPr>
          <a:xfrm>
            <a:off x="9738360" y="3639312"/>
            <a:ext cx="1920240" cy="329184"/>
          </a:xfrm>
          <a:prstGeom prst="rect">
            <a:avLst/>
          </a:prstGeom>
          <a:noFill/>
          <a:ln/>
        </p:spPr>
        <p:txBody>
          <a:bodyPr wrap="square" lIns="0" tIns="0" rIns="0" bIns="0" rtlCol="0" anchor="t"/>
          <a:lstStyle/>
          <a:p>
            <a:pPr algn="l" indent="0" marL="0">
              <a:lnSpc>
                <a:spcPct val="100000"/>
              </a:lnSpc>
              <a:buNone/>
            </a:pPr>
            <a:r>
              <a:rPr lang="en-US" sz="1400" b="1" dirty="0">
                <a:solidFill>
                  <a:srgbClr val="14A66A"/>
                </a:solidFill>
                <a:latin typeface="Aptos" pitchFamily="34" charset="0"/>
                <a:ea typeface="Aptos" pitchFamily="34" charset="-122"/>
                <a:cs typeface="Aptos" pitchFamily="34" charset="-120"/>
              </a:rPr>
              <a:t>11 times</a:t>
            </a:r>
            <a:endParaRPr lang="en-US" sz="1400" dirty="0"/>
          </a:p>
        </p:txBody>
      </p:sp>
      <p:sp>
        <p:nvSpPr>
          <p:cNvPr id="29" name="Shape 26"/>
          <p:cNvSpPr/>
          <p:nvPr/>
        </p:nvSpPr>
        <p:spPr>
          <a:xfrm>
            <a:off x="530352" y="4023360"/>
            <a:ext cx="11130991" cy="0"/>
          </a:xfrm>
          <a:prstGeom prst="line">
            <a:avLst/>
          </a:prstGeom>
          <a:noFill/>
          <a:ln w="9525">
            <a:solidFill>
              <a:srgbClr val="E7EDF1"/>
            </a:solidFill>
            <a:prstDash val="solid"/>
          </a:ln>
        </p:spPr>
        <p:txBody>
          <a:bodyPr/>
          <a:p/>
        </p:txBody>
      </p:sp>
      <p:sp>
        <p:nvSpPr>
          <p:cNvPr id="30" name="Text 27"/>
          <p:cNvSpPr txBox="1"/>
          <p:nvPr/>
        </p:nvSpPr>
        <p:spPr>
          <a:xfrm>
            <a:off x="530352" y="4334256"/>
            <a:ext cx="4114800" cy="292608"/>
          </a:xfrm>
          <a:prstGeom prst="rect">
            <a:avLst/>
          </a:prstGeom>
          <a:noFill/>
          <a:ln/>
        </p:spPr>
        <p:txBody>
          <a:bodyPr wrap="square" lIns="0" tIns="0" rIns="0" bIns="0" rtlCol="0" anchor="t"/>
          <a:lstStyle/>
          <a:p>
            <a:pPr algn="l" indent="0" marL="0">
              <a:lnSpc>
                <a:spcPct val="100000"/>
              </a:lnSpc>
              <a:buNone/>
            </a:pPr>
            <a:r>
              <a:rPr lang="en-US" sz="1200" dirty="0">
                <a:solidFill>
                  <a:srgbClr val="456174"/>
                </a:solidFill>
                <a:latin typeface="Aptos" pitchFamily="34" charset="0"/>
                <a:ea typeface="Aptos" pitchFamily="34" charset="-122"/>
                <a:cs typeface="Aptos" pitchFamily="34" charset="-120"/>
              </a:rPr>
              <a:t>A door this trailer fits</a:t>
            </a:r>
            <a:endParaRPr lang="en-US" sz="1200" dirty="0"/>
          </a:p>
        </p:txBody>
      </p:sp>
      <p:sp>
        <p:nvSpPr>
          <p:cNvPr id="31" name="Shape 28"/>
          <p:cNvSpPr/>
          <p:nvPr/>
        </p:nvSpPr>
        <p:spPr>
          <a:xfrm>
            <a:off x="4800600" y="4343400"/>
            <a:ext cx="4754880" cy="256032"/>
          </a:xfrm>
          <a:prstGeom prst="roundRect">
            <a:avLst>
              <a:gd name="adj" fmla="val 50000"/>
            </a:avLst>
          </a:prstGeom>
          <a:solidFill>
            <a:srgbClr val="E7EDF1"/>
          </a:solidFill>
          <a:ln/>
        </p:spPr>
        <p:txBody>
          <a:bodyPr/>
          <a:p/>
        </p:txBody>
      </p:sp>
      <p:sp>
        <p:nvSpPr>
          <p:cNvPr id="32" name="Shape 29"/>
          <p:cNvSpPr/>
          <p:nvPr/>
        </p:nvSpPr>
        <p:spPr>
          <a:xfrm>
            <a:off x="4800600" y="4343400"/>
            <a:ext cx="2139696" cy="256032"/>
          </a:xfrm>
          <a:prstGeom prst="roundRect">
            <a:avLst>
              <a:gd name="adj" fmla="val 50000"/>
            </a:avLst>
          </a:prstGeom>
          <a:solidFill>
            <a:srgbClr val="F2A11B"/>
          </a:solidFill>
          <a:ln/>
        </p:spPr>
        <p:txBody>
          <a:bodyPr/>
          <a:p/>
        </p:txBody>
      </p:sp>
      <p:sp>
        <p:nvSpPr>
          <p:cNvPr id="33" name="Text 30"/>
          <p:cNvSpPr txBox="1"/>
          <p:nvPr/>
        </p:nvSpPr>
        <p:spPr>
          <a:xfrm>
            <a:off x="9738360" y="4297680"/>
            <a:ext cx="1920240" cy="329184"/>
          </a:xfrm>
          <a:prstGeom prst="rect">
            <a:avLst/>
          </a:prstGeom>
          <a:noFill/>
          <a:ln/>
        </p:spPr>
        <p:txBody>
          <a:bodyPr wrap="square" lIns="0" tIns="0" rIns="0" bIns="0" rtlCol="0" anchor="t"/>
          <a:lstStyle/>
          <a:p>
            <a:pPr algn="l" indent="0" marL="0">
              <a:lnSpc>
                <a:spcPct val="100000"/>
              </a:lnSpc>
              <a:buNone/>
            </a:pPr>
            <a:r>
              <a:rPr lang="en-US" sz="1400" b="1" dirty="0">
                <a:solidFill>
                  <a:srgbClr val="F2A11B"/>
                </a:solidFill>
                <a:latin typeface="Aptos" pitchFamily="34" charset="0"/>
                <a:ea typeface="Aptos" pitchFamily="34" charset="-122"/>
                <a:cs typeface="Aptos" pitchFamily="34" charset="-120"/>
              </a:rPr>
              <a:t>9 times</a:t>
            </a:r>
            <a:endParaRPr lang="en-US" sz="1400" dirty="0"/>
          </a:p>
        </p:txBody>
      </p:sp>
      <p:sp>
        <p:nvSpPr>
          <p:cNvPr id="34" name="Shape 31"/>
          <p:cNvSpPr/>
          <p:nvPr/>
        </p:nvSpPr>
        <p:spPr>
          <a:xfrm>
            <a:off x="530352" y="4663440"/>
            <a:ext cx="11130991" cy="0"/>
          </a:xfrm>
          <a:prstGeom prst="line">
            <a:avLst/>
          </a:prstGeom>
          <a:noFill/>
          <a:ln w="9525">
            <a:solidFill>
              <a:srgbClr val="E7EDF1"/>
            </a:solidFill>
            <a:prstDash val="solid"/>
          </a:ln>
        </p:spPr>
        <p:txBody>
          <a:bodyPr/>
          <a:p/>
        </p:txBody>
      </p:sp>
      <p:sp>
        <p:nvSpPr>
          <p:cNvPr id="35" name="Text 32"/>
          <p:cNvSpPr txBox="1"/>
          <p:nvPr/>
        </p:nvSpPr>
        <p:spPr>
          <a:xfrm>
            <a:off x="530352" y="4992624"/>
            <a:ext cx="4114800" cy="292608"/>
          </a:xfrm>
          <a:prstGeom prst="rect">
            <a:avLst/>
          </a:prstGeom>
          <a:noFill/>
          <a:ln/>
        </p:spPr>
        <p:txBody>
          <a:bodyPr wrap="square" lIns="0" tIns="0" rIns="0" bIns="0" rtlCol="0" anchor="t"/>
          <a:lstStyle/>
          <a:p>
            <a:pPr algn="l" indent="0" marL="0">
              <a:lnSpc>
                <a:spcPct val="100000"/>
              </a:lnSpc>
              <a:buNone/>
            </a:pPr>
            <a:r>
              <a:rPr lang="en-US" sz="1200" dirty="0">
                <a:solidFill>
                  <a:srgbClr val="456174"/>
                </a:solidFill>
                <a:latin typeface="Aptos" pitchFamily="34" charset="0"/>
                <a:ea typeface="Aptos" pitchFamily="34" charset="-122"/>
                <a:cs typeface="Aptos" pitchFamily="34" charset="-120"/>
              </a:rPr>
              <a:t>Floor space still left for the skids</a:t>
            </a:r>
            <a:endParaRPr lang="en-US" sz="1200" dirty="0"/>
          </a:p>
        </p:txBody>
      </p:sp>
      <p:sp>
        <p:nvSpPr>
          <p:cNvPr id="36" name="Shape 33"/>
          <p:cNvSpPr/>
          <p:nvPr/>
        </p:nvSpPr>
        <p:spPr>
          <a:xfrm>
            <a:off x="4800600" y="5001768"/>
            <a:ext cx="4754880" cy="256032"/>
          </a:xfrm>
          <a:prstGeom prst="roundRect">
            <a:avLst>
              <a:gd name="adj" fmla="val 50000"/>
            </a:avLst>
          </a:prstGeom>
          <a:solidFill>
            <a:srgbClr val="E7EDF1"/>
          </a:solidFill>
          <a:ln/>
        </p:spPr>
        <p:txBody>
          <a:bodyPr/>
          <a:p/>
        </p:txBody>
      </p:sp>
      <p:sp>
        <p:nvSpPr>
          <p:cNvPr id="37" name="Shape 34"/>
          <p:cNvSpPr/>
          <p:nvPr/>
        </p:nvSpPr>
        <p:spPr>
          <a:xfrm>
            <a:off x="4800600" y="5001768"/>
            <a:ext cx="1426464" cy="256032"/>
          </a:xfrm>
          <a:prstGeom prst="roundRect">
            <a:avLst>
              <a:gd name="adj" fmla="val 50000"/>
            </a:avLst>
          </a:prstGeom>
          <a:solidFill>
            <a:srgbClr val="D84C4C"/>
          </a:solidFill>
          <a:ln/>
        </p:spPr>
        <p:txBody>
          <a:bodyPr/>
          <a:p/>
        </p:txBody>
      </p:sp>
      <p:sp>
        <p:nvSpPr>
          <p:cNvPr id="38" name="Text 35"/>
          <p:cNvSpPr txBox="1"/>
          <p:nvPr/>
        </p:nvSpPr>
        <p:spPr>
          <a:xfrm>
            <a:off x="9738360" y="4956048"/>
            <a:ext cx="1920240" cy="329184"/>
          </a:xfrm>
          <a:prstGeom prst="rect">
            <a:avLst/>
          </a:prstGeom>
          <a:noFill/>
          <a:ln/>
        </p:spPr>
        <p:txBody>
          <a:bodyPr wrap="square" lIns="0" tIns="0" rIns="0" bIns="0" rtlCol="0" anchor="t"/>
          <a:lstStyle/>
          <a:p>
            <a:pPr algn="l" indent="0" marL="0">
              <a:lnSpc>
                <a:spcPct val="100000"/>
              </a:lnSpc>
              <a:buNone/>
            </a:pPr>
            <a:r>
              <a:rPr lang="en-US" sz="1400" b="1" dirty="0">
                <a:solidFill>
                  <a:srgbClr val="D84C4C"/>
                </a:solidFill>
                <a:latin typeface="Aptos" pitchFamily="34" charset="0"/>
                <a:ea typeface="Aptos" pitchFamily="34" charset="-122"/>
                <a:cs typeface="Aptos" pitchFamily="34" charset="-120"/>
              </a:rPr>
              <a:t>6 times</a:t>
            </a:r>
            <a:endParaRPr lang="en-US" sz="1400" dirty="0"/>
          </a:p>
        </p:txBody>
      </p:sp>
      <p:sp>
        <p:nvSpPr>
          <p:cNvPr id="39" name="Shape 36"/>
          <p:cNvSpPr/>
          <p:nvPr/>
        </p:nvSpPr>
        <p:spPr>
          <a:xfrm>
            <a:off x="530352" y="5559552"/>
            <a:ext cx="5303520" cy="768096"/>
          </a:xfrm>
          <a:prstGeom prst="roundRect">
            <a:avLst>
              <a:gd name="adj" fmla="val 8696"/>
            </a:avLst>
          </a:prstGeom>
          <a:solidFill>
            <a:srgbClr val="FFFFFF"/>
          </a:solidFill>
          <a:ln w="9525">
            <a:solidFill>
              <a:srgbClr val="D8E4EA"/>
            </a:solidFill>
            <a:prstDash val="solid"/>
          </a:ln>
        </p:spPr>
        <p:txBody>
          <a:bodyPr/>
          <a:p/>
        </p:txBody>
      </p:sp>
      <p:sp>
        <p:nvSpPr>
          <p:cNvPr id="40" name="Text 37"/>
          <p:cNvSpPr txBox="1"/>
          <p:nvPr/>
        </p:nvSpPr>
        <p:spPr>
          <a:xfrm>
            <a:off x="822960" y="5687568"/>
            <a:ext cx="4718304" cy="585216"/>
          </a:xfrm>
          <a:prstGeom prst="rect">
            <a:avLst/>
          </a:prstGeom>
          <a:noFill/>
          <a:ln/>
        </p:spPr>
        <p:txBody>
          <a:bodyPr wrap="square" lIns="0" tIns="0" rIns="0" bIns="0" rtlCol="0" anchor="ctr"/>
          <a:lstStyle/>
          <a:p>
            <a:pPr algn="l" indent="0" marL="0">
              <a:lnSpc>
                <a:spcPct val="116000"/>
              </a:lnSpc>
              <a:buNone/>
            </a:pPr>
            <a:r>
              <a:rPr lang="en-US" sz="1100" dirty="0">
                <a:solidFill>
                  <a:srgbClr val="456174"/>
                </a:solidFill>
                <a:latin typeface="Aptos" pitchFamily="34" charset="0"/>
                <a:ea typeface="Aptos" pitchFamily="34" charset="-122"/>
                <a:cs typeface="Aptos" pitchFamily="34" charset="-120"/>
              </a:rPr>
              <a:t>Every filter is a setting the site controls: hours, notice, trailer fit, floor space.</a:t>
            </a:r>
            <a:endParaRPr lang="en-US" sz="1100" dirty="0"/>
          </a:p>
        </p:txBody>
      </p:sp>
      <p:sp>
        <p:nvSpPr>
          <p:cNvPr id="41" name="Shape 38"/>
          <p:cNvSpPr/>
          <p:nvPr/>
        </p:nvSpPr>
        <p:spPr>
          <a:xfrm>
            <a:off x="6355080" y="5559552"/>
            <a:ext cx="5303520" cy="768096"/>
          </a:xfrm>
          <a:prstGeom prst="roundRect">
            <a:avLst>
              <a:gd name="adj" fmla="val 8696"/>
            </a:avLst>
          </a:prstGeom>
          <a:solidFill>
            <a:srgbClr val="E1F3EA"/>
          </a:solidFill>
          <a:ln/>
        </p:spPr>
        <p:txBody>
          <a:bodyPr/>
          <a:p/>
        </p:txBody>
      </p:sp>
      <p:sp>
        <p:nvSpPr>
          <p:cNvPr id="42" name="Text 39"/>
          <p:cNvSpPr txBox="1"/>
          <p:nvPr/>
        </p:nvSpPr>
        <p:spPr>
          <a:xfrm>
            <a:off x="6647688" y="5687568"/>
            <a:ext cx="4718304" cy="585216"/>
          </a:xfrm>
          <a:prstGeom prst="rect">
            <a:avLst/>
          </a:prstGeom>
          <a:noFill/>
          <a:ln/>
        </p:spPr>
        <p:txBody>
          <a:bodyPr wrap="square" lIns="0" tIns="0" rIns="0" bIns="0" rtlCol="0" anchor="ctr"/>
          <a:lstStyle/>
          <a:p>
            <a:pPr algn="l" indent="0" marL="0">
              <a:lnSpc>
                <a:spcPct val="116000"/>
              </a:lnSpc>
              <a:buNone/>
            </a:pPr>
            <a:r>
              <a:rPr lang="en-US" sz="1150" b="1" dirty="0">
                <a:solidFill>
                  <a:srgbClr val="10603F"/>
                </a:solidFill>
                <a:latin typeface="Aptos" pitchFamily="34" charset="0"/>
                <a:ea typeface="Aptos" pitchFamily="34" charset="-122"/>
                <a:cs typeface="Aptos" pitchFamily="34" charset="-120"/>
              </a:rPr>
              <a:t>A slot that was never offered cannot be argued about on arrival.</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18</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MAXDOCK RECEIVING</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At the door, it is a phone and three buttons.</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Installs on any phone. Scan the QR on the paperwork, see the load, tap where it got to.</a:t>
            </a:r>
            <a:endParaRPr lang="en-US" sz="1200" dirty="0"/>
          </a:p>
        </p:txBody>
      </p:sp>
      <p:sp>
        <p:nvSpPr>
          <p:cNvPr id="10" name="Shape 7"/>
          <p:cNvSpPr/>
          <p:nvPr/>
        </p:nvSpPr>
        <p:spPr>
          <a:xfrm>
            <a:off x="530352" y="1572768"/>
            <a:ext cx="3383280" cy="4160520"/>
          </a:xfrm>
          <a:prstGeom prst="roundRect">
            <a:avLst>
              <a:gd name="adj" fmla="val 3243"/>
            </a:avLst>
          </a:prstGeom>
          <a:solidFill>
            <a:srgbClr val="072238"/>
          </a:solidFill>
          <a:ln/>
        </p:spPr>
        <p:txBody>
          <a:bodyPr/>
          <a:p/>
        </p:txBody>
      </p:sp>
      <p:sp>
        <p:nvSpPr>
          <p:cNvPr id="11" name="Text 8"/>
          <p:cNvSpPr txBox="1"/>
          <p:nvPr/>
        </p:nvSpPr>
        <p:spPr>
          <a:xfrm>
            <a:off x="859536" y="1883664"/>
            <a:ext cx="2724912" cy="256032"/>
          </a:xfrm>
          <a:prstGeom prst="rect">
            <a:avLst/>
          </a:prstGeom>
          <a:noFill/>
          <a:ln/>
        </p:spPr>
        <p:txBody>
          <a:bodyPr wrap="square" lIns="0" tIns="0" rIns="0" bIns="0" rtlCol="0" anchor="t"/>
          <a:lstStyle/>
          <a:p>
            <a:pPr algn="l" indent="0" marL="0">
              <a:lnSpc>
                <a:spcPct val="100000"/>
              </a:lnSpc>
              <a:buNone/>
            </a:pPr>
            <a:r>
              <a:rPr lang="en-US" sz="1150" b="1" dirty="0">
                <a:solidFill>
                  <a:srgbClr val="14AEE8"/>
                </a:solidFill>
                <a:latin typeface="Aptos" pitchFamily="34" charset="0"/>
                <a:ea typeface="Aptos" pitchFamily="34" charset="-122"/>
                <a:cs typeface="Aptos" pitchFamily="34" charset="-120"/>
              </a:rPr>
              <a:t>Receiving · Mississauga</a:t>
            </a:r>
            <a:endParaRPr lang="en-US" sz="1150" dirty="0"/>
          </a:p>
        </p:txBody>
      </p:sp>
      <p:sp>
        <p:nvSpPr>
          <p:cNvPr id="12" name="Text 9"/>
          <p:cNvSpPr txBox="1"/>
          <p:nvPr/>
        </p:nvSpPr>
        <p:spPr>
          <a:xfrm>
            <a:off x="859536" y="2267712"/>
            <a:ext cx="2724912" cy="365760"/>
          </a:xfrm>
          <a:prstGeom prst="rect">
            <a:avLst/>
          </a:prstGeom>
          <a:noFill/>
          <a:ln/>
        </p:spPr>
        <p:txBody>
          <a:bodyPr wrap="square" lIns="0" tIns="0" rIns="0" bIns="0" rtlCol="0" anchor="t"/>
          <a:lstStyle/>
          <a:p>
            <a:pPr algn="l" indent="0" marL="0">
              <a:lnSpc>
                <a:spcPct val="100000"/>
              </a:lnSpc>
              <a:buNone/>
            </a:pPr>
            <a:r>
              <a:rPr lang="en-US" sz="1800" b="1" dirty="0">
                <a:solidFill>
                  <a:srgbClr val="FFFFFF"/>
                </a:solidFill>
                <a:latin typeface="Aptos Display" pitchFamily="34" charset="0"/>
                <a:ea typeface="Aptos Display" pitchFamily="34" charset="-122"/>
                <a:cs typeface="Aptos Display" pitchFamily="34" charset="-120"/>
              </a:rPr>
              <a:t>MXD-2026-000071</a:t>
            </a:r>
            <a:endParaRPr lang="en-US" sz="1800" dirty="0"/>
          </a:p>
        </p:txBody>
      </p:sp>
      <p:sp>
        <p:nvSpPr>
          <p:cNvPr id="13" name="Text 10"/>
          <p:cNvSpPr txBox="1"/>
          <p:nvPr/>
        </p:nvSpPr>
        <p:spPr>
          <a:xfrm>
            <a:off x="859536" y="2706624"/>
            <a:ext cx="2724912" cy="566928"/>
          </a:xfrm>
          <a:prstGeom prst="rect">
            <a:avLst/>
          </a:prstGeom>
          <a:noFill/>
          <a:ln/>
        </p:spPr>
        <p:txBody>
          <a:bodyPr wrap="square" lIns="0" tIns="0" rIns="0" bIns="0" rtlCol="0" anchor="t"/>
          <a:lstStyle/>
          <a:p>
            <a:pPr algn="l" indent="0" marL="0">
              <a:lnSpc>
                <a:spcPct val="125000"/>
              </a:lnSpc>
              <a:buNone/>
            </a:pPr>
            <a:r>
              <a:rPr lang="en-US" sz="1150" dirty="0">
                <a:solidFill>
                  <a:srgbClr val="B9D7E8"/>
                </a:solidFill>
                <a:latin typeface="Aptos" pitchFamily="34" charset="0"/>
                <a:ea typeface="Aptos" pitchFamily="34" charset="-122"/>
                <a:cs typeface="Aptos" pitchFamily="34" charset="-120"/>
              </a:rPr>
              <a:t>Cascades · Outbound · 22 skids</a:t>
            </a:r>
            <a:endParaRPr lang="en-US" sz="1150" dirty="0"/>
          </a:p>
          <a:p>
            <a:pPr algn="l" indent="0" marL="0">
              <a:lnSpc>
                <a:spcPct val="125000"/>
              </a:lnSpc>
              <a:buNone/>
            </a:pPr>
            <a:r>
              <a:rPr lang="en-US" sz="1150" dirty="0">
                <a:solidFill>
                  <a:srgbClr val="B9D7E8"/>
                </a:solidFill>
                <a:latin typeface="Aptos" pitchFamily="34" charset="0"/>
                <a:ea typeface="Aptos" pitchFamily="34" charset="-122"/>
                <a:cs typeface="Aptos" pitchFamily="34" charset="-120"/>
              </a:rPr>
              <a:t>Door 2 · 09:00 · 53 ft</a:t>
            </a:r>
            <a:endParaRPr lang="en-US" sz="1150" dirty="0"/>
          </a:p>
        </p:txBody>
      </p:sp>
      <p:sp>
        <p:nvSpPr>
          <p:cNvPr id="14" name="Shape 11"/>
          <p:cNvSpPr/>
          <p:nvPr/>
        </p:nvSpPr>
        <p:spPr>
          <a:xfrm>
            <a:off x="859536" y="3456432"/>
            <a:ext cx="2724912" cy="493776"/>
          </a:xfrm>
          <a:prstGeom prst="roundRect">
            <a:avLst>
              <a:gd name="adj" fmla="val 12963"/>
            </a:avLst>
          </a:prstGeom>
          <a:solidFill>
            <a:srgbClr val="0877C9"/>
          </a:solidFill>
          <a:ln/>
        </p:spPr>
        <p:txBody>
          <a:bodyPr/>
          <a:p/>
        </p:txBody>
      </p:sp>
      <p:sp>
        <p:nvSpPr>
          <p:cNvPr id="15" name="Text 12"/>
          <p:cNvSpPr txBox="1"/>
          <p:nvPr/>
        </p:nvSpPr>
        <p:spPr>
          <a:xfrm>
            <a:off x="859536" y="3593592"/>
            <a:ext cx="2724912" cy="237744"/>
          </a:xfrm>
          <a:prstGeom prst="rect">
            <a:avLst/>
          </a:prstGeom>
          <a:noFill/>
          <a:ln/>
        </p:spPr>
        <p:txBody>
          <a:bodyPr wrap="square" lIns="0" tIns="0" rIns="0" bIns="0" rtlCol="0" anchor="t"/>
          <a:lstStyle/>
          <a:p>
            <a:pPr algn="ctr" indent="0" marL="0">
              <a:lnSpc>
                <a:spcPct val="100000"/>
              </a:lnSpc>
              <a:buNone/>
            </a:pPr>
            <a:r>
              <a:rPr lang="en-US" sz="1250" b="1" dirty="0">
                <a:solidFill>
                  <a:srgbClr val="FFFFFF"/>
                </a:solidFill>
                <a:latin typeface="Aptos" pitchFamily="34" charset="0"/>
                <a:ea typeface="Aptos" pitchFamily="34" charset="-122"/>
                <a:cs typeface="Aptos" pitchFamily="34" charset="-120"/>
              </a:rPr>
              <a:t>At the dock</a:t>
            </a:r>
            <a:endParaRPr lang="en-US" sz="1250" dirty="0"/>
          </a:p>
        </p:txBody>
      </p:sp>
      <p:sp>
        <p:nvSpPr>
          <p:cNvPr id="16" name="Shape 13"/>
          <p:cNvSpPr/>
          <p:nvPr/>
        </p:nvSpPr>
        <p:spPr>
          <a:xfrm>
            <a:off x="859536" y="4059936"/>
            <a:ext cx="2724912" cy="493776"/>
          </a:xfrm>
          <a:prstGeom prst="roundRect">
            <a:avLst>
              <a:gd name="adj" fmla="val 12963"/>
            </a:avLst>
          </a:prstGeom>
          <a:solidFill>
            <a:srgbClr val="0877C9"/>
          </a:solidFill>
          <a:ln/>
        </p:spPr>
        <p:txBody>
          <a:bodyPr/>
          <a:p/>
        </p:txBody>
      </p:sp>
      <p:sp>
        <p:nvSpPr>
          <p:cNvPr id="17" name="Text 14"/>
          <p:cNvSpPr txBox="1"/>
          <p:nvPr/>
        </p:nvSpPr>
        <p:spPr>
          <a:xfrm>
            <a:off x="859536" y="4197096"/>
            <a:ext cx="2724912" cy="237744"/>
          </a:xfrm>
          <a:prstGeom prst="rect">
            <a:avLst/>
          </a:prstGeom>
          <a:noFill/>
          <a:ln/>
        </p:spPr>
        <p:txBody>
          <a:bodyPr wrap="square" lIns="0" tIns="0" rIns="0" bIns="0" rtlCol="0" anchor="t"/>
          <a:lstStyle/>
          <a:p>
            <a:pPr algn="ctr" indent="0" marL="0">
              <a:lnSpc>
                <a:spcPct val="100000"/>
              </a:lnSpc>
              <a:buNone/>
            </a:pPr>
            <a:r>
              <a:rPr lang="en-US" sz="1250" b="1" dirty="0">
                <a:solidFill>
                  <a:srgbClr val="FFFFFF"/>
                </a:solidFill>
                <a:latin typeface="Aptos" pitchFamily="34" charset="0"/>
                <a:ea typeface="Aptos" pitchFamily="34" charset="-122"/>
                <a:cs typeface="Aptos" pitchFamily="34" charset="-120"/>
              </a:rPr>
              <a:t>Loading</a:t>
            </a:r>
            <a:endParaRPr lang="en-US" sz="1250" dirty="0"/>
          </a:p>
        </p:txBody>
      </p:sp>
      <p:sp>
        <p:nvSpPr>
          <p:cNvPr id="18" name="Shape 15"/>
          <p:cNvSpPr/>
          <p:nvPr/>
        </p:nvSpPr>
        <p:spPr>
          <a:xfrm>
            <a:off x="859536" y="4663440"/>
            <a:ext cx="2724912" cy="493776"/>
          </a:xfrm>
          <a:prstGeom prst="roundRect">
            <a:avLst>
              <a:gd name="adj" fmla="val 12963"/>
            </a:avLst>
          </a:prstGeom>
          <a:solidFill>
            <a:srgbClr val="14A66A"/>
          </a:solidFill>
          <a:ln/>
        </p:spPr>
        <p:txBody>
          <a:bodyPr/>
          <a:p/>
        </p:txBody>
      </p:sp>
      <p:sp>
        <p:nvSpPr>
          <p:cNvPr id="19" name="Text 16"/>
          <p:cNvSpPr txBox="1"/>
          <p:nvPr/>
        </p:nvSpPr>
        <p:spPr>
          <a:xfrm>
            <a:off x="859536" y="4800600"/>
            <a:ext cx="2724912" cy="237744"/>
          </a:xfrm>
          <a:prstGeom prst="rect">
            <a:avLst/>
          </a:prstGeom>
          <a:noFill/>
          <a:ln/>
        </p:spPr>
        <p:txBody>
          <a:bodyPr wrap="square" lIns="0" tIns="0" rIns="0" bIns="0" rtlCol="0" anchor="t"/>
          <a:lstStyle/>
          <a:p>
            <a:pPr algn="ctr" indent="0" marL="0">
              <a:lnSpc>
                <a:spcPct val="100000"/>
              </a:lnSpc>
              <a:buNone/>
            </a:pPr>
            <a:r>
              <a:rPr lang="en-US" sz="1250" b="1" dirty="0">
                <a:solidFill>
                  <a:srgbClr val="FFFFFF"/>
                </a:solidFill>
                <a:latin typeface="Aptos" pitchFamily="34" charset="0"/>
                <a:ea typeface="Aptos" pitchFamily="34" charset="-122"/>
                <a:cs typeface="Aptos" pitchFamily="34" charset="-120"/>
              </a:rPr>
              <a:t>Shipped</a:t>
            </a:r>
            <a:endParaRPr lang="en-US" sz="1250" dirty="0"/>
          </a:p>
        </p:txBody>
      </p:sp>
      <p:sp>
        <p:nvSpPr>
          <p:cNvPr id="20" name="Text 17"/>
          <p:cNvSpPr txBox="1"/>
          <p:nvPr/>
        </p:nvSpPr>
        <p:spPr>
          <a:xfrm>
            <a:off x="859536" y="5285232"/>
            <a:ext cx="2724912" cy="274320"/>
          </a:xfrm>
          <a:prstGeom prst="rect">
            <a:avLst/>
          </a:prstGeom>
          <a:noFill/>
          <a:ln/>
        </p:spPr>
        <p:txBody>
          <a:bodyPr wrap="square" lIns="0" tIns="0" rIns="0" bIns="0" rtlCol="0" anchor="t"/>
          <a:lstStyle/>
          <a:p>
            <a:pPr algn="l" indent="0" marL="0">
              <a:lnSpc>
                <a:spcPct val="100000"/>
              </a:lnSpc>
              <a:buNone/>
            </a:pPr>
            <a:r>
              <a:rPr lang="en-US" sz="1000" i="1" dirty="0">
                <a:solidFill>
                  <a:srgbClr val="7FA3B8"/>
                </a:solidFill>
                <a:latin typeface="Aptos" pitchFamily="34" charset="0"/>
                <a:ea typeface="Aptos" pitchFamily="34" charset="-122"/>
                <a:cs typeface="Aptos" pitchFamily="34" charset="-120"/>
              </a:rPr>
              <a:t>Shipped turns Guelph's board to En route.</a:t>
            </a:r>
            <a:endParaRPr lang="en-US" sz="1000" dirty="0"/>
          </a:p>
        </p:txBody>
      </p:sp>
      <p:sp>
        <p:nvSpPr>
          <p:cNvPr id="21" name="Shape 18"/>
          <p:cNvSpPr/>
          <p:nvPr/>
        </p:nvSpPr>
        <p:spPr>
          <a:xfrm>
            <a:off x="4343400" y="1572768"/>
            <a:ext cx="7315200" cy="868680"/>
          </a:xfrm>
          <a:prstGeom prst="roundRect">
            <a:avLst>
              <a:gd name="adj" fmla="val 8421"/>
            </a:avLst>
          </a:prstGeom>
          <a:solidFill>
            <a:srgbClr val="FCF0DC"/>
          </a:solidFill>
          <a:ln/>
        </p:spPr>
        <p:txBody>
          <a:bodyPr/>
          <a:p/>
        </p:txBody>
      </p:sp>
      <p:sp>
        <p:nvSpPr>
          <p:cNvPr id="22" name="Text 19"/>
          <p:cNvSpPr txBox="1"/>
          <p:nvPr/>
        </p:nvSpPr>
        <p:spPr>
          <a:xfrm>
            <a:off x="4654296" y="1700784"/>
            <a:ext cx="6693408" cy="621792"/>
          </a:xfrm>
          <a:prstGeom prst="rect">
            <a:avLst/>
          </a:prstGeom>
          <a:noFill/>
          <a:ln/>
        </p:spPr>
        <p:txBody>
          <a:bodyPr wrap="square" lIns="0" tIns="0" rIns="0" bIns="0" rtlCol="0" anchor="ctr"/>
          <a:lstStyle/>
          <a:p>
            <a:pPr algn="l" indent="0" marL="0">
              <a:lnSpc>
                <a:spcPct val="115000"/>
              </a:lnSpc>
              <a:buNone/>
            </a:pPr>
            <a:r>
              <a:rPr lang="en-US" sz="1350" b="1" dirty="0">
                <a:solidFill>
                  <a:srgbClr val="8A5B06"/>
                </a:solidFill>
                <a:latin typeface="Aptos" pitchFamily="34" charset="0"/>
                <a:ea typeface="Aptos" pitchFamily="34" charset="-122"/>
                <a:cs typeface="Aptos" pitchFamily="34" charset="-120"/>
              </a:rPr>
              <a:t>Big targets: one-handed, beside a running truck, in gloves, in February.</a:t>
            </a:r>
            <a:endParaRPr lang="en-US" sz="1350" dirty="0"/>
          </a:p>
        </p:txBody>
      </p:sp>
      <p:sp>
        <p:nvSpPr>
          <p:cNvPr id="23" name="Shape 20"/>
          <p:cNvSpPr/>
          <p:nvPr/>
        </p:nvSpPr>
        <p:spPr>
          <a:xfrm>
            <a:off x="4343400" y="2761488"/>
            <a:ext cx="274320" cy="274320"/>
          </a:xfrm>
          <a:prstGeom prst="roundRect">
            <a:avLst>
              <a:gd name="adj" fmla="val 16667"/>
            </a:avLst>
          </a:prstGeom>
          <a:solidFill>
            <a:srgbClr val="0877C9"/>
          </a:solidFill>
          <a:ln/>
        </p:spPr>
        <p:txBody>
          <a:bodyPr/>
          <a:p/>
        </p:txBody>
      </p:sp>
      <p:sp>
        <p:nvSpPr>
          <p:cNvPr id="24" name="Text 21"/>
          <p:cNvSpPr txBox="1"/>
          <p:nvPr/>
        </p:nvSpPr>
        <p:spPr>
          <a:xfrm>
            <a:off x="4782312" y="2724912"/>
            <a:ext cx="6876288" cy="347472"/>
          </a:xfrm>
          <a:prstGeom prst="rect">
            <a:avLst/>
          </a:prstGeom>
          <a:noFill/>
          <a:ln/>
        </p:spPr>
        <p:txBody>
          <a:bodyPr wrap="square" lIns="0" tIns="0" rIns="0" bIns="0" rtlCol="0" anchor="t"/>
          <a:lstStyle/>
          <a:p>
            <a:pPr algn="l" indent="0" marL="0">
              <a:lnSpc>
                <a:spcPct val="100000"/>
              </a:lnSpc>
              <a:buNone/>
            </a:pPr>
            <a:r>
              <a:rPr lang="en-US" sz="1550" b="1" dirty="0">
                <a:solidFill>
                  <a:srgbClr val="0B1F33"/>
                </a:solidFill>
                <a:latin typeface="Aptos Display" pitchFamily="34" charset="0"/>
                <a:ea typeface="Aptos Display" pitchFamily="34" charset="-122"/>
                <a:cs typeface="Aptos Display" pitchFamily="34" charset="-120"/>
              </a:rPr>
              <a:t>The words follow the direction</a:t>
            </a:r>
            <a:endParaRPr lang="en-US" sz="1550" dirty="0"/>
          </a:p>
        </p:txBody>
      </p:sp>
      <p:sp>
        <p:nvSpPr>
          <p:cNvPr id="25" name="Text 22"/>
          <p:cNvSpPr txBox="1"/>
          <p:nvPr/>
        </p:nvSpPr>
        <p:spPr>
          <a:xfrm>
            <a:off x="4782312" y="3127248"/>
            <a:ext cx="6876288" cy="548640"/>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Outbound: At the dock · Loading · Shipped</a:t>
            </a:r>
            <a:endParaRPr lang="en-US" sz="1150" dirty="0"/>
          </a:p>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Inbound: At the dock · Unloading · Received</a:t>
            </a:r>
            <a:endParaRPr lang="en-US" sz="1150" dirty="0"/>
          </a:p>
        </p:txBody>
      </p:sp>
      <p:sp>
        <p:nvSpPr>
          <p:cNvPr id="26" name="Shape 23"/>
          <p:cNvSpPr/>
          <p:nvPr/>
        </p:nvSpPr>
        <p:spPr>
          <a:xfrm>
            <a:off x="4343400" y="3803904"/>
            <a:ext cx="274320" cy="274320"/>
          </a:xfrm>
          <a:prstGeom prst="roundRect">
            <a:avLst>
              <a:gd name="adj" fmla="val 16667"/>
            </a:avLst>
          </a:prstGeom>
          <a:solidFill>
            <a:srgbClr val="14A66A"/>
          </a:solidFill>
          <a:ln/>
        </p:spPr>
        <p:txBody>
          <a:bodyPr/>
          <a:p/>
        </p:txBody>
      </p:sp>
      <p:sp>
        <p:nvSpPr>
          <p:cNvPr id="27" name="Text 24"/>
          <p:cNvSpPr txBox="1"/>
          <p:nvPr/>
        </p:nvSpPr>
        <p:spPr>
          <a:xfrm>
            <a:off x="4782312" y="3767328"/>
            <a:ext cx="6876288" cy="347472"/>
          </a:xfrm>
          <a:prstGeom prst="rect">
            <a:avLst/>
          </a:prstGeom>
          <a:noFill/>
          <a:ln/>
        </p:spPr>
        <p:txBody>
          <a:bodyPr wrap="square" lIns="0" tIns="0" rIns="0" bIns="0" rtlCol="0" anchor="t"/>
          <a:lstStyle/>
          <a:p>
            <a:pPr algn="l" indent="0" marL="0">
              <a:lnSpc>
                <a:spcPct val="100000"/>
              </a:lnSpc>
              <a:buNone/>
            </a:pPr>
            <a:r>
              <a:rPr lang="en-US" sz="1550" b="1" dirty="0">
                <a:solidFill>
                  <a:srgbClr val="0B1F33"/>
                </a:solidFill>
                <a:latin typeface="Aptos Display" pitchFamily="34" charset="0"/>
                <a:ea typeface="Aptos Display" pitchFamily="34" charset="-122"/>
                <a:cs typeface="Aptos Display" pitchFamily="34" charset="-120"/>
              </a:rPr>
              <a:t>Three taps, and that is the whole job</a:t>
            </a:r>
            <a:endParaRPr lang="en-US" sz="1550" dirty="0"/>
          </a:p>
        </p:txBody>
      </p:sp>
      <p:sp>
        <p:nvSpPr>
          <p:cNvPr id="28" name="Text 25"/>
          <p:cNvSpPr txBox="1"/>
          <p:nvPr/>
        </p:nvSpPr>
        <p:spPr>
          <a:xfrm>
            <a:off x="4782312" y="4169664"/>
            <a:ext cx="6876288" cy="548640"/>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No forms, and nothing to write up afterwards.</a:t>
            </a:r>
            <a:endParaRPr lang="en-US" sz="1150" dirty="0"/>
          </a:p>
        </p:txBody>
      </p:sp>
      <p:sp>
        <p:nvSpPr>
          <p:cNvPr id="29" name="Shape 26"/>
          <p:cNvSpPr/>
          <p:nvPr/>
        </p:nvSpPr>
        <p:spPr>
          <a:xfrm>
            <a:off x="4343400" y="4846320"/>
            <a:ext cx="274320" cy="274320"/>
          </a:xfrm>
          <a:prstGeom prst="roundRect">
            <a:avLst>
              <a:gd name="adj" fmla="val 16667"/>
            </a:avLst>
          </a:prstGeom>
          <a:solidFill>
            <a:srgbClr val="F2A11B"/>
          </a:solidFill>
          <a:ln/>
        </p:spPr>
        <p:txBody>
          <a:bodyPr/>
          <a:p/>
        </p:txBody>
      </p:sp>
      <p:sp>
        <p:nvSpPr>
          <p:cNvPr id="30" name="Text 27"/>
          <p:cNvSpPr txBox="1"/>
          <p:nvPr/>
        </p:nvSpPr>
        <p:spPr>
          <a:xfrm>
            <a:off x="4782312" y="4809744"/>
            <a:ext cx="6876288" cy="347472"/>
          </a:xfrm>
          <a:prstGeom prst="rect">
            <a:avLst/>
          </a:prstGeom>
          <a:noFill/>
          <a:ln/>
        </p:spPr>
        <p:txBody>
          <a:bodyPr wrap="square" lIns="0" tIns="0" rIns="0" bIns="0" rtlCol="0" anchor="t"/>
          <a:lstStyle/>
          <a:p>
            <a:pPr algn="l" indent="0" marL="0">
              <a:lnSpc>
                <a:spcPct val="100000"/>
              </a:lnSpc>
              <a:buNone/>
            </a:pPr>
            <a:r>
              <a:rPr lang="en-US" sz="1550" b="1" dirty="0">
                <a:solidFill>
                  <a:srgbClr val="0B1F33"/>
                </a:solidFill>
                <a:latin typeface="Aptos Display" pitchFamily="34" charset="0"/>
                <a:ea typeface="Aptos Display" pitchFamily="34" charset="-122"/>
                <a:cs typeface="Aptos Display" pitchFamily="34" charset="-120"/>
              </a:rPr>
              <a:t>Every tap is a timestamp</a:t>
            </a:r>
            <a:endParaRPr lang="en-US" sz="1550" dirty="0"/>
          </a:p>
        </p:txBody>
      </p:sp>
      <p:sp>
        <p:nvSpPr>
          <p:cNvPr id="31" name="Text 28"/>
          <p:cNvSpPr txBox="1"/>
          <p:nvPr/>
        </p:nvSpPr>
        <p:spPr>
          <a:xfrm>
            <a:off x="4782312" y="5212080"/>
            <a:ext cx="6876288" cy="548640"/>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Arrival, start, finish. That is where every report in this deck comes from.</a:t>
            </a:r>
            <a:endParaRPr lang="en-US" sz="1150" dirty="0"/>
          </a:p>
        </p:txBody>
      </p:sp>
      <p:sp>
        <p:nvSpPr>
          <p:cNvPr id="32" name="Text 29"/>
          <p:cNvSpPr txBox="1"/>
          <p:nvPr/>
        </p:nvSpPr>
        <p:spPr>
          <a:xfrm>
            <a:off x="4343400" y="5870448"/>
            <a:ext cx="7315200" cy="310896"/>
          </a:xfrm>
          <a:prstGeom prst="rect">
            <a:avLst/>
          </a:prstGeom>
          <a:noFill/>
          <a:ln/>
        </p:spPr>
        <p:txBody>
          <a:bodyPr wrap="square" lIns="0" tIns="0" rIns="0" bIns="0" rtlCol="0" anchor="t"/>
          <a:lstStyle/>
          <a:p>
            <a:pPr algn="l" indent="0" marL="0">
              <a:lnSpc>
                <a:spcPct val="100000"/>
              </a:lnSpc>
              <a:buNone/>
            </a:pPr>
            <a:r>
              <a:rPr lang="en-US" sz="1100" i="1" dirty="0">
                <a:solidFill>
                  <a:srgbClr val="6F8491"/>
                </a:solidFill>
                <a:latin typeface="Aptos" pitchFamily="34" charset="0"/>
                <a:ea typeface="Aptos" pitchFamily="34" charset="-122"/>
                <a:cs typeface="Aptos" pitchFamily="34" charset="-120"/>
              </a:rPr>
              <a:t>The same app, on any phone the crew already carries. Nothing to buy.</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19</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THE REAL SCREEN</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The load, on the dock crew's phone.</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Scanned in at the door. Everything the crew needs, and one thing to do.</a:t>
            </a:r>
            <a:endParaRPr lang="en-US" sz="1200" dirty="0"/>
          </a:p>
        </p:txBody>
      </p:sp>
      <p:sp>
        <p:nvSpPr>
          <p:cNvPr id="10" name="Shape 7"/>
          <p:cNvSpPr/>
          <p:nvPr/>
        </p:nvSpPr>
        <p:spPr>
          <a:xfrm>
            <a:off x="530352" y="1572768"/>
            <a:ext cx="3931920" cy="4480560"/>
          </a:xfrm>
          <a:prstGeom prst="roundRect">
            <a:avLst>
              <a:gd name="adj" fmla="val 1860"/>
            </a:avLst>
          </a:prstGeom>
          <a:solidFill>
            <a:srgbClr val="EDF3F7"/>
          </a:solidFill>
          <a:ln/>
        </p:spPr>
        <p:txBody>
          <a:bodyPr/>
          <a:p/>
        </p:txBody>
      </p:sp>
      <p:pic>
        <p:nvPicPr>
          <p:cNvPr id="11" name="Image 1" descr="unpacked/ppt/media/image-15-2.png">    </p:cNvPr>
          <p:cNvPicPr>
            <a:picLocks noChangeAspect="1"/>
          </p:cNvPicPr>
          <p:nvPr/>
        </p:nvPicPr>
        <p:blipFill>
          <a:blip r:embed="rId2"/>
          <a:stretch>
            <a:fillRect/>
          </a:stretch>
        </p:blipFill>
        <p:spPr>
          <a:xfrm>
            <a:off x="1417320" y="1737360"/>
            <a:ext cx="2148840" cy="4151376"/>
          </a:xfrm>
          <a:prstGeom prst="rect">
            <a:avLst/>
          </a:prstGeom>
        </p:spPr>
      </p:pic>
      <p:sp>
        <p:nvSpPr>
          <p:cNvPr id="12" name="Shape 8"/>
          <p:cNvSpPr/>
          <p:nvPr/>
        </p:nvSpPr>
        <p:spPr>
          <a:xfrm>
            <a:off x="4709160" y="1572768"/>
            <a:ext cx="3310128" cy="2103120"/>
          </a:xfrm>
          <a:prstGeom prst="roundRect">
            <a:avLst>
              <a:gd name="adj" fmla="val 3478"/>
            </a:avLst>
          </a:prstGeom>
          <a:solidFill>
            <a:srgbClr val="FFFFFF"/>
          </a:solidFill>
          <a:ln w="9525">
            <a:solidFill>
              <a:srgbClr val="D8E4EA"/>
            </a:solidFill>
            <a:prstDash val="solid"/>
          </a:ln>
        </p:spPr>
        <p:txBody>
          <a:bodyPr/>
          <a:p/>
        </p:txBody>
      </p:sp>
      <p:sp>
        <p:nvSpPr>
          <p:cNvPr id="13" name="Shape 9"/>
          <p:cNvSpPr/>
          <p:nvPr/>
        </p:nvSpPr>
        <p:spPr>
          <a:xfrm>
            <a:off x="5001768" y="1865376"/>
            <a:ext cx="274320" cy="274320"/>
          </a:xfrm>
          <a:prstGeom prst="roundRect">
            <a:avLst>
              <a:gd name="adj" fmla="val 16667"/>
            </a:avLst>
          </a:prstGeom>
          <a:solidFill>
            <a:srgbClr val="0877C9"/>
          </a:solidFill>
          <a:ln/>
        </p:spPr>
        <p:txBody>
          <a:bodyPr/>
          <a:p/>
        </p:txBody>
      </p:sp>
      <p:sp>
        <p:nvSpPr>
          <p:cNvPr id="14" name="Text 10"/>
          <p:cNvSpPr txBox="1"/>
          <p:nvPr/>
        </p:nvSpPr>
        <p:spPr>
          <a:xfrm>
            <a:off x="5001768" y="2286000"/>
            <a:ext cx="2724912" cy="420624"/>
          </a:xfrm>
          <a:prstGeom prst="rect">
            <a:avLst/>
          </a:prstGeom>
          <a:noFill/>
          <a:ln/>
        </p:spPr>
        <p:txBody>
          <a:bodyPr wrap="square" lIns="0" tIns="0" rIns="0" bIns="0" rtlCol="0" anchor="t"/>
          <a:lstStyle/>
          <a:p>
            <a:pPr algn="l" indent="0" marL="0">
              <a:lnSpc>
                <a:spcPct val="105000"/>
              </a:lnSpc>
              <a:buNone/>
            </a:pPr>
            <a:r>
              <a:rPr lang="en-US" sz="1550" b="1" dirty="0">
                <a:solidFill>
                  <a:srgbClr val="0B1F33"/>
                </a:solidFill>
                <a:latin typeface="Aptos Display" pitchFamily="34" charset="0"/>
                <a:ea typeface="Aptos Display" pitchFamily="34" charset="-122"/>
                <a:cs typeface="Aptos Display" pitchFamily="34" charset="-120"/>
              </a:rPr>
              <a:t>Reference and status</a:t>
            </a:r>
            <a:endParaRPr lang="en-US" sz="1550" dirty="0"/>
          </a:p>
        </p:txBody>
      </p:sp>
      <p:sp>
        <p:nvSpPr>
          <p:cNvPr id="15" name="Text 11"/>
          <p:cNvSpPr txBox="1"/>
          <p:nvPr/>
        </p:nvSpPr>
        <p:spPr>
          <a:xfrm>
            <a:off x="5001768" y="2761488"/>
            <a:ext cx="2724912" cy="713232"/>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MXD-2026-000141, Scheduled. The QR on the paperwork brought this up.</a:t>
            </a:r>
            <a:endParaRPr lang="en-US" sz="1150" dirty="0"/>
          </a:p>
        </p:txBody>
      </p:sp>
      <p:sp>
        <p:nvSpPr>
          <p:cNvPr id="16" name="Shape 12"/>
          <p:cNvSpPr/>
          <p:nvPr/>
        </p:nvSpPr>
        <p:spPr>
          <a:xfrm>
            <a:off x="8348472" y="1572768"/>
            <a:ext cx="3310128" cy="2103120"/>
          </a:xfrm>
          <a:prstGeom prst="roundRect">
            <a:avLst>
              <a:gd name="adj" fmla="val 3478"/>
            </a:avLst>
          </a:prstGeom>
          <a:solidFill>
            <a:srgbClr val="FFFFFF"/>
          </a:solidFill>
          <a:ln w="9525">
            <a:solidFill>
              <a:srgbClr val="D8E4EA"/>
            </a:solidFill>
            <a:prstDash val="solid"/>
          </a:ln>
        </p:spPr>
        <p:txBody>
          <a:bodyPr/>
          <a:p/>
        </p:txBody>
      </p:sp>
      <p:sp>
        <p:nvSpPr>
          <p:cNvPr id="17" name="Shape 13"/>
          <p:cNvSpPr/>
          <p:nvPr/>
        </p:nvSpPr>
        <p:spPr>
          <a:xfrm>
            <a:off x="8641080" y="1865376"/>
            <a:ext cx="274320" cy="274320"/>
          </a:xfrm>
          <a:prstGeom prst="roundRect">
            <a:avLst>
              <a:gd name="adj" fmla="val 16667"/>
            </a:avLst>
          </a:prstGeom>
          <a:solidFill>
            <a:srgbClr val="0877C9"/>
          </a:solidFill>
          <a:ln/>
        </p:spPr>
        <p:txBody>
          <a:bodyPr/>
          <a:p/>
        </p:txBody>
      </p:sp>
      <p:sp>
        <p:nvSpPr>
          <p:cNvPr id="18" name="Text 14"/>
          <p:cNvSpPr txBox="1"/>
          <p:nvPr/>
        </p:nvSpPr>
        <p:spPr>
          <a:xfrm>
            <a:off x="8641080" y="2286000"/>
            <a:ext cx="2724912" cy="420624"/>
          </a:xfrm>
          <a:prstGeom prst="rect">
            <a:avLst/>
          </a:prstGeom>
          <a:noFill/>
          <a:ln/>
        </p:spPr>
        <p:txBody>
          <a:bodyPr wrap="square" lIns="0" tIns="0" rIns="0" bIns="0" rtlCol="0" anchor="t"/>
          <a:lstStyle/>
          <a:p>
            <a:pPr algn="l" indent="0" marL="0">
              <a:lnSpc>
                <a:spcPct val="105000"/>
              </a:lnSpc>
              <a:buNone/>
            </a:pPr>
            <a:r>
              <a:rPr lang="en-US" sz="1550" b="1" dirty="0">
                <a:solidFill>
                  <a:srgbClr val="0B1F33"/>
                </a:solidFill>
                <a:latin typeface="Aptos Display" pitchFamily="34" charset="0"/>
                <a:ea typeface="Aptos Display" pitchFamily="34" charset="-122"/>
                <a:cs typeface="Aptos Display" pitchFamily="34" charset="-120"/>
              </a:rPr>
              <a:t>Everything about the load</a:t>
            </a:r>
            <a:endParaRPr lang="en-US" sz="1550" dirty="0"/>
          </a:p>
        </p:txBody>
      </p:sp>
      <p:sp>
        <p:nvSpPr>
          <p:cNvPr id="19" name="Text 15"/>
          <p:cNvSpPr txBox="1"/>
          <p:nvPr/>
        </p:nvSpPr>
        <p:spPr>
          <a:xfrm>
            <a:off x="8641080" y="2761488"/>
            <a:ext cx="2724912" cy="713232"/>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Site, door, booked window, direction, company, carrier, trailer, skids, and BOL.</a:t>
            </a:r>
            <a:endParaRPr lang="en-US" sz="1150" dirty="0"/>
          </a:p>
        </p:txBody>
      </p:sp>
      <p:sp>
        <p:nvSpPr>
          <p:cNvPr id="20" name="Shape 16"/>
          <p:cNvSpPr/>
          <p:nvPr/>
        </p:nvSpPr>
        <p:spPr>
          <a:xfrm>
            <a:off x="4709160" y="3950208"/>
            <a:ext cx="3310128" cy="2103120"/>
          </a:xfrm>
          <a:prstGeom prst="roundRect">
            <a:avLst>
              <a:gd name="adj" fmla="val 3478"/>
            </a:avLst>
          </a:prstGeom>
          <a:solidFill>
            <a:srgbClr val="FFFFFF"/>
          </a:solidFill>
          <a:ln w="9525">
            <a:solidFill>
              <a:srgbClr val="D8E4EA"/>
            </a:solidFill>
            <a:prstDash val="solid"/>
          </a:ln>
        </p:spPr>
        <p:txBody>
          <a:bodyPr/>
          <a:p/>
        </p:txBody>
      </p:sp>
      <p:sp>
        <p:nvSpPr>
          <p:cNvPr id="21" name="Shape 17"/>
          <p:cNvSpPr/>
          <p:nvPr/>
        </p:nvSpPr>
        <p:spPr>
          <a:xfrm>
            <a:off x="5001768" y="4242816"/>
            <a:ext cx="274320" cy="274320"/>
          </a:xfrm>
          <a:prstGeom prst="roundRect">
            <a:avLst>
              <a:gd name="adj" fmla="val 16667"/>
            </a:avLst>
          </a:prstGeom>
          <a:solidFill>
            <a:srgbClr val="14A66A"/>
          </a:solidFill>
          <a:ln/>
        </p:spPr>
        <p:txBody>
          <a:bodyPr/>
          <a:p/>
        </p:txBody>
      </p:sp>
      <p:sp>
        <p:nvSpPr>
          <p:cNvPr id="22" name="Text 18"/>
          <p:cNvSpPr txBox="1"/>
          <p:nvPr/>
        </p:nvSpPr>
        <p:spPr>
          <a:xfrm>
            <a:off x="5001768" y="4663440"/>
            <a:ext cx="2724912" cy="420624"/>
          </a:xfrm>
          <a:prstGeom prst="rect">
            <a:avLst/>
          </a:prstGeom>
          <a:noFill/>
          <a:ln/>
        </p:spPr>
        <p:txBody>
          <a:bodyPr wrap="square" lIns="0" tIns="0" rIns="0" bIns="0" rtlCol="0" anchor="t"/>
          <a:lstStyle/>
          <a:p>
            <a:pPr algn="l" indent="0" marL="0">
              <a:lnSpc>
                <a:spcPct val="105000"/>
              </a:lnSpc>
              <a:buNone/>
            </a:pPr>
            <a:r>
              <a:rPr lang="en-US" sz="1550" b="1" dirty="0">
                <a:solidFill>
                  <a:srgbClr val="0B1F33"/>
                </a:solidFill>
                <a:latin typeface="Aptos Display" pitchFamily="34" charset="0"/>
                <a:ea typeface="Aptos Display" pitchFamily="34" charset="-122"/>
                <a:cs typeface="Aptos Display" pitchFamily="34" charset="-120"/>
              </a:rPr>
              <a:t>Driver name, optional</a:t>
            </a:r>
            <a:endParaRPr lang="en-US" sz="1550" dirty="0"/>
          </a:p>
        </p:txBody>
      </p:sp>
      <p:sp>
        <p:nvSpPr>
          <p:cNvPr id="23" name="Text 19"/>
          <p:cNvSpPr txBox="1"/>
          <p:nvPr/>
        </p:nvSpPr>
        <p:spPr>
          <a:xfrm>
            <a:off x="5001768" y="5138928"/>
            <a:ext cx="2724912" cy="713232"/>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Captured if it is useful. Never a blocker.</a:t>
            </a:r>
            <a:endParaRPr lang="en-US" sz="1150" dirty="0"/>
          </a:p>
        </p:txBody>
      </p:sp>
      <p:sp>
        <p:nvSpPr>
          <p:cNvPr id="24" name="Shape 20"/>
          <p:cNvSpPr/>
          <p:nvPr/>
        </p:nvSpPr>
        <p:spPr>
          <a:xfrm>
            <a:off x="8348472" y="3950208"/>
            <a:ext cx="3310128" cy="2103120"/>
          </a:xfrm>
          <a:prstGeom prst="roundRect">
            <a:avLst>
              <a:gd name="adj" fmla="val 3478"/>
            </a:avLst>
          </a:prstGeom>
          <a:solidFill>
            <a:srgbClr val="FFFFFF"/>
          </a:solidFill>
          <a:ln w="9525">
            <a:solidFill>
              <a:srgbClr val="D8E4EA"/>
            </a:solidFill>
            <a:prstDash val="solid"/>
          </a:ln>
        </p:spPr>
        <p:txBody>
          <a:bodyPr/>
          <a:p/>
        </p:txBody>
      </p:sp>
      <p:sp>
        <p:nvSpPr>
          <p:cNvPr id="25" name="Shape 21"/>
          <p:cNvSpPr/>
          <p:nvPr/>
        </p:nvSpPr>
        <p:spPr>
          <a:xfrm>
            <a:off x="8641080" y="4242816"/>
            <a:ext cx="274320" cy="274320"/>
          </a:xfrm>
          <a:prstGeom prst="roundRect">
            <a:avLst>
              <a:gd name="adj" fmla="val 16667"/>
            </a:avLst>
          </a:prstGeom>
          <a:solidFill>
            <a:srgbClr val="F2A11B"/>
          </a:solidFill>
          <a:ln/>
        </p:spPr>
        <p:txBody>
          <a:bodyPr/>
          <a:p/>
        </p:txBody>
      </p:sp>
      <p:sp>
        <p:nvSpPr>
          <p:cNvPr id="26" name="Text 22"/>
          <p:cNvSpPr txBox="1"/>
          <p:nvPr/>
        </p:nvSpPr>
        <p:spPr>
          <a:xfrm>
            <a:off x="8641080" y="4663440"/>
            <a:ext cx="2724912" cy="420624"/>
          </a:xfrm>
          <a:prstGeom prst="rect">
            <a:avLst/>
          </a:prstGeom>
          <a:noFill/>
          <a:ln/>
        </p:spPr>
        <p:txBody>
          <a:bodyPr wrap="square" lIns="0" tIns="0" rIns="0" bIns="0" rtlCol="0" anchor="t"/>
          <a:lstStyle/>
          <a:p>
            <a:pPr algn="l" indent="0" marL="0">
              <a:lnSpc>
                <a:spcPct val="105000"/>
              </a:lnSpc>
              <a:buNone/>
            </a:pPr>
            <a:r>
              <a:rPr lang="en-US" sz="1550" b="1" dirty="0">
                <a:solidFill>
                  <a:srgbClr val="0B1F33"/>
                </a:solidFill>
                <a:latin typeface="Aptos Display" pitchFamily="34" charset="0"/>
                <a:ea typeface="Aptos Display" pitchFamily="34" charset="-122"/>
                <a:cs typeface="Aptos Display" pitchFamily="34" charset="-120"/>
              </a:rPr>
              <a:t>Where is this truck?</a:t>
            </a:r>
            <a:endParaRPr lang="en-US" sz="1550" dirty="0"/>
          </a:p>
        </p:txBody>
      </p:sp>
      <p:sp>
        <p:nvSpPr>
          <p:cNvPr id="27" name="Text 23"/>
          <p:cNvSpPr txBox="1"/>
          <p:nvPr/>
        </p:nvSpPr>
        <p:spPr>
          <a:xfrm>
            <a:off x="8641080" y="5138928"/>
            <a:ext cx="2724912" cy="713232"/>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At the dock, Loading, Shipped. Three taps, and each one is a timestamp.</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20</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A SMALL THING THAT SAVES A PHONE CALL</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It knows where you are standing.</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The pattern: where MaxDock knows something the person does not, it says the specific thing.</a:t>
            </a:r>
            <a:endParaRPr lang="en-US" sz="1200" dirty="0"/>
          </a:p>
        </p:txBody>
      </p:sp>
      <p:sp>
        <p:nvSpPr>
          <p:cNvPr id="10" name="Shape 7"/>
          <p:cNvSpPr/>
          <p:nvPr/>
        </p:nvSpPr>
        <p:spPr>
          <a:xfrm>
            <a:off x="530352" y="1591056"/>
            <a:ext cx="4846320" cy="3200400"/>
          </a:xfrm>
          <a:prstGeom prst="roundRect">
            <a:avLst>
              <a:gd name="adj" fmla="val 3429"/>
            </a:avLst>
          </a:prstGeom>
          <a:solidFill>
            <a:srgbClr val="072238"/>
          </a:solidFill>
          <a:ln/>
        </p:spPr>
        <p:txBody>
          <a:bodyPr/>
          <a:p/>
        </p:txBody>
      </p:sp>
      <p:sp>
        <p:nvSpPr>
          <p:cNvPr id="11" name="Text 8"/>
          <p:cNvSpPr txBox="1"/>
          <p:nvPr/>
        </p:nvSpPr>
        <p:spPr>
          <a:xfrm>
            <a:off x="859536" y="1865376"/>
            <a:ext cx="4187952" cy="256032"/>
          </a:xfrm>
          <a:prstGeom prst="rect">
            <a:avLst/>
          </a:prstGeom>
          <a:noFill/>
          <a:ln/>
        </p:spPr>
        <p:txBody>
          <a:bodyPr wrap="square" lIns="0" tIns="0" rIns="0" bIns="0" rtlCol="0" anchor="t"/>
          <a:lstStyle/>
          <a:p>
            <a:pPr algn="l" indent="0" marL="0">
              <a:lnSpc>
                <a:spcPct val="100000"/>
              </a:lnSpc>
              <a:buNone/>
            </a:pPr>
            <a:r>
              <a:rPr lang="en-US" sz="1150" b="1" dirty="0">
                <a:solidFill>
                  <a:srgbClr val="14AEE8"/>
                </a:solidFill>
                <a:latin typeface="Aptos" pitchFamily="34" charset="0"/>
                <a:ea typeface="Aptos" pitchFamily="34" charset="-122"/>
                <a:cs typeface="Aptos" pitchFamily="34" charset="-120"/>
              </a:rPr>
              <a:t>Receiving · Mississauga</a:t>
            </a:r>
            <a:endParaRPr lang="en-US" sz="1150" dirty="0"/>
          </a:p>
        </p:txBody>
      </p:sp>
      <p:sp>
        <p:nvSpPr>
          <p:cNvPr id="12" name="Text 9"/>
          <p:cNvSpPr txBox="1"/>
          <p:nvPr/>
        </p:nvSpPr>
        <p:spPr>
          <a:xfrm>
            <a:off x="859536" y="2231136"/>
            <a:ext cx="4187952" cy="365760"/>
          </a:xfrm>
          <a:prstGeom prst="rect">
            <a:avLst/>
          </a:prstGeom>
          <a:noFill/>
          <a:ln/>
        </p:spPr>
        <p:txBody>
          <a:bodyPr wrap="square" lIns="0" tIns="0" rIns="0" bIns="0" rtlCol="0" anchor="t"/>
          <a:lstStyle/>
          <a:p>
            <a:pPr algn="l" indent="0" marL="0">
              <a:lnSpc>
                <a:spcPct val="100000"/>
              </a:lnSpc>
              <a:buNone/>
            </a:pPr>
            <a:r>
              <a:rPr lang="en-US" sz="1800" b="1" dirty="0">
                <a:solidFill>
                  <a:srgbClr val="FFFFFF"/>
                </a:solidFill>
                <a:latin typeface="Aptos Display" pitchFamily="34" charset="0"/>
                <a:ea typeface="Aptos Display" pitchFamily="34" charset="-122"/>
                <a:cs typeface="Aptos Display" pitchFamily="34" charset="-120"/>
              </a:rPr>
              <a:t>This load belongs to Guelph</a:t>
            </a:r>
            <a:endParaRPr lang="en-US" sz="1800" dirty="0"/>
          </a:p>
        </p:txBody>
      </p:sp>
      <p:sp>
        <p:nvSpPr>
          <p:cNvPr id="13" name="Text 10"/>
          <p:cNvSpPr txBox="1"/>
          <p:nvPr/>
        </p:nvSpPr>
        <p:spPr>
          <a:xfrm>
            <a:off x="859536" y="2688336"/>
            <a:ext cx="4187952" cy="548640"/>
          </a:xfrm>
          <a:prstGeom prst="rect">
            <a:avLst/>
          </a:prstGeom>
          <a:noFill/>
          <a:ln/>
        </p:spPr>
        <p:txBody>
          <a:bodyPr wrap="square" lIns="0" tIns="0" rIns="0" bIns="0" rtlCol="0" anchor="t"/>
          <a:lstStyle/>
          <a:p>
            <a:pPr algn="l" indent="0" marL="0">
              <a:lnSpc>
                <a:spcPct val="120000"/>
              </a:lnSpc>
              <a:buNone/>
            </a:pPr>
            <a:r>
              <a:rPr lang="en-US" sz="1150" dirty="0">
                <a:solidFill>
                  <a:srgbClr val="B9D7E8"/>
                </a:solidFill>
                <a:latin typeface="Aptos" pitchFamily="34" charset="0"/>
                <a:ea typeface="Aptos" pitchFamily="34" charset="-122"/>
                <a:cs typeface="Aptos" pitchFamily="34" charset="-120"/>
              </a:rPr>
              <a:t>MXD-2026-000074 is booked into Guelph, Door 4, today at 13:30. You are scanning at Mississauga.</a:t>
            </a:r>
            <a:endParaRPr lang="en-US" sz="1150" dirty="0"/>
          </a:p>
        </p:txBody>
      </p:sp>
      <p:sp>
        <p:nvSpPr>
          <p:cNvPr id="14" name="Text 11"/>
          <p:cNvSpPr txBox="1"/>
          <p:nvPr/>
        </p:nvSpPr>
        <p:spPr>
          <a:xfrm>
            <a:off x="859536" y="3346704"/>
            <a:ext cx="731520" cy="237744"/>
          </a:xfrm>
          <a:prstGeom prst="rect">
            <a:avLst/>
          </a:prstGeom>
          <a:noFill/>
          <a:ln/>
        </p:spPr>
        <p:txBody>
          <a:bodyPr wrap="square" lIns="0" tIns="0" rIns="0" bIns="0" rtlCol="0" anchor="t"/>
          <a:lstStyle/>
          <a:p>
            <a:pPr algn="l" indent="0" marL="0">
              <a:lnSpc>
                <a:spcPct val="100000"/>
              </a:lnSpc>
              <a:buNone/>
            </a:pPr>
            <a:r>
              <a:rPr lang="en-US" sz="1000" dirty="0">
                <a:solidFill>
                  <a:srgbClr val="7FA3B8"/>
                </a:solidFill>
                <a:latin typeface="Aptos" pitchFamily="34" charset="0"/>
                <a:ea typeface="Aptos" pitchFamily="34" charset="-122"/>
                <a:cs typeface="Aptos" pitchFamily="34" charset="-120"/>
              </a:rPr>
              <a:t>Site</a:t>
            </a:r>
            <a:endParaRPr lang="en-US" sz="1000" dirty="0"/>
          </a:p>
        </p:txBody>
      </p:sp>
      <p:sp>
        <p:nvSpPr>
          <p:cNvPr id="15" name="Text 12"/>
          <p:cNvSpPr txBox="1"/>
          <p:nvPr/>
        </p:nvSpPr>
        <p:spPr>
          <a:xfrm>
            <a:off x="1591056" y="3346704"/>
            <a:ext cx="1188720" cy="237744"/>
          </a:xfrm>
          <a:prstGeom prst="rect">
            <a:avLst/>
          </a:prstGeom>
          <a:noFill/>
          <a:ln/>
        </p:spPr>
        <p:txBody>
          <a:bodyPr wrap="square" lIns="0" tIns="0" rIns="0" bIns="0" rtlCol="0" anchor="t"/>
          <a:lstStyle/>
          <a:p>
            <a:pPr algn="l" indent="0" marL="0">
              <a:lnSpc>
                <a:spcPct val="100000"/>
              </a:lnSpc>
              <a:buNone/>
            </a:pPr>
            <a:r>
              <a:rPr lang="en-US" sz="1050" b="1" dirty="0">
                <a:solidFill>
                  <a:srgbClr val="FFFFFF"/>
                </a:solidFill>
                <a:latin typeface="Aptos" pitchFamily="34" charset="0"/>
                <a:ea typeface="Aptos" pitchFamily="34" charset="-122"/>
                <a:cs typeface="Aptos" pitchFamily="34" charset="-120"/>
              </a:rPr>
              <a:t>Guelph</a:t>
            </a:r>
            <a:endParaRPr lang="en-US" sz="1050" dirty="0"/>
          </a:p>
        </p:txBody>
      </p:sp>
      <p:sp>
        <p:nvSpPr>
          <p:cNvPr id="16" name="Text 13"/>
          <p:cNvSpPr txBox="1"/>
          <p:nvPr/>
        </p:nvSpPr>
        <p:spPr>
          <a:xfrm>
            <a:off x="2999232" y="3346704"/>
            <a:ext cx="731520" cy="237744"/>
          </a:xfrm>
          <a:prstGeom prst="rect">
            <a:avLst/>
          </a:prstGeom>
          <a:noFill/>
          <a:ln/>
        </p:spPr>
        <p:txBody>
          <a:bodyPr wrap="square" lIns="0" tIns="0" rIns="0" bIns="0" rtlCol="0" anchor="t"/>
          <a:lstStyle/>
          <a:p>
            <a:pPr algn="l" indent="0" marL="0">
              <a:lnSpc>
                <a:spcPct val="100000"/>
              </a:lnSpc>
              <a:buNone/>
            </a:pPr>
            <a:r>
              <a:rPr lang="en-US" sz="1000" dirty="0">
                <a:solidFill>
                  <a:srgbClr val="7FA3B8"/>
                </a:solidFill>
                <a:latin typeface="Aptos" pitchFamily="34" charset="0"/>
                <a:ea typeface="Aptos" pitchFamily="34" charset="-122"/>
                <a:cs typeface="Aptos" pitchFamily="34" charset="-120"/>
              </a:rPr>
              <a:t>Dock</a:t>
            </a:r>
            <a:endParaRPr lang="en-US" sz="1000" dirty="0"/>
          </a:p>
        </p:txBody>
      </p:sp>
      <p:sp>
        <p:nvSpPr>
          <p:cNvPr id="17" name="Text 14"/>
          <p:cNvSpPr txBox="1"/>
          <p:nvPr/>
        </p:nvSpPr>
        <p:spPr>
          <a:xfrm>
            <a:off x="3730752" y="3346704"/>
            <a:ext cx="1280160" cy="237744"/>
          </a:xfrm>
          <a:prstGeom prst="rect">
            <a:avLst/>
          </a:prstGeom>
          <a:noFill/>
          <a:ln/>
        </p:spPr>
        <p:txBody>
          <a:bodyPr wrap="square" lIns="0" tIns="0" rIns="0" bIns="0" rtlCol="0" anchor="t"/>
          <a:lstStyle/>
          <a:p>
            <a:pPr algn="l" indent="0" marL="0">
              <a:lnSpc>
                <a:spcPct val="100000"/>
              </a:lnSpc>
              <a:buNone/>
            </a:pPr>
            <a:r>
              <a:rPr lang="en-US" sz="1050" b="1" dirty="0">
                <a:solidFill>
                  <a:srgbClr val="FFFFFF"/>
                </a:solidFill>
                <a:latin typeface="Aptos" pitchFamily="34" charset="0"/>
                <a:ea typeface="Aptos" pitchFamily="34" charset="-122"/>
                <a:cs typeface="Aptos" pitchFamily="34" charset="-120"/>
              </a:rPr>
              <a:t>Door 4</a:t>
            </a:r>
            <a:endParaRPr lang="en-US" sz="1050" dirty="0"/>
          </a:p>
        </p:txBody>
      </p:sp>
      <p:sp>
        <p:nvSpPr>
          <p:cNvPr id="18" name="Text 15"/>
          <p:cNvSpPr txBox="1"/>
          <p:nvPr/>
        </p:nvSpPr>
        <p:spPr>
          <a:xfrm>
            <a:off x="859536" y="3657600"/>
            <a:ext cx="731520" cy="237744"/>
          </a:xfrm>
          <a:prstGeom prst="rect">
            <a:avLst/>
          </a:prstGeom>
          <a:noFill/>
          <a:ln/>
        </p:spPr>
        <p:txBody>
          <a:bodyPr wrap="square" lIns="0" tIns="0" rIns="0" bIns="0" rtlCol="0" anchor="t"/>
          <a:lstStyle/>
          <a:p>
            <a:pPr algn="l" indent="0" marL="0">
              <a:lnSpc>
                <a:spcPct val="100000"/>
              </a:lnSpc>
              <a:buNone/>
            </a:pPr>
            <a:r>
              <a:rPr lang="en-US" sz="1000" dirty="0">
                <a:solidFill>
                  <a:srgbClr val="7FA3B8"/>
                </a:solidFill>
                <a:latin typeface="Aptos" pitchFamily="34" charset="0"/>
                <a:ea typeface="Aptos" pitchFamily="34" charset="-122"/>
                <a:cs typeface="Aptos" pitchFamily="34" charset="-120"/>
              </a:rPr>
              <a:t>Booked</a:t>
            </a:r>
            <a:endParaRPr lang="en-US" sz="1000" dirty="0"/>
          </a:p>
        </p:txBody>
      </p:sp>
      <p:sp>
        <p:nvSpPr>
          <p:cNvPr id="19" name="Text 16"/>
          <p:cNvSpPr txBox="1"/>
          <p:nvPr/>
        </p:nvSpPr>
        <p:spPr>
          <a:xfrm>
            <a:off x="1591056" y="3657600"/>
            <a:ext cx="1188720" cy="237744"/>
          </a:xfrm>
          <a:prstGeom prst="rect">
            <a:avLst/>
          </a:prstGeom>
          <a:noFill/>
          <a:ln/>
        </p:spPr>
        <p:txBody>
          <a:bodyPr wrap="square" lIns="0" tIns="0" rIns="0" bIns="0" rtlCol="0" anchor="t"/>
          <a:lstStyle/>
          <a:p>
            <a:pPr algn="l" indent="0" marL="0">
              <a:lnSpc>
                <a:spcPct val="100000"/>
              </a:lnSpc>
              <a:buNone/>
            </a:pPr>
            <a:r>
              <a:rPr lang="en-US" sz="1050" b="1" dirty="0">
                <a:solidFill>
                  <a:srgbClr val="FFFFFF"/>
                </a:solidFill>
                <a:latin typeface="Aptos" pitchFamily="34" charset="0"/>
                <a:ea typeface="Aptos" pitchFamily="34" charset="-122"/>
                <a:cs typeface="Aptos" pitchFamily="34" charset="-120"/>
              </a:rPr>
              <a:t>13:30</a:t>
            </a:r>
            <a:endParaRPr lang="en-US" sz="1050" dirty="0"/>
          </a:p>
        </p:txBody>
      </p:sp>
      <p:sp>
        <p:nvSpPr>
          <p:cNvPr id="20" name="Text 17"/>
          <p:cNvSpPr txBox="1"/>
          <p:nvPr/>
        </p:nvSpPr>
        <p:spPr>
          <a:xfrm>
            <a:off x="2999232" y="3657600"/>
            <a:ext cx="731520" cy="237744"/>
          </a:xfrm>
          <a:prstGeom prst="rect">
            <a:avLst/>
          </a:prstGeom>
          <a:noFill/>
          <a:ln/>
        </p:spPr>
        <p:txBody>
          <a:bodyPr wrap="square" lIns="0" tIns="0" rIns="0" bIns="0" rtlCol="0" anchor="t"/>
          <a:lstStyle/>
          <a:p>
            <a:pPr algn="l" indent="0" marL="0">
              <a:lnSpc>
                <a:spcPct val="100000"/>
              </a:lnSpc>
              <a:buNone/>
            </a:pPr>
            <a:r>
              <a:rPr lang="en-US" sz="1000" dirty="0">
                <a:solidFill>
                  <a:srgbClr val="7FA3B8"/>
                </a:solidFill>
                <a:latin typeface="Aptos" pitchFamily="34" charset="0"/>
                <a:ea typeface="Aptos" pitchFamily="34" charset="-122"/>
                <a:cs typeface="Aptos" pitchFamily="34" charset="-120"/>
              </a:rPr>
              <a:t>Truck</a:t>
            </a:r>
            <a:endParaRPr lang="en-US" sz="1000" dirty="0"/>
          </a:p>
        </p:txBody>
      </p:sp>
      <p:sp>
        <p:nvSpPr>
          <p:cNvPr id="21" name="Text 18"/>
          <p:cNvSpPr txBox="1"/>
          <p:nvPr/>
        </p:nvSpPr>
        <p:spPr>
          <a:xfrm>
            <a:off x="3730752" y="3657600"/>
            <a:ext cx="1280160" cy="237744"/>
          </a:xfrm>
          <a:prstGeom prst="rect">
            <a:avLst/>
          </a:prstGeom>
          <a:noFill/>
          <a:ln/>
        </p:spPr>
        <p:txBody>
          <a:bodyPr wrap="square" lIns="0" tIns="0" rIns="0" bIns="0" rtlCol="0" anchor="t"/>
          <a:lstStyle/>
          <a:p>
            <a:pPr algn="l" indent="0" marL="0">
              <a:lnSpc>
                <a:spcPct val="100000"/>
              </a:lnSpc>
              <a:buNone/>
            </a:pPr>
            <a:r>
              <a:rPr lang="en-US" sz="1050" b="1" dirty="0">
                <a:solidFill>
                  <a:srgbClr val="FFFFFF"/>
                </a:solidFill>
                <a:latin typeface="Aptos" pitchFamily="34" charset="0"/>
                <a:ea typeface="Aptos" pitchFamily="34" charset="-122"/>
                <a:cs typeface="Aptos" pitchFamily="34" charset="-120"/>
              </a:rPr>
              <a:t>53 ft</a:t>
            </a:r>
            <a:endParaRPr lang="en-US" sz="1050" dirty="0"/>
          </a:p>
        </p:txBody>
      </p:sp>
      <p:sp>
        <p:nvSpPr>
          <p:cNvPr id="22" name="Shape 19"/>
          <p:cNvSpPr/>
          <p:nvPr/>
        </p:nvSpPr>
        <p:spPr>
          <a:xfrm>
            <a:off x="859536" y="4078224"/>
            <a:ext cx="2377440" cy="457200"/>
          </a:xfrm>
          <a:prstGeom prst="roundRect">
            <a:avLst>
              <a:gd name="adj" fmla="val 14000"/>
            </a:avLst>
          </a:prstGeom>
          <a:solidFill>
            <a:srgbClr val="F2A11B"/>
          </a:solidFill>
          <a:ln/>
        </p:spPr>
        <p:txBody>
          <a:bodyPr/>
          <a:p/>
        </p:txBody>
      </p:sp>
      <p:sp>
        <p:nvSpPr>
          <p:cNvPr id="23" name="Text 20"/>
          <p:cNvSpPr txBox="1"/>
          <p:nvPr/>
        </p:nvSpPr>
        <p:spPr>
          <a:xfrm>
            <a:off x="859536" y="4206240"/>
            <a:ext cx="2377440" cy="237744"/>
          </a:xfrm>
          <a:prstGeom prst="rect">
            <a:avLst/>
          </a:prstGeom>
          <a:noFill/>
          <a:ln/>
        </p:spPr>
        <p:txBody>
          <a:bodyPr wrap="square" lIns="0" tIns="0" rIns="0" bIns="0" rtlCol="0" anchor="t"/>
          <a:lstStyle/>
          <a:p>
            <a:pPr algn="ctr" indent="0" marL="0">
              <a:lnSpc>
                <a:spcPct val="100000"/>
              </a:lnSpc>
              <a:buNone/>
            </a:pPr>
            <a:r>
              <a:rPr lang="en-US" sz="1150" b="1" dirty="0">
                <a:solidFill>
                  <a:srgbClr val="3D2A00"/>
                </a:solidFill>
                <a:latin typeface="Aptos" pitchFamily="34" charset="0"/>
                <a:ea typeface="Aptos" pitchFamily="34" charset="-122"/>
                <a:cs typeface="Aptos" pitchFamily="34" charset="-120"/>
              </a:rPr>
              <a:t>Receive here anyway</a:t>
            </a:r>
            <a:endParaRPr lang="en-US" sz="1150" dirty="0"/>
          </a:p>
        </p:txBody>
      </p:sp>
      <p:sp>
        <p:nvSpPr>
          <p:cNvPr id="24" name="Text 21"/>
          <p:cNvSpPr txBox="1"/>
          <p:nvPr/>
        </p:nvSpPr>
        <p:spPr>
          <a:xfrm>
            <a:off x="5852160" y="1627632"/>
            <a:ext cx="5806440" cy="457200"/>
          </a:xfrm>
          <a:prstGeom prst="rect">
            <a:avLst/>
          </a:prstGeom>
          <a:noFill/>
          <a:ln/>
        </p:spPr>
        <p:txBody>
          <a:bodyPr wrap="square" lIns="0" tIns="0" rIns="0" bIns="0" rtlCol="0" anchor="t"/>
          <a:lstStyle/>
          <a:p>
            <a:pPr algn="l" indent="0" marL="0">
              <a:lnSpc>
                <a:spcPct val="100000"/>
              </a:lnSpc>
              <a:buNone/>
            </a:pPr>
            <a:r>
              <a:rPr lang="en-US" sz="2200" b="1" dirty="0">
                <a:solidFill>
                  <a:srgbClr val="0B1F33"/>
                </a:solidFill>
                <a:latin typeface="Aptos Display" pitchFamily="34" charset="0"/>
                <a:ea typeface="Aptos Display" pitchFamily="34" charset="-122"/>
                <a:cs typeface="Aptos Display" pitchFamily="34" charset="-120"/>
              </a:rPr>
              <a:t>Not “code not recognised.”</a:t>
            </a:r>
            <a:endParaRPr lang="en-US" sz="2200" dirty="0"/>
          </a:p>
        </p:txBody>
      </p:sp>
      <p:sp>
        <p:nvSpPr>
          <p:cNvPr id="25" name="Text 22"/>
          <p:cNvSpPr txBox="1"/>
          <p:nvPr/>
        </p:nvSpPr>
        <p:spPr>
          <a:xfrm>
            <a:off x="5852160" y="2212848"/>
            <a:ext cx="5806440" cy="1005840"/>
          </a:xfrm>
          <a:prstGeom prst="rect">
            <a:avLst/>
          </a:prstGeom>
          <a:noFill/>
          <a:ln/>
        </p:spPr>
        <p:txBody>
          <a:bodyPr wrap="square" lIns="0" tIns="0" rIns="0" bIns="0" rtlCol="0" anchor="t"/>
          <a:lstStyle/>
          <a:p>
            <a:pPr algn="l" indent="0" marL="0">
              <a:lnSpc>
                <a:spcPct val="125000"/>
              </a:lnSpc>
              <a:buNone/>
            </a:pPr>
            <a:r>
              <a:rPr lang="en-US" sz="1250" dirty="0">
                <a:solidFill>
                  <a:srgbClr val="456174"/>
                </a:solidFill>
                <a:latin typeface="Aptos" pitchFamily="34" charset="0"/>
                <a:ea typeface="Aptos" pitchFamily="34" charset="-122"/>
                <a:cs typeface="Aptos" pitchFamily="34" charset="-120"/>
              </a:rPr>
              <a:t>Scan a Guelph load while standing at Mississauga, and the phone says so by name. The old answer sent somebody to the office while the truck waited.</a:t>
            </a:r>
            <a:endParaRPr lang="en-US" sz="1250" dirty="0"/>
          </a:p>
        </p:txBody>
      </p:sp>
      <p:sp>
        <p:nvSpPr>
          <p:cNvPr id="26" name="Shape 23"/>
          <p:cNvSpPr/>
          <p:nvPr/>
        </p:nvSpPr>
        <p:spPr>
          <a:xfrm>
            <a:off x="5852160" y="3401568"/>
            <a:ext cx="5806440" cy="1389888"/>
          </a:xfrm>
          <a:prstGeom prst="roundRect">
            <a:avLst>
              <a:gd name="adj" fmla="val 5263"/>
            </a:avLst>
          </a:prstGeom>
          <a:solidFill>
            <a:srgbClr val="FFFFFF"/>
          </a:solidFill>
          <a:ln w="9525">
            <a:solidFill>
              <a:srgbClr val="D8E4EA"/>
            </a:solidFill>
            <a:prstDash val="solid"/>
          </a:ln>
        </p:spPr>
        <p:txBody>
          <a:bodyPr/>
          <a:p/>
        </p:txBody>
      </p:sp>
      <p:sp>
        <p:nvSpPr>
          <p:cNvPr id="27" name="Text 24"/>
          <p:cNvSpPr txBox="1"/>
          <p:nvPr/>
        </p:nvSpPr>
        <p:spPr>
          <a:xfrm>
            <a:off x="6163056" y="3602736"/>
            <a:ext cx="5184648" cy="310896"/>
          </a:xfrm>
          <a:prstGeom prst="rect">
            <a:avLst/>
          </a:prstGeom>
          <a:noFill/>
          <a:ln/>
        </p:spPr>
        <p:txBody>
          <a:bodyPr wrap="square" lIns="0" tIns="0" rIns="0" bIns="0" rtlCol="0" anchor="t"/>
          <a:lstStyle/>
          <a:p>
            <a:pPr algn="l" indent="0" marL="0">
              <a:lnSpc>
                <a:spcPct val="100000"/>
              </a:lnSpc>
              <a:buNone/>
            </a:pPr>
            <a:r>
              <a:rPr lang="en-US" sz="1400" b="1" dirty="0">
                <a:solidFill>
                  <a:srgbClr val="0B1F33"/>
                </a:solidFill>
                <a:latin typeface="Aptos" pitchFamily="34" charset="0"/>
                <a:ea typeface="Aptos" pitchFamily="34" charset="-122"/>
                <a:cs typeface="Aptos" pitchFamily="34" charset="-120"/>
              </a:rPr>
              <a:t>It warns, it does not block.</a:t>
            </a:r>
            <a:endParaRPr lang="en-US" sz="1400" dirty="0"/>
          </a:p>
        </p:txBody>
      </p:sp>
      <p:sp>
        <p:nvSpPr>
          <p:cNvPr id="28" name="Text 25"/>
          <p:cNvSpPr txBox="1"/>
          <p:nvPr/>
        </p:nvSpPr>
        <p:spPr>
          <a:xfrm>
            <a:off x="6163056" y="3968496"/>
            <a:ext cx="5184648" cy="676656"/>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A truck at the wrong site has a real answer, and it belongs to the person standing there.</a:t>
            </a:r>
            <a:endParaRPr lang="en-US" sz="1150" dirty="0"/>
          </a:p>
        </p:txBody>
      </p:sp>
      <p:sp>
        <p:nvSpPr>
          <p:cNvPr id="29" name="Shape 26"/>
          <p:cNvSpPr/>
          <p:nvPr/>
        </p:nvSpPr>
        <p:spPr>
          <a:xfrm>
            <a:off x="530352" y="5029200"/>
            <a:ext cx="11130991" cy="1298448"/>
          </a:xfrm>
          <a:prstGeom prst="roundRect">
            <a:avLst>
              <a:gd name="adj" fmla="val 5634"/>
            </a:avLst>
          </a:prstGeom>
          <a:solidFill>
            <a:srgbClr val="072238"/>
          </a:solidFill>
          <a:ln/>
        </p:spPr>
        <p:txBody>
          <a:bodyPr/>
          <a:p/>
        </p:txBody>
      </p:sp>
      <p:sp>
        <p:nvSpPr>
          <p:cNvPr id="30" name="Text 27"/>
          <p:cNvSpPr txBox="1"/>
          <p:nvPr/>
        </p:nvSpPr>
        <p:spPr>
          <a:xfrm>
            <a:off x="877824" y="5175504"/>
            <a:ext cx="4572000" cy="1005840"/>
          </a:xfrm>
          <a:prstGeom prst="rect">
            <a:avLst/>
          </a:prstGeom>
          <a:noFill/>
          <a:ln/>
        </p:spPr>
        <p:txBody>
          <a:bodyPr wrap="square" lIns="0" tIns="0" rIns="0" bIns="0" rtlCol="0" anchor="ctr"/>
          <a:lstStyle/>
          <a:p>
            <a:pPr algn="l" indent="0" marL="0">
              <a:lnSpc>
                <a:spcPct val="115000"/>
              </a:lnSpc>
              <a:buNone/>
            </a:pPr>
            <a:r>
              <a:rPr lang="en-US" sz="1500" b="1" dirty="0">
                <a:solidFill>
                  <a:srgbClr val="FFFFFF"/>
                </a:solidFill>
                <a:latin typeface="Aptos" pitchFamily="34" charset="0"/>
                <a:ea typeface="Aptos" pitchFamily="34" charset="-122"/>
                <a:cs typeface="Aptos" pitchFamily="34" charset="-120"/>
              </a:rPr>
              <a:t>The same pattern, everywhere in the product</a:t>
            </a:r>
            <a:endParaRPr lang="en-US" sz="1500" dirty="0"/>
          </a:p>
        </p:txBody>
      </p:sp>
      <p:sp>
        <p:nvSpPr>
          <p:cNvPr id="31" name="Text 28"/>
          <p:cNvSpPr txBox="1"/>
          <p:nvPr/>
        </p:nvSpPr>
        <p:spPr>
          <a:xfrm>
            <a:off x="5486400" y="5230368"/>
            <a:ext cx="5852160" cy="914400"/>
          </a:xfrm>
          <a:prstGeom prst="rect">
            <a:avLst/>
          </a:prstGeom>
          <a:noFill/>
          <a:ln/>
        </p:spPr>
        <p:txBody>
          <a:bodyPr wrap="square" lIns="0" tIns="0" rIns="0" bIns="0" rtlCol="0" anchor="ctr"/>
          <a:lstStyle/>
          <a:p>
            <a:pPr algn="l" indent="0" marL="0">
              <a:lnSpc>
                <a:spcPct val="122000"/>
              </a:lnSpc>
              <a:buNone/>
            </a:pPr>
            <a:r>
              <a:rPr lang="en-US" sz="1200" dirty="0">
                <a:solidFill>
                  <a:srgbClr val="B9D7E8"/>
                </a:solidFill>
                <a:latin typeface="Aptos" pitchFamily="34" charset="0"/>
                <a:ea typeface="Aptos" pitchFamily="34" charset="-122"/>
                <a:cs typeface="Aptos" pitchFamily="34" charset="-120"/>
              </a:rPr>
              <a:t>A refusal names the rule. A wrong site names the site. A full floor says how many positions are left.</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21</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WHAT COMPETITORS COUNT, AND WHAT WE COUNT</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Capacity in skids, not in appointments.</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Others cap trucks per hour. That means nothing when one carries 4 skids and the next carries 30.</a:t>
            </a:r>
            <a:endParaRPr lang="en-US" sz="1200" dirty="0"/>
          </a:p>
        </p:txBody>
      </p:sp>
      <p:sp>
        <p:nvSpPr>
          <p:cNvPr id="10" name="Text 7"/>
          <p:cNvSpPr txBox="1"/>
          <p:nvPr/>
        </p:nvSpPr>
        <p:spPr>
          <a:xfrm>
            <a:off x="530352" y="1517904"/>
            <a:ext cx="11130991" cy="256032"/>
          </a:xfrm>
          <a:prstGeom prst="rect">
            <a:avLst/>
          </a:prstGeom>
          <a:noFill/>
          <a:ln/>
        </p:spPr>
        <p:txBody>
          <a:bodyPr wrap="square" lIns="0" tIns="0" rIns="0" bIns="0" rtlCol="0" anchor="t"/>
          <a:lstStyle/>
          <a:p>
            <a:pPr algn="l" indent="0" marL="0">
              <a:lnSpc>
                <a:spcPct val="100000"/>
              </a:lnSpc>
              <a:buNone/>
            </a:pPr>
            <a:r>
              <a:rPr lang="en-US" sz="1250" b="1" dirty="0">
                <a:solidFill>
                  <a:srgbClr val="0877C9"/>
                </a:solidFill>
                <a:latin typeface="Aptos" pitchFamily="34" charset="0"/>
                <a:ea typeface="Aptos" pitchFamily="34" charset="-122"/>
                <a:cs typeface="Aptos" pitchFamily="34" charset="-120"/>
              </a:rPr>
              <a:t>Mississauga · floor position, Thursday</a:t>
            </a:r>
            <a:endParaRPr lang="en-US" sz="1250" dirty="0"/>
          </a:p>
        </p:txBody>
      </p:sp>
      <p:sp>
        <p:nvSpPr>
          <p:cNvPr id="11" name="Shape 8"/>
          <p:cNvSpPr/>
          <p:nvPr/>
        </p:nvSpPr>
        <p:spPr>
          <a:xfrm>
            <a:off x="530352" y="2011680"/>
            <a:ext cx="7632680" cy="786384"/>
          </a:xfrm>
          <a:prstGeom prst="rect">
            <a:avLst/>
          </a:prstGeom>
          <a:solidFill>
            <a:srgbClr val="0877C9"/>
          </a:solidFill>
          <a:ln/>
        </p:spPr>
        <p:txBody>
          <a:bodyPr/>
          <a:p/>
        </p:txBody>
      </p:sp>
      <p:sp>
        <p:nvSpPr>
          <p:cNvPr id="12" name="Text 9"/>
          <p:cNvSpPr txBox="1"/>
          <p:nvPr/>
        </p:nvSpPr>
        <p:spPr>
          <a:xfrm>
            <a:off x="530352" y="2286000"/>
            <a:ext cx="7632680" cy="274320"/>
          </a:xfrm>
          <a:prstGeom prst="rect">
            <a:avLst/>
          </a:prstGeom>
          <a:noFill/>
          <a:ln/>
        </p:spPr>
        <p:txBody>
          <a:bodyPr wrap="square" lIns="0" tIns="0" rIns="0" bIns="0" rtlCol="0" anchor="t"/>
          <a:lstStyle/>
          <a:p>
            <a:pPr algn="ctr" indent="0" marL="0">
              <a:lnSpc>
                <a:spcPct val="100000"/>
              </a:lnSpc>
              <a:buNone/>
            </a:pPr>
            <a:r>
              <a:rPr lang="en-US" sz="1250" b="1" dirty="0">
                <a:solidFill>
                  <a:srgbClr val="FFFFFF"/>
                </a:solidFill>
                <a:latin typeface="Aptos" pitchFamily="34" charset="0"/>
                <a:ea typeface="Aptos" pitchFamily="34" charset="-122"/>
                <a:cs typeface="Aptos" pitchFamily="34" charset="-120"/>
              </a:rPr>
              <a:t>96 committed</a:t>
            </a:r>
            <a:endParaRPr lang="en-US" sz="1250" dirty="0"/>
          </a:p>
        </p:txBody>
      </p:sp>
      <p:sp>
        <p:nvSpPr>
          <p:cNvPr id="13" name="Shape 10"/>
          <p:cNvSpPr/>
          <p:nvPr/>
        </p:nvSpPr>
        <p:spPr>
          <a:xfrm>
            <a:off x="8163032" y="2011680"/>
            <a:ext cx="2067184" cy="786384"/>
          </a:xfrm>
          <a:prstGeom prst="rect">
            <a:avLst/>
          </a:prstGeom>
          <a:solidFill>
            <a:srgbClr val="F2A11B"/>
          </a:solidFill>
          <a:ln/>
        </p:spPr>
        <p:txBody>
          <a:bodyPr/>
          <a:p/>
        </p:txBody>
      </p:sp>
      <p:sp>
        <p:nvSpPr>
          <p:cNvPr id="14" name="Text 11"/>
          <p:cNvSpPr txBox="1"/>
          <p:nvPr/>
        </p:nvSpPr>
        <p:spPr>
          <a:xfrm>
            <a:off x="8163032" y="2286000"/>
            <a:ext cx="2067184" cy="274320"/>
          </a:xfrm>
          <a:prstGeom prst="rect">
            <a:avLst/>
          </a:prstGeom>
          <a:noFill/>
          <a:ln/>
        </p:spPr>
        <p:txBody>
          <a:bodyPr wrap="square" lIns="0" tIns="0" rIns="0" bIns="0" rtlCol="0" anchor="t"/>
          <a:lstStyle/>
          <a:p>
            <a:pPr algn="ctr" indent="0" marL="0">
              <a:lnSpc>
                <a:spcPct val="100000"/>
              </a:lnSpc>
              <a:buNone/>
            </a:pPr>
            <a:r>
              <a:rPr lang="en-US" sz="1250" b="1" dirty="0">
                <a:solidFill>
                  <a:srgbClr val="FFFFFF"/>
                </a:solidFill>
                <a:latin typeface="Aptos" pitchFamily="34" charset="0"/>
                <a:ea typeface="Aptos" pitchFamily="34" charset="-122"/>
                <a:cs typeface="Aptos" pitchFamily="34" charset="-120"/>
              </a:rPr>
              <a:t>26 this booking</a:t>
            </a:r>
            <a:endParaRPr lang="en-US" sz="1250" dirty="0"/>
          </a:p>
        </p:txBody>
      </p:sp>
      <p:sp>
        <p:nvSpPr>
          <p:cNvPr id="15" name="Shape 12"/>
          <p:cNvSpPr/>
          <p:nvPr/>
        </p:nvSpPr>
        <p:spPr>
          <a:xfrm>
            <a:off x="10230216" y="2011680"/>
            <a:ext cx="1431127" cy="786384"/>
          </a:xfrm>
          <a:prstGeom prst="rect">
            <a:avLst/>
          </a:prstGeom>
          <a:solidFill>
            <a:srgbClr val="D8E4EA"/>
          </a:solidFill>
          <a:ln/>
        </p:spPr>
        <p:txBody>
          <a:bodyPr/>
          <a:p/>
        </p:txBody>
      </p:sp>
      <p:sp>
        <p:nvSpPr>
          <p:cNvPr id="16" name="Text 13"/>
          <p:cNvSpPr txBox="1"/>
          <p:nvPr/>
        </p:nvSpPr>
        <p:spPr>
          <a:xfrm>
            <a:off x="10230216" y="2286000"/>
            <a:ext cx="1431127" cy="274320"/>
          </a:xfrm>
          <a:prstGeom prst="rect">
            <a:avLst/>
          </a:prstGeom>
          <a:noFill/>
          <a:ln/>
        </p:spPr>
        <p:txBody>
          <a:bodyPr wrap="square" lIns="0" tIns="0" rIns="0" bIns="0" rtlCol="0" anchor="t"/>
          <a:lstStyle/>
          <a:p>
            <a:pPr algn="ctr" indent="0" marL="0">
              <a:lnSpc>
                <a:spcPct val="100000"/>
              </a:lnSpc>
              <a:buNone/>
            </a:pPr>
            <a:r>
              <a:rPr lang="en-US" sz="1250" b="1" dirty="0">
                <a:solidFill>
                  <a:srgbClr val="0B1F33"/>
                </a:solidFill>
                <a:latin typeface="Aptos" pitchFamily="34" charset="0"/>
                <a:ea typeface="Aptos" pitchFamily="34" charset="-122"/>
                <a:cs typeface="Aptos" pitchFamily="34" charset="-120"/>
              </a:rPr>
              <a:t>18 left</a:t>
            </a:r>
            <a:endParaRPr lang="en-US" sz="1250" dirty="0"/>
          </a:p>
        </p:txBody>
      </p:sp>
      <p:sp>
        <p:nvSpPr>
          <p:cNvPr id="17" name="Text 14"/>
          <p:cNvSpPr txBox="1"/>
          <p:nvPr/>
        </p:nvSpPr>
        <p:spPr>
          <a:xfrm>
            <a:off x="530352" y="2926080"/>
            <a:ext cx="11130991" cy="256032"/>
          </a:xfrm>
          <a:prstGeom prst="rect">
            <a:avLst/>
          </a:prstGeom>
          <a:noFill/>
          <a:ln/>
        </p:spPr>
        <p:txBody>
          <a:bodyPr wrap="square" lIns="0" tIns="0" rIns="0" bIns="0" rtlCol="0" anchor="t"/>
          <a:lstStyle/>
          <a:p>
            <a:pPr algn="l" indent="0" marL="0">
              <a:lnSpc>
                <a:spcPct val="100000"/>
              </a:lnSpc>
              <a:buNone/>
            </a:pPr>
            <a:r>
              <a:rPr lang="en-US" sz="1050" i="1" dirty="0">
                <a:solidFill>
                  <a:srgbClr val="6F8491"/>
                </a:solidFill>
                <a:latin typeface="Aptos" pitchFamily="34" charset="0"/>
                <a:ea typeface="Aptos" pitchFamily="34" charset="-122"/>
                <a:cs typeface="Aptos" pitchFamily="34" charset="-120"/>
              </a:rPr>
              <a:t>140 floor positions at this plant</a:t>
            </a:r>
            <a:endParaRPr lang="en-US" sz="1050" dirty="0"/>
          </a:p>
        </p:txBody>
      </p:sp>
      <p:sp>
        <p:nvSpPr>
          <p:cNvPr id="18" name="Shape 15"/>
          <p:cNvSpPr/>
          <p:nvPr/>
        </p:nvSpPr>
        <p:spPr>
          <a:xfrm>
            <a:off x="530352" y="3438144"/>
            <a:ext cx="3319272" cy="2139696"/>
          </a:xfrm>
          <a:prstGeom prst="roundRect">
            <a:avLst>
              <a:gd name="adj" fmla="val 3306"/>
            </a:avLst>
          </a:prstGeom>
          <a:solidFill>
            <a:srgbClr val="FFFFFF"/>
          </a:solidFill>
          <a:ln w="9525">
            <a:solidFill>
              <a:srgbClr val="D8E4EA"/>
            </a:solidFill>
            <a:prstDash val="solid"/>
          </a:ln>
        </p:spPr>
        <p:txBody>
          <a:bodyPr/>
          <a:p/>
        </p:txBody>
      </p:sp>
      <p:sp>
        <p:nvSpPr>
          <p:cNvPr id="19" name="Shape 16"/>
          <p:cNvSpPr/>
          <p:nvPr/>
        </p:nvSpPr>
        <p:spPr>
          <a:xfrm>
            <a:off x="822960" y="3712464"/>
            <a:ext cx="274320" cy="274320"/>
          </a:xfrm>
          <a:prstGeom prst="roundRect">
            <a:avLst>
              <a:gd name="adj" fmla="val 16667"/>
            </a:avLst>
          </a:prstGeom>
          <a:solidFill>
            <a:srgbClr val="0877C9"/>
          </a:solidFill>
          <a:ln/>
        </p:spPr>
        <p:txBody>
          <a:bodyPr/>
          <a:p/>
        </p:txBody>
      </p:sp>
      <p:sp>
        <p:nvSpPr>
          <p:cNvPr id="20" name="Text 17"/>
          <p:cNvSpPr txBox="1"/>
          <p:nvPr/>
        </p:nvSpPr>
        <p:spPr>
          <a:xfrm>
            <a:off x="822960" y="4114800"/>
            <a:ext cx="2734970" cy="347472"/>
          </a:xfrm>
          <a:prstGeom prst="rect">
            <a:avLst/>
          </a:prstGeom>
          <a:noFill/>
          <a:ln/>
        </p:spPr>
        <p:txBody>
          <a:bodyPr wrap="square" lIns="0" tIns="0" rIns="0" bIns="0" rtlCol="0" anchor="t"/>
          <a:lstStyle/>
          <a:p>
            <a:pPr algn="l" indent="0" marL="0">
              <a:lnSpc>
                <a:spcPct val="100000"/>
              </a:lnSpc>
              <a:buNone/>
            </a:pPr>
            <a:r>
              <a:rPr lang="en-US" sz="1450" b="1" dirty="0">
                <a:solidFill>
                  <a:srgbClr val="0B1F33"/>
                </a:solidFill>
                <a:latin typeface="Aptos Display" pitchFamily="34" charset="0"/>
                <a:ea typeface="Aptos Display" pitchFamily="34" charset="-122"/>
                <a:cs typeface="Aptos Display" pitchFamily="34" charset="-120"/>
              </a:rPr>
              <a:t>It runs the sum forward</a:t>
            </a:r>
            <a:endParaRPr lang="en-US" sz="1450" dirty="0"/>
          </a:p>
        </p:txBody>
      </p:sp>
      <p:sp>
        <p:nvSpPr>
          <p:cNvPr id="21" name="Text 18"/>
          <p:cNvSpPr txBox="1"/>
          <p:nvPr/>
        </p:nvSpPr>
        <p:spPr>
          <a:xfrm>
            <a:off x="822960" y="4498848"/>
            <a:ext cx="2734970" cy="1005840"/>
          </a:xfrm>
          <a:prstGeom prst="rect">
            <a:avLst/>
          </a:prstGeom>
          <a:noFill/>
          <a:ln/>
        </p:spPr>
        <p:txBody>
          <a:bodyPr wrap="square" lIns="0" tIns="0" rIns="0" bIns="0" rtlCol="0" anchor="t"/>
          <a:lstStyle/>
          <a:p>
            <a:pPr algn="l" indent="0" marL="0">
              <a:lnSpc>
                <a:spcPct val="118000"/>
              </a:lnSpc>
              <a:buNone/>
            </a:pPr>
            <a:r>
              <a:rPr lang="en-US" sz="1100" dirty="0">
                <a:solidFill>
                  <a:srgbClr val="456174"/>
                </a:solidFill>
                <a:latin typeface="Aptos" pitchFamily="34" charset="0"/>
                <a:ea typeface="Aptos" pitchFamily="34" charset="-122"/>
                <a:cs typeface="Aptos" pitchFamily="34" charset="-120"/>
              </a:rPr>
              <a:t>Inbound adds skids to the floor, outbound takes them away. MaxDock runs that sum through the day.</a:t>
            </a:r>
            <a:endParaRPr lang="en-US" sz="1100" dirty="0"/>
          </a:p>
        </p:txBody>
      </p:sp>
      <p:sp>
        <p:nvSpPr>
          <p:cNvPr id="22" name="Shape 19"/>
          <p:cNvSpPr/>
          <p:nvPr/>
        </p:nvSpPr>
        <p:spPr>
          <a:xfrm>
            <a:off x="4434840" y="3438144"/>
            <a:ext cx="3319272" cy="2139696"/>
          </a:xfrm>
          <a:prstGeom prst="roundRect">
            <a:avLst>
              <a:gd name="adj" fmla="val 3306"/>
            </a:avLst>
          </a:prstGeom>
          <a:solidFill>
            <a:srgbClr val="FFFFFF"/>
          </a:solidFill>
          <a:ln w="9525">
            <a:solidFill>
              <a:srgbClr val="D8E4EA"/>
            </a:solidFill>
            <a:prstDash val="solid"/>
          </a:ln>
        </p:spPr>
        <p:txBody>
          <a:bodyPr/>
          <a:p/>
        </p:txBody>
      </p:sp>
      <p:sp>
        <p:nvSpPr>
          <p:cNvPr id="23" name="Shape 20"/>
          <p:cNvSpPr/>
          <p:nvPr/>
        </p:nvSpPr>
        <p:spPr>
          <a:xfrm>
            <a:off x="4728362" y="3712464"/>
            <a:ext cx="274320" cy="274320"/>
          </a:xfrm>
          <a:prstGeom prst="roundRect">
            <a:avLst>
              <a:gd name="adj" fmla="val 16667"/>
            </a:avLst>
          </a:prstGeom>
          <a:solidFill>
            <a:srgbClr val="D84C4C"/>
          </a:solidFill>
          <a:ln/>
        </p:spPr>
        <p:txBody>
          <a:bodyPr/>
          <a:p/>
        </p:txBody>
      </p:sp>
      <p:sp>
        <p:nvSpPr>
          <p:cNvPr id="24" name="Text 21"/>
          <p:cNvSpPr txBox="1"/>
          <p:nvPr/>
        </p:nvSpPr>
        <p:spPr>
          <a:xfrm>
            <a:off x="4728362" y="4114800"/>
            <a:ext cx="2734970" cy="347472"/>
          </a:xfrm>
          <a:prstGeom prst="rect">
            <a:avLst/>
          </a:prstGeom>
          <a:noFill/>
          <a:ln/>
        </p:spPr>
        <p:txBody>
          <a:bodyPr wrap="square" lIns="0" tIns="0" rIns="0" bIns="0" rtlCol="0" anchor="t"/>
          <a:lstStyle/>
          <a:p>
            <a:pPr algn="l" indent="0" marL="0">
              <a:lnSpc>
                <a:spcPct val="100000"/>
              </a:lnSpc>
              <a:buNone/>
            </a:pPr>
            <a:r>
              <a:rPr lang="en-US" sz="1450" b="1" dirty="0">
                <a:solidFill>
                  <a:srgbClr val="0B1F33"/>
                </a:solidFill>
                <a:latin typeface="Aptos Display" pitchFamily="34" charset="0"/>
                <a:ea typeface="Aptos Display" pitchFamily="34" charset="-122"/>
                <a:cs typeface="Aptos Display" pitchFamily="34" charset="-120"/>
              </a:rPr>
              <a:t>So Thursday is not offered</a:t>
            </a:r>
            <a:endParaRPr lang="en-US" sz="1450" dirty="0"/>
          </a:p>
        </p:txBody>
      </p:sp>
      <p:sp>
        <p:nvSpPr>
          <p:cNvPr id="25" name="Text 22"/>
          <p:cNvSpPr txBox="1"/>
          <p:nvPr/>
        </p:nvSpPr>
        <p:spPr>
          <a:xfrm>
            <a:off x="4728362" y="4498848"/>
            <a:ext cx="2734970" cy="1005840"/>
          </a:xfrm>
          <a:prstGeom prst="rect">
            <a:avLst/>
          </a:prstGeom>
          <a:noFill/>
          <a:ln/>
        </p:spPr>
        <p:txBody>
          <a:bodyPr wrap="square" lIns="0" tIns="0" rIns="0" bIns="0" rtlCol="0" anchor="t"/>
          <a:lstStyle/>
          <a:p>
            <a:pPr algn="l" indent="0" marL="0">
              <a:lnSpc>
                <a:spcPct val="118000"/>
              </a:lnSpc>
              <a:buNone/>
            </a:pPr>
            <a:r>
              <a:rPr lang="en-US" sz="1100" dirty="0">
                <a:solidFill>
                  <a:srgbClr val="456174"/>
                </a:solidFill>
                <a:latin typeface="Aptos" pitchFamily="34" charset="0"/>
                <a:ea typeface="Aptos" pitchFamily="34" charset="-122"/>
                <a:cs typeface="Aptos" pitchFamily="34" charset="-120"/>
              </a:rPr>
              <a:t>The next load is 26 skids and 18 positions are left, so Thursday never appears on the booker's screen.</a:t>
            </a:r>
            <a:endParaRPr lang="en-US" sz="1100" dirty="0"/>
          </a:p>
        </p:txBody>
      </p:sp>
      <p:sp>
        <p:nvSpPr>
          <p:cNvPr id="26" name="Shape 23"/>
          <p:cNvSpPr/>
          <p:nvPr/>
        </p:nvSpPr>
        <p:spPr>
          <a:xfrm>
            <a:off x="8339328" y="3438144"/>
            <a:ext cx="3319272" cy="2139696"/>
          </a:xfrm>
          <a:prstGeom prst="roundRect">
            <a:avLst>
              <a:gd name="adj" fmla="val 3306"/>
            </a:avLst>
          </a:prstGeom>
          <a:solidFill>
            <a:srgbClr val="FFFFFF"/>
          </a:solidFill>
          <a:ln w="9525">
            <a:solidFill>
              <a:srgbClr val="D8E4EA"/>
            </a:solidFill>
            <a:prstDash val="solid"/>
          </a:ln>
        </p:spPr>
        <p:txBody>
          <a:bodyPr/>
          <a:p/>
        </p:txBody>
      </p:sp>
      <p:sp>
        <p:nvSpPr>
          <p:cNvPr id="27" name="Shape 24"/>
          <p:cNvSpPr/>
          <p:nvPr/>
        </p:nvSpPr>
        <p:spPr>
          <a:xfrm>
            <a:off x="8633765" y="3712464"/>
            <a:ext cx="274320" cy="274320"/>
          </a:xfrm>
          <a:prstGeom prst="roundRect">
            <a:avLst>
              <a:gd name="adj" fmla="val 16667"/>
            </a:avLst>
          </a:prstGeom>
          <a:solidFill>
            <a:srgbClr val="14A66A"/>
          </a:solidFill>
          <a:ln/>
        </p:spPr>
        <p:txBody>
          <a:bodyPr/>
          <a:p/>
        </p:txBody>
      </p:sp>
      <p:sp>
        <p:nvSpPr>
          <p:cNvPr id="28" name="Text 25"/>
          <p:cNvSpPr txBox="1"/>
          <p:nvPr/>
        </p:nvSpPr>
        <p:spPr>
          <a:xfrm>
            <a:off x="8633765" y="4114800"/>
            <a:ext cx="2734970" cy="347472"/>
          </a:xfrm>
          <a:prstGeom prst="rect">
            <a:avLst/>
          </a:prstGeom>
          <a:noFill/>
          <a:ln/>
        </p:spPr>
        <p:txBody>
          <a:bodyPr wrap="square" lIns="0" tIns="0" rIns="0" bIns="0" rtlCol="0" anchor="t"/>
          <a:lstStyle/>
          <a:p>
            <a:pPr algn="l" indent="0" marL="0">
              <a:lnSpc>
                <a:spcPct val="100000"/>
              </a:lnSpc>
              <a:buNone/>
            </a:pPr>
            <a:r>
              <a:rPr lang="en-US" sz="1450" b="1" dirty="0">
                <a:solidFill>
                  <a:srgbClr val="0B1F33"/>
                </a:solidFill>
                <a:latin typeface="Aptos Display" pitchFamily="34" charset="0"/>
                <a:ea typeface="Aptos Display" pitchFamily="34" charset="-122"/>
                <a:cs typeface="Aptos Display" pitchFamily="34" charset="-120"/>
              </a:rPr>
              <a:t>And it stays out of the way</a:t>
            </a:r>
            <a:endParaRPr lang="en-US" sz="1450" dirty="0"/>
          </a:p>
        </p:txBody>
      </p:sp>
      <p:sp>
        <p:nvSpPr>
          <p:cNvPr id="29" name="Text 26"/>
          <p:cNvSpPr txBox="1"/>
          <p:nvPr/>
        </p:nvSpPr>
        <p:spPr>
          <a:xfrm>
            <a:off x="8633765" y="4498848"/>
            <a:ext cx="2734970" cy="1005840"/>
          </a:xfrm>
          <a:prstGeom prst="rect">
            <a:avLst/>
          </a:prstGeom>
          <a:noFill/>
          <a:ln/>
        </p:spPr>
        <p:txBody>
          <a:bodyPr wrap="square" lIns="0" tIns="0" rIns="0" bIns="0" rtlCol="0" anchor="t"/>
          <a:lstStyle/>
          <a:p>
            <a:pPr algn="l" indent="0" marL="0">
              <a:lnSpc>
                <a:spcPct val="118000"/>
              </a:lnSpc>
              <a:buNone/>
            </a:pPr>
            <a:r>
              <a:rPr lang="en-US" sz="1100" dirty="0">
                <a:solidFill>
                  <a:srgbClr val="456174"/>
                </a:solidFill>
                <a:latin typeface="Aptos" pitchFamily="34" charset="0"/>
                <a:ea typeface="Aptos" pitchFamily="34" charset="-122"/>
                <a:cs typeface="Aptos" pitchFamily="34" charset="-120"/>
              </a:rPr>
              <a:t>No floor number set, no check. Nothing is blocked by a number nobody entered.</a:t>
            </a:r>
            <a:endParaRPr lang="en-US" sz="1100" dirty="0"/>
          </a:p>
        </p:txBody>
      </p:sp>
      <p:sp>
        <p:nvSpPr>
          <p:cNvPr id="30" name="Text 27"/>
          <p:cNvSpPr txBox="1"/>
          <p:nvPr/>
        </p:nvSpPr>
        <p:spPr>
          <a:xfrm>
            <a:off x="530352" y="5888736"/>
            <a:ext cx="11130991" cy="310896"/>
          </a:xfrm>
          <a:prstGeom prst="rect">
            <a:avLst/>
          </a:prstGeom>
          <a:noFill/>
          <a:ln/>
        </p:spPr>
        <p:txBody>
          <a:bodyPr wrap="square" lIns="0" tIns="0" rIns="0" bIns="0" rtlCol="0" anchor="t"/>
          <a:lstStyle/>
          <a:p>
            <a:pPr algn="l" indent="0" marL="0">
              <a:lnSpc>
                <a:spcPct val="100000"/>
              </a:lnSpc>
              <a:buNone/>
            </a:pPr>
            <a:r>
              <a:rPr lang="en-US" sz="1150" i="1" dirty="0">
                <a:solidFill>
                  <a:srgbClr val="6F8491"/>
                </a:solidFill>
                <a:latin typeface="Aptos" pitchFamily="34" charset="0"/>
                <a:ea typeface="Aptos" pitchFamily="34" charset="-122"/>
                <a:cs typeface="Aptos" pitchFamily="34" charset="-120"/>
              </a:rPr>
              <a:t>Skids are the unit the dock thinks in, so they are the unit the schedule is built on.</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22</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WHAT IT MEASURES</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Who keeps their appointment, and who does not.</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Nine reports across any set of plants. The one that matters most is the simplest.</a:t>
            </a:r>
            <a:endParaRPr lang="en-US" sz="1200" dirty="0"/>
          </a:p>
        </p:txBody>
      </p:sp>
      <p:sp>
        <p:nvSpPr>
          <p:cNvPr id="10" name="Text 7"/>
          <p:cNvSpPr txBox="1"/>
          <p:nvPr/>
        </p:nvSpPr>
        <p:spPr>
          <a:xfrm>
            <a:off x="530352" y="1517904"/>
            <a:ext cx="11130991" cy="256032"/>
          </a:xfrm>
          <a:prstGeom prst="rect">
            <a:avLst/>
          </a:prstGeom>
          <a:noFill/>
          <a:ln/>
        </p:spPr>
        <p:txBody>
          <a:bodyPr wrap="square" lIns="0" tIns="0" rIns="0" bIns="0" rtlCol="0" anchor="t"/>
          <a:lstStyle/>
          <a:p>
            <a:pPr algn="l" indent="0" marL="0">
              <a:lnSpc>
                <a:spcPct val="100000"/>
              </a:lnSpc>
              <a:buNone/>
            </a:pPr>
            <a:r>
              <a:rPr lang="en-US" sz="1250" b="1" dirty="0">
                <a:solidFill>
                  <a:srgbClr val="0877C9"/>
                </a:solidFill>
                <a:latin typeface="Aptos" pitchFamily="34" charset="0"/>
                <a:ea typeface="Aptos" pitchFamily="34" charset="-122"/>
                <a:cs typeface="Aptos" pitchFamily="34" charset="-120"/>
              </a:rPr>
              <a:t>Carrier on-time · past 30 days</a:t>
            </a:r>
            <a:endParaRPr lang="en-US" sz="1250" dirty="0"/>
          </a:p>
        </p:txBody>
      </p:sp>
      <p:sp>
        <p:nvSpPr>
          <p:cNvPr id="11" name="Text 8"/>
          <p:cNvSpPr txBox="1"/>
          <p:nvPr/>
        </p:nvSpPr>
        <p:spPr>
          <a:xfrm>
            <a:off x="530352" y="2048256"/>
            <a:ext cx="3200400" cy="310896"/>
          </a:xfrm>
          <a:prstGeom prst="rect">
            <a:avLst/>
          </a:prstGeom>
          <a:noFill/>
          <a:ln/>
        </p:spPr>
        <p:txBody>
          <a:bodyPr wrap="square" lIns="0" tIns="0" rIns="0" bIns="0" rtlCol="0" anchor="t"/>
          <a:lstStyle/>
          <a:p>
            <a:pPr algn="l" indent="0" marL="0">
              <a:lnSpc>
                <a:spcPct val="100000"/>
              </a:lnSpc>
              <a:buNone/>
            </a:pPr>
            <a:r>
              <a:rPr lang="en-US" sz="1400" b="1" dirty="0">
                <a:solidFill>
                  <a:srgbClr val="0B1F33"/>
                </a:solidFill>
                <a:latin typeface="Aptos Display" pitchFamily="34" charset="0"/>
                <a:ea typeface="Aptos Display" pitchFamily="34" charset="-122"/>
                <a:cs typeface="Aptos Display" pitchFamily="34" charset="-120"/>
              </a:rPr>
              <a:t>Cascades Containerboard</a:t>
            </a:r>
            <a:endParaRPr lang="en-US" sz="1400" dirty="0"/>
          </a:p>
        </p:txBody>
      </p:sp>
      <p:sp>
        <p:nvSpPr>
          <p:cNvPr id="12" name="Text 9"/>
          <p:cNvSpPr txBox="1"/>
          <p:nvPr/>
        </p:nvSpPr>
        <p:spPr>
          <a:xfrm>
            <a:off x="3840480" y="2084832"/>
            <a:ext cx="1097280" cy="274320"/>
          </a:xfrm>
          <a:prstGeom prst="rect">
            <a:avLst/>
          </a:prstGeom>
          <a:noFill/>
          <a:ln/>
        </p:spPr>
        <p:txBody>
          <a:bodyPr wrap="square" lIns="0" tIns="0" rIns="0" bIns="0" rtlCol="0" anchor="t"/>
          <a:lstStyle/>
          <a:p>
            <a:pPr algn="l" indent="0" marL="0">
              <a:lnSpc>
                <a:spcPct val="100000"/>
              </a:lnSpc>
              <a:buNone/>
            </a:pPr>
            <a:r>
              <a:rPr lang="en-US" sz="1100" dirty="0">
                <a:solidFill>
                  <a:srgbClr val="6F8491"/>
                </a:solidFill>
                <a:latin typeface="Aptos" pitchFamily="34" charset="0"/>
                <a:ea typeface="Aptos" pitchFamily="34" charset="-122"/>
                <a:cs typeface="Aptos" pitchFamily="34" charset="-120"/>
              </a:rPr>
              <a:t>88 trucks</a:t>
            </a:r>
            <a:endParaRPr lang="en-US" sz="1100" dirty="0"/>
          </a:p>
        </p:txBody>
      </p:sp>
      <p:sp>
        <p:nvSpPr>
          <p:cNvPr id="13" name="Shape 10"/>
          <p:cNvSpPr/>
          <p:nvPr/>
        </p:nvSpPr>
        <p:spPr>
          <a:xfrm>
            <a:off x="5120640" y="2066544"/>
            <a:ext cx="4663440" cy="274320"/>
          </a:xfrm>
          <a:prstGeom prst="roundRect">
            <a:avLst>
              <a:gd name="adj" fmla="val 50000"/>
            </a:avLst>
          </a:prstGeom>
          <a:solidFill>
            <a:srgbClr val="E7EDF1"/>
          </a:solidFill>
          <a:ln/>
        </p:spPr>
        <p:txBody>
          <a:bodyPr/>
          <a:p/>
        </p:txBody>
      </p:sp>
      <p:sp>
        <p:nvSpPr>
          <p:cNvPr id="14" name="Shape 11"/>
          <p:cNvSpPr/>
          <p:nvPr/>
        </p:nvSpPr>
        <p:spPr>
          <a:xfrm>
            <a:off x="5120640" y="2066544"/>
            <a:ext cx="4495556" cy="274320"/>
          </a:xfrm>
          <a:prstGeom prst="roundRect">
            <a:avLst>
              <a:gd name="adj" fmla="val 50000"/>
            </a:avLst>
          </a:prstGeom>
          <a:solidFill>
            <a:srgbClr val="14A66A"/>
          </a:solidFill>
          <a:ln/>
        </p:spPr>
        <p:txBody>
          <a:bodyPr/>
          <a:p/>
        </p:txBody>
      </p:sp>
      <p:sp>
        <p:nvSpPr>
          <p:cNvPr id="15" name="Text 12"/>
          <p:cNvSpPr txBox="1"/>
          <p:nvPr/>
        </p:nvSpPr>
        <p:spPr>
          <a:xfrm>
            <a:off x="9966960" y="2011680"/>
            <a:ext cx="1691640" cy="365760"/>
          </a:xfrm>
          <a:prstGeom prst="rect">
            <a:avLst/>
          </a:prstGeom>
          <a:noFill/>
          <a:ln/>
        </p:spPr>
        <p:txBody>
          <a:bodyPr wrap="square" lIns="0" tIns="0" rIns="0" bIns="0" rtlCol="0" anchor="t"/>
          <a:lstStyle/>
          <a:p>
            <a:pPr algn="r" indent="0" marL="0">
              <a:lnSpc>
                <a:spcPct val="100000"/>
              </a:lnSpc>
              <a:buNone/>
            </a:pPr>
            <a:r>
              <a:rPr lang="en-US" sz="1600" b="1" dirty="0">
                <a:solidFill>
                  <a:srgbClr val="14A66A"/>
                </a:solidFill>
                <a:latin typeface="Aptos" pitchFamily="34" charset="0"/>
                <a:ea typeface="Aptos" pitchFamily="34" charset="-122"/>
                <a:cs typeface="Aptos" pitchFamily="34" charset="-120"/>
              </a:rPr>
              <a:t>96.4%</a:t>
            </a:r>
            <a:endParaRPr lang="en-US" sz="1600" dirty="0"/>
          </a:p>
        </p:txBody>
      </p:sp>
      <p:sp>
        <p:nvSpPr>
          <p:cNvPr id="16" name="Shape 13"/>
          <p:cNvSpPr/>
          <p:nvPr/>
        </p:nvSpPr>
        <p:spPr>
          <a:xfrm>
            <a:off x="530352" y="2487168"/>
            <a:ext cx="11130991" cy="0"/>
          </a:xfrm>
          <a:prstGeom prst="line">
            <a:avLst/>
          </a:prstGeom>
          <a:noFill/>
          <a:ln w="9525">
            <a:solidFill>
              <a:srgbClr val="E7EDF1"/>
            </a:solidFill>
            <a:prstDash val="solid"/>
          </a:ln>
        </p:spPr>
        <p:txBody>
          <a:bodyPr/>
          <a:p/>
        </p:txBody>
      </p:sp>
      <p:sp>
        <p:nvSpPr>
          <p:cNvPr id="17" name="Text 14"/>
          <p:cNvSpPr txBox="1"/>
          <p:nvPr/>
        </p:nvSpPr>
        <p:spPr>
          <a:xfrm>
            <a:off x="530352" y="2756916"/>
            <a:ext cx="3200400" cy="310896"/>
          </a:xfrm>
          <a:prstGeom prst="rect">
            <a:avLst/>
          </a:prstGeom>
          <a:noFill/>
          <a:ln/>
        </p:spPr>
        <p:txBody>
          <a:bodyPr wrap="square" lIns="0" tIns="0" rIns="0" bIns="0" rtlCol="0" anchor="t"/>
          <a:lstStyle/>
          <a:p>
            <a:pPr algn="l" indent="0" marL="0">
              <a:lnSpc>
                <a:spcPct val="100000"/>
              </a:lnSpc>
              <a:buNone/>
            </a:pPr>
            <a:r>
              <a:rPr lang="en-US" sz="1400" b="1" dirty="0">
                <a:solidFill>
                  <a:srgbClr val="0B1F33"/>
                </a:solidFill>
                <a:latin typeface="Aptos Display" pitchFamily="34" charset="0"/>
                <a:ea typeface="Aptos Display" pitchFamily="34" charset="-122"/>
                <a:cs typeface="Aptos Display" pitchFamily="34" charset="-120"/>
              </a:rPr>
              <a:t>Kruger Packaging</a:t>
            </a:r>
            <a:endParaRPr lang="en-US" sz="1400" dirty="0"/>
          </a:p>
        </p:txBody>
      </p:sp>
      <p:sp>
        <p:nvSpPr>
          <p:cNvPr id="18" name="Text 15"/>
          <p:cNvSpPr txBox="1"/>
          <p:nvPr/>
        </p:nvSpPr>
        <p:spPr>
          <a:xfrm>
            <a:off x="3840480" y="2793492"/>
            <a:ext cx="1097280" cy="274320"/>
          </a:xfrm>
          <a:prstGeom prst="rect">
            <a:avLst/>
          </a:prstGeom>
          <a:noFill/>
          <a:ln/>
        </p:spPr>
        <p:txBody>
          <a:bodyPr wrap="square" lIns="0" tIns="0" rIns="0" bIns="0" rtlCol="0" anchor="t"/>
          <a:lstStyle/>
          <a:p>
            <a:pPr algn="l" indent="0" marL="0">
              <a:lnSpc>
                <a:spcPct val="100000"/>
              </a:lnSpc>
              <a:buNone/>
            </a:pPr>
            <a:r>
              <a:rPr lang="en-US" sz="1100" dirty="0">
                <a:solidFill>
                  <a:srgbClr val="6F8491"/>
                </a:solidFill>
                <a:latin typeface="Aptos" pitchFamily="34" charset="0"/>
                <a:ea typeface="Aptos" pitchFamily="34" charset="-122"/>
                <a:cs typeface="Aptos" pitchFamily="34" charset="-120"/>
              </a:rPr>
              <a:t>54 trucks</a:t>
            </a:r>
            <a:endParaRPr lang="en-US" sz="1100" dirty="0"/>
          </a:p>
        </p:txBody>
      </p:sp>
      <p:sp>
        <p:nvSpPr>
          <p:cNvPr id="19" name="Shape 16"/>
          <p:cNvSpPr/>
          <p:nvPr/>
        </p:nvSpPr>
        <p:spPr>
          <a:xfrm>
            <a:off x="5120640" y="2775204"/>
            <a:ext cx="4663440" cy="274320"/>
          </a:xfrm>
          <a:prstGeom prst="roundRect">
            <a:avLst>
              <a:gd name="adj" fmla="val 50000"/>
            </a:avLst>
          </a:prstGeom>
          <a:solidFill>
            <a:srgbClr val="E7EDF1"/>
          </a:solidFill>
          <a:ln/>
        </p:spPr>
        <p:txBody>
          <a:bodyPr/>
          <a:p/>
        </p:txBody>
      </p:sp>
      <p:sp>
        <p:nvSpPr>
          <p:cNvPr id="20" name="Shape 17"/>
          <p:cNvSpPr/>
          <p:nvPr/>
        </p:nvSpPr>
        <p:spPr>
          <a:xfrm>
            <a:off x="5120640" y="2775204"/>
            <a:ext cx="4243730" cy="274320"/>
          </a:xfrm>
          <a:prstGeom prst="roundRect">
            <a:avLst>
              <a:gd name="adj" fmla="val 50000"/>
            </a:avLst>
          </a:prstGeom>
          <a:solidFill>
            <a:srgbClr val="14A66A"/>
          </a:solidFill>
          <a:ln/>
        </p:spPr>
        <p:txBody>
          <a:bodyPr/>
          <a:p/>
        </p:txBody>
      </p:sp>
      <p:sp>
        <p:nvSpPr>
          <p:cNvPr id="21" name="Text 18"/>
          <p:cNvSpPr txBox="1"/>
          <p:nvPr/>
        </p:nvSpPr>
        <p:spPr>
          <a:xfrm>
            <a:off x="9966960" y="2720340"/>
            <a:ext cx="1691640" cy="365760"/>
          </a:xfrm>
          <a:prstGeom prst="rect">
            <a:avLst/>
          </a:prstGeom>
          <a:noFill/>
          <a:ln/>
        </p:spPr>
        <p:txBody>
          <a:bodyPr wrap="square" lIns="0" tIns="0" rIns="0" bIns="0" rtlCol="0" anchor="t"/>
          <a:lstStyle/>
          <a:p>
            <a:pPr algn="r" indent="0" marL="0">
              <a:lnSpc>
                <a:spcPct val="100000"/>
              </a:lnSpc>
              <a:buNone/>
            </a:pPr>
            <a:r>
              <a:rPr lang="en-US" sz="1600" b="1" dirty="0">
                <a:solidFill>
                  <a:srgbClr val="14A66A"/>
                </a:solidFill>
                <a:latin typeface="Aptos" pitchFamily="34" charset="0"/>
                <a:ea typeface="Aptos" pitchFamily="34" charset="-122"/>
                <a:cs typeface="Aptos" pitchFamily="34" charset="-120"/>
              </a:rPr>
              <a:t>91.0%</a:t>
            </a:r>
            <a:endParaRPr lang="en-US" sz="1600" dirty="0"/>
          </a:p>
        </p:txBody>
      </p:sp>
      <p:sp>
        <p:nvSpPr>
          <p:cNvPr id="22" name="Shape 19"/>
          <p:cNvSpPr/>
          <p:nvPr/>
        </p:nvSpPr>
        <p:spPr>
          <a:xfrm>
            <a:off x="530352" y="3182112"/>
            <a:ext cx="11130991" cy="0"/>
          </a:xfrm>
          <a:prstGeom prst="line">
            <a:avLst/>
          </a:prstGeom>
          <a:noFill/>
          <a:ln w="9525">
            <a:solidFill>
              <a:srgbClr val="E7EDF1"/>
            </a:solidFill>
            <a:prstDash val="solid"/>
          </a:ln>
        </p:spPr>
        <p:txBody>
          <a:bodyPr/>
          <a:p/>
        </p:txBody>
      </p:sp>
      <p:sp>
        <p:nvSpPr>
          <p:cNvPr id="23" name="Text 20"/>
          <p:cNvSpPr txBox="1"/>
          <p:nvPr/>
        </p:nvSpPr>
        <p:spPr>
          <a:xfrm>
            <a:off x="530352" y="3465576"/>
            <a:ext cx="3200400" cy="310896"/>
          </a:xfrm>
          <a:prstGeom prst="rect">
            <a:avLst/>
          </a:prstGeom>
          <a:noFill/>
          <a:ln/>
        </p:spPr>
        <p:txBody>
          <a:bodyPr wrap="square" lIns="0" tIns="0" rIns="0" bIns="0" rtlCol="0" anchor="t"/>
          <a:lstStyle/>
          <a:p>
            <a:pPr algn="l" indent="0" marL="0">
              <a:lnSpc>
                <a:spcPct val="100000"/>
              </a:lnSpc>
              <a:buNone/>
            </a:pPr>
            <a:r>
              <a:rPr lang="en-US" sz="1400" b="1" dirty="0">
                <a:solidFill>
                  <a:srgbClr val="0B1F33"/>
                </a:solidFill>
                <a:latin typeface="Aptos Display" pitchFamily="34" charset="0"/>
                <a:ea typeface="Aptos Display" pitchFamily="34" charset="-122"/>
                <a:cs typeface="Aptos Display" pitchFamily="34" charset="-120"/>
              </a:rPr>
              <a:t>Domtar</a:t>
            </a:r>
            <a:endParaRPr lang="en-US" sz="1400" dirty="0"/>
          </a:p>
        </p:txBody>
      </p:sp>
      <p:sp>
        <p:nvSpPr>
          <p:cNvPr id="24" name="Text 21"/>
          <p:cNvSpPr txBox="1"/>
          <p:nvPr/>
        </p:nvSpPr>
        <p:spPr>
          <a:xfrm>
            <a:off x="3840480" y="3502152"/>
            <a:ext cx="1097280" cy="274320"/>
          </a:xfrm>
          <a:prstGeom prst="rect">
            <a:avLst/>
          </a:prstGeom>
          <a:noFill/>
          <a:ln/>
        </p:spPr>
        <p:txBody>
          <a:bodyPr wrap="square" lIns="0" tIns="0" rIns="0" bIns="0" rtlCol="0" anchor="t"/>
          <a:lstStyle/>
          <a:p>
            <a:pPr algn="l" indent="0" marL="0">
              <a:lnSpc>
                <a:spcPct val="100000"/>
              </a:lnSpc>
              <a:buNone/>
            </a:pPr>
            <a:r>
              <a:rPr lang="en-US" sz="1100" dirty="0">
                <a:solidFill>
                  <a:srgbClr val="6F8491"/>
                </a:solidFill>
                <a:latin typeface="Aptos" pitchFamily="34" charset="0"/>
                <a:ea typeface="Aptos" pitchFamily="34" charset="-122"/>
                <a:cs typeface="Aptos" pitchFamily="34" charset="-120"/>
              </a:rPr>
              <a:t>41 trucks</a:t>
            </a:r>
            <a:endParaRPr lang="en-US" sz="1100" dirty="0"/>
          </a:p>
        </p:txBody>
      </p:sp>
      <p:sp>
        <p:nvSpPr>
          <p:cNvPr id="25" name="Shape 22"/>
          <p:cNvSpPr/>
          <p:nvPr/>
        </p:nvSpPr>
        <p:spPr>
          <a:xfrm>
            <a:off x="5120640" y="3483864"/>
            <a:ext cx="4663440" cy="274320"/>
          </a:xfrm>
          <a:prstGeom prst="roundRect">
            <a:avLst>
              <a:gd name="adj" fmla="val 50000"/>
            </a:avLst>
          </a:prstGeom>
          <a:solidFill>
            <a:srgbClr val="E7EDF1"/>
          </a:solidFill>
          <a:ln/>
        </p:spPr>
        <p:txBody>
          <a:bodyPr/>
          <a:p/>
        </p:txBody>
      </p:sp>
      <p:sp>
        <p:nvSpPr>
          <p:cNvPr id="26" name="Shape 23"/>
          <p:cNvSpPr/>
          <p:nvPr/>
        </p:nvSpPr>
        <p:spPr>
          <a:xfrm>
            <a:off x="5120640" y="3483864"/>
            <a:ext cx="3949934" cy="274320"/>
          </a:xfrm>
          <a:prstGeom prst="roundRect">
            <a:avLst>
              <a:gd name="adj" fmla="val 50000"/>
            </a:avLst>
          </a:prstGeom>
          <a:solidFill>
            <a:srgbClr val="F2A11B"/>
          </a:solidFill>
          <a:ln/>
        </p:spPr>
        <p:txBody>
          <a:bodyPr/>
          <a:p/>
        </p:txBody>
      </p:sp>
      <p:sp>
        <p:nvSpPr>
          <p:cNvPr id="27" name="Text 24"/>
          <p:cNvSpPr txBox="1"/>
          <p:nvPr/>
        </p:nvSpPr>
        <p:spPr>
          <a:xfrm>
            <a:off x="9966960" y="3429000"/>
            <a:ext cx="1691640" cy="365760"/>
          </a:xfrm>
          <a:prstGeom prst="rect">
            <a:avLst/>
          </a:prstGeom>
          <a:noFill/>
          <a:ln/>
        </p:spPr>
        <p:txBody>
          <a:bodyPr wrap="square" lIns="0" tIns="0" rIns="0" bIns="0" rtlCol="0" anchor="t"/>
          <a:lstStyle/>
          <a:p>
            <a:pPr algn="r" indent="0" marL="0">
              <a:lnSpc>
                <a:spcPct val="100000"/>
              </a:lnSpc>
              <a:buNone/>
            </a:pPr>
            <a:r>
              <a:rPr lang="en-US" sz="1600" b="1" dirty="0">
                <a:solidFill>
                  <a:srgbClr val="F2A11B"/>
                </a:solidFill>
                <a:latin typeface="Aptos" pitchFamily="34" charset="0"/>
                <a:ea typeface="Aptos" pitchFamily="34" charset="-122"/>
                <a:cs typeface="Aptos" pitchFamily="34" charset="-120"/>
              </a:rPr>
              <a:t>84.7%</a:t>
            </a:r>
            <a:endParaRPr lang="en-US" sz="1600" dirty="0"/>
          </a:p>
        </p:txBody>
      </p:sp>
      <p:sp>
        <p:nvSpPr>
          <p:cNvPr id="28" name="Shape 25"/>
          <p:cNvSpPr/>
          <p:nvPr/>
        </p:nvSpPr>
        <p:spPr>
          <a:xfrm>
            <a:off x="530352" y="3877056"/>
            <a:ext cx="11130991" cy="0"/>
          </a:xfrm>
          <a:prstGeom prst="line">
            <a:avLst/>
          </a:prstGeom>
          <a:noFill/>
          <a:ln w="9525">
            <a:solidFill>
              <a:srgbClr val="E7EDF1"/>
            </a:solidFill>
            <a:prstDash val="solid"/>
          </a:ln>
        </p:spPr>
        <p:txBody>
          <a:bodyPr/>
          <a:p/>
        </p:txBody>
      </p:sp>
      <p:sp>
        <p:nvSpPr>
          <p:cNvPr id="29" name="Text 26"/>
          <p:cNvSpPr txBox="1"/>
          <p:nvPr/>
        </p:nvSpPr>
        <p:spPr>
          <a:xfrm>
            <a:off x="530352" y="4174236"/>
            <a:ext cx="3200400" cy="310896"/>
          </a:xfrm>
          <a:prstGeom prst="rect">
            <a:avLst/>
          </a:prstGeom>
          <a:noFill/>
          <a:ln/>
        </p:spPr>
        <p:txBody>
          <a:bodyPr wrap="square" lIns="0" tIns="0" rIns="0" bIns="0" rtlCol="0" anchor="t"/>
          <a:lstStyle/>
          <a:p>
            <a:pPr algn="l" indent="0" marL="0">
              <a:lnSpc>
                <a:spcPct val="100000"/>
              </a:lnSpc>
              <a:buNone/>
            </a:pPr>
            <a:r>
              <a:rPr lang="en-US" sz="1400" b="1" dirty="0">
                <a:solidFill>
                  <a:srgbClr val="0B1F33"/>
                </a:solidFill>
                <a:latin typeface="Aptos Display" pitchFamily="34" charset="0"/>
                <a:ea typeface="Aptos Display" pitchFamily="34" charset="-122"/>
                <a:cs typeface="Aptos Display" pitchFamily="34" charset="-120"/>
              </a:rPr>
              <a:t>Titanium Transport</a:t>
            </a:r>
            <a:endParaRPr lang="en-US" sz="1400" dirty="0"/>
          </a:p>
        </p:txBody>
      </p:sp>
      <p:sp>
        <p:nvSpPr>
          <p:cNvPr id="30" name="Text 27"/>
          <p:cNvSpPr txBox="1"/>
          <p:nvPr/>
        </p:nvSpPr>
        <p:spPr>
          <a:xfrm>
            <a:off x="3840480" y="4210812"/>
            <a:ext cx="1097280" cy="274320"/>
          </a:xfrm>
          <a:prstGeom prst="rect">
            <a:avLst/>
          </a:prstGeom>
          <a:noFill/>
          <a:ln/>
        </p:spPr>
        <p:txBody>
          <a:bodyPr wrap="square" lIns="0" tIns="0" rIns="0" bIns="0" rtlCol="0" anchor="t"/>
          <a:lstStyle/>
          <a:p>
            <a:pPr algn="l" indent="0" marL="0">
              <a:lnSpc>
                <a:spcPct val="100000"/>
              </a:lnSpc>
              <a:buNone/>
            </a:pPr>
            <a:r>
              <a:rPr lang="en-US" sz="1100" dirty="0">
                <a:solidFill>
                  <a:srgbClr val="6F8491"/>
                </a:solidFill>
                <a:latin typeface="Aptos" pitchFamily="34" charset="0"/>
                <a:ea typeface="Aptos" pitchFamily="34" charset="-122"/>
                <a:cs typeface="Aptos" pitchFamily="34" charset="-120"/>
              </a:rPr>
              <a:t>36 trucks</a:t>
            </a:r>
            <a:endParaRPr lang="en-US" sz="1100" dirty="0"/>
          </a:p>
        </p:txBody>
      </p:sp>
      <p:sp>
        <p:nvSpPr>
          <p:cNvPr id="31" name="Shape 28"/>
          <p:cNvSpPr/>
          <p:nvPr/>
        </p:nvSpPr>
        <p:spPr>
          <a:xfrm>
            <a:off x="5120640" y="4192524"/>
            <a:ext cx="4663440" cy="274320"/>
          </a:xfrm>
          <a:prstGeom prst="roundRect">
            <a:avLst>
              <a:gd name="adj" fmla="val 50000"/>
            </a:avLst>
          </a:prstGeom>
          <a:solidFill>
            <a:srgbClr val="E7EDF1"/>
          </a:solidFill>
          <a:ln/>
        </p:spPr>
        <p:txBody>
          <a:bodyPr/>
          <a:p/>
        </p:txBody>
      </p:sp>
      <p:sp>
        <p:nvSpPr>
          <p:cNvPr id="32" name="Shape 29"/>
          <p:cNvSpPr/>
          <p:nvPr/>
        </p:nvSpPr>
        <p:spPr>
          <a:xfrm>
            <a:off x="5120640" y="4192524"/>
            <a:ext cx="3413638" cy="274320"/>
          </a:xfrm>
          <a:prstGeom prst="roundRect">
            <a:avLst>
              <a:gd name="adj" fmla="val 50000"/>
            </a:avLst>
          </a:prstGeom>
          <a:solidFill>
            <a:srgbClr val="F2A11B"/>
          </a:solidFill>
          <a:ln/>
        </p:spPr>
        <p:txBody>
          <a:bodyPr/>
          <a:p/>
        </p:txBody>
      </p:sp>
      <p:sp>
        <p:nvSpPr>
          <p:cNvPr id="33" name="Text 30"/>
          <p:cNvSpPr txBox="1"/>
          <p:nvPr/>
        </p:nvSpPr>
        <p:spPr>
          <a:xfrm>
            <a:off x="9966960" y="4137660"/>
            <a:ext cx="1691640" cy="365760"/>
          </a:xfrm>
          <a:prstGeom prst="rect">
            <a:avLst/>
          </a:prstGeom>
          <a:noFill/>
          <a:ln/>
        </p:spPr>
        <p:txBody>
          <a:bodyPr wrap="square" lIns="0" tIns="0" rIns="0" bIns="0" rtlCol="0" anchor="t"/>
          <a:lstStyle/>
          <a:p>
            <a:pPr algn="r" indent="0" marL="0">
              <a:lnSpc>
                <a:spcPct val="100000"/>
              </a:lnSpc>
              <a:buNone/>
            </a:pPr>
            <a:r>
              <a:rPr lang="en-US" sz="1600" b="1" dirty="0">
                <a:solidFill>
                  <a:srgbClr val="F2A11B"/>
                </a:solidFill>
                <a:latin typeface="Aptos" pitchFamily="34" charset="0"/>
                <a:ea typeface="Aptos" pitchFamily="34" charset="-122"/>
                <a:cs typeface="Aptos" pitchFamily="34" charset="-120"/>
              </a:rPr>
              <a:t>73.2%</a:t>
            </a:r>
            <a:endParaRPr lang="en-US" sz="1600" dirty="0"/>
          </a:p>
        </p:txBody>
      </p:sp>
      <p:sp>
        <p:nvSpPr>
          <p:cNvPr id="34" name="Shape 31"/>
          <p:cNvSpPr/>
          <p:nvPr/>
        </p:nvSpPr>
        <p:spPr>
          <a:xfrm>
            <a:off x="530352" y="4572000"/>
            <a:ext cx="11130991" cy="0"/>
          </a:xfrm>
          <a:prstGeom prst="line">
            <a:avLst/>
          </a:prstGeom>
          <a:noFill/>
          <a:ln w="9525">
            <a:solidFill>
              <a:srgbClr val="E7EDF1"/>
            </a:solidFill>
            <a:prstDash val="solid"/>
          </a:ln>
        </p:spPr>
        <p:txBody>
          <a:bodyPr/>
          <a:p/>
        </p:txBody>
      </p:sp>
      <p:sp>
        <p:nvSpPr>
          <p:cNvPr id="35" name="Text 32"/>
          <p:cNvSpPr txBox="1"/>
          <p:nvPr/>
        </p:nvSpPr>
        <p:spPr>
          <a:xfrm>
            <a:off x="530352" y="4882896"/>
            <a:ext cx="3200400" cy="310896"/>
          </a:xfrm>
          <a:prstGeom prst="rect">
            <a:avLst/>
          </a:prstGeom>
          <a:noFill/>
          <a:ln/>
        </p:spPr>
        <p:txBody>
          <a:bodyPr wrap="square" lIns="0" tIns="0" rIns="0" bIns="0" rtlCol="0" anchor="t"/>
          <a:lstStyle/>
          <a:p>
            <a:pPr algn="l" indent="0" marL="0">
              <a:lnSpc>
                <a:spcPct val="100000"/>
              </a:lnSpc>
              <a:buNone/>
            </a:pPr>
            <a:r>
              <a:rPr lang="en-US" sz="1400" b="1" dirty="0">
                <a:solidFill>
                  <a:srgbClr val="0B1F33"/>
                </a:solidFill>
                <a:latin typeface="Aptos Display" pitchFamily="34" charset="0"/>
                <a:ea typeface="Aptos Display" pitchFamily="34" charset="-122"/>
                <a:cs typeface="Aptos Display" pitchFamily="34" charset="-120"/>
              </a:rPr>
              <a:t>Day &amp; Ross</a:t>
            </a:r>
            <a:endParaRPr lang="en-US" sz="1400" dirty="0"/>
          </a:p>
        </p:txBody>
      </p:sp>
      <p:sp>
        <p:nvSpPr>
          <p:cNvPr id="36" name="Text 33"/>
          <p:cNvSpPr txBox="1"/>
          <p:nvPr/>
        </p:nvSpPr>
        <p:spPr>
          <a:xfrm>
            <a:off x="3840480" y="4919472"/>
            <a:ext cx="1097280" cy="274320"/>
          </a:xfrm>
          <a:prstGeom prst="rect">
            <a:avLst/>
          </a:prstGeom>
          <a:noFill/>
          <a:ln/>
        </p:spPr>
        <p:txBody>
          <a:bodyPr wrap="square" lIns="0" tIns="0" rIns="0" bIns="0" rtlCol="0" anchor="t"/>
          <a:lstStyle/>
          <a:p>
            <a:pPr algn="l" indent="0" marL="0">
              <a:lnSpc>
                <a:spcPct val="100000"/>
              </a:lnSpc>
              <a:buNone/>
            </a:pPr>
            <a:r>
              <a:rPr lang="en-US" sz="1100" dirty="0">
                <a:solidFill>
                  <a:srgbClr val="6F8491"/>
                </a:solidFill>
                <a:latin typeface="Aptos" pitchFamily="34" charset="0"/>
                <a:ea typeface="Aptos" pitchFamily="34" charset="-122"/>
                <a:cs typeface="Aptos" pitchFamily="34" charset="-120"/>
              </a:rPr>
              <a:t>19 trucks</a:t>
            </a:r>
            <a:endParaRPr lang="en-US" sz="1100" dirty="0"/>
          </a:p>
        </p:txBody>
      </p:sp>
      <p:sp>
        <p:nvSpPr>
          <p:cNvPr id="37" name="Shape 34"/>
          <p:cNvSpPr/>
          <p:nvPr/>
        </p:nvSpPr>
        <p:spPr>
          <a:xfrm>
            <a:off x="5120640" y="4901184"/>
            <a:ext cx="4663440" cy="274320"/>
          </a:xfrm>
          <a:prstGeom prst="roundRect">
            <a:avLst>
              <a:gd name="adj" fmla="val 50000"/>
            </a:avLst>
          </a:prstGeom>
          <a:solidFill>
            <a:srgbClr val="E7EDF1"/>
          </a:solidFill>
          <a:ln/>
        </p:spPr>
        <p:txBody>
          <a:bodyPr/>
          <a:p/>
        </p:txBody>
      </p:sp>
      <p:sp>
        <p:nvSpPr>
          <p:cNvPr id="38" name="Shape 35"/>
          <p:cNvSpPr/>
          <p:nvPr/>
        </p:nvSpPr>
        <p:spPr>
          <a:xfrm>
            <a:off x="5120640" y="4901184"/>
            <a:ext cx="2882006" cy="274320"/>
          </a:xfrm>
          <a:prstGeom prst="roundRect">
            <a:avLst>
              <a:gd name="adj" fmla="val 50000"/>
            </a:avLst>
          </a:prstGeom>
          <a:solidFill>
            <a:srgbClr val="D84C4C"/>
          </a:solidFill>
          <a:ln/>
        </p:spPr>
        <p:txBody>
          <a:bodyPr/>
          <a:p/>
        </p:txBody>
      </p:sp>
      <p:sp>
        <p:nvSpPr>
          <p:cNvPr id="39" name="Text 36"/>
          <p:cNvSpPr txBox="1"/>
          <p:nvPr/>
        </p:nvSpPr>
        <p:spPr>
          <a:xfrm>
            <a:off x="9966960" y="4846320"/>
            <a:ext cx="1691640" cy="365760"/>
          </a:xfrm>
          <a:prstGeom prst="rect">
            <a:avLst/>
          </a:prstGeom>
          <a:noFill/>
          <a:ln/>
        </p:spPr>
        <p:txBody>
          <a:bodyPr wrap="square" lIns="0" tIns="0" rIns="0" bIns="0" rtlCol="0" anchor="t"/>
          <a:lstStyle/>
          <a:p>
            <a:pPr algn="r" indent="0" marL="0">
              <a:lnSpc>
                <a:spcPct val="100000"/>
              </a:lnSpc>
              <a:buNone/>
            </a:pPr>
            <a:r>
              <a:rPr lang="en-US" sz="1600" b="1" dirty="0">
                <a:solidFill>
                  <a:srgbClr val="D84C4C"/>
                </a:solidFill>
                <a:latin typeface="Aptos" pitchFamily="34" charset="0"/>
                <a:ea typeface="Aptos" pitchFamily="34" charset="-122"/>
                <a:cs typeface="Aptos" pitchFamily="34" charset="-120"/>
              </a:rPr>
              <a:t>61.8%</a:t>
            </a:r>
            <a:endParaRPr lang="en-US" sz="1600" dirty="0"/>
          </a:p>
        </p:txBody>
      </p:sp>
      <p:sp>
        <p:nvSpPr>
          <p:cNvPr id="40" name="Shape 37"/>
          <p:cNvSpPr/>
          <p:nvPr/>
        </p:nvSpPr>
        <p:spPr>
          <a:xfrm>
            <a:off x="530352" y="5577840"/>
            <a:ext cx="5303520" cy="749808"/>
          </a:xfrm>
          <a:prstGeom prst="roundRect">
            <a:avLst>
              <a:gd name="adj" fmla="val 8889"/>
            </a:avLst>
          </a:prstGeom>
          <a:solidFill>
            <a:srgbClr val="FFFFFF"/>
          </a:solidFill>
          <a:ln w="9525">
            <a:solidFill>
              <a:srgbClr val="D8E4EA"/>
            </a:solidFill>
            <a:prstDash val="solid"/>
          </a:ln>
        </p:spPr>
        <p:txBody>
          <a:bodyPr/>
          <a:p/>
        </p:txBody>
      </p:sp>
      <p:sp>
        <p:nvSpPr>
          <p:cNvPr id="41" name="Text 38"/>
          <p:cNvSpPr txBox="1"/>
          <p:nvPr/>
        </p:nvSpPr>
        <p:spPr>
          <a:xfrm>
            <a:off x="822960" y="5687568"/>
            <a:ext cx="4718304" cy="603504"/>
          </a:xfrm>
          <a:prstGeom prst="rect">
            <a:avLst/>
          </a:prstGeom>
          <a:noFill/>
          <a:ln/>
        </p:spPr>
        <p:txBody>
          <a:bodyPr wrap="square" lIns="0" tIns="0" rIns="0" bIns="0" rtlCol="0" anchor="ctr"/>
          <a:lstStyle/>
          <a:p>
            <a:pPr algn="l" indent="0" marL="0">
              <a:lnSpc>
                <a:spcPct val="116000"/>
              </a:lnSpc>
              <a:buNone/>
            </a:pPr>
            <a:r>
              <a:rPr lang="en-US" sz="1100" dirty="0">
                <a:solidFill>
                  <a:srgbClr val="456174"/>
                </a:solidFill>
                <a:latin typeface="Aptos" pitchFamily="34" charset="0"/>
                <a:ea typeface="Aptos" pitchFamily="34" charset="-122"/>
                <a:cs typeface="Aptos" pitchFamily="34" charset="-120"/>
              </a:rPr>
              <a:t>The same shape works by site, by customer and by vendor.</a:t>
            </a:r>
            <a:endParaRPr lang="en-US" sz="1100" dirty="0"/>
          </a:p>
        </p:txBody>
      </p:sp>
      <p:sp>
        <p:nvSpPr>
          <p:cNvPr id="42" name="Shape 39"/>
          <p:cNvSpPr/>
          <p:nvPr/>
        </p:nvSpPr>
        <p:spPr>
          <a:xfrm>
            <a:off x="6355080" y="5577840"/>
            <a:ext cx="5303520" cy="749808"/>
          </a:xfrm>
          <a:prstGeom prst="roundRect">
            <a:avLst>
              <a:gd name="adj" fmla="val 8889"/>
            </a:avLst>
          </a:prstGeom>
          <a:solidFill>
            <a:srgbClr val="E4EFF9"/>
          </a:solidFill>
          <a:ln/>
        </p:spPr>
        <p:txBody>
          <a:bodyPr/>
          <a:p/>
        </p:txBody>
      </p:sp>
      <p:sp>
        <p:nvSpPr>
          <p:cNvPr id="43" name="Text 40"/>
          <p:cNvSpPr txBox="1"/>
          <p:nvPr/>
        </p:nvSpPr>
        <p:spPr>
          <a:xfrm>
            <a:off x="6647688" y="5687568"/>
            <a:ext cx="4718304" cy="603504"/>
          </a:xfrm>
          <a:prstGeom prst="rect">
            <a:avLst/>
          </a:prstGeom>
          <a:noFill/>
          <a:ln/>
        </p:spPr>
        <p:txBody>
          <a:bodyPr wrap="square" lIns="0" tIns="0" rIns="0" bIns="0" rtlCol="0" anchor="ctr"/>
          <a:lstStyle/>
          <a:p>
            <a:pPr algn="l" indent="0" marL="0">
              <a:lnSpc>
                <a:spcPct val="116000"/>
              </a:lnSpc>
              <a:buNone/>
            </a:pPr>
            <a:r>
              <a:rPr lang="en-US" sz="1100" b="1" dirty="0">
                <a:solidFill>
                  <a:srgbClr val="0B4A7D"/>
                </a:solidFill>
                <a:latin typeface="Aptos" pitchFamily="34" charset="0"/>
                <a:ea typeface="Aptos" pitchFamily="34" charset="-122"/>
                <a:cs typeface="Aptos" pitchFamily="34" charset="-120"/>
              </a:rPr>
              <a:t>Built from taps the crew already made. Nobody keys in a figure, so nobody can improve one.</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23</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THE LINE THAT KEEPS THE REPORTS TRUSTWORTHY</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It also tells you how much it measured.</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On-time is counted only over loads that were actually scanned in.</a:t>
            </a:r>
            <a:endParaRPr lang="en-US" sz="1200" dirty="0"/>
          </a:p>
        </p:txBody>
      </p:sp>
      <p:sp>
        <p:nvSpPr>
          <p:cNvPr id="10" name="Text 7"/>
          <p:cNvSpPr txBox="1"/>
          <p:nvPr/>
        </p:nvSpPr>
        <p:spPr>
          <a:xfrm>
            <a:off x="530352" y="1517904"/>
            <a:ext cx="11130991" cy="256032"/>
          </a:xfrm>
          <a:prstGeom prst="rect">
            <a:avLst/>
          </a:prstGeom>
          <a:noFill/>
          <a:ln/>
        </p:spPr>
        <p:txBody>
          <a:bodyPr wrap="square" lIns="0" tIns="0" rIns="0" bIns="0" rtlCol="0" anchor="t"/>
          <a:lstStyle/>
          <a:p>
            <a:pPr algn="l" indent="0" marL="0">
              <a:lnSpc>
                <a:spcPct val="100000"/>
              </a:lnSpc>
              <a:buNone/>
            </a:pPr>
            <a:r>
              <a:rPr lang="en-US" sz="1250" b="1" dirty="0">
                <a:solidFill>
                  <a:srgbClr val="0877C9"/>
                </a:solidFill>
                <a:latin typeface="Aptos" pitchFamily="34" charset="0"/>
                <a:ea typeface="Aptos" pitchFamily="34" charset="-122"/>
                <a:cs typeface="Aptos" pitchFamily="34" charset="-120"/>
              </a:rPr>
              <a:t>Cascades Containerboard · on-time coverage</a:t>
            </a:r>
            <a:endParaRPr lang="en-US" sz="1250" dirty="0"/>
          </a:p>
        </p:txBody>
      </p:sp>
      <p:sp>
        <p:nvSpPr>
          <p:cNvPr id="11" name="Shape 8"/>
          <p:cNvSpPr/>
          <p:nvPr/>
        </p:nvSpPr>
        <p:spPr>
          <a:xfrm>
            <a:off x="530352" y="1956816"/>
            <a:ext cx="5394960" cy="2286000"/>
          </a:xfrm>
          <a:prstGeom prst="roundRect">
            <a:avLst>
              <a:gd name="adj" fmla="val 3200"/>
            </a:avLst>
          </a:prstGeom>
          <a:solidFill>
            <a:srgbClr val="FFFFFF"/>
          </a:solidFill>
          <a:ln w="9525">
            <a:solidFill>
              <a:srgbClr val="D8E4EA"/>
            </a:solidFill>
            <a:prstDash val="solid"/>
          </a:ln>
        </p:spPr>
        <p:txBody>
          <a:bodyPr/>
          <a:p/>
        </p:txBody>
      </p:sp>
      <p:sp>
        <p:nvSpPr>
          <p:cNvPr id="12" name="Text 9"/>
          <p:cNvSpPr txBox="1"/>
          <p:nvPr/>
        </p:nvSpPr>
        <p:spPr>
          <a:xfrm>
            <a:off x="841248" y="2212848"/>
            <a:ext cx="2743200" cy="868680"/>
          </a:xfrm>
          <a:prstGeom prst="rect">
            <a:avLst/>
          </a:prstGeom>
          <a:noFill/>
          <a:ln/>
        </p:spPr>
        <p:txBody>
          <a:bodyPr wrap="square" lIns="0" tIns="0" rIns="0" bIns="0" rtlCol="0" anchor="t"/>
          <a:lstStyle/>
          <a:p>
            <a:pPr algn="l" indent="0" marL="0">
              <a:lnSpc>
                <a:spcPct val="100000"/>
              </a:lnSpc>
              <a:buNone/>
            </a:pPr>
            <a:r>
              <a:rPr lang="en-US" sz="5400" b="1" dirty="0">
                <a:solidFill>
                  <a:srgbClr val="14A66A"/>
                </a:solidFill>
                <a:latin typeface="Aptos Display" pitchFamily="34" charset="0"/>
                <a:ea typeface="Aptos Display" pitchFamily="34" charset="-122"/>
                <a:cs typeface="Aptos Display" pitchFamily="34" charset="-120"/>
              </a:rPr>
              <a:t>96.4%</a:t>
            </a:r>
            <a:endParaRPr lang="en-US" sz="5400" dirty="0"/>
          </a:p>
        </p:txBody>
      </p:sp>
      <p:sp>
        <p:nvSpPr>
          <p:cNvPr id="13" name="Text 10"/>
          <p:cNvSpPr txBox="1"/>
          <p:nvPr/>
        </p:nvSpPr>
        <p:spPr>
          <a:xfrm>
            <a:off x="3593592" y="2724912"/>
            <a:ext cx="2011680" cy="365760"/>
          </a:xfrm>
          <a:prstGeom prst="rect">
            <a:avLst/>
          </a:prstGeom>
          <a:noFill/>
          <a:ln/>
        </p:spPr>
        <p:txBody>
          <a:bodyPr wrap="square" lIns="0" tIns="0" rIns="0" bIns="0" rtlCol="0" anchor="t"/>
          <a:lstStyle/>
          <a:p>
            <a:pPr algn="l" indent="0" marL="0">
              <a:lnSpc>
                <a:spcPct val="100000"/>
              </a:lnSpc>
              <a:buNone/>
            </a:pPr>
            <a:r>
              <a:rPr lang="en-US" sz="1500" b="1" dirty="0">
                <a:solidFill>
                  <a:srgbClr val="6F8491"/>
                </a:solidFill>
                <a:latin typeface="Aptos" pitchFamily="34" charset="0"/>
                <a:ea typeface="Aptos" pitchFamily="34" charset="-122"/>
                <a:cs typeface="Aptos" pitchFamily="34" charset="-120"/>
              </a:rPr>
              <a:t>on time</a:t>
            </a:r>
            <a:endParaRPr lang="en-US" sz="1500" dirty="0"/>
          </a:p>
        </p:txBody>
      </p:sp>
      <p:sp>
        <p:nvSpPr>
          <p:cNvPr id="14" name="Shape 11"/>
          <p:cNvSpPr/>
          <p:nvPr/>
        </p:nvSpPr>
        <p:spPr>
          <a:xfrm>
            <a:off x="841248" y="3255264"/>
            <a:ext cx="4773168" cy="0"/>
          </a:xfrm>
          <a:prstGeom prst="line">
            <a:avLst/>
          </a:prstGeom>
          <a:noFill/>
          <a:ln w="9525">
            <a:solidFill>
              <a:srgbClr val="D8E4EA"/>
            </a:solidFill>
            <a:prstDash val="solid"/>
          </a:ln>
        </p:spPr>
        <p:txBody>
          <a:bodyPr/>
          <a:p/>
        </p:txBody>
      </p:sp>
      <p:sp>
        <p:nvSpPr>
          <p:cNvPr id="15" name="Text 12"/>
          <p:cNvSpPr txBox="1"/>
          <p:nvPr/>
        </p:nvSpPr>
        <p:spPr>
          <a:xfrm>
            <a:off x="841248" y="3401568"/>
            <a:ext cx="4773168" cy="457200"/>
          </a:xfrm>
          <a:prstGeom prst="rect">
            <a:avLst/>
          </a:prstGeom>
          <a:noFill/>
          <a:ln/>
        </p:spPr>
        <p:txBody>
          <a:bodyPr wrap="square" lIns="0" tIns="0" rIns="0" bIns="0" rtlCol="0" anchor="t"/>
          <a:lstStyle/>
          <a:p>
            <a:pPr algn="l" indent="0" marL="0">
              <a:lnSpc>
                <a:spcPct val="118000"/>
              </a:lnSpc>
              <a:buNone/>
            </a:pPr>
            <a:r>
              <a:rPr lang="en-US" sz="1150" dirty="0">
                <a:solidFill>
                  <a:srgbClr val="456174"/>
                </a:solidFill>
                <a:latin typeface="Aptos" pitchFamily="34" charset="0"/>
                <a:ea typeface="Aptos" pitchFamily="34" charset="-122"/>
                <a:cs typeface="Aptos" pitchFamily="34" charset="-120"/>
              </a:rPr>
              <a:t>Of the loads that were scanned in, 96.4% arrived inside their booked window.</a:t>
            </a:r>
            <a:endParaRPr lang="en-US" sz="1150" dirty="0"/>
          </a:p>
        </p:txBody>
      </p:sp>
      <p:sp>
        <p:nvSpPr>
          <p:cNvPr id="16" name="Shape 13"/>
          <p:cNvSpPr/>
          <p:nvPr/>
        </p:nvSpPr>
        <p:spPr>
          <a:xfrm>
            <a:off x="6263640" y="1956816"/>
            <a:ext cx="5394960" cy="2286000"/>
          </a:xfrm>
          <a:prstGeom prst="roundRect">
            <a:avLst>
              <a:gd name="adj" fmla="val 3200"/>
            </a:avLst>
          </a:prstGeom>
          <a:solidFill>
            <a:srgbClr val="FFFFFF"/>
          </a:solidFill>
          <a:ln w="9525">
            <a:solidFill>
              <a:srgbClr val="D8E4EA"/>
            </a:solidFill>
            <a:prstDash val="solid"/>
          </a:ln>
        </p:spPr>
        <p:txBody>
          <a:bodyPr/>
          <a:p/>
        </p:txBody>
      </p:sp>
      <p:sp>
        <p:nvSpPr>
          <p:cNvPr id="17" name="Text 14"/>
          <p:cNvSpPr txBox="1"/>
          <p:nvPr/>
        </p:nvSpPr>
        <p:spPr>
          <a:xfrm>
            <a:off x="6556248" y="2194560"/>
            <a:ext cx="4809744" cy="219456"/>
          </a:xfrm>
          <a:prstGeom prst="rect">
            <a:avLst/>
          </a:prstGeom>
          <a:noFill/>
          <a:ln/>
        </p:spPr>
        <p:txBody>
          <a:bodyPr wrap="square" lIns="0" tIns="0" rIns="0" bIns="0" rtlCol="0" anchor="t"/>
          <a:lstStyle/>
          <a:p>
            <a:pPr algn="l" indent="0" marL="0">
              <a:lnSpc>
                <a:spcPct val="100000"/>
              </a:lnSpc>
              <a:buNone/>
            </a:pPr>
            <a:r>
              <a:rPr lang="en-US" sz="950" b="1" spc="80" kern="0" dirty="0">
                <a:solidFill>
                  <a:srgbClr val="6F8491"/>
                </a:solidFill>
                <a:latin typeface="Aptos" pitchFamily="34" charset="0"/>
                <a:ea typeface="Aptos" pitchFamily="34" charset="-122"/>
                <a:cs typeface="Aptos" pitchFamily="34" charset="-120"/>
              </a:rPr>
              <a:t>COVERAGE</a:t>
            </a:r>
            <a:endParaRPr lang="en-US" sz="950" dirty="0"/>
          </a:p>
        </p:txBody>
      </p:sp>
      <p:sp>
        <p:nvSpPr>
          <p:cNvPr id="18" name="Shape 15"/>
          <p:cNvSpPr/>
          <p:nvPr/>
        </p:nvSpPr>
        <p:spPr>
          <a:xfrm>
            <a:off x="6556248" y="2523744"/>
            <a:ext cx="3334027" cy="475488"/>
          </a:xfrm>
          <a:prstGeom prst="roundRect">
            <a:avLst>
              <a:gd name="adj" fmla="val 11538"/>
            </a:avLst>
          </a:prstGeom>
          <a:solidFill>
            <a:srgbClr val="0877C9"/>
          </a:solidFill>
          <a:ln/>
        </p:spPr>
        <p:txBody>
          <a:bodyPr/>
          <a:p/>
        </p:txBody>
      </p:sp>
      <p:sp>
        <p:nvSpPr>
          <p:cNvPr id="19" name="Shape 16"/>
          <p:cNvSpPr/>
          <p:nvPr/>
        </p:nvSpPr>
        <p:spPr>
          <a:xfrm>
            <a:off x="9890275" y="2523744"/>
            <a:ext cx="1475717" cy="475488"/>
          </a:xfrm>
          <a:prstGeom prst="roundRect">
            <a:avLst>
              <a:gd name="adj" fmla="val 11538"/>
            </a:avLst>
          </a:prstGeom>
          <a:solidFill>
            <a:srgbClr val="E7EDF1"/>
          </a:solidFill>
          <a:ln/>
        </p:spPr>
        <p:txBody>
          <a:bodyPr/>
          <a:p/>
        </p:txBody>
      </p:sp>
      <p:sp>
        <p:nvSpPr>
          <p:cNvPr id="20" name="Text 17"/>
          <p:cNvSpPr txBox="1"/>
          <p:nvPr/>
        </p:nvSpPr>
        <p:spPr>
          <a:xfrm>
            <a:off x="6739128" y="2642616"/>
            <a:ext cx="2926080" cy="256032"/>
          </a:xfrm>
          <a:prstGeom prst="rect">
            <a:avLst/>
          </a:prstGeom>
          <a:noFill/>
          <a:ln/>
        </p:spPr>
        <p:txBody>
          <a:bodyPr wrap="square" lIns="0" tIns="0" rIns="0" bIns="0" rtlCol="0" anchor="t"/>
          <a:lstStyle/>
          <a:p>
            <a:pPr algn="l" indent="0" marL="0">
              <a:lnSpc>
                <a:spcPct val="100000"/>
              </a:lnSpc>
              <a:buNone/>
            </a:pPr>
            <a:r>
              <a:rPr lang="en-US" sz="1150" b="1" dirty="0">
                <a:solidFill>
                  <a:srgbClr val="FFFFFF"/>
                </a:solidFill>
                <a:latin typeface="Aptos" pitchFamily="34" charset="0"/>
                <a:ea typeface="Aptos" pitchFamily="34" charset="-122"/>
                <a:cs typeface="Aptos" pitchFamily="34" charset="-120"/>
              </a:rPr>
              <a:t>61 of 88 scanned in</a:t>
            </a:r>
            <a:endParaRPr lang="en-US" sz="1150" dirty="0"/>
          </a:p>
        </p:txBody>
      </p:sp>
      <p:sp>
        <p:nvSpPr>
          <p:cNvPr id="21" name="Text 18"/>
          <p:cNvSpPr txBox="1"/>
          <p:nvPr/>
        </p:nvSpPr>
        <p:spPr>
          <a:xfrm>
            <a:off x="9890275" y="2642616"/>
            <a:ext cx="1475717" cy="256032"/>
          </a:xfrm>
          <a:prstGeom prst="rect">
            <a:avLst/>
          </a:prstGeom>
          <a:noFill/>
          <a:ln/>
        </p:spPr>
        <p:txBody>
          <a:bodyPr wrap="square" lIns="0" tIns="0" rIns="0" bIns="0" rtlCol="0" anchor="t"/>
          <a:lstStyle/>
          <a:p>
            <a:pPr algn="ctr" indent="0" marL="0">
              <a:lnSpc>
                <a:spcPct val="100000"/>
              </a:lnSpc>
              <a:buNone/>
            </a:pPr>
            <a:r>
              <a:rPr lang="en-US" sz="950" b="1" dirty="0">
                <a:solidFill>
                  <a:srgbClr val="6F8491"/>
                </a:solidFill>
                <a:latin typeface="Aptos" pitchFamily="34" charset="0"/>
                <a:ea typeface="Aptos" pitchFamily="34" charset="-122"/>
                <a:cs typeface="Aptos" pitchFamily="34" charset="-120"/>
              </a:rPr>
              <a:t>27 never scanned</a:t>
            </a:r>
            <a:endParaRPr lang="en-US" sz="950" dirty="0"/>
          </a:p>
        </p:txBody>
      </p:sp>
      <p:sp>
        <p:nvSpPr>
          <p:cNvPr id="22" name="Text 19"/>
          <p:cNvSpPr txBox="1"/>
          <p:nvPr/>
        </p:nvSpPr>
        <p:spPr>
          <a:xfrm>
            <a:off x="6556248" y="3255264"/>
            <a:ext cx="4809744" cy="603504"/>
          </a:xfrm>
          <a:prstGeom prst="rect">
            <a:avLst/>
          </a:prstGeom>
          <a:noFill/>
          <a:ln/>
        </p:spPr>
        <p:txBody>
          <a:bodyPr wrap="square" lIns="0" tIns="0" rIns="0" bIns="0" rtlCol="0" anchor="t"/>
          <a:lstStyle/>
          <a:p>
            <a:pPr algn="l" indent="0" marL="0">
              <a:lnSpc>
                <a:spcPct val="118000"/>
              </a:lnSpc>
              <a:buNone/>
            </a:pPr>
            <a:r>
              <a:rPr lang="en-US" sz="1150" dirty="0">
                <a:solidFill>
                  <a:srgbClr val="456174"/>
                </a:solidFill>
                <a:latin typeface="Aptos" pitchFamily="34" charset="0"/>
                <a:ea typeface="Aptos" pitchFamily="34" charset="-122"/>
                <a:cs typeface="Aptos" pitchFamily="34" charset="-120"/>
              </a:rPr>
              <a:t>It doubles as adoption: 69% coverage says as much about the site as about its carriers.</a:t>
            </a:r>
            <a:endParaRPr lang="en-US" sz="1150" dirty="0"/>
          </a:p>
        </p:txBody>
      </p:sp>
      <p:sp>
        <p:nvSpPr>
          <p:cNvPr id="23" name="Shape 20"/>
          <p:cNvSpPr/>
          <p:nvPr/>
        </p:nvSpPr>
        <p:spPr>
          <a:xfrm>
            <a:off x="530352" y="4535424"/>
            <a:ext cx="11130991" cy="1188720"/>
          </a:xfrm>
          <a:prstGeom prst="roundRect">
            <a:avLst>
              <a:gd name="adj" fmla="val 6154"/>
            </a:avLst>
          </a:prstGeom>
          <a:solidFill>
            <a:srgbClr val="072238"/>
          </a:solidFill>
          <a:ln/>
        </p:spPr>
        <p:txBody>
          <a:bodyPr/>
          <a:p/>
        </p:txBody>
      </p:sp>
      <p:sp>
        <p:nvSpPr>
          <p:cNvPr id="24" name="Text 21"/>
          <p:cNvSpPr txBox="1"/>
          <p:nvPr/>
        </p:nvSpPr>
        <p:spPr>
          <a:xfrm>
            <a:off x="877824" y="4681728"/>
            <a:ext cx="5120640" cy="896112"/>
          </a:xfrm>
          <a:prstGeom prst="rect">
            <a:avLst/>
          </a:prstGeom>
          <a:noFill/>
          <a:ln/>
        </p:spPr>
        <p:txBody>
          <a:bodyPr wrap="square" lIns="0" tIns="0" rIns="0" bIns="0" rtlCol="0" anchor="ctr"/>
          <a:lstStyle/>
          <a:p>
            <a:pPr algn="l" indent="0" marL="0">
              <a:lnSpc>
                <a:spcPct val="115000"/>
              </a:lnSpc>
              <a:buNone/>
            </a:pPr>
            <a:r>
              <a:rPr lang="en-US" sz="1600" b="1" dirty="0">
                <a:solidFill>
                  <a:srgbClr val="FFFFFF"/>
                </a:solidFill>
                <a:latin typeface="Aptos" pitchFamily="34" charset="0"/>
                <a:ea typeface="Aptos" pitchFamily="34" charset="-122"/>
                <a:cs typeface="Aptos" pitchFamily="34" charset="-120"/>
              </a:rPr>
              <a:t>The trucks nobody scans are more likely to be the late ones.</a:t>
            </a:r>
            <a:endParaRPr lang="en-US" sz="1600" dirty="0"/>
          </a:p>
        </p:txBody>
      </p:sp>
      <p:sp>
        <p:nvSpPr>
          <p:cNvPr id="25" name="Text 22"/>
          <p:cNvSpPr txBox="1"/>
          <p:nvPr/>
        </p:nvSpPr>
        <p:spPr>
          <a:xfrm>
            <a:off x="5989320" y="4754880"/>
            <a:ext cx="5394960" cy="777240"/>
          </a:xfrm>
          <a:prstGeom prst="rect">
            <a:avLst/>
          </a:prstGeom>
          <a:noFill/>
          <a:ln/>
        </p:spPr>
        <p:txBody>
          <a:bodyPr wrap="square" lIns="0" tIns="0" rIns="0" bIns="0" rtlCol="0" anchor="ctr"/>
          <a:lstStyle/>
          <a:p>
            <a:pPr algn="l" indent="0" marL="0">
              <a:lnSpc>
                <a:spcPct val="122000"/>
              </a:lnSpc>
              <a:buNone/>
            </a:pPr>
            <a:r>
              <a:rPr lang="en-US" sz="1200" dirty="0">
                <a:solidFill>
                  <a:srgbClr val="B9D7E8"/>
                </a:solidFill>
                <a:latin typeface="Aptos" pitchFamily="34" charset="0"/>
                <a:ea typeface="Aptos" pitchFamily="34" charset="-122"/>
                <a:cs typeface="Aptos" pitchFamily="34" charset="-120"/>
              </a:rPr>
              <a:t>When a day gets chaotic, scanning is the first thing skipped — which is exactly when the figure would flatter us.</a:t>
            </a:r>
            <a:endParaRPr lang="en-US" sz="1200" dirty="0"/>
          </a:p>
        </p:txBody>
      </p:sp>
      <p:sp>
        <p:nvSpPr>
          <p:cNvPr id="26" name="Text 23"/>
          <p:cNvSpPr txBox="1"/>
          <p:nvPr/>
        </p:nvSpPr>
        <p:spPr>
          <a:xfrm>
            <a:off x="530352" y="5870448"/>
            <a:ext cx="11130991" cy="310896"/>
          </a:xfrm>
          <a:prstGeom prst="rect">
            <a:avLst/>
          </a:prstGeom>
          <a:noFill/>
          <a:ln/>
        </p:spPr>
        <p:txBody>
          <a:bodyPr wrap="square" lIns="0" tIns="0" rIns="0" bIns="0" rtlCol="0" anchor="t"/>
          <a:lstStyle/>
          <a:p>
            <a:pPr algn="l" indent="0" marL="0">
              <a:lnSpc>
                <a:spcPct val="100000"/>
              </a:lnSpc>
              <a:buNone/>
            </a:pPr>
            <a:r>
              <a:rPr lang="en-US" sz="1150" i="1" dirty="0">
                <a:solidFill>
                  <a:srgbClr val="6F8491"/>
                </a:solidFill>
                <a:latin typeface="Aptos" pitchFamily="34" charset="0"/>
                <a:ea typeface="Aptos" pitchFamily="34" charset="-122"/>
                <a:cs typeface="Aptos" pitchFamily="34" charset="-120"/>
              </a:rPr>
              <a:t>Every report shows the count it was built from.</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24</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THE REAL SCREEN</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Reports, built from taps nobody had to think about.</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Any set of sites, any date range, nine views. Every figure here came from a booking made and a truck scanned.</a:t>
            </a:r>
            <a:endParaRPr lang="en-US" sz="1200" dirty="0"/>
          </a:p>
        </p:txBody>
      </p:sp>
      <p:sp>
        <p:nvSpPr>
          <p:cNvPr id="10" name="Shape 7"/>
          <p:cNvSpPr/>
          <p:nvPr/>
        </p:nvSpPr>
        <p:spPr>
          <a:xfrm>
            <a:off x="475488" y="1517904"/>
            <a:ext cx="7424928" cy="4681728"/>
          </a:xfrm>
          <a:prstGeom prst="roundRect">
            <a:avLst>
              <a:gd name="adj" fmla="val 1563"/>
            </a:avLst>
          </a:prstGeom>
          <a:solidFill>
            <a:srgbClr val="EDF3F7"/>
          </a:solidFill>
          <a:ln/>
        </p:spPr>
        <p:txBody>
          <a:bodyPr/>
          <a:p/>
        </p:txBody>
      </p:sp>
      <p:pic>
        <p:nvPicPr>
          <p:cNvPr id="11" name="Image 1" descr="unpacked/ppt/media/image-20-2.png">    </p:cNvPr>
          <p:cNvPicPr>
            <a:picLocks noChangeAspect="1"/>
          </p:cNvPicPr>
          <p:nvPr/>
        </p:nvPicPr>
        <p:blipFill>
          <a:blip r:embed="rId2"/>
          <a:stretch>
            <a:fillRect/>
          </a:stretch>
        </p:blipFill>
        <p:spPr>
          <a:xfrm>
            <a:off x="530352" y="1572768"/>
            <a:ext cx="7315200" cy="4572000"/>
          </a:xfrm>
          <a:prstGeom prst="rect">
            <a:avLst/>
          </a:prstGeom>
        </p:spPr>
      </p:pic>
      <p:sp>
        <p:nvSpPr>
          <p:cNvPr id="12" name="Shape 8"/>
          <p:cNvSpPr/>
          <p:nvPr/>
        </p:nvSpPr>
        <p:spPr>
          <a:xfrm>
            <a:off x="8183880" y="1664208"/>
            <a:ext cx="274320" cy="274320"/>
          </a:xfrm>
          <a:prstGeom prst="roundRect">
            <a:avLst>
              <a:gd name="adj" fmla="val 16667"/>
            </a:avLst>
          </a:prstGeom>
          <a:solidFill>
            <a:srgbClr val="0877C9"/>
          </a:solidFill>
          <a:ln/>
        </p:spPr>
        <p:txBody>
          <a:bodyPr/>
          <a:p/>
        </p:txBody>
      </p:sp>
      <p:sp>
        <p:nvSpPr>
          <p:cNvPr id="13" name="Text 9"/>
          <p:cNvSpPr txBox="1"/>
          <p:nvPr/>
        </p:nvSpPr>
        <p:spPr>
          <a:xfrm>
            <a:off x="8604504" y="1627632"/>
            <a:ext cx="3054096" cy="329184"/>
          </a:xfrm>
          <a:prstGeom prst="rect">
            <a:avLst/>
          </a:prstGeom>
          <a:noFill/>
          <a:ln/>
        </p:spPr>
        <p:txBody>
          <a:bodyPr wrap="square" lIns="0" tIns="0" rIns="0" bIns="0" rtlCol="0" anchor="t"/>
          <a:lstStyle/>
          <a:p>
            <a:pPr algn="l" indent="0" marL="0">
              <a:lnSpc>
                <a:spcPct val="100000"/>
              </a:lnSpc>
              <a:buNone/>
            </a:pPr>
            <a:r>
              <a:rPr lang="en-US" sz="1450" b="1" dirty="0">
                <a:solidFill>
                  <a:srgbClr val="0B1F33"/>
                </a:solidFill>
                <a:latin typeface="Aptos Display" pitchFamily="34" charset="0"/>
                <a:ea typeface="Aptos Display" pitchFamily="34" charset="-122"/>
                <a:cs typeface="Aptos Display" pitchFamily="34" charset="-120"/>
              </a:rPr>
              <a:t>The three readings</a:t>
            </a:r>
            <a:endParaRPr lang="en-US" sz="1450" dirty="0"/>
          </a:p>
        </p:txBody>
      </p:sp>
      <p:sp>
        <p:nvSpPr>
          <p:cNvPr id="14" name="Text 10"/>
          <p:cNvSpPr txBox="1"/>
          <p:nvPr/>
        </p:nvSpPr>
        <p:spPr>
          <a:xfrm>
            <a:off x="8183880" y="2048256"/>
            <a:ext cx="3474720" cy="603504"/>
          </a:xfrm>
          <a:prstGeom prst="rect">
            <a:avLst/>
          </a:prstGeom>
          <a:noFill/>
          <a:ln/>
        </p:spPr>
        <p:txBody>
          <a:bodyPr wrap="square" lIns="0" tIns="0" rIns="0" bIns="0" rtlCol="0" anchor="t"/>
          <a:lstStyle/>
          <a:p>
            <a:pPr algn="l" indent="0" marL="0">
              <a:lnSpc>
                <a:spcPct val="118000"/>
              </a:lnSpc>
              <a:buNone/>
            </a:pPr>
            <a:r>
              <a:rPr lang="en-US" sz="1050" dirty="0">
                <a:solidFill>
                  <a:srgbClr val="456174"/>
                </a:solidFill>
                <a:latin typeface="Aptos" pitchFamily="34" charset="0"/>
                <a:ea typeface="Aptos" pitchFamily="34" charset="-122"/>
                <a:cs typeface="Aptos" pitchFamily="34" charset="-120"/>
              </a:rPr>
              <a:t>Doors, trailers and reliability, and whether any needs a closer look.</a:t>
            </a:r>
            <a:endParaRPr lang="en-US" sz="1050" dirty="0"/>
          </a:p>
        </p:txBody>
      </p:sp>
      <p:sp>
        <p:nvSpPr>
          <p:cNvPr id="15" name="Shape 11"/>
          <p:cNvSpPr/>
          <p:nvPr/>
        </p:nvSpPr>
        <p:spPr>
          <a:xfrm>
            <a:off x="8183880" y="2816352"/>
            <a:ext cx="274320" cy="274320"/>
          </a:xfrm>
          <a:prstGeom prst="roundRect">
            <a:avLst>
              <a:gd name="adj" fmla="val 16667"/>
            </a:avLst>
          </a:prstGeom>
          <a:solidFill>
            <a:srgbClr val="14A66A"/>
          </a:solidFill>
          <a:ln/>
        </p:spPr>
        <p:txBody>
          <a:bodyPr/>
          <a:p/>
        </p:txBody>
      </p:sp>
      <p:sp>
        <p:nvSpPr>
          <p:cNvPr id="16" name="Text 12"/>
          <p:cNvSpPr txBox="1"/>
          <p:nvPr/>
        </p:nvSpPr>
        <p:spPr>
          <a:xfrm>
            <a:off x="8604504" y="2779776"/>
            <a:ext cx="3054096" cy="329184"/>
          </a:xfrm>
          <a:prstGeom prst="rect">
            <a:avLst/>
          </a:prstGeom>
          <a:noFill/>
          <a:ln/>
        </p:spPr>
        <p:txBody>
          <a:bodyPr wrap="square" lIns="0" tIns="0" rIns="0" bIns="0" rtlCol="0" anchor="t"/>
          <a:lstStyle/>
          <a:p>
            <a:pPr algn="l" indent="0" marL="0">
              <a:lnSpc>
                <a:spcPct val="100000"/>
              </a:lnSpc>
              <a:buNone/>
            </a:pPr>
            <a:r>
              <a:rPr lang="en-US" sz="1450" b="1" dirty="0">
                <a:solidFill>
                  <a:srgbClr val="0B1F33"/>
                </a:solidFill>
                <a:latin typeface="Aptos Display" pitchFamily="34" charset="0"/>
                <a:ea typeface="Aptos Display" pitchFamily="34" charset="-122"/>
                <a:cs typeface="Aptos Display" pitchFamily="34" charset="-120"/>
              </a:rPr>
              <a:t>Daily shape</a:t>
            </a:r>
            <a:endParaRPr lang="en-US" sz="1450" dirty="0"/>
          </a:p>
        </p:txBody>
      </p:sp>
      <p:sp>
        <p:nvSpPr>
          <p:cNvPr id="17" name="Text 13"/>
          <p:cNvSpPr txBox="1"/>
          <p:nvPr/>
        </p:nvSpPr>
        <p:spPr>
          <a:xfrm>
            <a:off x="8183880" y="3200400"/>
            <a:ext cx="3474720" cy="603504"/>
          </a:xfrm>
          <a:prstGeom prst="rect">
            <a:avLst/>
          </a:prstGeom>
          <a:noFill/>
          <a:ln/>
        </p:spPr>
        <p:txBody>
          <a:bodyPr wrap="square" lIns="0" tIns="0" rIns="0" bIns="0" rtlCol="0" anchor="t"/>
          <a:lstStyle/>
          <a:p>
            <a:pPr algn="l" indent="0" marL="0">
              <a:lnSpc>
                <a:spcPct val="118000"/>
              </a:lnSpc>
              <a:buNone/>
            </a:pPr>
            <a:r>
              <a:rPr lang="en-US" sz="1050" dirty="0">
                <a:solidFill>
                  <a:srgbClr val="456174"/>
                </a:solidFill>
                <a:latin typeface="Aptos" pitchFamily="34" charset="0"/>
                <a:ea typeface="Aptos" pitchFamily="34" charset="-122"/>
                <a:cs typeface="Aptos" pitchFamily="34" charset="-120"/>
              </a:rPr>
              <a:t>Trucks, skids and booked hours per day, so a bad week is visible as a shape.</a:t>
            </a:r>
            <a:endParaRPr lang="en-US" sz="1050" dirty="0"/>
          </a:p>
        </p:txBody>
      </p:sp>
      <p:sp>
        <p:nvSpPr>
          <p:cNvPr id="18" name="Shape 14"/>
          <p:cNvSpPr/>
          <p:nvPr/>
        </p:nvSpPr>
        <p:spPr>
          <a:xfrm>
            <a:off x="8183880" y="3968496"/>
            <a:ext cx="274320" cy="274320"/>
          </a:xfrm>
          <a:prstGeom prst="roundRect">
            <a:avLst>
              <a:gd name="adj" fmla="val 16667"/>
            </a:avLst>
          </a:prstGeom>
          <a:solidFill>
            <a:srgbClr val="F2A11B"/>
          </a:solidFill>
          <a:ln/>
        </p:spPr>
        <p:txBody>
          <a:bodyPr/>
          <a:p/>
        </p:txBody>
      </p:sp>
      <p:sp>
        <p:nvSpPr>
          <p:cNvPr id="19" name="Text 15"/>
          <p:cNvSpPr txBox="1"/>
          <p:nvPr/>
        </p:nvSpPr>
        <p:spPr>
          <a:xfrm>
            <a:off x="8604504" y="3931920"/>
            <a:ext cx="3054096" cy="329184"/>
          </a:xfrm>
          <a:prstGeom prst="rect">
            <a:avLst/>
          </a:prstGeom>
          <a:noFill/>
          <a:ln/>
        </p:spPr>
        <p:txBody>
          <a:bodyPr wrap="square" lIns="0" tIns="0" rIns="0" bIns="0" rtlCol="0" anchor="t"/>
          <a:lstStyle/>
          <a:p>
            <a:pPr algn="l" indent="0" marL="0">
              <a:lnSpc>
                <a:spcPct val="100000"/>
              </a:lnSpc>
              <a:buNone/>
            </a:pPr>
            <a:r>
              <a:rPr lang="en-US" sz="1450" b="1" dirty="0">
                <a:solidFill>
                  <a:srgbClr val="0B1F33"/>
                </a:solidFill>
                <a:latin typeface="Aptos Display" pitchFamily="34" charset="0"/>
                <a:ea typeface="Aptos Display" pitchFamily="34" charset="-122"/>
                <a:cs typeface="Aptos Display" pitchFamily="34" charset="-120"/>
              </a:rPr>
              <a:t>In against out</a:t>
            </a:r>
            <a:endParaRPr lang="en-US" sz="1450" dirty="0"/>
          </a:p>
        </p:txBody>
      </p:sp>
      <p:sp>
        <p:nvSpPr>
          <p:cNvPr id="20" name="Text 16"/>
          <p:cNvSpPr txBox="1"/>
          <p:nvPr/>
        </p:nvSpPr>
        <p:spPr>
          <a:xfrm>
            <a:off x="8183880" y="4352544"/>
            <a:ext cx="3474720" cy="603504"/>
          </a:xfrm>
          <a:prstGeom prst="rect">
            <a:avLst/>
          </a:prstGeom>
          <a:noFill/>
          <a:ln/>
        </p:spPr>
        <p:txBody>
          <a:bodyPr wrap="square" lIns="0" tIns="0" rIns="0" bIns="0" rtlCol="0" anchor="t"/>
          <a:lstStyle/>
          <a:p>
            <a:pPr algn="l" indent="0" marL="0">
              <a:lnSpc>
                <a:spcPct val="118000"/>
              </a:lnSpc>
              <a:buNone/>
            </a:pPr>
            <a:r>
              <a:rPr lang="en-US" sz="1050" dirty="0">
                <a:solidFill>
                  <a:srgbClr val="456174"/>
                </a:solidFill>
                <a:latin typeface="Aptos" pitchFamily="34" charset="0"/>
                <a:ea typeface="Aptos" pitchFamily="34" charset="-122"/>
                <a:cs typeface="Aptos" pitchFamily="34" charset="-120"/>
              </a:rPr>
              <a:t>What the site took in versus what it sent out, and what that left on the floor.</a:t>
            </a:r>
            <a:endParaRPr lang="en-US" sz="1050" dirty="0"/>
          </a:p>
        </p:txBody>
      </p:sp>
      <p:sp>
        <p:nvSpPr>
          <p:cNvPr id="21" name="Shape 17"/>
          <p:cNvSpPr/>
          <p:nvPr/>
        </p:nvSpPr>
        <p:spPr>
          <a:xfrm>
            <a:off x="8183880" y="5120640"/>
            <a:ext cx="274320" cy="274320"/>
          </a:xfrm>
          <a:prstGeom prst="roundRect">
            <a:avLst>
              <a:gd name="adj" fmla="val 16667"/>
            </a:avLst>
          </a:prstGeom>
          <a:solidFill>
            <a:srgbClr val="6C63D9"/>
          </a:solidFill>
          <a:ln/>
        </p:spPr>
        <p:txBody>
          <a:bodyPr/>
          <a:p/>
        </p:txBody>
      </p:sp>
      <p:sp>
        <p:nvSpPr>
          <p:cNvPr id="22" name="Text 18"/>
          <p:cNvSpPr txBox="1"/>
          <p:nvPr/>
        </p:nvSpPr>
        <p:spPr>
          <a:xfrm>
            <a:off x="8604504" y="5084064"/>
            <a:ext cx="3054096" cy="329184"/>
          </a:xfrm>
          <a:prstGeom prst="rect">
            <a:avLst/>
          </a:prstGeom>
          <a:noFill/>
          <a:ln/>
        </p:spPr>
        <p:txBody>
          <a:bodyPr wrap="square" lIns="0" tIns="0" rIns="0" bIns="0" rtlCol="0" anchor="t"/>
          <a:lstStyle/>
          <a:p>
            <a:pPr algn="l" indent="0" marL="0">
              <a:lnSpc>
                <a:spcPct val="100000"/>
              </a:lnSpc>
              <a:buNone/>
            </a:pPr>
            <a:r>
              <a:rPr lang="en-US" sz="1450" b="1" dirty="0">
                <a:solidFill>
                  <a:srgbClr val="0B1F33"/>
                </a:solidFill>
                <a:latin typeface="Aptos Display" pitchFamily="34" charset="0"/>
                <a:ea typeface="Aptos Display" pitchFamily="34" charset="-122"/>
                <a:cs typeface="Aptos Display" pitchFamily="34" charset="-120"/>
              </a:rPr>
              <a:t>Export and print</a:t>
            </a:r>
            <a:endParaRPr lang="en-US" sz="1450" dirty="0"/>
          </a:p>
        </p:txBody>
      </p:sp>
      <p:sp>
        <p:nvSpPr>
          <p:cNvPr id="23" name="Text 19"/>
          <p:cNvSpPr txBox="1"/>
          <p:nvPr/>
        </p:nvSpPr>
        <p:spPr>
          <a:xfrm>
            <a:off x="8183880" y="5504688"/>
            <a:ext cx="3474720" cy="603504"/>
          </a:xfrm>
          <a:prstGeom prst="rect">
            <a:avLst/>
          </a:prstGeom>
          <a:noFill/>
          <a:ln/>
        </p:spPr>
        <p:txBody>
          <a:bodyPr wrap="square" lIns="0" tIns="0" rIns="0" bIns="0" rtlCol="0" anchor="t"/>
          <a:lstStyle/>
          <a:p>
            <a:pPr algn="l" indent="0" marL="0">
              <a:lnSpc>
                <a:spcPct val="118000"/>
              </a:lnSpc>
              <a:buNone/>
            </a:pPr>
            <a:r>
              <a:rPr lang="en-US" sz="1050" dirty="0">
                <a:solidFill>
                  <a:srgbClr val="456174"/>
                </a:solidFill>
                <a:latin typeface="Aptos" pitchFamily="34" charset="0"/>
                <a:ea typeface="Aptos" pitchFamily="34" charset="-122"/>
                <a:cs typeface="Aptos" pitchFamily="34" charset="-120"/>
              </a:rPr>
              <a:t>Export on every screen with data. Print lives here.</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25</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TWO MORE THAT COME FREE</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Labour and door use, without a form to fill in.</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A report may only use facts the software already collected while people did their jobs.</a:t>
            </a:r>
            <a:endParaRPr lang="en-US" sz="1200" dirty="0"/>
          </a:p>
        </p:txBody>
      </p:sp>
      <p:sp>
        <p:nvSpPr>
          <p:cNvPr id="10" name="Shape 7"/>
          <p:cNvSpPr/>
          <p:nvPr/>
        </p:nvSpPr>
        <p:spPr>
          <a:xfrm>
            <a:off x="530352" y="1609344"/>
            <a:ext cx="5303520" cy="3877056"/>
          </a:xfrm>
          <a:prstGeom prst="roundRect">
            <a:avLst>
              <a:gd name="adj" fmla="val 1887"/>
            </a:avLst>
          </a:prstGeom>
          <a:solidFill>
            <a:srgbClr val="FFFFFF"/>
          </a:solidFill>
          <a:ln w="9525">
            <a:solidFill>
              <a:srgbClr val="D8E4EA"/>
            </a:solidFill>
            <a:prstDash val="solid"/>
          </a:ln>
        </p:spPr>
        <p:txBody>
          <a:bodyPr/>
          <a:p/>
        </p:txBody>
      </p:sp>
      <p:sp>
        <p:nvSpPr>
          <p:cNvPr id="11" name="Shape 8"/>
          <p:cNvSpPr/>
          <p:nvPr/>
        </p:nvSpPr>
        <p:spPr>
          <a:xfrm>
            <a:off x="841248" y="1865376"/>
            <a:ext cx="274320" cy="274320"/>
          </a:xfrm>
          <a:prstGeom prst="roundRect">
            <a:avLst>
              <a:gd name="adj" fmla="val 16667"/>
            </a:avLst>
          </a:prstGeom>
          <a:solidFill>
            <a:srgbClr val="0877C9"/>
          </a:solidFill>
          <a:ln/>
        </p:spPr>
        <p:txBody>
          <a:bodyPr/>
          <a:p/>
        </p:txBody>
      </p:sp>
      <p:sp>
        <p:nvSpPr>
          <p:cNvPr id="12" name="Text 9"/>
          <p:cNvSpPr txBox="1"/>
          <p:nvPr/>
        </p:nvSpPr>
        <p:spPr>
          <a:xfrm>
            <a:off x="841248" y="2267712"/>
            <a:ext cx="4681728" cy="365760"/>
          </a:xfrm>
          <a:prstGeom prst="rect">
            <a:avLst/>
          </a:prstGeom>
          <a:noFill/>
          <a:ln/>
        </p:spPr>
        <p:txBody>
          <a:bodyPr wrap="square" lIns="0" tIns="0" rIns="0" bIns="0" rtlCol="0" anchor="t"/>
          <a:lstStyle/>
          <a:p>
            <a:pPr algn="l" indent="0" marL="0">
              <a:lnSpc>
                <a:spcPct val="100000"/>
              </a:lnSpc>
              <a:buNone/>
            </a:pPr>
            <a:r>
              <a:rPr lang="en-US" sz="1700" b="1" dirty="0">
                <a:solidFill>
                  <a:srgbClr val="0B1F33"/>
                </a:solidFill>
                <a:latin typeface="Aptos Display" pitchFamily="34" charset="0"/>
                <a:ea typeface="Aptos Display" pitchFamily="34" charset="-122"/>
                <a:cs typeface="Aptos Display" pitchFamily="34" charset="-120"/>
              </a:rPr>
              <a:t>Dock labour, without a timesheet</a:t>
            </a:r>
            <a:endParaRPr lang="en-US" sz="1700" dirty="0"/>
          </a:p>
        </p:txBody>
      </p:sp>
      <p:sp>
        <p:nvSpPr>
          <p:cNvPr id="13" name="Text 10"/>
          <p:cNvSpPr txBox="1"/>
          <p:nvPr/>
        </p:nvSpPr>
        <p:spPr>
          <a:xfrm>
            <a:off x="841248" y="2724912"/>
            <a:ext cx="4681728" cy="1097280"/>
          </a:xfrm>
          <a:prstGeom prst="rect">
            <a:avLst/>
          </a:prstGeom>
          <a:noFill/>
          <a:ln/>
        </p:spPr>
        <p:txBody>
          <a:bodyPr wrap="square" lIns="0" tIns="0" rIns="0" bIns="0" rtlCol="0" anchor="t"/>
          <a:lstStyle/>
          <a:p>
            <a:pPr algn="l" indent="0" marL="0">
              <a:lnSpc>
                <a:spcPct val="122000"/>
              </a:lnSpc>
              <a:buNone/>
            </a:pPr>
            <a:r>
              <a:rPr lang="en-US" sz="1150" dirty="0">
                <a:solidFill>
                  <a:srgbClr val="456174"/>
                </a:solidFill>
                <a:latin typeface="Aptos" pitchFamily="34" charset="0"/>
                <a:ea typeface="Aptos" pitchFamily="34" charset="-122"/>
                <a:cs typeface="Aptos" pitchFamily="34" charset="-120"/>
              </a:rPr>
              <a:t>MaxDock already knows how long each load holds a door. Multiply by the crew a truck needs, and that is labour hours per day.</a:t>
            </a:r>
            <a:endParaRPr lang="en-US" sz="1150" dirty="0"/>
          </a:p>
        </p:txBody>
      </p:sp>
      <p:sp>
        <p:nvSpPr>
          <p:cNvPr id="14" name="Text 11"/>
          <p:cNvSpPr txBox="1"/>
          <p:nvPr/>
        </p:nvSpPr>
        <p:spPr>
          <a:xfrm>
            <a:off x="841248" y="3694176"/>
            <a:ext cx="548640" cy="219456"/>
          </a:xfrm>
          <a:prstGeom prst="rect">
            <a:avLst/>
          </a:prstGeom>
          <a:noFill/>
          <a:ln/>
        </p:spPr>
        <p:txBody>
          <a:bodyPr wrap="square" lIns="0" tIns="0" rIns="0" bIns="0" rtlCol="0" anchor="t"/>
          <a:lstStyle/>
          <a:p>
            <a:pPr algn="l" indent="0" marL="0">
              <a:lnSpc>
                <a:spcPct val="100000"/>
              </a:lnSpc>
              <a:buNone/>
            </a:pPr>
            <a:r>
              <a:rPr lang="en-US" sz="1000" b="1" dirty="0">
                <a:solidFill>
                  <a:srgbClr val="456174"/>
                </a:solidFill>
                <a:latin typeface="Aptos" pitchFamily="34" charset="0"/>
                <a:ea typeface="Aptos" pitchFamily="34" charset="-122"/>
                <a:cs typeface="Aptos" pitchFamily="34" charset="-120"/>
              </a:rPr>
              <a:t>Mon</a:t>
            </a:r>
            <a:endParaRPr lang="en-US" sz="1000" dirty="0"/>
          </a:p>
        </p:txBody>
      </p:sp>
      <p:sp>
        <p:nvSpPr>
          <p:cNvPr id="15" name="Shape 12"/>
          <p:cNvSpPr/>
          <p:nvPr/>
        </p:nvSpPr>
        <p:spPr>
          <a:xfrm>
            <a:off x="1444752" y="3703320"/>
            <a:ext cx="3566160" cy="182880"/>
          </a:xfrm>
          <a:prstGeom prst="roundRect">
            <a:avLst>
              <a:gd name="adj" fmla="val 50000"/>
            </a:avLst>
          </a:prstGeom>
          <a:solidFill>
            <a:srgbClr val="E7EDF1"/>
          </a:solidFill>
          <a:ln/>
        </p:spPr>
        <p:txBody>
          <a:bodyPr/>
          <a:p/>
        </p:txBody>
      </p:sp>
      <p:sp>
        <p:nvSpPr>
          <p:cNvPr id="16" name="Shape 13"/>
          <p:cNvSpPr/>
          <p:nvPr/>
        </p:nvSpPr>
        <p:spPr>
          <a:xfrm>
            <a:off x="1444752" y="3703320"/>
            <a:ext cx="2176272" cy="182880"/>
          </a:xfrm>
          <a:prstGeom prst="roundRect">
            <a:avLst>
              <a:gd name="adj" fmla="val 50000"/>
            </a:avLst>
          </a:prstGeom>
          <a:solidFill>
            <a:srgbClr val="0877C9"/>
          </a:solidFill>
          <a:ln/>
        </p:spPr>
        <p:txBody>
          <a:bodyPr/>
          <a:p/>
        </p:txBody>
      </p:sp>
      <p:sp>
        <p:nvSpPr>
          <p:cNvPr id="17" name="Text 14"/>
          <p:cNvSpPr txBox="1"/>
          <p:nvPr/>
        </p:nvSpPr>
        <p:spPr>
          <a:xfrm>
            <a:off x="5148072" y="3694176"/>
            <a:ext cx="502920" cy="219456"/>
          </a:xfrm>
          <a:prstGeom prst="rect">
            <a:avLst/>
          </a:prstGeom>
          <a:noFill/>
          <a:ln/>
        </p:spPr>
        <p:txBody>
          <a:bodyPr wrap="square" lIns="0" tIns="0" rIns="0" bIns="0" rtlCol="0" anchor="t"/>
          <a:lstStyle/>
          <a:p>
            <a:pPr algn="r" indent="0" marL="0">
              <a:lnSpc>
                <a:spcPct val="100000"/>
              </a:lnSpc>
              <a:buNone/>
            </a:pPr>
            <a:r>
              <a:rPr lang="en-US" sz="950" b="1" dirty="0">
                <a:solidFill>
                  <a:srgbClr val="6F8491"/>
                </a:solidFill>
                <a:latin typeface="Aptos" pitchFamily="34" charset="0"/>
                <a:ea typeface="Aptos" pitchFamily="34" charset="-122"/>
                <a:cs typeface="Aptos" pitchFamily="34" charset="-120"/>
              </a:rPr>
              <a:t>29 h</a:t>
            </a:r>
            <a:endParaRPr lang="en-US" sz="950" dirty="0"/>
          </a:p>
        </p:txBody>
      </p:sp>
      <p:sp>
        <p:nvSpPr>
          <p:cNvPr id="18" name="Text 15"/>
          <p:cNvSpPr txBox="1"/>
          <p:nvPr/>
        </p:nvSpPr>
        <p:spPr>
          <a:xfrm>
            <a:off x="841248" y="3986784"/>
            <a:ext cx="548640" cy="219456"/>
          </a:xfrm>
          <a:prstGeom prst="rect">
            <a:avLst/>
          </a:prstGeom>
          <a:noFill/>
          <a:ln/>
        </p:spPr>
        <p:txBody>
          <a:bodyPr wrap="square" lIns="0" tIns="0" rIns="0" bIns="0" rtlCol="0" anchor="t"/>
          <a:lstStyle/>
          <a:p>
            <a:pPr algn="l" indent="0" marL="0">
              <a:lnSpc>
                <a:spcPct val="100000"/>
              </a:lnSpc>
              <a:buNone/>
            </a:pPr>
            <a:r>
              <a:rPr lang="en-US" sz="1000" b="1" dirty="0">
                <a:solidFill>
                  <a:srgbClr val="456174"/>
                </a:solidFill>
                <a:latin typeface="Aptos" pitchFamily="34" charset="0"/>
                <a:ea typeface="Aptos" pitchFamily="34" charset="-122"/>
                <a:cs typeface="Aptos" pitchFamily="34" charset="-120"/>
              </a:rPr>
              <a:t>Tue</a:t>
            </a:r>
            <a:endParaRPr lang="en-US" sz="1000" dirty="0"/>
          </a:p>
        </p:txBody>
      </p:sp>
      <p:sp>
        <p:nvSpPr>
          <p:cNvPr id="19" name="Shape 16"/>
          <p:cNvSpPr/>
          <p:nvPr/>
        </p:nvSpPr>
        <p:spPr>
          <a:xfrm>
            <a:off x="1444752" y="3995928"/>
            <a:ext cx="3566160" cy="182880"/>
          </a:xfrm>
          <a:prstGeom prst="roundRect">
            <a:avLst>
              <a:gd name="adj" fmla="val 50000"/>
            </a:avLst>
          </a:prstGeom>
          <a:solidFill>
            <a:srgbClr val="E7EDF1"/>
          </a:solidFill>
          <a:ln/>
        </p:spPr>
        <p:txBody>
          <a:bodyPr/>
          <a:p/>
        </p:txBody>
      </p:sp>
      <p:sp>
        <p:nvSpPr>
          <p:cNvPr id="20" name="Shape 17"/>
          <p:cNvSpPr/>
          <p:nvPr/>
        </p:nvSpPr>
        <p:spPr>
          <a:xfrm>
            <a:off x="1444752" y="3995928"/>
            <a:ext cx="3127248" cy="182880"/>
          </a:xfrm>
          <a:prstGeom prst="roundRect">
            <a:avLst>
              <a:gd name="adj" fmla="val 50000"/>
            </a:avLst>
          </a:prstGeom>
          <a:solidFill>
            <a:srgbClr val="0877C9"/>
          </a:solidFill>
          <a:ln/>
        </p:spPr>
        <p:txBody>
          <a:bodyPr/>
          <a:p/>
        </p:txBody>
      </p:sp>
      <p:sp>
        <p:nvSpPr>
          <p:cNvPr id="21" name="Text 18"/>
          <p:cNvSpPr txBox="1"/>
          <p:nvPr/>
        </p:nvSpPr>
        <p:spPr>
          <a:xfrm>
            <a:off x="5148072" y="3986784"/>
            <a:ext cx="502920" cy="219456"/>
          </a:xfrm>
          <a:prstGeom prst="rect">
            <a:avLst/>
          </a:prstGeom>
          <a:noFill/>
          <a:ln/>
        </p:spPr>
        <p:txBody>
          <a:bodyPr wrap="square" lIns="0" tIns="0" rIns="0" bIns="0" rtlCol="0" anchor="t"/>
          <a:lstStyle/>
          <a:p>
            <a:pPr algn="r" indent="0" marL="0">
              <a:lnSpc>
                <a:spcPct val="100000"/>
              </a:lnSpc>
              <a:buNone/>
            </a:pPr>
            <a:r>
              <a:rPr lang="en-US" sz="950" b="1" dirty="0">
                <a:solidFill>
                  <a:srgbClr val="6F8491"/>
                </a:solidFill>
                <a:latin typeface="Aptos" pitchFamily="34" charset="0"/>
                <a:ea typeface="Aptos" pitchFamily="34" charset="-122"/>
                <a:cs typeface="Aptos" pitchFamily="34" charset="-120"/>
              </a:rPr>
              <a:t>40 h</a:t>
            </a:r>
            <a:endParaRPr lang="en-US" sz="950" dirty="0"/>
          </a:p>
        </p:txBody>
      </p:sp>
      <p:sp>
        <p:nvSpPr>
          <p:cNvPr id="22" name="Text 19"/>
          <p:cNvSpPr txBox="1"/>
          <p:nvPr/>
        </p:nvSpPr>
        <p:spPr>
          <a:xfrm>
            <a:off x="841248" y="4279392"/>
            <a:ext cx="548640" cy="219456"/>
          </a:xfrm>
          <a:prstGeom prst="rect">
            <a:avLst/>
          </a:prstGeom>
          <a:noFill/>
          <a:ln/>
        </p:spPr>
        <p:txBody>
          <a:bodyPr wrap="square" lIns="0" tIns="0" rIns="0" bIns="0" rtlCol="0" anchor="t"/>
          <a:lstStyle/>
          <a:p>
            <a:pPr algn="l" indent="0" marL="0">
              <a:lnSpc>
                <a:spcPct val="100000"/>
              </a:lnSpc>
              <a:buNone/>
            </a:pPr>
            <a:r>
              <a:rPr lang="en-US" sz="1000" b="1" dirty="0">
                <a:solidFill>
                  <a:srgbClr val="456174"/>
                </a:solidFill>
                <a:latin typeface="Aptos" pitchFamily="34" charset="0"/>
                <a:ea typeface="Aptos" pitchFamily="34" charset="-122"/>
                <a:cs typeface="Aptos" pitchFamily="34" charset="-120"/>
              </a:rPr>
              <a:t>Wed</a:t>
            </a:r>
            <a:endParaRPr lang="en-US" sz="1000" dirty="0"/>
          </a:p>
        </p:txBody>
      </p:sp>
      <p:sp>
        <p:nvSpPr>
          <p:cNvPr id="23" name="Shape 20"/>
          <p:cNvSpPr/>
          <p:nvPr/>
        </p:nvSpPr>
        <p:spPr>
          <a:xfrm>
            <a:off x="1444752" y="4288536"/>
            <a:ext cx="3566160" cy="182880"/>
          </a:xfrm>
          <a:prstGeom prst="roundRect">
            <a:avLst>
              <a:gd name="adj" fmla="val 50000"/>
            </a:avLst>
          </a:prstGeom>
          <a:solidFill>
            <a:srgbClr val="E7EDF1"/>
          </a:solidFill>
          <a:ln/>
        </p:spPr>
        <p:txBody>
          <a:bodyPr/>
          <a:p/>
        </p:txBody>
      </p:sp>
      <p:sp>
        <p:nvSpPr>
          <p:cNvPr id="24" name="Shape 21"/>
          <p:cNvSpPr/>
          <p:nvPr/>
        </p:nvSpPr>
        <p:spPr>
          <a:xfrm>
            <a:off x="1444752" y="4288536"/>
            <a:ext cx="1645920" cy="182880"/>
          </a:xfrm>
          <a:prstGeom prst="roundRect">
            <a:avLst>
              <a:gd name="adj" fmla="val 50000"/>
            </a:avLst>
          </a:prstGeom>
          <a:solidFill>
            <a:srgbClr val="0877C9"/>
          </a:solidFill>
          <a:ln/>
        </p:spPr>
        <p:txBody>
          <a:bodyPr/>
          <a:p/>
        </p:txBody>
      </p:sp>
      <p:sp>
        <p:nvSpPr>
          <p:cNvPr id="25" name="Text 22"/>
          <p:cNvSpPr txBox="1"/>
          <p:nvPr/>
        </p:nvSpPr>
        <p:spPr>
          <a:xfrm>
            <a:off x="5148072" y="4279392"/>
            <a:ext cx="502920" cy="219456"/>
          </a:xfrm>
          <a:prstGeom prst="rect">
            <a:avLst/>
          </a:prstGeom>
          <a:noFill/>
          <a:ln/>
        </p:spPr>
        <p:txBody>
          <a:bodyPr wrap="square" lIns="0" tIns="0" rIns="0" bIns="0" rtlCol="0" anchor="t"/>
          <a:lstStyle/>
          <a:p>
            <a:pPr algn="r" indent="0" marL="0">
              <a:lnSpc>
                <a:spcPct val="100000"/>
              </a:lnSpc>
              <a:buNone/>
            </a:pPr>
            <a:r>
              <a:rPr lang="en-US" sz="950" b="1" dirty="0">
                <a:solidFill>
                  <a:srgbClr val="6F8491"/>
                </a:solidFill>
                <a:latin typeface="Aptos" pitchFamily="34" charset="0"/>
                <a:ea typeface="Aptos" pitchFamily="34" charset="-122"/>
                <a:cs typeface="Aptos" pitchFamily="34" charset="-120"/>
              </a:rPr>
              <a:t>21 h</a:t>
            </a:r>
            <a:endParaRPr lang="en-US" sz="950" dirty="0"/>
          </a:p>
        </p:txBody>
      </p:sp>
      <p:sp>
        <p:nvSpPr>
          <p:cNvPr id="26" name="Text 23"/>
          <p:cNvSpPr txBox="1"/>
          <p:nvPr/>
        </p:nvSpPr>
        <p:spPr>
          <a:xfrm>
            <a:off x="841248" y="4572000"/>
            <a:ext cx="548640" cy="219456"/>
          </a:xfrm>
          <a:prstGeom prst="rect">
            <a:avLst/>
          </a:prstGeom>
          <a:noFill/>
          <a:ln/>
        </p:spPr>
        <p:txBody>
          <a:bodyPr wrap="square" lIns="0" tIns="0" rIns="0" bIns="0" rtlCol="0" anchor="t"/>
          <a:lstStyle/>
          <a:p>
            <a:pPr algn="l" indent="0" marL="0">
              <a:lnSpc>
                <a:spcPct val="100000"/>
              </a:lnSpc>
              <a:buNone/>
            </a:pPr>
            <a:r>
              <a:rPr lang="en-US" sz="1000" b="1" dirty="0">
                <a:solidFill>
                  <a:srgbClr val="456174"/>
                </a:solidFill>
                <a:latin typeface="Aptos" pitchFamily="34" charset="0"/>
                <a:ea typeface="Aptos" pitchFamily="34" charset="-122"/>
                <a:cs typeface="Aptos" pitchFamily="34" charset="-120"/>
              </a:rPr>
              <a:t>Thu</a:t>
            </a:r>
            <a:endParaRPr lang="en-US" sz="1000" dirty="0"/>
          </a:p>
        </p:txBody>
      </p:sp>
      <p:sp>
        <p:nvSpPr>
          <p:cNvPr id="27" name="Shape 24"/>
          <p:cNvSpPr/>
          <p:nvPr/>
        </p:nvSpPr>
        <p:spPr>
          <a:xfrm>
            <a:off x="1444752" y="4581144"/>
            <a:ext cx="3566160" cy="182880"/>
          </a:xfrm>
          <a:prstGeom prst="roundRect">
            <a:avLst>
              <a:gd name="adj" fmla="val 50000"/>
            </a:avLst>
          </a:prstGeom>
          <a:solidFill>
            <a:srgbClr val="E7EDF1"/>
          </a:solidFill>
          <a:ln/>
        </p:spPr>
        <p:txBody>
          <a:bodyPr/>
          <a:p/>
        </p:txBody>
      </p:sp>
      <p:sp>
        <p:nvSpPr>
          <p:cNvPr id="28" name="Shape 25"/>
          <p:cNvSpPr/>
          <p:nvPr/>
        </p:nvSpPr>
        <p:spPr>
          <a:xfrm>
            <a:off x="1444752" y="4581144"/>
            <a:ext cx="3566160" cy="182880"/>
          </a:xfrm>
          <a:prstGeom prst="roundRect">
            <a:avLst>
              <a:gd name="adj" fmla="val 50000"/>
            </a:avLst>
          </a:prstGeom>
          <a:solidFill>
            <a:srgbClr val="0877C9"/>
          </a:solidFill>
          <a:ln/>
        </p:spPr>
        <p:txBody>
          <a:bodyPr/>
          <a:p/>
        </p:txBody>
      </p:sp>
      <p:sp>
        <p:nvSpPr>
          <p:cNvPr id="29" name="Text 26"/>
          <p:cNvSpPr txBox="1"/>
          <p:nvPr/>
        </p:nvSpPr>
        <p:spPr>
          <a:xfrm>
            <a:off x="5148072" y="4572000"/>
            <a:ext cx="502920" cy="219456"/>
          </a:xfrm>
          <a:prstGeom prst="rect">
            <a:avLst/>
          </a:prstGeom>
          <a:noFill/>
          <a:ln/>
        </p:spPr>
        <p:txBody>
          <a:bodyPr wrap="square" lIns="0" tIns="0" rIns="0" bIns="0" rtlCol="0" anchor="t"/>
          <a:lstStyle/>
          <a:p>
            <a:pPr algn="r" indent="0" marL="0">
              <a:lnSpc>
                <a:spcPct val="100000"/>
              </a:lnSpc>
              <a:buNone/>
            </a:pPr>
            <a:r>
              <a:rPr lang="en-US" sz="950" b="1" dirty="0">
                <a:solidFill>
                  <a:srgbClr val="6F8491"/>
                </a:solidFill>
                <a:latin typeface="Aptos" pitchFamily="34" charset="0"/>
                <a:ea typeface="Aptos" pitchFamily="34" charset="-122"/>
                <a:cs typeface="Aptos" pitchFamily="34" charset="-120"/>
              </a:rPr>
              <a:t>46 h</a:t>
            </a:r>
            <a:endParaRPr lang="en-US" sz="950" dirty="0"/>
          </a:p>
        </p:txBody>
      </p:sp>
      <p:sp>
        <p:nvSpPr>
          <p:cNvPr id="30" name="Text 27"/>
          <p:cNvSpPr txBox="1"/>
          <p:nvPr/>
        </p:nvSpPr>
        <p:spPr>
          <a:xfrm>
            <a:off x="841248" y="4864608"/>
            <a:ext cx="548640" cy="219456"/>
          </a:xfrm>
          <a:prstGeom prst="rect">
            <a:avLst/>
          </a:prstGeom>
          <a:noFill/>
          <a:ln/>
        </p:spPr>
        <p:txBody>
          <a:bodyPr wrap="square" lIns="0" tIns="0" rIns="0" bIns="0" rtlCol="0" anchor="t"/>
          <a:lstStyle/>
          <a:p>
            <a:pPr algn="l" indent="0" marL="0">
              <a:lnSpc>
                <a:spcPct val="100000"/>
              </a:lnSpc>
              <a:buNone/>
            </a:pPr>
            <a:r>
              <a:rPr lang="en-US" sz="1000" b="1" dirty="0">
                <a:solidFill>
                  <a:srgbClr val="456174"/>
                </a:solidFill>
                <a:latin typeface="Aptos" pitchFamily="34" charset="0"/>
                <a:ea typeface="Aptos" pitchFamily="34" charset="-122"/>
                <a:cs typeface="Aptos" pitchFamily="34" charset="-120"/>
              </a:rPr>
              <a:t>Fri</a:t>
            </a:r>
            <a:endParaRPr lang="en-US" sz="1000" dirty="0"/>
          </a:p>
        </p:txBody>
      </p:sp>
      <p:sp>
        <p:nvSpPr>
          <p:cNvPr id="31" name="Shape 28"/>
          <p:cNvSpPr/>
          <p:nvPr/>
        </p:nvSpPr>
        <p:spPr>
          <a:xfrm>
            <a:off x="1444752" y="4873752"/>
            <a:ext cx="3566160" cy="182880"/>
          </a:xfrm>
          <a:prstGeom prst="roundRect">
            <a:avLst>
              <a:gd name="adj" fmla="val 50000"/>
            </a:avLst>
          </a:prstGeom>
          <a:solidFill>
            <a:srgbClr val="E7EDF1"/>
          </a:solidFill>
          <a:ln/>
        </p:spPr>
        <p:txBody>
          <a:bodyPr/>
          <a:p/>
        </p:txBody>
      </p:sp>
      <p:sp>
        <p:nvSpPr>
          <p:cNvPr id="32" name="Shape 29"/>
          <p:cNvSpPr/>
          <p:nvPr/>
        </p:nvSpPr>
        <p:spPr>
          <a:xfrm>
            <a:off x="1444752" y="4873752"/>
            <a:ext cx="2505456" cy="182880"/>
          </a:xfrm>
          <a:prstGeom prst="roundRect">
            <a:avLst>
              <a:gd name="adj" fmla="val 50000"/>
            </a:avLst>
          </a:prstGeom>
          <a:solidFill>
            <a:srgbClr val="0877C9"/>
          </a:solidFill>
          <a:ln/>
        </p:spPr>
        <p:txBody>
          <a:bodyPr/>
          <a:p/>
        </p:txBody>
      </p:sp>
      <p:sp>
        <p:nvSpPr>
          <p:cNvPr id="33" name="Text 30"/>
          <p:cNvSpPr txBox="1"/>
          <p:nvPr/>
        </p:nvSpPr>
        <p:spPr>
          <a:xfrm>
            <a:off x="5148072" y="4864608"/>
            <a:ext cx="502920" cy="219456"/>
          </a:xfrm>
          <a:prstGeom prst="rect">
            <a:avLst/>
          </a:prstGeom>
          <a:noFill/>
          <a:ln/>
        </p:spPr>
        <p:txBody>
          <a:bodyPr wrap="square" lIns="0" tIns="0" rIns="0" bIns="0" rtlCol="0" anchor="t"/>
          <a:lstStyle/>
          <a:p>
            <a:pPr algn="r" indent="0" marL="0">
              <a:lnSpc>
                <a:spcPct val="100000"/>
              </a:lnSpc>
              <a:buNone/>
            </a:pPr>
            <a:r>
              <a:rPr lang="en-US" sz="950" b="1" dirty="0">
                <a:solidFill>
                  <a:srgbClr val="6F8491"/>
                </a:solidFill>
                <a:latin typeface="Aptos" pitchFamily="34" charset="0"/>
                <a:ea typeface="Aptos" pitchFamily="34" charset="-122"/>
                <a:cs typeface="Aptos" pitchFamily="34" charset="-120"/>
              </a:rPr>
              <a:t>33 h</a:t>
            </a:r>
            <a:endParaRPr lang="en-US" sz="950" dirty="0"/>
          </a:p>
        </p:txBody>
      </p:sp>
      <p:sp>
        <p:nvSpPr>
          <p:cNvPr id="34" name="Shape 31"/>
          <p:cNvSpPr/>
          <p:nvPr/>
        </p:nvSpPr>
        <p:spPr>
          <a:xfrm>
            <a:off x="6355080" y="1609344"/>
            <a:ext cx="5303520" cy="3877056"/>
          </a:xfrm>
          <a:prstGeom prst="roundRect">
            <a:avLst>
              <a:gd name="adj" fmla="val 1887"/>
            </a:avLst>
          </a:prstGeom>
          <a:solidFill>
            <a:srgbClr val="FFFFFF"/>
          </a:solidFill>
          <a:ln w="9525">
            <a:solidFill>
              <a:srgbClr val="D8E4EA"/>
            </a:solidFill>
            <a:prstDash val="solid"/>
          </a:ln>
        </p:spPr>
        <p:txBody>
          <a:bodyPr/>
          <a:p/>
        </p:txBody>
      </p:sp>
      <p:sp>
        <p:nvSpPr>
          <p:cNvPr id="35" name="Shape 32"/>
          <p:cNvSpPr/>
          <p:nvPr/>
        </p:nvSpPr>
        <p:spPr>
          <a:xfrm>
            <a:off x="6647688" y="1865376"/>
            <a:ext cx="274320" cy="274320"/>
          </a:xfrm>
          <a:prstGeom prst="roundRect">
            <a:avLst>
              <a:gd name="adj" fmla="val 16667"/>
            </a:avLst>
          </a:prstGeom>
          <a:solidFill>
            <a:srgbClr val="14A66A"/>
          </a:solidFill>
          <a:ln/>
        </p:spPr>
        <p:txBody>
          <a:bodyPr/>
          <a:p/>
        </p:txBody>
      </p:sp>
      <p:sp>
        <p:nvSpPr>
          <p:cNvPr id="36" name="Text 33"/>
          <p:cNvSpPr txBox="1"/>
          <p:nvPr/>
        </p:nvSpPr>
        <p:spPr>
          <a:xfrm>
            <a:off x="6647688" y="2267712"/>
            <a:ext cx="4718304" cy="365760"/>
          </a:xfrm>
          <a:prstGeom prst="rect">
            <a:avLst/>
          </a:prstGeom>
          <a:noFill/>
          <a:ln/>
        </p:spPr>
        <p:txBody>
          <a:bodyPr wrap="square" lIns="0" tIns="0" rIns="0" bIns="0" rtlCol="0" anchor="t"/>
          <a:lstStyle/>
          <a:p>
            <a:pPr algn="l" indent="0" marL="0">
              <a:lnSpc>
                <a:spcPct val="100000"/>
              </a:lnSpc>
              <a:buNone/>
            </a:pPr>
            <a:r>
              <a:rPr lang="en-US" sz="1700" b="1" dirty="0">
                <a:solidFill>
                  <a:srgbClr val="0B1F33"/>
                </a:solidFill>
                <a:latin typeface="Aptos Display" pitchFamily="34" charset="0"/>
                <a:ea typeface="Aptos Display" pitchFamily="34" charset="-122"/>
                <a:cs typeface="Aptos Display" pitchFamily="34" charset="-120"/>
              </a:rPr>
              <a:t>Door use, hour by hour</a:t>
            </a:r>
            <a:endParaRPr lang="en-US" sz="1700" dirty="0"/>
          </a:p>
        </p:txBody>
      </p:sp>
      <p:sp>
        <p:nvSpPr>
          <p:cNvPr id="37" name="Text 34"/>
          <p:cNvSpPr txBox="1"/>
          <p:nvPr/>
        </p:nvSpPr>
        <p:spPr>
          <a:xfrm>
            <a:off x="6647688" y="2724912"/>
            <a:ext cx="4718304" cy="640080"/>
          </a:xfrm>
          <a:prstGeom prst="rect">
            <a:avLst/>
          </a:prstGeom>
          <a:noFill/>
          <a:ln/>
        </p:spPr>
        <p:txBody>
          <a:bodyPr wrap="square" lIns="0" tIns="0" rIns="0" bIns="0" rtlCol="0" anchor="t"/>
          <a:lstStyle/>
          <a:p>
            <a:pPr algn="l" indent="0" marL="0">
              <a:lnSpc>
                <a:spcPct val="122000"/>
              </a:lnSpc>
              <a:buNone/>
            </a:pPr>
            <a:r>
              <a:rPr lang="en-US" sz="1150" dirty="0">
                <a:solidFill>
                  <a:srgbClr val="456174"/>
                </a:solidFill>
                <a:latin typeface="Aptos" pitchFamily="34" charset="0"/>
                <a:ea typeface="Aptos" pitchFamily="34" charset="-122"/>
                <a:cs typeface="Aptos" pitchFamily="34" charset="-120"/>
              </a:rPr>
              <a:t>Not the total — the shape. Which hours are jammed, and which doors sit idle beside them.</a:t>
            </a:r>
            <a:endParaRPr lang="en-US" sz="1150" dirty="0"/>
          </a:p>
        </p:txBody>
      </p:sp>
      <p:sp>
        <p:nvSpPr>
          <p:cNvPr id="38" name="Text 35"/>
          <p:cNvSpPr txBox="1"/>
          <p:nvPr/>
        </p:nvSpPr>
        <p:spPr>
          <a:xfrm>
            <a:off x="6647688" y="3474720"/>
            <a:ext cx="777240" cy="237744"/>
          </a:xfrm>
          <a:prstGeom prst="rect">
            <a:avLst/>
          </a:prstGeom>
          <a:noFill/>
          <a:ln/>
        </p:spPr>
        <p:txBody>
          <a:bodyPr wrap="square" lIns="0" tIns="0" rIns="0" bIns="0" rtlCol="0" anchor="t"/>
          <a:lstStyle/>
          <a:p>
            <a:pPr algn="l" indent="0" marL="0">
              <a:lnSpc>
                <a:spcPct val="100000"/>
              </a:lnSpc>
              <a:buNone/>
            </a:pPr>
            <a:r>
              <a:rPr lang="en-US" sz="1050" b="1" dirty="0">
                <a:solidFill>
                  <a:srgbClr val="456174"/>
                </a:solidFill>
                <a:latin typeface="Aptos" pitchFamily="34" charset="0"/>
                <a:ea typeface="Aptos" pitchFamily="34" charset="-122"/>
                <a:cs typeface="Aptos" pitchFamily="34" charset="-120"/>
              </a:rPr>
              <a:t>Door 1</a:t>
            </a:r>
            <a:endParaRPr lang="en-US" sz="1050" dirty="0"/>
          </a:p>
        </p:txBody>
      </p:sp>
      <p:sp>
        <p:nvSpPr>
          <p:cNvPr id="39" name="Shape 36"/>
          <p:cNvSpPr/>
          <p:nvPr/>
        </p:nvSpPr>
        <p:spPr>
          <a:xfrm>
            <a:off x="7543800" y="3483864"/>
            <a:ext cx="3822192" cy="219456"/>
          </a:xfrm>
          <a:prstGeom prst="roundRect">
            <a:avLst>
              <a:gd name="adj" fmla="val 20833"/>
            </a:avLst>
          </a:prstGeom>
          <a:solidFill>
            <a:srgbClr val="E7EDF1"/>
          </a:solidFill>
          <a:ln/>
        </p:spPr>
        <p:txBody>
          <a:bodyPr/>
          <a:p/>
        </p:txBody>
      </p:sp>
      <p:sp>
        <p:nvSpPr>
          <p:cNvPr id="40" name="Shape 37"/>
          <p:cNvSpPr/>
          <p:nvPr/>
        </p:nvSpPr>
        <p:spPr>
          <a:xfrm>
            <a:off x="7739482" y="3483864"/>
            <a:ext cx="1174090" cy="219456"/>
          </a:xfrm>
          <a:prstGeom prst="roundRect">
            <a:avLst>
              <a:gd name="adj" fmla="val 20833"/>
            </a:avLst>
          </a:prstGeom>
          <a:solidFill>
            <a:srgbClr val="0877C9"/>
          </a:solidFill>
          <a:ln/>
        </p:spPr>
        <p:txBody>
          <a:bodyPr/>
          <a:p/>
        </p:txBody>
      </p:sp>
      <p:sp>
        <p:nvSpPr>
          <p:cNvPr id="41" name="Text 38"/>
          <p:cNvSpPr txBox="1"/>
          <p:nvPr/>
        </p:nvSpPr>
        <p:spPr>
          <a:xfrm>
            <a:off x="6647688" y="3950208"/>
            <a:ext cx="777240" cy="237744"/>
          </a:xfrm>
          <a:prstGeom prst="rect">
            <a:avLst/>
          </a:prstGeom>
          <a:noFill/>
          <a:ln/>
        </p:spPr>
        <p:txBody>
          <a:bodyPr wrap="square" lIns="0" tIns="0" rIns="0" bIns="0" rtlCol="0" anchor="t"/>
          <a:lstStyle/>
          <a:p>
            <a:pPr algn="l" indent="0" marL="0">
              <a:lnSpc>
                <a:spcPct val="100000"/>
              </a:lnSpc>
              <a:buNone/>
            </a:pPr>
            <a:r>
              <a:rPr lang="en-US" sz="1050" b="1" dirty="0">
                <a:solidFill>
                  <a:srgbClr val="456174"/>
                </a:solidFill>
                <a:latin typeface="Aptos" pitchFamily="34" charset="0"/>
                <a:ea typeface="Aptos" pitchFamily="34" charset="-122"/>
                <a:cs typeface="Aptos" pitchFamily="34" charset="-120"/>
              </a:rPr>
              <a:t>Door 2</a:t>
            </a:r>
            <a:endParaRPr lang="en-US" sz="1050" dirty="0"/>
          </a:p>
        </p:txBody>
      </p:sp>
      <p:sp>
        <p:nvSpPr>
          <p:cNvPr id="42" name="Shape 39"/>
          <p:cNvSpPr/>
          <p:nvPr/>
        </p:nvSpPr>
        <p:spPr>
          <a:xfrm>
            <a:off x="7543800" y="3959352"/>
            <a:ext cx="3822192" cy="219456"/>
          </a:xfrm>
          <a:prstGeom prst="roundRect">
            <a:avLst>
              <a:gd name="adj" fmla="val 20833"/>
            </a:avLst>
          </a:prstGeom>
          <a:solidFill>
            <a:srgbClr val="E7EDF1"/>
          </a:solidFill>
          <a:ln/>
        </p:spPr>
        <p:txBody>
          <a:bodyPr/>
          <a:p/>
        </p:txBody>
      </p:sp>
      <p:sp>
        <p:nvSpPr>
          <p:cNvPr id="43" name="Shape 40"/>
          <p:cNvSpPr/>
          <p:nvPr/>
        </p:nvSpPr>
        <p:spPr>
          <a:xfrm>
            <a:off x="8248254" y="3959352"/>
            <a:ext cx="1056681" cy="219456"/>
          </a:xfrm>
          <a:prstGeom prst="roundRect">
            <a:avLst>
              <a:gd name="adj" fmla="val 20833"/>
            </a:avLst>
          </a:prstGeom>
          <a:solidFill>
            <a:srgbClr val="14A66A"/>
          </a:solidFill>
          <a:ln/>
        </p:spPr>
        <p:txBody>
          <a:bodyPr/>
          <a:p/>
        </p:txBody>
      </p:sp>
      <p:sp>
        <p:nvSpPr>
          <p:cNvPr id="44" name="Text 41"/>
          <p:cNvSpPr txBox="1"/>
          <p:nvPr/>
        </p:nvSpPr>
        <p:spPr>
          <a:xfrm>
            <a:off x="6647688" y="4425696"/>
            <a:ext cx="777240" cy="237744"/>
          </a:xfrm>
          <a:prstGeom prst="rect">
            <a:avLst/>
          </a:prstGeom>
          <a:noFill/>
          <a:ln/>
        </p:spPr>
        <p:txBody>
          <a:bodyPr wrap="square" lIns="0" tIns="0" rIns="0" bIns="0" rtlCol="0" anchor="t"/>
          <a:lstStyle/>
          <a:p>
            <a:pPr algn="l" indent="0" marL="0">
              <a:lnSpc>
                <a:spcPct val="100000"/>
              </a:lnSpc>
              <a:buNone/>
            </a:pPr>
            <a:r>
              <a:rPr lang="en-US" sz="1050" b="1" dirty="0">
                <a:solidFill>
                  <a:srgbClr val="456174"/>
                </a:solidFill>
                <a:latin typeface="Aptos" pitchFamily="34" charset="0"/>
                <a:ea typeface="Aptos" pitchFamily="34" charset="-122"/>
                <a:cs typeface="Aptos" pitchFamily="34" charset="-120"/>
              </a:rPr>
              <a:t>Door 3</a:t>
            </a:r>
            <a:endParaRPr lang="en-US" sz="1050" dirty="0"/>
          </a:p>
        </p:txBody>
      </p:sp>
      <p:sp>
        <p:nvSpPr>
          <p:cNvPr id="45" name="Shape 42"/>
          <p:cNvSpPr/>
          <p:nvPr/>
        </p:nvSpPr>
        <p:spPr>
          <a:xfrm>
            <a:off x="7543800" y="4434840"/>
            <a:ext cx="3822192" cy="219456"/>
          </a:xfrm>
          <a:prstGeom prst="roundRect">
            <a:avLst>
              <a:gd name="adj" fmla="val 20833"/>
            </a:avLst>
          </a:prstGeom>
          <a:solidFill>
            <a:srgbClr val="E7EDF1"/>
          </a:solidFill>
          <a:ln/>
        </p:spPr>
        <p:txBody>
          <a:bodyPr/>
          <a:p/>
        </p:txBody>
      </p:sp>
      <p:sp>
        <p:nvSpPr>
          <p:cNvPr id="46" name="Shape 43"/>
          <p:cNvSpPr/>
          <p:nvPr/>
        </p:nvSpPr>
        <p:spPr>
          <a:xfrm>
            <a:off x="9187525" y="4434840"/>
            <a:ext cx="900135" cy="219456"/>
          </a:xfrm>
          <a:prstGeom prst="roundRect">
            <a:avLst>
              <a:gd name="adj" fmla="val 20833"/>
            </a:avLst>
          </a:prstGeom>
          <a:solidFill>
            <a:srgbClr val="0877C9"/>
          </a:solidFill>
          <a:ln/>
        </p:spPr>
        <p:txBody>
          <a:bodyPr/>
          <a:p/>
        </p:txBody>
      </p:sp>
      <p:sp>
        <p:nvSpPr>
          <p:cNvPr id="47" name="Text 44"/>
          <p:cNvSpPr txBox="1"/>
          <p:nvPr/>
        </p:nvSpPr>
        <p:spPr>
          <a:xfrm>
            <a:off x="6647688" y="4901184"/>
            <a:ext cx="777240" cy="237744"/>
          </a:xfrm>
          <a:prstGeom prst="rect">
            <a:avLst/>
          </a:prstGeom>
          <a:noFill/>
          <a:ln/>
        </p:spPr>
        <p:txBody>
          <a:bodyPr wrap="square" lIns="0" tIns="0" rIns="0" bIns="0" rtlCol="0" anchor="t"/>
          <a:lstStyle/>
          <a:p>
            <a:pPr algn="l" indent="0" marL="0">
              <a:lnSpc>
                <a:spcPct val="100000"/>
              </a:lnSpc>
              <a:buNone/>
            </a:pPr>
            <a:r>
              <a:rPr lang="en-US" sz="1050" b="1" dirty="0">
                <a:solidFill>
                  <a:srgbClr val="456174"/>
                </a:solidFill>
                <a:latin typeface="Aptos" pitchFamily="34" charset="0"/>
                <a:ea typeface="Aptos" pitchFamily="34" charset="-122"/>
                <a:cs typeface="Aptos" pitchFamily="34" charset="-120"/>
              </a:rPr>
              <a:t>Door 4</a:t>
            </a:r>
            <a:endParaRPr lang="en-US" sz="1050" dirty="0"/>
          </a:p>
        </p:txBody>
      </p:sp>
      <p:sp>
        <p:nvSpPr>
          <p:cNvPr id="48" name="Shape 45"/>
          <p:cNvSpPr/>
          <p:nvPr/>
        </p:nvSpPr>
        <p:spPr>
          <a:xfrm>
            <a:off x="7543800" y="4910328"/>
            <a:ext cx="3822192" cy="219456"/>
          </a:xfrm>
          <a:prstGeom prst="roundRect">
            <a:avLst>
              <a:gd name="adj" fmla="val 20833"/>
            </a:avLst>
          </a:prstGeom>
          <a:solidFill>
            <a:srgbClr val="E7EDF1"/>
          </a:solidFill>
          <a:ln/>
        </p:spPr>
        <p:txBody>
          <a:bodyPr/>
          <a:p/>
        </p:txBody>
      </p:sp>
      <p:sp>
        <p:nvSpPr>
          <p:cNvPr id="49" name="Shape 46"/>
          <p:cNvSpPr/>
          <p:nvPr/>
        </p:nvSpPr>
        <p:spPr>
          <a:xfrm>
            <a:off x="8796162" y="4910328"/>
            <a:ext cx="2256739" cy="219456"/>
          </a:xfrm>
          <a:prstGeom prst="roundRect">
            <a:avLst>
              <a:gd name="adj" fmla="val 20833"/>
            </a:avLst>
          </a:prstGeom>
          <a:solidFill>
            <a:srgbClr val="14A66A"/>
          </a:solidFill>
          <a:ln/>
        </p:spPr>
        <p:txBody>
          <a:bodyPr/>
          <a:p/>
        </p:txBody>
      </p:sp>
      <p:sp>
        <p:nvSpPr>
          <p:cNvPr id="50" name="Text 47"/>
          <p:cNvSpPr txBox="1"/>
          <p:nvPr/>
        </p:nvSpPr>
        <p:spPr>
          <a:xfrm>
            <a:off x="7543800" y="5175504"/>
            <a:ext cx="914400" cy="201168"/>
          </a:xfrm>
          <a:prstGeom prst="rect">
            <a:avLst/>
          </a:prstGeom>
          <a:noFill/>
          <a:ln/>
        </p:spPr>
        <p:txBody>
          <a:bodyPr wrap="square" lIns="0" tIns="0" rIns="0" bIns="0" rtlCol="0" anchor="t"/>
          <a:lstStyle/>
          <a:p>
            <a:pPr algn="l" indent="0" marL="0">
              <a:lnSpc>
                <a:spcPct val="100000"/>
              </a:lnSpc>
              <a:buNone/>
            </a:pPr>
            <a:r>
              <a:rPr lang="en-US" sz="900" dirty="0">
                <a:solidFill>
                  <a:srgbClr val="6F8491"/>
                </a:solidFill>
                <a:latin typeface="Aptos" pitchFamily="34" charset="0"/>
                <a:ea typeface="Aptos" pitchFamily="34" charset="-122"/>
                <a:cs typeface="Aptos" pitchFamily="34" charset="-120"/>
              </a:rPr>
              <a:t>07:00</a:t>
            </a:r>
            <a:endParaRPr lang="en-US" sz="900" dirty="0"/>
          </a:p>
        </p:txBody>
      </p:sp>
      <p:sp>
        <p:nvSpPr>
          <p:cNvPr id="51" name="Text 48"/>
          <p:cNvSpPr txBox="1"/>
          <p:nvPr/>
        </p:nvSpPr>
        <p:spPr>
          <a:xfrm>
            <a:off x="10543032" y="5175504"/>
            <a:ext cx="914400" cy="201168"/>
          </a:xfrm>
          <a:prstGeom prst="rect">
            <a:avLst/>
          </a:prstGeom>
          <a:noFill/>
          <a:ln/>
        </p:spPr>
        <p:txBody>
          <a:bodyPr wrap="square" lIns="0" tIns="0" rIns="0" bIns="0" rtlCol="0" anchor="t"/>
          <a:lstStyle/>
          <a:p>
            <a:pPr algn="r" indent="0" marL="0">
              <a:lnSpc>
                <a:spcPct val="100000"/>
              </a:lnSpc>
              <a:buNone/>
            </a:pPr>
            <a:r>
              <a:rPr lang="en-US" sz="900" dirty="0">
                <a:solidFill>
                  <a:srgbClr val="6F8491"/>
                </a:solidFill>
                <a:latin typeface="Aptos" pitchFamily="34" charset="0"/>
                <a:ea typeface="Aptos" pitchFamily="34" charset="-122"/>
                <a:cs typeface="Aptos" pitchFamily="34" charset="-120"/>
              </a:rPr>
              <a:t>17:00</a:t>
            </a:r>
            <a:endParaRPr lang="en-US" sz="900" dirty="0"/>
          </a:p>
        </p:txBody>
      </p:sp>
      <p:sp>
        <p:nvSpPr>
          <p:cNvPr id="52" name="Shape 49"/>
          <p:cNvSpPr/>
          <p:nvPr/>
        </p:nvSpPr>
        <p:spPr>
          <a:xfrm>
            <a:off x="530352" y="5614416"/>
            <a:ext cx="11130991" cy="713232"/>
          </a:xfrm>
          <a:prstGeom prst="roundRect">
            <a:avLst>
              <a:gd name="adj" fmla="val 9756"/>
            </a:avLst>
          </a:prstGeom>
          <a:solidFill>
            <a:srgbClr val="072238"/>
          </a:solidFill>
          <a:ln/>
        </p:spPr>
        <p:txBody>
          <a:bodyPr/>
          <a:p/>
        </p:txBody>
      </p:sp>
      <p:sp>
        <p:nvSpPr>
          <p:cNvPr id="53" name="Text 50"/>
          <p:cNvSpPr txBox="1"/>
          <p:nvPr/>
        </p:nvSpPr>
        <p:spPr>
          <a:xfrm>
            <a:off x="877824" y="5760720"/>
            <a:ext cx="10436047" cy="457200"/>
          </a:xfrm>
          <a:prstGeom prst="rect">
            <a:avLst/>
          </a:prstGeom>
          <a:noFill/>
          <a:ln/>
        </p:spPr>
        <p:txBody>
          <a:bodyPr wrap="square" lIns="0" tIns="0" rIns="0" bIns="0" rtlCol="0" anchor="ctr"/>
          <a:lstStyle/>
          <a:p>
            <a:pPr algn="l" indent="0" marL="0">
              <a:lnSpc>
                <a:spcPct val="115000"/>
              </a:lnSpc>
              <a:buNone/>
            </a:pPr>
            <a:r>
              <a:rPr lang="en-US" sz="1250" b="1" dirty="0">
                <a:solidFill>
                  <a:srgbClr val="FFFFFF"/>
                </a:solidFill>
                <a:latin typeface="Aptos" pitchFamily="34" charset="0"/>
                <a:ea typeface="Aptos" pitchFamily="34" charset="-122"/>
                <a:cs typeface="Aptos" pitchFamily="34" charset="-120"/>
              </a:rPr>
              <a:t>Before spending money on more doors, this says whether the doors were ever the constraint.</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27</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EVERYTHING ELSE THAT IS ALREADY BUILT</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And the rest of it.</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Four more screens, all working, none of which needed a slide of their own.</a:t>
            </a:r>
            <a:endParaRPr lang="en-US" sz="1200" dirty="0"/>
          </a:p>
        </p:txBody>
      </p:sp>
      <p:sp>
        <p:nvSpPr>
          <p:cNvPr id="10" name="Shape 7"/>
          <p:cNvSpPr/>
          <p:nvPr/>
        </p:nvSpPr>
        <p:spPr>
          <a:xfrm>
            <a:off x="530352" y="1645920"/>
            <a:ext cx="5303520" cy="1517904"/>
          </a:xfrm>
          <a:prstGeom prst="roundRect">
            <a:avLst>
              <a:gd name="adj" fmla="val 4651"/>
            </a:avLst>
          </a:prstGeom>
          <a:solidFill>
            <a:srgbClr val="FFFFFF"/>
          </a:solidFill>
          <a:ln w="9525">
            <a:solidFill>
              <a:srgbClr val="D8E4EA"/>
            </a:solidFill>
            <a:prstDash val="solid"/>
          </a:ln>
        </p:spPr>
        <p:txBody>
          <a:bodyPr/>
          <a:p/>
        </p:txBody>
      </p:sp>
      <p:sp>
        <p:nvSpPr>
          <p:cNvPr id="11" name="Shape 8"/>
          <p:cNvSpPr/>
          <p:nvPr/>
        </p:nvSpPr>
        <p:spPr>
          <a:xfrm>
            <a:off x="896112" y="1993392"/>
            <a:ext cx="329184" cy="329184"/>
          </a:xfrm>
          <a:prstGeom prst="roundRect">
            <a:avLst>
              <a:gd name="adj" fmla="val 13889"/>
            </a:avLst>
          </a:prstGeom>
          <a:solidFill>
            <a:srgbClr val="0877C9"/>
          </a:solidFill>
          <a:ln/>
        </p:spPr>
        <p:txBody>
          <a:bodyPr/>
          <a:p/>
        </p:txBody>
      </p:sp>
      <p:sp>
        <p:nvSpPr>
          <p:cNvPr id="12" name="Text 9"/>
          <p:cNvSpPr txBox="1"/>
          <p:nvPr/>
        </p:nvSpPr>
        <p:spPr>
          <a:xfrm>
            <a:off x="1389888" y="1938528"/>
            <a:ext cx="4075024" cy="438912"/>
          </a:xfrm>
          <a:prstGeom prst="rect">
            <a:avLst/>
          </a:prstGeom>
          <a:noFill/>
          <a:ln/>
        </p:spPr>
        <p:txBody>
          <a:bodyPr wrap="square" lIns="0" tIns="0" rIns="0" bIns="0" rtlCol="0" anchor="ctr"/>
          <a:lstStyle/>
          <a:p>
            <a:pPr algn="l" indent="0" marL="0">
              <a:lnSpc>
                <a:spcPct val="100000"/>
              </a:lnSpc>
              <a:buNone/>
            </a:pPr>
            <a:r>
              <a:rPr lang="en-US" sz="1900" b="1" dirty="0">
                <a:solidFill>
                  <a:srgbClr val="0B1F33"/>
                </a:solidFill>
                <a:latin typeface="Aptos Display" pitchFamily="34" charset="0"/>
                <a:ea typeface="Aptos Display" pitchFamily="34" charset="-122"/>
                <a:cs typeface="Aptos Display" pitchFamily="34" charset="-120"/>
              </a:rPr>
              <a:t>Operations queue</a:t>
            </a:r>
            <a:endParaRPr lang="en-US" sz="1900" dirty="0"/>
          </a:p>
        </p:txBody>
      </p:sp>
      <p:sp>
        <p:nvSpPr>
          <p:cNvPr id="13" name="Text 10"/>
          <p:cNvSpPr txBox="1"/>
          <p:nvPr/>
        </p:nvSpPr>
        <p:spPr>
          <a:xfrm>
            <a:off x="896112" y="2542032"/>
            <a:ext cx="4568800" cy="512064"/>
          </a:xfrm>
          <a:prstGeom prst="rect">
            <a:avLst/>
          </a:prstGeom>
          <a:noFill/>
          <a:ln/>
        </p:spPr>
        <p:txBody>
          <a:bodyPr wrap="square" lIns="0" tIns="0" rIns="0" bIns="0" rtlCol="0" anchor="t"/>
          <a:lstStyle/>
          <a:p>
            <a:pPr algn="l" indent="0" marL="0">
              <a:lnSpc>
                <a:spcPct val="118000"/>
              </a:lnSpc>
              <a:buNone/>
            </a:pPr>
            <a:r>
              <a:rPr lang="en-US" sz="1150" dirty="0">
                <a:solidFill>
                  <a:srgbClr val="456174"/>
                </a:solidFill>
                <a:latin typeface="Aptos" pitchFamily="34" charset="0"/>
                <a:ea typeface="Aptos" pitchFamily="34" charset="-122"/>
                <a:cs typeface="Aptos" pitchFamily="34" charset="-120"/>
              </a:rPr>
              <a:t>What is due, what is late, and what is at a door right now.</a:t>
            </a:r>
            <a:endParaRPr lang="en-US" sz="1150" dirty="0"/>
          </a:p>
        </p:txBody>
      </p:sp>
      <p:sp>
        <p:nvSpPr>
          <p:cNvPr id="14" name="Shape 11"/>
          <p:cNvSpPr/>
          <p:nvPr/>
        </p:nvSpPr>
        <p:spPr>
          <a:xfrm>
            <a:off x="6355080" y="1645920"/>
            <a:ext cx="5303520" cy="1517904"/>
          </a:xfrm>
          <a:prstGeom prst="roundRect">
            <a:avLst>
              <a:gd name="adj" fmla="val 4651"/>
            </a:avLst>
          </a:prstGeom>
          <a:solidFill>
            <a:srgbClr val="FFFFFF"/>
          </a:solidFill>
          <a:ln w="9525">
            <a:solidFill>
              <a:srgbClr val="D8E4EA"/>
            </a:solidFill>
            <a:prstDash val="solid"/>
          </a:ln>
        </p:spPr>
        <p:txBody>
          <a:bodyPr/>
          <a:p/>
        </p:txBody>
      </p:sp>
      <p:sp>
        <p:nvSpPr>
          <p:cNvPr id="15" name="Shape 12"/>
          <p:cNvSpPr/>
          <p:nvPr/>
        </p:nvSpPr>
        <p:spPr>
          <a:xfrm>
            <a:off x="6717640" y="1993392"/>
            <a:ext cx="329184" cy="329184"/>
          </a:xfrm>
          <a:prstGeom prst="roundRect">
            <a:avLst>
              <a:gd name="adj" fmla="val 13889"/>
            </a:avLst>
          </a:prstGeom>
          <a:solidFill>
            <a:srgbClr val="14A66A"/>
          </a:solidFill>
          <a:ln/>
        </p:spPr>
        <p:txBody>
          <a:bodyPr/>
          <a:p/>
        </p:txBody>
      </p:sp>
      <p:sp>
        <p:nvSpPr>
          <p:cNvPr id="16" name="Text 13"/>
          <p:cNvSpPr txBox="1"/>
          <p:nvPr/>
        </p:nvSpPr>
        <p:spPr>
          <a:xfrm>
            <a:off x="7211416" y="1938528"/>
            <a:ext cx="4075024" cy="438912"/>
          </a:xfrm>
          <a:prstGeom prst="rect">
            <a:avLst/>
          </a:prstGeom>
          <a:noFill/>
          <a:ln/>
        </p:spPr>
        <p:txBody>
          <a:bodyPr wrap="square" lIns="0" tIns="0" rIns="0" bIns="0" rtlCol="0" anchor="ctr"/>
          <a:lstStyle/>
          <a:p>
            <a:pPr algn="l" indent="0" marL="0">
              <a:lnSpc>
                <a:spcPct val="100000"/>
              </a:lnSpc>
              <a:buNone/>
            </a:pPr>
            <a:r>
              <a:rPr lang="en-US" sz="1900" b="1" dirty="0">
                <a:solidFill>
                  <a:srgbClr val="0B1F33"/>
                </a:solidFill>
                <a:latin typeface="Aptos Display" pitchFamily="34" charset="0"/>
                <a:ea typeface="Aptos Display" pitchFamily="34" charset="-122"/>
                <a:cs typeface="Aptos Display" pitchFamily="34" charset="-120"/>
              </a:rPr>
              <a:t>My appointments</a:t>
            </a:r>
            <a:endParaRPr lang="en-US" sz="1900" dirty="0"/>
          </a:p>
        </p:txBody>
      </p:sp>
      <p:sp>
        <p:nvSpPr>
          <p:cNvPr id="17" name="Text 14"/>
          <p:cNvSpPr txBox="1"/>
          <p:nvPr/>
        </p:nvSpPr>
        <p:spPr>
          <a:xfrm>
            <a:off x="6717640" y="2542032"/>
            <a:ext cx="4568800" cy="512064"/>
          </a:xfrm>
          <a:prstGeom prst="rect">
            <a:avLst/>
          </a:prstGeom>
          <a:noFill/>
          <a:ln/>
        </p:spPr>
        <p:txBody>
          <a:bodyPr wrap="square" lIns="0" tIns="0" rIns="0" bIns="0" rtlCol="0" anchor="t"/>
          <a:lstStyle/>
          <a:p>
            <a:pPr algn="l" indent="0" marL="0">
              <a:lnSpc>
                <a:spcPct val="118000"/>
              </a:lnSpc>
              <a:buNone/>
            </a:pPr>
            <a:r>
              <a:rPr lang="en-US" sz="1150" dirty="0">
                <a:solidFill>
                  <a:srgbClr val="456174"/>
                </a:solidFill>
                <a:latin typeface="Aptos" pitchFamily="34" charset="0"/>
                <a:ea typeface="Aptos" pitchFamily="34" charset="-122"/>
                <a:cs typeface="Aptos" pitchFamily="34" charset="-120"/>
              </a:rPr>
              <a:t>What an outside company sees: their own bookings, a QR code, Share.</a:t>
            </a:r>
            <a:endParaRPr lang="en-US" sz="1150" dirty="0"/>
          </a:p>
        </p:txBody>
      </p:sp>
      <p:sp>
        <p:nvSpPr>
          <p:cNvPr id="18" name="Shape 15"/>
          <p:cNvSpPr/>
          <p:nvPr/>
        </p:nvSpPr>
        <p:spPr>
          <a:xfrm>
            <a:off x="530352" y="3529584"/>
            <a:ext cx="5303520" cy="1517904"/>
          </a:xfrm>
          <a:prstGeom prst="roundRect">
            <a:avLst>
              <a:gd name="adj" fmla="val 4651"/>
            </a:avLst>
          </a:prstGeom>
          <a:solidFill>
            <a:srgbClr val="FFFFFF"/>
          </a:solidFill>
          <a:ln w="9525">
            <a:solidFill>
              <a:srgbClr val="D8E4EA"/>
            </a:solidFill>
            <a:prstDash val="solid"/>
          </a:ln>
        </p:spPr>
        <p:txBody>
          <a:bodyPr/>
          <a:p/>
        </p:txBody>
      </p:sp>
      <p:sp>
        <p:nvSpPr>
          <p:cNvPr id="19" name="Shape 16"/>
          <p:cNvSpPr/>
          <p:nvPr/>
        </p:nvSpPr>
        <p:spPr>
          <a:xfrm>
            <a:off x="896112" y="3877056"/>
            <a:ext cx="329184" cy="329184"/>
          </a:xfrm>
          <a:prstGeom prst="roundRect">
            <a:avLst>
              <a:gd name="adj" fmla="val 13889"/>
            </a:avLst>
          </a:prstGeom>
          <a:solidFill>
            <a:srgbClr val="F2A11B"/>
          </a:solidFill>
          <a:ln/>
        </p:spPr>
        <p:txBody>
          <a:bodyPr/>
          <a:p/>
        </p:txBody>
      </p:sp>
      <p:sp>
        <p:nvSpPr>
          <p:cNvPr id="20" name="Text 17"/>
          <p:cNvSpPr txBox="1"/>
          <p:nvPr/>
        </p:nvSpPr>
        <p:spPr>
          <a:xfrm>
            <a:off x="1389888" y="3822192"/>
            <a:ext cx="4075024" cy="438912"/>
          </a:xfrm>
          <a:prstGeom prst="rect">
            <a:avLst/>
          </a:prstGeom>
          <a:noFill/>
          <a:ln/>
        </p:spPr>
        <p:txBody>
          <a:bodyPr wrap="square" lIns="0" tIns="0" rIns="0" bIns="0" rtlCol="0" anchor="ctr"/>
          <a:lstStyle/>
          <a:p>
            <a:pPr algn="l" indent="0" marL="0">
              <a:lnSpc>
                <a:spcPct val="100000"/>
              </a:lnSpc>
              <a:buNone/>
            </a:pPr>
            <a:r>
              <a:rPr lang="en-US" sz="1900" b="1" dirty="0">
                <a:solidFill>
                  <a:srgbClr val="0B1F33"/>
                </a:solidFill>
                <a:latin typeface="Aptos Display" pitchFamily="34" charset="0"/>
                <a:ea typeface="Aptos Display" pitchFamily="34" charset="-122"/>
                <a:cs typeface="Aptos Display" pitchFamily="34" charset="-120"/>
              </a:rPr>
              <a:t>Settings</a:t>
            </a:r>
            <a:endParaRPr lang="en-US" sz="1900" dirty="0"/>
          </a:p>
        </p:txBody>
      </p:sp>
      <p:sp>
        <p:nvSpPr>
          <p:cNvPr id="21" name="Text 18"/>
          <p:cNvSpPr txBox="1"/>
          <p:nvPr/>
        </p:nvSpPr>
        <p:spPr>
          <a:xfrm>
            <a:off x="896112" y="4425696"/>
            <a:ext cx="4568800" cy="512064"/>
          </a:xfrm>
          <a:prstGeom prst="rect">
            <a:avLst/>
          </a:prstGeom>
          <a:noFill/>
          <a:ln/>
        </p:spPr>
        <p:txBody>
          <a:bodyPr wrap="square" lIns="0" tIns="0" rIns="0" bIns="0" rtlCol="0" anchor="t"/>
          <a:lstStyle/>
          <a:p>
            <a:pPr algn="l" indent="0" marL="0">
              <a:lnSpc>
                <a:spcPct val="118000"/>
              </a:lnSpc>
              <a:buNone/>
            </a:pPr>
            <a:r>
              <a:rPr lang="en-US" sz="1150" dirty="0">
                <a:solidFill>
                  <a:srgbClr val="456174"/>
                </a:solidFill>
                <a:latin typeface="Aptos" pitchFamily="34" charset="0"/>
                <a:ea typeface="Aptos" pitchFamily="34" charset="-122"/>
                <a:cs typeface="Aptos" pitchFamily="34" charset="-120"/>
              </a:rPr>
              <a:t>Hours, notice, durations, docks, trailers, crew and capacity.</a:t>
            </a:r>
            <a:endParaRPr lang="en-US" sz="1150" dirty="0"/>
          </a:p>
        </p:txBody>
      </p:sp>
      <p:sp>
        <p:nvSpPr>
          <p:cNvPr id="22" name="Shape 19"/>
          <p:cNvSpPr/>
          <p:nvPr/>
        </p:nvSpPr>
        <p:spPr>
          <a:xfrm>
            <a:off x="6355080" y="3529584"/>
            <a:ext cx="5303520" cy="1517904"/>
          </a:xfrm>
          <a:prstGeom prst="roundRect">
            <a:avLst>
              <a:gd name="adj" fmla="val 4651"/>
            </a:avLst>
          </a:prstGeom>
          <a:solidFill>
            <a:srgbClr val="FFFFFF"/>
          </a:solidFill>
          <a:ln w="9525">
            <a:solidFill>
              <a:srgbClr val="D8E4EA"/>
            </a:solidFill>
            <a:prstDash val="solid"/>
          </a:ln>
        </p:spPr>
        <p:txBody>
          <a:bodyPr/>
          <a:p/>
        </p:txBody>
      </p:sp>
      <p:sp>
        <p:nvSpPr>
          <p:cNvPr id="23" name="Shape 20"/>
          <p:cNvSpPr/>
          <p:nvPr/>
        </p:nvSpPr>
        <p:spPr>
          <a:xfrm>
            <a:off x="6717640" y="3877056"/>
            <a:ext cx="329184" cy="329184"/>
          </a:xfrm>
          <a:prstGeom prst="roundRect">
            <a:avLst>
              <a:gd name="adj" fmla="val 13889"/>
            </a:avLst>
          </a:prstGeom>
          <a:solidFill>
            <a:srgbClr val="6C63D9"/>
          </a:solidFill>
          <a:ln/>
        </p:spPr>
        <p:txBody>
          <a:bodyPr/>
          <a:p/>
        </p:txBody>
      </p:sp>
      <p:sp>
        <p:nvSpPr>
          <p:cNvPr id="24" name="Text 21"/>
          <p:cNvSpPr txBox="1"/>
          <p:nvPr/>
        </p:nvSpPr>
        <p:spPr>
          <a:xfrm>
            <a:off x="7211416" y="3822192"/>
            <a:ext cx="4075024" cy="438912"/>
          </a:xfrm>
          <a:prstGeom prst="rect">
            <a:avLst/>
          </a:prstGeom>
          <a:noFill/>
          <a:ln/>
        </p:spPr>
        <p:txBody>
          <a:bodyPr wrap="square" lIns="0" tIns="0" rIns="0" bIns="0" rtlCol="0" anchor="ctr"/>
          <a:lstStyle/>
          <a:p>
            <a:pPr algn="l" indent="0" marL="0">
              <a:lnSpc>
                <a:spcPct val="100000"/>
              </a:lnSpc>
              <a:buNone/>
            </a:pPr>
            <a:r>
              <a:rPr lang="en-US" sz="1900" b="1" dirty="0">
                <a:solidFill>
                  <a:srgbClr val="0B1F33"/>
                </a:solidFill>
                <a:latin typeface="Aptos Display" pitchFamily="34" charset="0"/>
                <a:ea typeface="Aptos Display" pitchFamily="34" charset="-122"/>
                <a:cs typeface="Aptos Display" pitchFamily="34" charset="-120"/>
              </a:rPr>
              <a:t>Users and roles</a:t>
            </a:r>
            <a:endParaRPr lang="en-US" sz="1900" dirty="0"/>
          </a:p>
        </p:txBody>
      </p:sp>
      <p:sp>
        <p:nvSpPr>
          <p:cNvPr id="25" name="Text 22"/>
          <p:cNvSpPr txBox="1"/>
          <p:nvPr/>
        </p:nvSpPr>
        <p:spPr>
          <a:xfrm>
            <a:off x="6717640" y="4425696"/>
            <a:ext cx="4568800" cy="512064"/>
          </a:xfrm>
          <a:prstGeom prst="rect">
            <a:avLst/>
          </a:prstGeom>
          <a:noFill/>
          <a:ln/>
        </p:spPr>
        <p:txBody>
          <a:bodyPr wrap="square" lIns="0" tIns="0" rIns="0" bIns="0" rtlCol="0" anchor="t"/>
          <a:lstStyle/>
          <a:p>
            <a:pPr algn="l" indent="0" marL="0">
              <a:lnSpc>
                <a:spcPct val="118000"/>
              </a:lnSpc>
              <a:buNone/>
            </a:pPr>
            <a:r>
              <a:rPr lang="en-US" sz="1150" dirty="0">
                <a:solidFill>
                  <a:srgbClr val="456174"/>
                </a:solidFill>
                <a:latin typeface="Aptos" pitchFamily="34" charset="0"/>
                <a:ea typeface="Aptos" pitchFamily="34" charset="-122"/>
                <a:cs typeface="Aptos" pitchFamily="34" charset="-120"/>
              </a:rPr>
              <a:t>Who can do what, per site, with customer isolation underneath.</a:t>
            </a:r>
            <a:endParaRPr lang="en-US" sz="1150" dirty="0"/>
          </a:p>
        </p:txBody>
      </p:sp>
      <p:sp>
        <p:nvSpPr>
          <p:cNvPr id="26" name="Shape 23"/>
          <p:cNvSpPr/>
          <p:nvPr/>
        </p:nvSpPr>
        <p:spPr>
          <a:xfrm>
            <a:off x="530352" y="5468112"/>
            <a:ext cx="11130991" cy="859536"/>
          </a:xfrm>
          <a:prstGeom prst="roundRect">
            <a:avLst>
              <a:gd name="adj" fmla="val 6349"/>
            </a:avLst>
          </a:prstGeom>
          <a:solidFill>
            <a:srgbClr val="072238"/>
          </a:solidFill>
          <a:ln/>
        </p:spPr>
        <p:txBody>
          <a:bodyPr/>
          <a:p/>
        </p:txBody>
      </p:sp>
      <p:sp>
        <p:nvSpPr>
          <p:cNvPr id="27" name="Text 24"/>
          <p:cNvSpPr txBox="1"/>
          <p:nvPr/>
        </p:nvSpPr>
        <p:spPr>
          <a:xfrm>
            <a:off x="877824" y="5541264"/>
            <a:ext cx="10424160" cy="713232"/>
          </a:xfrm>
          <a:prstGeom prst="rect">
            <a:avLst/>
          </a:prstGeom>
          <a:noFill/>
          <a:ln/>
        </p:spPr>
        <p:txBody>
          <a:bodyPr wrap="square" lIns="0" tIns="0" rIns="0" bIns="0" rtlCol="0" anchor="ctr"/>
          <a:lstStyle/>
          <a:p>
            <a:pPr algn="l" indent="0" marL="0">
              <a:lnSpc>
                <a:spcPct val="115000"/>
              </a:lnSpc>
              <a:buNone/>
            </a:pPr>
            <a:r>
              <a:rPr lang="en-US" sz="1350" b="1" dirty="0">
                <a:solidFill>
                  <a:srgbClr val="FFFFFF"/>
                </a:solidFill>
                <a:latin typeface="Aptos" pitchFamily="34" charset="0"/>
                <a:ea typeface="Aptos" pitchFamily="34" charset="-122"/>
                <a:cs typeface="Aptos" pitchFamily="34" charset="-120"/>
              </a:rPr>
              <a:t>All four are role-aware: a coordinator, a customer and a carrier each see a different screen, enforced in the database.</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28</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THE PLAIN BEFORE AND AFTER</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Six things that simply are not done today.</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Not done badly. Not done at all, because there was nowhere to do them.</a:t>
            </a:r>
            <a:endParaRPr lang="en-US" sz="1200" dirty="0"/>
          </a:p>
        </p:txBody>
      </p:sp>
      <p:sp>
        <p:nvSpPr>
          <p:cNvPr id="10" name="Text 7"/>
          <p:cNvSpPr txBox="1"/>
          <p:nvPr/>
        </p:nvSpPr>
        <p:spPr>
          <a:xfrm>
            <a:off x="4160520" y="1609344"/>
            <a:ext cx="3200400" cy="219456"/>
          </a:xfrm>
          <a:prstGeom prst="rect">
            <a:avLst/>
          </a:prstGeom>
          <a:noFill/>
          <a:ln/>
        </p:spPr>
        <p:txBody>
          <a:bodyPr wrap="square" lIns="0" tIns="0" rIns="0" bIns="0" rtlCol="0" anchor="t"/>
          <a:lstStyle/>
          <a:p>
            <a:pPr algn="l" indent="0" marL="0">
              <a:lnSpc>
                <a:spcPct val="100000"/>
              </a:lnSpc>
              <a:buNone/>
            </a:pPr>
            <a:r>
              <a:rPr lang="en-US" sz="950" b="1" spc="80" kern="0" dirty="0">
                <a:solidFill>
                  <a:srgbClr val="D84C4C"/>
                </a:solidFill>
                <a:latin typeface="Aptos" pitchFamily="34" charset="0"/>
                <a:ea typeface="Aptos" pitchFamily="34" charset="-122"/>
                <a:cs typeface="Aptos" pitchFamily="34" charset="-120"/>
              </a:rPr>
              <a:t>TODAY</a:t>
            </a:r>
            <a:endParaRPr lang="en-US" sz="950" dirty="0"/>
          </a:p>
        </p:txBody>
      </p:sp>
      <p:sp>
        <p:nvSpPr>
          <p:cNvPr id="11" name="Text 8"/>
          <p:cNvSpPr txBox="1"/>
          <p:nvPr/>
        </p:nvSpPr>
        <p:spPr>
          <a:xfrm>
            <a:off x="8183880" y="1609344"/>
            <a:ext cx="3474720" cy="219456"/>
          </a:xfrm>
          <a:prstGeom prst="rect">
            <a:avLst/>
          </a:prstGeom>
          <a:noFill/>
          <a:ln/>
        </p:spPr>
        <p:txBody>
          <a:bodyPr wrap="square" lIns="0" tIns="0" rIns="0" bIns="0" rtlCol="0" anchor="t"/>
          <a:lstStyle/>
          <a:p>
            <a:pPr algn="l" indent="0" marL="0">
              <a:lnSpc>
                <a:spcPct val="100000"/>
              </a:lnSpc>
              <a:buNone/>
            </a:pPr>
            <a:r>
              <a:rPr lang="en-US" sz="950" b="1" spc="80" kern="0" dirty="0">
                <a:solidFill>
                  <a:srgbClr val="14A66A"/>
                </a:solidFill>
                <a:latin typeface="Aptos" pitchFamily="34" charset="0"/>
                <a:ea typeface="Aptos" pitchFamily="34" charset="-122"/>
                <a:cs typeface="Aptos" pitchFamily="34" charset="-120"/>
              </a:rPr>
              <a:t>WITH MAXDOCK</a:t>
            </a:r>
            <a:endParaRPr lang="en-US" sz="950" dirty="0"/>
          </a:p>
        </p:txBody>
      </p:sp>
      <p:sp>
        <p:nvSpPr>
          <p:cNvPr id="12" name="Text 9"/>
          <p:cNvSpPr txBox="1"/>
          <p:nvPr/>
        </p:nvSpPr>
        <p:spPr>
          <a:xfrm>
            <a:off x="530352" y="2011680"/>
            <a:ext cx="3429000" cy="932688"/>
          </a:xfrm>
          <a:prstGeom prst="rect">
            <a:avLst/>
          </a:prstGeom>
          <a:noFill/>
          <a:ln/>
        </p:spPr>
        <p:txBody>
          <a:bodyPr wrap="square" lIns="0" tIns="0" rIns="0" bIns="0" rtlCol="0" anchor="ctr"/>
          <a:lstStyle/>
          <a:p>
            <a:pPr algn="l" indent="0" marL="0">
              <a:lnSpc>
                <a:spcPct val="105000"/>
              </a:lnSpc>
              <a:buNone/>
            </a:pPr>
            <a:r>
              <a:rPr lang="en-US" sz="1450" b="1" dirty="0">
                <a:solidFill>
                  <a:srgbClr val="0B1F33"/>
                </a:solidFill>
                <a:latin typeface="Aptos Display" pitchFamily="34" charset="0"/>
                <a:ea typeface="Aptos Display" pitchFamily="34" charset="-122"/>
                <a:cs typeface="Aptos Display" pitchFamily="34" charset="-120"/>
              </a:rPr>
              <a:t>A week of appointments loaded at once</a:t>
            </a:r>
            <a:endParaRPr lang="en-US" sz="1450" dirty="0"/>
          </a:p>
        </p:txBody>
      </p:sp>
      <p:sp>
        <p:nvSpPr>
          <p:cNvPr id="13" name="Shape 10"/>
          <p:cNvSpPr/>
          <p:nvPr/>
        </p:nvSpPr>
        <p:spPr>
          <a:xfrm>
            <a:off x="4160520" y="2011680"/>
            <a:ext cx="3200400" cy="932688"/>
          </a:xfrm>
          <a:prstGeom prst="roundRect">
            <a:avLst>
              <a:gd name="adj" fmla="val 7843"/>
            </a:avLst>
          </a:prstGeom>
          <a:solidFill>
            <a:srgbClr val="E9EFF4"/>
          </a:solidFill>
          <a:ln/>
        </p:spPr>
        <p:txBody>
          <a:bodyPr/>
          <a:p/>
        </p:txBody>
      </p:sp>
      <p:sp>
        <p:nvSpPr>
          <p:cNvPr id="14" name="Text 11"/>
          <p:cNvSpPr txBox="1"/>
          <p:nvPr/>
        </p:nvSpPr>
        <p:spPr>
          <a:xfrm>
            <a:off x="4434840" y="2011680"/>
            <a:ext cx="2651760" cy="932688"/>
          </a:xfrm>
          <a:prstGeom prst="rect">
            <a:avLst/>
          </a:prstGeom>
          <a:noFill/>
          <a:ln/>
        </p:spPr>
        <p:txBody>
          <a:bodyPr wrap="square" lIns="0" tIns="0" rIns="0" bIns="0" rtlCol="0" anchor="ctr"/>
          <a:lstStyle/>
          <a:p>
            <a:pPr algn="l" indent="0" marL="0">
              <a:lnSpc>
                <a:spcPct val="118000"/>
              </a:lnSpc>
              <a:buNone/>
            </a:pPr>
            <a:r>
              <a:rPr lang="en-US" sz="1150" dirty="0">
                <a:solidFill>
                  <a:srgbClr val="6F8491"/>
                </a:solidFill>
                <a:latin typeface="Aptos" pitchFamily="34" charset="0"/>
                <a:ea typeface="Aptos" pitchFamily="34" charset="-122"/>
                <a:cs typeface="Aptos" pitchFamily="34" charset="-120"/>
              </a:rPr>
              <a:t>Retyped one at a time, or not booked at all</a:t>
            </a:r>
            <a:endParaRPr lang="en-US" sz="1150" dirty="0"/>
          </a:p>
        </p:txBody>
      </p:sp>
      <p:sp>
        <p:nvSpPr>
          <p:cNvPr id="15" name="Shape 12"/>
          <p:cNvSpPr/>
          <p:nvPr/>
        </p:nvSpPr>
        <p:spPr>
          <a:xfrm>
            <a:off x="7543800" y="2478024"/>
            <a:ext cx="457200" cy="0"/>
          </a:xfrm>
          <a:prstGeom prst="line">
            <a:avLst/>
          </a:prstGeom>
          <a:noFill/>
          <a:ln w="19050">
            <a:solidFill>
              <a:srgbClr val="0877C9"/>
            </a:solidFill>
            <a:prstDash val="solid"/>
            <a:tailEnd type="triangle"/>
          </a:ln>
        </p:spPr>
        <p:txBody>
          <a:bodyPr/>
          <a:p/>
        </p:txBody>
      </p:sp>
      <p:sp>
        <p:nvSpPr>
          <p:cNvPr id="16" name="Shape 13"/>
          <p:cNvSpPr/>
          <p:nvPr/>
        </p:nvSpPr>
        <p:spPr>
          <a:xfrm>
            <a:off x="8183880" y="2011680"/>
            <a:ext cx="3474720" cy="932688"/>
          </a:xfrm>
          <a:prstGeom prst="roundRect">
            <a:avLst>
              <a:gd name="adj" fmla="val 7843"/>
            </a:avLst>
          </a:prstGeom>
          <a:solidFill>
            <a:srgbClr val="E1F3EA"/>
          </a:solidFill>
          <a:ln/>
        </p:spPr>
        <p:txBody>
          <a:bodyPr/>
          <a:p/>
        </p:txBody>
      </p:sp>
      <p:sp>
        <p:nvSpPr>
          <p:cNvPr id="17" name="Text 14"/>
          <p:cNvSpPr txBox="1"/>
          <p:nvPr/>
        </p:nvSpPr>
        <p:spPr>
          <a:xfrm>
            <a:off x="8458200" y="2011680"/>
            <a:ext cx="2926080" cy="932688"/>
          </a:xfrm>
          <a:prstGeom prst="rect">
            <a:avLst/>
          </a:prstGeom>
          <a:noFill/>
          <a:ln/>
        </p:spPr>
        <p:txBody>
          <a:bodyPr wrap="square" lIns="0" tIns="0" rIns="0" bIns="0" rtlCol="0" anchor="ctr"/>
          <a:lstStyle/>
          <a:p>
            <a:pPr algn="l" indent="0" marL="0">
              <a:lnSpc>
                <a:spcPct val="120000"/>
              </a:lnSpc>
              <a:buNone/>
            </a:pPr>
            <a:r>
              <a:rPr lang="en-US" sz="1150" b="1" dirty="0">
                <a:solidFill>
                  <a:srgbClr val="10603F"/>
                </a:solidFill>
                <a:latin typeface="Aptos" pitchFamily="34" charset="0"/>
                <a:ea typeface="Aptos" pitchFamily="34" charset="-122"/>
                <a:cs typeface="Aptos" pitchFamily="34" charset="-120"/>
              </a:rPr>
              <a:t>Bulk import from a spreadsheet, validated before it lands</a:t>
            </a:r>
            <a:endParaRPr lang="en-US" sz="1150" dirty="0"/>
          </a:p>
          <a:p>
            <a:pPr algn="l" indent="0" marL="0">
              <a:lnSpc>
                <a:spcPct val="120000"/>
              </a:lnSpc>
              <a:buNone/>
            </a:pPr>
            <a:r>
              <a:rPr lang="en-US" sz="950" b="1" spc="60" kern="0" dirty="0">
                <a:solidFill>
                  <a:srgbClr val="14A66A"/>
                </a:solidFill>
                <a:latin typeface="Aptos" pitchFamily="34" charset="0"/>
                <a:ea typeface="Aptos" pitchFamily="34" charset="-122"/>
                <a:cs typeface="Aptos" pitchFamily="34" charset="-120"/>
              </a:rPr>
              <a:t>Working now</a:t>
            </a:r>
            <a:endParaRPr lang="en-US" sz="1150" dirty="0"/>
          </a:p>
        </p:txBody>
      </p:sp>
      <p:sp>
        <p:nvSpPr>
          <p:cNvPr id="18" name="Shape 15"/>
          <p:cNvSpPr/>
          <p:nvPr/>
        </p:nvSpPr>
        <p:spPr>
          <a:xfrm>
            <a:off x="530352" y="3090672"/>
            <a:ext cx="11130991" cy="0"/>
          </a:xfrm>
          <a:prstGeom prst="line">
            <a:avLst/>
          </a:prstGeom>
          <a:noFill/>
          <a:ln w="9525">
            <a:solidFill>
              <a:srgbClr val="E7EDF1"/>
            </a:solidFill>
            <a:prstDash val="solid"/>
          </a:ln>
        </p:spPr>
        <p:txBody>
          <a:bodyPr/>
          <a:p/>
        </p:txBody>
      </p:sp>
      <p:sp>
        <p:nvSpPr>
          <p:cNvPr id="19" name="Text 16"/>
          <p:cNvSpPr txBox="1"/>
          <p:nvPr/>
        </p:nvSpPr>
        <p:spPr>
          <a:xfrm>
            <a:off x="530352" y="3310128"/>
            <a:ext cx="3429000" cy="932688"/>
          </a:xfrm>
          <a:prstGeom prst="rect">
            <a:avLst/>
          </a:prstGeom>
          <a:noFill/>
          <a:ln/>
        </p:spPr>
        <p:txBody>
          <a:bodyPr wrap="square" lIns="0" tIns="0" rIns="0" bIns="0" rtlCol="0" anchor="ctr"/>
          <a:lstStyle/>
          <a:p>
            <a:pPr algn="l" indent="0" marL="0">
              <a:lnSpc>
                <a:spcPct val="105000"/>
              </a:lnSpc>
              <a:buNone/>
            </a:pPr>
            <a:r>
              <a:rPr lang="en-US" sz="1450" b="1" dirty="0">
                <a:solidFill>
                  <a:srgbClr val="0B1F33"/>
                </a:solidFill>
                <a:latin typeface="Aptos Display" pitchFamily="34" charset="0"/>
                <a:ea typeface="Aptos Display" pitchFamily="34" charset="-122"/>
                <a:cs typeface="Aptos Display" pitchFamily="34" charset="-120"/>
              </a:rPr>
              <a:t>Orders becoming dock appointments</a:t>
            </a:r>
            <a:endParaRPr lang="en-US" sz="1450" dirty="0"/>
          </a:p>
        </p:txBody>
      </p:sp>
      <p:sp>
        <p:nvSpPr>
          <p:cNvPr id="20" name="Shape 17"/>
          <p:cNvSpPr/>
          <p:nvPr/>
        </p:nvSpPr>
        <p:spPr>
          <a:xfrm>
            <a:off x="4160520" y="3310128"/>
            <a:ext cx="3200400" cy="932688"/>
          </a:xfrm>
          <a:prstGeom prst="roundRect">
            <a:avLst>
              <a:gd name="adj" fmla="val 7843"/>
            </a:avLst>
          </a:prstGeom>
          <a:solidFill>
            <a:srgbClr val="E9EFF4"/>
          </a:solidFill>
          <a:ln/>
        </p:spPr>
        <p:txBody>
          <a:bodyPr/>
          <a:p/>
        </p:txBody>
      </p:sp>
      <p:sp>
        <p:nvSpPr>
          <p:cNvPr id="21" name="Text 18"/>
          <p:cNvSpPr txBox="1"/>
          <p:nvPr/>
        </p:nvSpPr>
        <p:spPr>
          <a:xfrm>
            <a:off x="4434840" y="3310128"/>
            <a:ext cx="2651760" cy="932688"/>
          </a:xfrm>
          <a:prstGeom prst="rect">
            <a:avLst/>
          </a:prstGeom>
          <a:noFill/>
          <a:ln/>
        </p:spPr>
        <p:txBody>
          <a:bodyPr wrap="square" lIns="0" tIns="0" rIns="0" bIns="0" rtlCol="0" anchor="ctr"/>
          <a:lstStyle/>
          <a:p>
            <a:pPr algn="l" indent="0" marL="0">
              <a:lnSpc>
                <a:spcPct val="118000"/>
              </a:lnSpc>
              <a:buNone/>
            </a:pPr>
            <a:r>
              <a:rPr lang="en-US" sz="1150" dirty="0">
                <a:solidFill>
                  <a:srgbClr val="6F8491"/>
                </a:solidFill>
                <a:latin typeface="Aptos" pitchFamily="34" charset="0"/>
                <a:ea typeface="Aptos" pitchFamily="34" charset="-122"/>
                <a:cs typeface="Aptos" pitchFamily="34" charset="-120"/>
              </a:rPr>
              <a:t>Read off an email and keyed in again</a:t>
            </a:r>
            <a:endParaRPr lang="en-US" sz="1150" dirty="0"/>
          </a:p>
        </p:txBody>
      </p:sp>
      <p:sp>
        <p:nvSpPr>
          <p:cNvPr id="22" name="Shape 19"/>
          <p:cNvSpPr/>
          <p:nvPr/>
        </p:nvSpPr>
        <p:spPr>
          <a:xfrm>
            <a:off x="7543800" y="3776472"/>
            <a:ext cx="457200" cy="0"/>
          </a:xfrm>
          <a:prstGeom prst="line">
            <a:avLst/>
          </a:prstGeom>
          <a:noFill/>
          <a:ln w="19050">
            <a:solidFill>
              <a:srgbClr val="0877C9"/>
            </a:solidFill>
            <a:prstDash val="solid"/>
            <a:tailEnd type="triangle"/>
          </a:ln>
        </p:spPr>
        <p:txBody>
          <a:bodyPr/>
          <a:p/>
        </p:txBody>
      </p:sp>
      <p:sp>
        <p:nvSpPr>
          <p:cNvPr id="23" name="Shape 20"/>
          <p:cNvSpPr/>
          <p:nvPr/>
        </p:nvSpPr>
        <p:spPr>
          <a:xfrm>
            <a:off x="8183880" y="3310128"/>
            <a:ext cx="3474720" cy="932688"/>
          </a:xfrm>
          <a:prstGeom prst="roundRect">
            <a:avLst>
              <a:gd name="adj" fmla="val 7843"/>
            </a:avLst>
          </a:prstGeom>
          <a:solidFill>
            <a:srgbClr val="E1F3EA"/>
          </a:solidFill>
          <a:ln/>
        </p:spPr>
        <p:txBody>
          <a:bodyPr/>
          <a:p/>
        </p:txBody>
      </p:sp>
      <p:sp>
        <p:nvSpPr>
          <p:cNvPr id="24" name="Text 21"/>
          <p:cNvSpPr txBox="1"/>
          <p:nvPr/>
        </p:nvSpPr>
        <p:spPr>
          <a:xfrm>
            <a:off x="8458200" y="3310128"/>
            <a:ext cx="2926080" cy="932688"/>
          </a:xfrm>
          <a:prstGeom prst="rect">
            <a:avLst/>
          </a:prstGeom>
          <a:noFill/>
          <a:ln/>
        </p:spPr>
        <p:txBody>
          <a:bodyPr wrap="square" lIns="0" tIns="0" rIns="0" bIns="0" rtlCol="0" anchor="ctr"/>
          <a:lstStyle/>
          <a:p>
            <a:pPr algn="l" indent="0" marL="0">
              <a:lnSpc>
                <a:spcPct val="120000"/>
              </a:lnSpc>
              <a:buNone/>
            </a:pPr>
            <a:r>
              <a:rPr lang="en-US" sz="1150" b="1" dirty="0">
                <a:solidFill>
                  <a:srgbClr val="10603F"/>
                </a:solidFill>
                <a:latin typeface="Aptos" pitchFamily="34" charset="0"/>
                <a:ea typeface="Aptos" pitchFamily="34" charset="-122"/>
                <a:cs typeface="Aptos" pitchFamily="34" charset="-120"/>
              </a:rPr>
              <a:t>The TMS and CABL bridge, in build now</a:t>
            </a:r>
            <a:endParaRPr lang="en-US" sz="1150" dirty="0"/>
          </a:p>
          <a:p>
            <a:pPr algn="l" indent="0" marL="0">
              <a:lnSpc>
                <a:spcPct val="120000"/>
              </a:lnSpc>
              <a:buNone/>
            </a:pPr>
            <a:r>
              <a:rPr lang="en-US" sz="950" b="1" spc="60" kern="0" dirty="0">
                <a:solidFill>
                  <a:srgbClr val="14A66A"/>
                </a:solidFill>
                <a:latin typeface="Aptos" pitchFamily="34" charset="0"/>
                <a:ea typeface="Aptos" pitchFamily="34" charset="-122"/>
                <a:cs typeface="Aptos" pitchFamily="34" charset="-120"/>
              </a:rPr>
              <a:t>In build</a:t>
            </a:r>
            <a:endParaRPr lang="en-US" sz="1150" dirty="0"/>
          </a:p>
        </p:txBody>
      </p:sp>
      <p:sp>
        <p:nvSpPr>
          <p:cNvPr id="25" name="Shape 22"/>
          <p:cNvSpPr/>
          <p:nvPr/>
        </p:nvSpPr>
        <p:spPr>
          <a:xfrm>
            <a:off x="530352" y="4389120"/>
            <a:ext cx="11130991" cy="0"/>
          </a:xfrm>
          <a:prstGeom prst="line">
            <a:avLst/>
          </a:prstGeom>
          <a:noFill/>
          <a:ln w="9525">
            <a:solidFill>
              <a:srgbClr val="E7EDF1"/>
            </a:solidFill>
            <a:prstDash val="solid"/>
          </a:ln>
        </p:spPr>
        <p:txBody>
          <a:bodyPr/>
          <a:p/>
        </p:txBody>
      </p:sp>
      <p:sp>
        <p:nvSpPr>
          <p:cNvPr id="26" name="Text 23"/>
          <p:cNvSpPr txBox="1"/>
          <p:nvPr/>
        </p:nvSpPr>
        <p:spPr>
          <a:xfrm>
            <a:off x="530352" y="4608576"/>
            <a:ext cx="3429000" cy="932688"/>
          </a:xfrm>
          <a:prstGeom prst="rect">
            <a:avLst/>
          </a:prstGeom>
          <a:noFill/>
          <a:ln/>
        </p:spPr>
        <p:txBody>
          <a:bodyPr wrap="square" lIns="0" tIns="0" rIns="0" bIns="0" rtlCol="0" anchor="ctr"/>
          <a:lstStyle/>
          <a:p>
            <a:pPr algn="l" indent="0" marL="0">
              <a:lnSpc>
                <a:spcPct val="105000"/>
              </a:lnSpc>
              <a:buNone/>
            </a:pPr>
            <a:r>
              <a:rPr lang="en-US" sz="1450" b="1" dirty="0">
                <a:solidFill>
                  <a:srgbClr val="0B1F33"/>
                </a:solidFill>
                <a:latin typeface="Aptos Display" pitchFamily="34" charset="0"/>
                <a:ea typeface="Aptos Display" pitchFamily="34" charset="-122"/>
                <a:cs typeface="Aptos Display" pitchFamily="34" charset="-120"/>
              </a:rPr>
              <a:t>The booker told when something changes</a:t>
            </a:r>
            <a:endParaRPr lang="en-US" sz="1450" dirty="0"/>
          </a:p>
        </p:txBody>
      </p:sp>
      <p:sp>
        <p:nvSpPr>
          <p:cNvPr id="27" name="Shape 24"/>
          <p:cNvSpPr/>
          <p:nvPr/>
        </p:nvSpPr>
        <p:spPr>
          <a:xfrm>
            <a:off x="4160520" y="4608576"/>
            <a:ext cx="3200400" cy="932688"/>
          </a:xfrm>
          <a:prstGeom prst="roundRect">
            <a:avLst>
              <a:gd name="adj" fmla="val 7843"/>
            </a:avLst>
          </a:prstGeom>
          <a:solidFill>
            <a:srgbClr val="E9EFF4"/>
          </a:solidFill>
          <a:ln/>
        </p:spPr>
        <p:txBody>
          <a:bodyPr/>
          <a:p/>
        </p:txBody>
      </p:sp>
      <p:sp>
        <p:nvSpPr>
          <p:cNvPr id="28" name="Text 25"/>
          <p:cNvSpPr txBox="1"/>
          <p:nvPr/>
        </p:nvSpPr>
        <p:spPr>
          <a:xfrm>
            <a:off x="4434840" y="4608576"/>
            <a:ext cx="2651760" cy="932688"/>
          </a:xfrm>
          <a:prstGeom prst="rect">
            <a:avLst/>
          </a:prstGeom>
          <a:noFill/>
          <a:ln/>
        </p:spPr>
        <p:txBody>
          <a:bodyPr wrap="square" lIns="0" tIns="0" rIns="0" bIns="0" rtlCol="0" anchor="ctr"/>
          <a:lstStyle/>
          <a:p>
            <a:pPr algn="l" indent="0" marL="0">
              <a:lnSpc>
                <a:spcPct val="118000"/>
              </a:lnSpc>
              <a:buNone/>
            </a:pPr>
            <a:r>
              <a:rPr lang="en-US" sz="1150" dirty="0">
                <a:solidFill>
                  <a:srgbClr val="6F8491"/>
                </a:solidFill>
                <a:latin typeface="Aptos" pitchFamily="34" charset="0"/>
                <a:ea typeface="Aptos" pitchFamily="34" charset="-122"/>
                <a:cs typeface="Aptos" pitchFamily="34" charset="-120"/>
              </a:rPr>
              <a:t>A phone call, if somebody remembers</a:t>
            </a:r>
            <a:endParaRPr lang="en-US" sz="1150" dirty="0"/>
          </a:p>
        </p:txBody>
      </p:sp>
      <p:sp>
        <p:nvSpPr>
          <p:cNvPr id="29" name="Shape 26"/>
          <p:cNvSpPr/>
          <p:nvPr/>
        </p:nvSpPr>
        <p:spPr>
          <a:xfrm>
            <a:off x="7543800" y="5074920"/>
            <a:ext cx="457200" cy="0"/>
          </a:xfrm>
          <a:prstGeom prst="line">
            <a:avLst/>
          </a:prstGeom>
          <a:noFill/>
          <a:ln w="19050">
            <a:solidFill>
              <a:srgbClr val="0877C9"/>
            </a:solidFill>
            <a:prstDash val="solid"/>
            <a:tailEnd type="triangle"/>
          </a:ln>
        </p:spPr>
        <p:txBody>
          <a:bodyPr/>
          <a:p/>
        </p:txBody>
      </p:sp>
      <p:sp>
        <p:nvSpPr>
          <p:cNvPr id="30" name="Shape 27"/>
          <p:cNvSpPr/>
          <p:nvPr/>
        </p:nvSpPr>
        <p:spPr>
          <a:xfrm>
            <a:off x="8183880" y="4608576"/>
            <a:ext cx="3474720" cy="932688"/>
          </a:xfrm>
          <a:prstGeom prst="roundRect">
            <a:avLst>
              <a:gd name="adj" fmla="val 7843"/>
            </a:avLst>
          </a:prstGeom>
          <a:solidFill>
            <a:srgbClr val="E1F3EA"/>
          </a:solidFill>
          <a:ln/>
        </p:spPr>
        <p:txBody>
          <a:bodyPr/>
          <a:p/>
        </p:txBody>
      </p:sp>
      <p:sp>
        <p:nvSpPr>
          <p:cNvPr id="31" name="Text 28"/>
          <p:cNvSpPr txBox="1"/>
          <p:nvPr/>
        </p:nvSpPr>
        <p:spPr>
          <a:xfrm>
            <a:off x="8458200" y="4608576"/>
            <a:ext cx="2926080" cy="932688"/>
          </a:xfrm>
          <a:prstGeom prst="rect">
            <a:avLst/>
          </a:prstGeom>
          <a:noFill/>
          <a:ln/>
        </p:spPr>
        <p:txBody>
          <a:bodyPr wrap="square" lIns="0" tIns="0" rIns="0" bIns="0" rtlCol="0" anchor="ctr"/>
          <a:lstStyle/>
          <a:p>
            <a:pPr algn="l" indent="0" marL="0">
              <a:lnSpc>
                <a:spcPct val="120000"/>
              </a:lnSpc>
              <a:buNone/>
            </a:pPr>
            <a:r>
              <a:rPr lang="en-US" sz="1150" b="1" dirty="0">
                <a:solidFill>
                  <a:srgbClr val="10603F"/>
                </a:solidFill>
                <a:latin typeface="Aptos" pitchFamily="34" charset="0"/>
                <a:ea typeface="Aptos" pitchFamily="34" charset="-122"/>
                <a:cs typeface="Aptos" pitchFamily="34" charset="-120"/>
              </a:rPr>
              <a:t>Confirmation, change and cancellation email</a:t>
            </a:r>
            <a:endParaRPr lang="en-US" sz="1150" dirty="0"/>
          </a:p>
          <a:p>
            <a:pPr algn="l" indent="0" marL="0">
              <a:lnSpc>
                <a:spcPct val="120000"/>
              </a:lnSpc>
              <a:buNone/>
            </a:pPr>
            <a:r>
              <a:rPr lang="en-US" sz="950" b="1" spc="60" kern="0" dirty="0">
                <a:solidFill>
                  <a:srgbClr val="14A66A"/>
                </a:solidFill>
                <a:latin typeface="Aptos" pitchFamily="34" charset="0"/>
                <a:ea typeface="Aptos" pitchFamily="34" charset="-122"/>
                <a:cs typeface="Aptos" pitchFamily="34" charset="-120"/>
              </a:rPr>
              <a:t>Next up</a:t>
            </a:r>
            <a:endParaRPr lang="en-US" sz="1150" dirty="0"/>
          </a:p>
        </p:txBody>
      </p:sp>
      <p:sp>
        <p:nvSpPr>
          <p:cNvPr id="32" name="Shape 29"/>
          <p:cNvSpPr/>
          <p:nvPr/>
        </p:nvSpPr>
        <p:spPr>
          <a:xfrm>
            <a:off x="530352" y="5797296"/>
            <a:ext cx="11130991" cy="530352"/>
          </a:xfrm>
          <a:prstGeom prst="roundRect">
            <a:avLst>
              <a:gd name="adj" fmla="val 10345"/>
            </a:avLst>
          </a:prstGeom>
          <a:solidFill>
            <a:srgbClr val="E4EFF9"/>
          </a:solidFill>
          <a:ln/>
        </p:spPr>
        <p:txBody>
          <a:bodyPr/>
          <a:p/>
        </p:txBody>
      </p:sp>
      <p:sp>
        <p:nvSpPr>
          <p:cNvPr id="33" name="Text 30"/>
          <p:cNvSpPr txBox="1"/>
          <p:nvPr/>
        </p:nvSpPr>
        <p:spPr>
          <a:xfrm>
            <a:off x="859536" y="5797296"/>
            <a:ext cx="10472623" cy="530352"/>
          </a:xfrm>
          <a:prstGeom prst="rect">
            <a:avLst/>
          </a:prstGeom>
          <a:noFill/>
          <a:ln/>
        </p:spPr>
        <p:txBody>
          <a:bodyPr wrap="square" lIns="0" tIns="0" rIns="0" bIns="0" rtlCol="0" anchor="ctr"/>
          <a:lstStyle/>
          <a:p>
            <a:pPr algn="l" indent="0" marL="0">
              <a:lnSpc>
                <a:spcPct val="100000"/>
              </a:lnSpc>
              <a:buNone/>
            </a:pPr>
            <a:r>
              <a:rPr lang="en-US" sz="1150" b="1" dirty="0">
                <a:solidFill>
                  <a:srgbClr val="0B1F33"/>
                </a:solidFill>
                <a:latin typeface="Aptos" pitchFamily="34" charset="0"/>
                <a:ea typeface="Aptos" pitchFamily="34" charset="-122"/>
                <a:cs typeface="Aptos" pitchFamily="34" charset="-120"/>
              </a:rPr>
              <a:t>Three more overleaf. Four of the six work today.</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29</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THE PLAIN BEFORE AND AFTER</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Three more that change the daily conversation.</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The basics that turn “who remembers?” into “open it and check.”</a:t>
            </a:r>
            <a:endParaRPr lang="en-US" sz="1200" dirty="0"/>
          </a:p>
        </p:txBody>
      </p:sp>
      <p:sp>
        <p:nvSpPr>
          <p:cNvPr id="10" name="Text 7"/>
          <p:cNvSpPr txBox="1"/>
          <p:nvPr/>
        </p:nvSpPr>
        <p:spPr>
          <a:xfrm>
            <a:off x="4160520" y="1609344"/>
            <a:ext cx="3200400" cy="219456"/>
          </a:xfrm>
          <a:prstGeom prst="rect">
            <a:avLst/>
          </a:prstGeom>
          <a:noFill/>
          <a:ln/>
        </p:spPr>
        <p:txBody>
          <a:bodyPr wrap="square" lIns="0" tIns="0" rIns="0" bIns="0" rtlCol="0" anchor="t"/>
          <a:lstStyle/>
          <a:p>
            <a:pPr algn="l" indent="0" marL="0">
              <a:lnSpc>
                <a:spcPct val="100000"/>
              </a:lnSpc>
              <a:buNone/>
            </a:pPr>
            <a:r>
              <a:rPr lang="en-US" sz="950" b="1" spc="80" kern="0" dirty="0">
                <a:solidFill>
                  <a:srgbClr val="D84C4C"/>
                </a:solidFill>
                <a:latin typeface="Aptos" pitchFamily="34" charset="0"/>
                <a:ea typeface="Aptos" pitchFamily="34" charset="-122"/>
                <a:cs typeface="Aptos" pitchFamily="34" charset="-120"/>
              </a:rPr>
              <a:t>TODAY</a:t>
            </a:r>
            <a:endParaRPr lang="en-US" sz="950" dirty="0"/>
          </a:p>
        </p:txBody>
      </p:sp>
      <p:sp>
        <p:nvSpPr>
          <p:cNvPr id="11" name="Text 8"/>
          <p:cNvSpPr txBox="1"/>
          <p:nvPr/>
        </p:nvSpPr>
        <p:spPr>
          <a:xfrm>
            <a:off x="8183880" y="1609344"/>
            <a:ext cx="3474720" cy="219456"/>
          </a:xfrm>
          <a:prstGeom prst="rect">
            <a:avLst/>
          </a:prstGeom>
          <a:noFill/>
          <a:ln/>
        </p:spPr>
        <p:txBody>
          <a:bodyPr wrap="square" lIns="0" tIns="0" rIns="0" bIns="0" rtlCol="0" anchor="t"/>
          <a:lstStyle/>
          <a:p>
            <a:pPr algn="l" indent="0" marL="0">
              <a:lnSpc>
                <a:spcPct val="100000"/>
              </a:lnSpc>
              <a:buNone/>
            </a:pPr>
            <a:r>
              <a:rPr lang="en-US" sz="950" b="1" spc="80" kern="0" dirty="0">
                <a:solidFill>
                  <a:srgbClr val="14A66A"/>
                </a:solidFill>
                <a:latin typeface="Aptos" pitchFamily="34" charset="0"/>
                <a:ea typeface="Aptos" pitchFamily="34" charset="-122"/>
                <a:cs typeface="Aptos" pitchFamily="34" charset="-120"/>
              </a:rPr>
              <a:t>WITH MAXDOCK</a:t>
            </a:r>
            <a:endParaRPr lang="en-US" sz="950" dirty="0"/>
          </a:p>
        </p:txBody>
      </p:sp>
      <p:sp>
        <p:nvSpPr>
          <p:cNvPr id="12" name="Text 9"/>
          <p:cNvSpPr txBox="1"/>
          <p:nvPr/>
        </p:nvSpPr>
        <p:spPr>
          <a:xfrm>
            <a:off x="530352" y="1975104"/>
            <a:ext cx="3429000" cy="932688"/>
          </a:xfrm>
          <a:prstGeom prst="rect">
            <a:avLst/>
          </a:prstGeom>
          <a:noFill/>
          <a:ln/>
        </p:spPr>
        <p:txBody>
          <a:bodyPr wrap="square" lIns="0" tIns="0" rIns="0" bIns="0" rtlCol="0" anchor="ctr"/>
          <a:lstStyle/>
          <a:p>
            <a:pPr algn="l" indent="0" marL="0">
              <a:lnSpc>
                <a:spcPct val="105000"/>
              </a:lnSpc>
              <a:buNone/>
            </a:pPr>
            <a:r>
              <a:rPr lang="en-US" sz="1450" b="1" dirty="0">
                <a:solidFill>
                  <a:srgbClr val="0B1F33"/>
                </a:solidFill>
                <a:latin typeface="Aptos Display" pitchFamily="34" charset="0"/>
                <a:ea typeface="Aptos Display" pitchFamily="34" charset="-122"/>
                <a:cs typeface="Aptos Display" pitchFamily="34" charset="-120"/>
              </a:rPr>
              <a:t>A number you can take away and check</a:t>
            </a:r>
            <a:endParaRPr lang="en-US" sz="1450" dirty="0"/>
          </a:p>
        </p:txBody>
      </p:sp>
      <p:sp>
        <p:nvSpPr>
          <p:cNvPr id="13" name="Shape 10"/>
          <p:cNvSpPr/>
          <p:nvPr/>
        </p:nvSpPr>
        <p:spPr>
          <a:xfrm>
            <a:off x="4160520" y="1975104"/>
            <a:ext cx="3200400" cy="932688"/>
          </a:xfrm>
          <a:prstGeom prst="roundRect">
            <a:avLst>
              <a:gd name="adj" fmla="val 7843"/>
            </a:avLst>
          </a:prstGeom>
          <a:solidFill>
            <a:srgbClr val="E9EFF4"/>
          </a:solidFill>
          <a:ln/>
        </p:spPr>
        <p:txBody>
          <a:bodyPr/>
          <a:p/>
        </p:txBody>
      </p:sp>
      <p:sp>
        <p:nvSpPr>
          <p:cNvPr id="14" name="Text 11"/>
          <p:cNvSpPr txBox="1"/>
          <p:nvPr/>
        </p:nvSpPr>
        <p:spPr>
          <a:xfrm>
            <a:off x="4434840" y="1975104"/>
            <a:ext cx="2651760" cy="932688"/>
          </a:xfrm>
          <a:prstGeom prst="rect">
            <a:avLst/>
          </a:prstGeom>
          <a:noFill/>
          <a:ln/>
        </p:spPr>
        <p:txBody>
          <a:bodyPr wrap="square" lIns="0" tIns="0" rIns="0" bIns="0" rtlCol="0" anchor="ctr"/>
          <a:lstStyle/>
          <a:p>
            <a:pPr algn="l" indent="0" marL="0">
              <a:lnSpc>
                <a:spcPct val="118000"/>
              </a:lnSpc>
              <a:buNone/>
            </a:pPr>
            <a:r>
              <a:rPr lang="en-US" sz="1150" dirty="0">
                <a:solidFill>
                  <a:srgbClr val="6F8491"/>
                </a:solidFill>
                <a:latin typeface="Aptos" pitchFamily="34" charset="0"/>
                <a:ea typeface="Aptos" pitchFamily="34" charset="-122"/>
                <a:cs typeface="Aptos" pitchFamily="34" charset="-120"/>
              </a:rPr>
              <a:t>Copy and paste into a spreadsheet</a:t>
            </a:r>
            <a:endParaRPr lang="en-US" sz="1150" dirty="0"/>
          </a:p>
        </p:txBody>
      </p:sp>
      <p:sp>
        <p:nvSpPr>
          <p:cNvPr id="15" name="Shape 12"/>
          <p:cNvSpPr/>
          <p:nvPr/>
        </p:nvSpPr>
        <p:spPr>
          <a:xfrm>
            <a:off x="7543800" y="2441448"/>
            <a:ext cx="457200" cy="0"/>
          </a:xfrm>
          <a:prstGeom prst="line">
            <a:avLst/>
          </a:prstGeom>
          <a:noFill/>
          <a:ln w="19050">
            <a:solidFill>
              <a:srgbClr val="0877C9"/>
            </a:solidFill>
            <a:prstDash val="solid"/>
            <a:tailEnd type="triangle"/>
          </a:ln>
        </p:spPr>
        <p:txBody>
          <a:bodyPr/>
          <a:p/>
        </p:txBody>
      </p:sp>
      <p:sp>
        <p:nvSpPr>
          <p:cNvPr id="16" name="Shape 13"/>
          <p:cNvSpPr/>
          <p:nvPr/>
        </p:nvSpPr>
        <p:spPr>
          <a:xfrm>
            <a:off x="8183880" y="1975104"/>
            <a:ext cx="3474720" cy="932688"/>
          </a:xfrm>
          <a:prstGeom prst="roundRect">
            <a:avLst>
              <a:gd name="adj" fmla="val 7843"/>
            </a:avLst>
          </a:prstGeom>
          <a:solidFill>
            <a:srgbClr val="E1F3EA"/>
          </a:solidFill>
          <a:ln/>
        </p:spPr>
        <p:txBody>
          <a:bodyPr/>
          <a:p/>
        </p:txBody>
      </p:sp>
      <p:sp>
        <p:nvSpPr>
          <p:cNvPr id="17" name="Text 14"/>
          <p:cNvSpPr txBox="1"/>
          <p:nvPr/>
        </p:nvSpPr>
        <p:spPr>
          <a:xfrm>
            <a:off x="8458200" y="1975104"/>
            <a:ext cx="2926080" cy="932688"/>
          </a:xfrm>
          <a:prstGeom prst="rect">
            <a:avLst/>
          </a:prstGeom>
          <a:noFill/>
          <a:ln/>
        </p:spPr>
        <p:txBody>
          <a:bodyPr wrap="square" lIns="0" tIns="0" rIns="0" bIns="0" rtlCol="0" anchor="ctr"/>
          <a:lstStyle/>
          <a:p>
            <a:pPr algn="l" indent="0" marL="0">
              <a:lnSpc>
                <a:spcPct val="120000"/>
              </a:lnSpc>
              <a:buNone/>
            </a:pPr>
            <a:r>
              <a:rPr lang="en-US" sz="1150" b="1" dirty="0">
                <a:solidFill>
                  <a:srgbClr val="10603F"/>
                </a:solidFill>
                <a:latin typeface="Aptos" pitchFamily="34" charset="0"/>
                <a:ea typeface="Aptos" pitchFamily="34" charset="-122"/>
                <a:cs typeface="Aptos" pitchFamily="34" charset="-120"/>
              </a:rPr>
              <a:t>Export on every screen that holds data</a:t>
            </a:r>
            <a:endParaRPr lang="en-US" sz="1150" dirty="0"/>
          </a:p>
          <a:p>
            <a:pPr algn="l" indent="0" marL="0">
              <a:lnSpc>
                <a:spcPct val="120000"/>
              </a:lnSpc>
              <a:buNone/>
            </a:pPr>
            <a:r>
              <a:rPr lang="en-US" sz="950" b="1" spc="60" kern="0" dirty="0">
                <a:solidFill>
                  <a:srgbClr val="14A66A"/>
                </a:solidFill>
                <a:latin typeface="Aptos" pitchFamily="34" charset="0"/>
                <a:ea typeface="Aptos" pitchFamily="34" charset="-122"/>
                <a:cs typeface="Aptos" pitchFamily="34" charset="-120"/>
              </a:rPr>
              <a:t>Working now</a:t>
            </a:r>
            <a:endParaRPr lang="en-US" sz="1150" dirty="0"/>
          </a:p>
        </p:txBody>
      </p:sp>
      <p:sp>
        <p:nvSpPr>
          <p:cNvPr id="18" name="Shape 15"/>
          <p:cNvSpPr/>
          <p:nvPr/>
        </p:nvSpPr>
        <p:spPr>
          <a:xfrm>
            <a:off x="530352" y="3090672"/>
            <a:ext cx="11130991" cy="0"/>
          </a:xfrm>
          <a:prstGeom prst="line">
            <a:avLst/>
          </a:prstGeom>
          <a:noFill/>
          <a:ln w="9525">
            <a:solidFill>
              <a:srgbClr val="E7EDF1"/>
            </a:solidFill>
            <a:prstDash val="solid"/>
          </a:ln>
        </p:spPr>
        <p:txBody>
          <a:bodyPr/>
          <a:p/>
        </p:txBody>
      </p:sp>
      <p:sp>
        <p:nvSpPr>
          <p:cNvPr id="19" name="Text 16"/>
          <p:cNvSpPr txBox="1"/>
          <p:nvPr/>
        </p:nvSpPr>
        <p:spPr>
          <a:xfrm>
            <a:off x="530352" y="3218688"/>
            <a:ext cx="3429000" cy="932688"/>
          </a:xfrm>
          <a:prstGeom prst="rect">
            <a:avLst/>
          </a:prstGeom>
          <a:noFill/>
          <a:ln/>
        </p:spPr>
        <p:txBody>
          <a:bodyPr wrap="square" lIns="0" tIns="0" rIns="0" bIns="0" rtlCol="0" anchor="ctr"/>
          <a:lstStyle/>
          <a:p>
            <a:pPr algn="l" indent="0" marL="0">
              <a:lnSpc>
                <a:spcPct val="105000"/>
              </a:lnSpc>
              <a:buNone/>
            </a:pPr>
            <a:r>
              <a:rPr lang="en-US" sz="1450" b="1" dirty="0">
                <a:solidFill>
                  <a:srgbClr val="0B1F33"/>
                </a:solidFill>
                <a:latin typeface="Aptos Display" pitchFamily="34" charset="0"/>
                <a:ea typeface="Aptos Display" pitchFamily="34" charset="-122"/>
                <a:cs typeface="Aptos Display" pitchFamily="34" charset="-120"/>
              </a:rPr>
              <a:t>Reconstructing what happened on Tuesday</a:t>
            </a:r>
            <a:endParaRPr lang="en-US" sz="1450" dirty="0"/>
          </a:p>
        </p:txBody>
      </p:sp>
      <p:sp>
        <p:nvSpPr>
          <p:cNvPr id="20" name="Shape 17"/>
          <p:cNvSpPr/>
          <p:nvPr/>
        </p:nvSpPr>
        <p:spPr>
          <a:xfrm>
            <a:off x="4160520" y="3218688"/>
            <a:ext cx="3200400" cy="932688"/>
          </a:xfrm>
          <a:prstGeom prst="roundRect">
            <a:avLst>
              <a:gd name="adj" fmla="val 7843"/>
            </a:avLst>
          </a:prstGeom>
          <a:solidFill>
            <a:srgbClr val="E9EFF4"/>
          </a:solidFill>
          <a:ln/>
        </p:spPr>
        <p:txBody>
          <a:bodyPr/>
          <a:p/>
        </p:txBody>
      </p:sp>
      <p:sp>
        <p:nvSpPr>
          <p:cNvPr id="21" name="Text 18"/>
          <p:cNvSpPr txBox="1"/>
          <p:nvPr/>
        </p:nvSpPr>
        <p:spPr>
          <a:xfrm>
            <a:off x="4434840" y="3218688"/>
            <a:ext cx="2651760" cy="932688"/>
          </a:xfrm>
          <a:prstGeom prst="rect">
            <a:avLst/>
          </a:prstGeom>
          <a:noFill/>
          <a:ln/>
        </p:spPr>
        <p:txBody>
          <a:bodyPr wrap="square" lIns="0" tIns="0" rIns="0" bIns="0" rtlCol="0" anchor="ctr"/>
          <a:lstStyle/>
          <a:p>
            <a:pPr algn="l" indent="0" marL="0">
              <a:lnSpc>
                <a:spcPct val="118000"/>
              </a:lnSpc>
              <a:buNone/>
            </a:pPr>
            <a:r>
              <a:rPr lang="en-US" sz="1150" dirty="0">
                <a:solidFill>
                  <a:srgbClr val="6F8491"/>
                </a:solidFill>
                <a:latin typeface="Aptos" pitchFamily="34" charset="0"/>
                <a:ea typeface="Aptos" pitchFamily="34" charset="-122"/>
                <a:cs typeface="Aptos" pitchFamily="34" charset="-120"/>
              </a:rPr>
              <a:t>Memory, and the whiteboard was wiped</a:t>
            </a:r>
            <a:endParaRPr lang="en-US" sz="1150" dirty="0"/>
          </a:p>
        </p:txBody>
      </p:sp>
      <p:sp>
        <p:nvSpPr>
          <p:cNvPr id="22" name="Shape 19"/>
          <p:cNvSpPr/>
          <p:nvPr/>
        </p:nvSpPr>
        <p:spPr>
          <a:xfrm>
            <a:off x="7543800" y="3685032"/>
            <a:ext cx="457200" cy="0"/>
          </a:xfrm>
          <a:prstGeom prst="line">
            <a:avLst/>
          </a:prstGeom>
          <a:noFill/>
          <a:ln w="19050">
            <a:solidFill>
              <a:srgbClr val="0877C9"/>
            </a:solidFill>
            <a:prstDash val="solid"/>
            <a:tailEnd type="triangle"/>
          </a:ln>
        </p:spPr>
        <p:txBody>
          <a:bodyPr/>
          <a:p/>
        </p:txBody>
      </p:sp>
      <p:sp>
        <p:nvSpPr>
          <p:cNvPr id="23" name="Shape 20"/>
          <p:cNvSpPr/>
          <p:nvPr/>
        </p:nvSpPr>
        <p:spPr>
          <a:xfrm>
            <a:off x="8183880" y="3218688"/>
            <a:ext cx="3474720" cy="932688"/>
          </a:xfrm>
          <a:prstGeom prst="roundRect">
            <a:avLst>
              <a:gd name="adj" fmla="val 7843"/>
            </a:avLst>
          </a:prstGeom>
          <a:solidFill>
            <a:srgbClr val="E1F3EA"/>
          </a:solidFill>
          <a:ln/>
        </p:spPr>
        <p:txBody>
          <a:bodyPr/>
          <a:p/>
        </p:txBody>
      </p:sp>
      <p:sp>
        <p:nvSpPr>
          <p:cNvPr id="24" name="Text 21"/>
          <p:cNvSpPr txBox="1"/>
          <p:nvPr/>
        </p:nvSpPr>
        <p:spPr>
          <a:xfrm>
            <a:off x="8458200" y="3218688"/>
            <a:ext cx="2926080" cy="932688"/>
          </a:xfrm>
          <a:prstGeom prst="rect">
            <a:avLst/>
          </a:prstGeom>
          <a:noFill/>
          <a:ln/>
        </p:spPr>
        <p:txBody>
          <a:bodyPr wrap="square" lIns="0" tIns="0" rIns="0" bIns="0" rtlCol="0" anchor="ctr"/>
          <a:lstStyle/>
          <a:p>
            <a:pPr algn="l" indent="0" marL="0">
              <a:lnSpc>
                <a:spcPct val="120000"/>
              </a:lnSpc>
              <a:buNone/>
            </a:pPr>
            <a:r>
              <a:rPr lang="en-US" sz="1150" b="1" dirty="0">
                <a:solidFill>
                  <a:srgbClr val="10603F"/>
                </a:solidFill>
                <a:latin typeface="Aptos" pitchFamily="34" charset="0"/>
                <a:ea typeface="Aptos" pitchFamily="34" charset="-122"/>
                <a:cs typeface="Aptos" pitchFamily="34" charset="-120"/>
              </a:rPr>
              <a:t>Full audit history behind every load</a:t>
            </a:r>
            <a:endParaRPr lang="en-US" sz="1150" dirty="0"/>
          </a:p>
          <a:p>
            <a:pPr algn="l" indent="0" marL="0">
              <a:lnSpc>
                <a:spcPct val="120000"/>
              </a:lnSpc>
              <a:buNone/>
            </a:pPr>
            <a:r>
              <a:rPr lang="en-US" sz="950" b="1" spc="60" kern="0" dirty="0">
                <a:solidFill>
                  <a:srgbClr val="14A66A"/>
                </a:solidFill>
                <a:latin typeface="Aptos" pitchFamily="34" charset="0"/>
                <a:ea typeface="Aptos" pitchFamily="34" charset="-122"/>
                <a:cs typeface="Aptos" pitchFamily="34" charset="-120"/>
              </a:rPr>
              <a:t>Working now</a:t>
            </a:r>
            <a:endParaRPr lang="en-US" sz="1150" dirty="0"/>
          </a:p>
        </p:txBody>
      </p:sp>
      <p:sp>
        <p:nvSpPr>
          <p:cNvPr id="25" name="Shape 22"/>
          <p:cNvSpPr/>
          <p:nvPr/>
        </p:nvSpPr>
        <p:spPr>
          <a:xfrm>
            <a:off x="530352" y="4334256"/>
            <a:ext cx="11130991" cy="0"/>
          </a:xfrm>
          <a:prstGeom prst="line">
            <a:avLst/>
          </a:prstGeom>
          <a:noFill/>
          <a:ln w="9525">
            <a:solidFill>
              <a:srgbClr val="E7EDF1"/>
            </a:solidFill>
            <a:prstDash val="solid"/>
          </a:ln>
        </p:spPr>
        <p:txBody>
          <a:bodyPr/>
          <a:p/>
        </p:txBody>
      </p:sp>
      <p:sp>
        <p:nvSpPr>
          <p:cNvPr id="26" name="Text 23"/>
          <p:cNvSpPr txBox="1"/>
          <p:nvPr/>
        </p:nvSpPr>
        <p:spPr>
          <a:xfrm>
            <a:off x="530352" y="4462272"/>
            <a:ext cx="3429000" cy="932688"/>
          </a:xfrm>
          <a:prstGeom prst="rect">
            <a:avLst/>
          </a:prstGeom>
          <a:noFill/>
          <a:ln/>
        </p:spPr>
        <p:txBody>
          <a:bodyPr wrap="square" lIns="0" tIns="0" rIns="0" bIns="0" rtlCol="0" anchor="ctr"/>
          <a:lstStyle/>
          <a:p>
            <a:pPr algn="l" indent="0" marL="0">
              <a:lnSpc>
                <a:spcPct val="105000"/>
              </a:lnSpc>
              <a:buNone/>
            </a:pPr>
            <a:r>
              <a:rPr lang="en-US" sz="1450" b="1" dirty="0">
                <a:solidFill>
                  <a:srgbClr val="0B1F33"/>
                </a:solidFill>
                <a:latin typeface="Aptos Display" pitchFamily="34" charset="0"/>
                <a:ea typeface="Aptos Display" pitchFamily="34" charset="-122"/>
                <a:cs typeface="Aptos Display" pitchFamily="34" charset="-120"/>
              </a:rPr>
              <a:t>Knowing a truck is at the wrong plant</a:t>
            </a:r>
            <a:endParaRPr lang="en-US" sz="1450" dirty="0"/>
          </a:p>
        </p:txBody>
      </p:sp>
      <p:sp>
        <p:nvSpPr>
          <p:cNvPr id="27" name="Shape 24"/>
          <p:cNvSpPr/>
          <p:nvPr/>
        </p:nvSpPr>
        <p:spPr>
          <a:xfrm>
            <a:off x="4160520" y="4462272"/>
            <a:ext cx="3200400" cy="932688"/>
          </a:xfrm>
          <a:prstGeom prst="roundRect">
            <a:avLst>
              <a:gd name="adj" fmla="val 7843"/>
            </a:avLst>
          </a:prstGeom>
          <a:solidFill>
            <a:srgbClr val="E9EFF4"/>
          </a:solidFill>
          <a:ln/>
        </p:spPr>
        <p:txBody>
          <a:bodyPr/>
          <a:p/>
        </p:txBody>
      </p:sp>
      <p:sp>
        <p:nvSpPr>
          <p:cNvPr id="28" name="Text 25"/>
          <p:cNvSpPr txBox="1"/>
          <p:nvPr/>
        </p:nvSpPr>
        <p:spPr>
          <a:xfrm>
            <a:off x="4434840" y="4462272"/>
            <a:ext cx="2651760" cy="932688"/>
          </a:xfrm>
          <a:prstGeom prst="rect">
            <a:avLst/>
          </a:prstGeom>
          <a:noFill/>
          <a:ln/>
        </p:spPr>
        <p:txBody>
          <a:bodyPr wrap="square" lIns="0" tIns="0" rIns="0" bIns="0" rtlCol="0" anchor="ctr"/>
          <a:lstStyle/>
          <a:p>
            <a:pPr algn="l" indent="0" marL="0">
              <a:lnSpc>
                <a:spcPct val="118000"/>
              </a:lnSpc>
              <a:buNone/>
            </a:pPr>
            <a:r>
              <a:rPr lang="en-US" sz="1150" dirty="0">
                <a:solidFill>
                  <a:srgbClr val="6F8491"/>
                </a:solidFill>
                <a:latin typeface="Aptos" pitchFamily="34" charset="0"/>
                <a:ea typeface="Aptos" pitchFamily="34" charset="-122"/>
                <a:cs typeface="Aptos" pitchFamily="34" charset="-120"/>
              </a:rPr>
              <a:t>Found out at the door, then a phone call</a:t>
            </a:r>
            <a:endParaRPr lang="en-US" sz="1150" dirty="0"/>
          </a:p>
        </p:txBody>
      </p:sp>
      <p:sp>
        <p:nvSpPr>
          <p:cNvPr id="29" name="Shape 26"/>
          <p:cNvSpPr/>
          <p:nvPr/>
        </p:nvSpPr>
        <p:spPr>
          <a:xfrm>
            <a:off x="7543800" y="4928616"/>
            <a:ext cx="457200" cy="0"/>
          </a:xfrm>
          <a:prstGeom prst="line">
            <a:avLst/>
          </a:prstGeom>
          <a:noFill/>
          <a:ln w="19050">
            <a:solidFill>
              <a:srgbClr val="0877C9"/>
            </a:solidFill>
            <a:prstDash val="solid"/>
            <a:tailEnd type="triangle"/>
          </a:ln>
        </p:spPr>
        <p:txBody>
          <a:bodyPr/>
          <a:p/>
        </p:txBody>
      </p:sp>
      <p:sp>
        <p:nvSpPr>
          <p:cNvPr id="30" name="Shape 27"/>
          <p:cNvSpPr/>
          <p:nvPr/>
        </p:nvSpPr>
        <p:spPr>
          <a:xfrm>
            <a:off x="8183880" y="4462272"/>
            <a:ext cx="3474720" cy="932688"/>
          </a:xfrm>
          <a:prstGeom prst="roundRect">
            <a:avLst>
              <a:gd name="adj" fmla="val 7843"/>
            </a:avLst>
          </a:prstGeom>
          <a:solidFill>
            <a:srgbClr val="E1F3EA"/>
          </a:solidFill>
          <a:ln/>
        </p:spPr>
        <p:txBody>
          <a:bodyPr/>
          <a:p/>
        </p:txBody>
      </p:sp>
      <p:sp>
        <p:nvSpPr>
          <p:cNvPr id="31" name="Text 28"/>
          <p:cNvSpPr txBox="1"/>
          <p:nvPr/>
        </p:nvSpPr>
        <p:spPr>
          <a:xfrm>
            <a:off x="8458200" y="4462272"/>
            <a:ext cx="2926080" cy="932688"/>
          </a:xfrm>
          <a:prstGeom prst="rect">
            <a:avLst/>
          </a:prstGeom>
          <a:noFill/>
          <a:ln/>
        </p:spPr>
        <p:txBody>
          <a:bodyPr wrap="square" lIns="0" tIns="0" rIns="0" bIns="0" rtlCol="0" anchor="ctr"/>
          <a:lstStyle/>
          <a:p>
            <a:pPr algn="l" indent="0" marL="0">
              <a:lnSpc>
                <a:spcPct val="120000"/>
              </a:lnSpc>
              <a:buNone/>
            </a:pPr>
            <a:r>
              <a:rPr lang="en-US" sz="1150" b="1" dirty="0">
                <a:solidFill>
                  <a:srgbClr val="10603F"/>
                </a:solidFill>
                <a:latin typeface="Aptos" pitchFamily="34" charset="0"/>
                <a:ea typeface="Aptos" pitchFamily="34" charset="-122"/>
                <a:cs typeface="Aptos" pitchFamily="34" charset="-120"/>
              </a:rPr>
              <a:t>The phone names the site it belongs to</a:t>
            </a:r>
            <a:endParaRPr lang="en-US" sz="1150" dirty="0"/>
          </a:p>
          <a:p>
            <a:pPr algn="l" indent="0" marL="0">
              <a:lnSpc>
                <a:spcPct val="120000"/>
              </a:lnSpc>
              <a:buNone/>
            </a:pPr>
            <a:r>
              <a:rPr lang="en-US" sz="950" b="1" spc="60" kern="0" dirty="0">
                <a:solidFill>
                  <a:srgbClr val="14A66A"/>
                </a:solidFill>
                <a:latin typeface="Aptos" pitchFamily="34" charset="0"/>
                <a:ea typeface="Aptos" pitchFamily="34" charset="-122"/>
                <a:cs typeface="Aptos" pitchFamily="34" charset="-120"/>
              </a:rPr>
              <a:t>Working now</a:t>
            </a:r>
            <a:endParaRPr lang="en-US" sz="1150" dirty="0"/>
          </a:p>
        </p:txBody>
      </p:sp>
      <p:sp>
        <p:nvSpPr>
          <p:cNvPr id="32" name="Shape 29"/>
          <p:cNvSpPr/>
          <p:nvPr/>
        </p:nvSpPr>
        <p:spPr>
          <a:xfrm>
            <a:off x="530352" y="5632704"/>
            <a:ext cx="11130991" cy="694944"/>
          </a:xfrm>
          <a:prstGeom prst="roundRect">
            <a:avLst>
              <a:gd name="adj" fmla="val 10526"/>
            </a:avLst>
          </a:prstGeom>
          <a:solidFill>
            <a:srgbClr val="072238"/>
          </a:solidFill>
          <a:ln/>
        </p:spPr>
        <p:txBody>
          <a:bodyPr/>
          <a:p/>
        </p:txBody>
      </p:sp>
      <p:sp>
        <p:nvSpPr>
          <p:cNvPr id="33" name="Text 30"/>
          <p:cNvSpPr txBox="1"/>
          <p:nvPr/>
        </p:nvSpPr>
        <p:spPr>
          <a:xfrm>
            <a:off x="877824" y="5779008"/>
            <a:ext cx="10436047" cy="402336"/>
          </a:xfrm>
          <a:prstGeom prst="rect">
            <a:avLst/>
          </a:prstGeom>
          <a:noFill/>
          <a:ln/>
        </p:spPr>
        <p:txBody>
          <a:bodyPr wrap="square" lIns="0" tIns="0" rIns="0" bIns="0" rtlCol="0" anchor="ctr"/>
          <a:lstStyle/>
          <a:p>
            <a:pPr algn="l" indent="0" marL="0">
              <a:lnSpc>
                <a:spcPct val="115000"/>
              </a:lnSpc>
              <a:buNone/>
            </a:pPr>
            <a:r>
              <a:rPr lang="en-US" sz="1300" b="1" dirty="0">
                <a:solidFill>
                  <a:srgbClr val="FFFFFF"/>
                </a:solidFill>
                <a:latin typeface="Aptos" pitchFamily="34" charset="0"/>
                <a:ea typeface="Aptos" pitchFamily="34" charset="-122"/>
                <a:cs typeface="Aptos" pitchFamily="34" charset="-120"/>
              </a:rPr>
              <a:t>None of these needed inventing. They needed a system for the answer to live in.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30</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COMPARED WITH WHAT IS ON THE MARKET</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Where MaxDock is different.</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Established products treat every site as an island, and never look inside the trailer.</a:t>
            </a:r>
            <a:endParaRPr lang="en-US" sz="1200" dirty="0"/>
          </a:p>
        </p:txBody>
      </p:sp>
      <p:sp>
        <p:nvSpPr>
          <p:cNvPr id="10" name="Text 7"/>
          <p:cNvSpPr txBox="1"/>
          <p:nvPr/>
        </p:nvSpPr>
        <p:spPr>
          <a:xfrm>
            <a:off x="6720840" y="1591056"/>
            <a:ext cx="2194560" cy="219456"/>
          </a:xfrm>
          <a:prstGeom prst="rect">
            <a:avLst/>
          </a:prstGeom>
          <a:noFill/>
          <a:ln/>
        </p:spPr>
        <p:txBody>
          <a:bodyPr wrap="square" lIns="0" tIns="0" rIns="0" bIns="0" rtlCol="0" anchor="t"/>
          <a:lstStyle/>
          <a:p>
            <a:pPr algn="ctr" indent="0" marL="0">
              <a:lnSpc>
                <a:spcPct val="100000"/>
              </a:lnSpc>
              <a:buNone/>
            </a:pPr>
            <a:r>
              <a:rPr lang="en-US" sz="950" b="1" spc="80" kern="0" dirty="0">
                <a:solidFill>
                  <a:srgbClr val="14A66A"/>
                </a:solidFill>
                <a:latin typeface="Aptos" pitchFamily="34" charset="0"/>
                <a:ea typeface="Aptos" pitchFamily="34" charset="-122"/>
                <a:cs typeface="Aptos" pitchFamily="34" charset="-120"/>
              </a:rPr>
              <a:t>MAXDOCK</a:t>
            </a:r>
            <a:endParaRPr lang="en-US" sz="950" dirty="0"/>
          </a:p>
        </p:txBody>
      </p:sp>
      <p:sp>
        <p:nvSpPr>
          <p:cNvPr id="11" name="Text 8"/>
          <p:cNvSpPr txBox="1"/>
          <p:nvPr/>
        </p:nvSpPr>
        <p:spPr>
          <a:xfrm>
            <a:off x="9189720" y="1591056"/>
            <a:ext cx="2468880" cy="219456"/>
          </a:xfrm>
          <a:prstGeom prst="rect">
            <a:avLst/>
          </a:prstGeom>
          <a:noFill/>
          <a:ln/>
        </p:spPr>
        <p:txBody>
          <a:bodyPr wrap="square" lIns="0" tIns="0" rIns="0" bIns="0" rtlCol="0" anchor="t"/>
          <a:lstStyle/>
          <a:p>
            <a:pPr algn="ctr" indent="0" marL="0">
              <a:lnSpc>
                <a:spcPct val="100000"/>
              </a:lnSpc>
              <a:buNone/>
            </a:pPr>
            <a:r>
              <a:rPr lang="en-US" sz="950" b="1" spc="80" kern="0" dirty="0">
                <a:solidFill>
                  <a:srgbClr val="6F8491"/>
                </a:solidFill>
                <a:latin typeface="Aptos" pitchFamily="34" charset="0"/>
                <a:ea typeface="Aptos" pitchFamily="34" charset="-122"/>
                <a:cs typeface="Aptos" pitchFamily="34" charset="-120"/>
              </a:rPr>
              <a:t>THE MARKET</a:t>
            </a:r>
            <a:endParaRPr lang="en-US" sz="950" dirty="0"/>
          </a:p>
        </p:txBody>
      </p:sp>
      <p:sp>
        <p:nvSpPr>
          <p:cNvPr id="12" name="Text 9"/>
          <p:cNvSpPr txBox="1"/>
          <p:nvPr/>
        </p:nvSpPr>
        <p:spPr>
          <a:xfrm>
            <a:off x="530352" y="1975104"/>
            <a:ext cx="5943600" cy="329184"/>
          </a:xfrm>
          <a:prstGeom prst="rect">
            <a:avLst/>
          </a:prstGeom>
          <a:noFill/>
          <a:ln/>
        </p:spPr>
        <p:txBody>
          <a:bodyPr wrap="square" lIns="0" tIns="0" rIns="0" bIns="0" rtlCol="0" anchor="t"/>
          <a:lstStyle/>
          <a:p>
            <a:pPr algn="l" indent="0" marL="0">
              <a:lnSpc>
                <a:spcPct val="100000"/>
              </a:lnSpc>
              <a:buNone/>
            </a:pPr>
            <a:r>
              <a:rPr lang="en-US" sz="1350" b="1" dirty="0">
                <a:solidFill>
                  <a:srgbClr val="0B1F33"/>
                </a:solidFill>
                <a:latin typeface="Aptos Display" pitchFamily="34" charset="0"/>
                <a:ea typeface="Aptos Display" pitchFamily="34" charset="-122"/>
                <a:cs typeface="Aptos Display" pitchFamily="34" charset="-120"/>
              </a:rPr>
              <a:t>Load combining onto one truck</a:t>
            </a:r>
            <a:endParaRPr lang="en-US" sz="1350" dirty="0"/>
          </a:p>
        </p:txBody>
      </p:sp>
      <p:sp>
        <p:nvSpPr>
          <p:cNvPr id="13" name="Shape 10"/>
          <p:cNvSpPr/>
          <p:nvPr/>
        </p:nvSpPr>
        <p:spPr>
          <a:xfrm>
            <a:off x="6720840" y="1901952"/>
            <a:ext cx="2194560" cy="457200"/>
          </a:xfrm>
          <a:prstGeom prst="roundRect">
            <a:avLst>
              <a:gd name="adj" fmla="val 12000"/>
            </a:avLst>
          </a:prstGeom>
          <a:solidFill>
            <a:srgbClr val="E1F3EA"/>
          </a:solidFill>
          <a:ln/>
        </p:spPr>
        <p:txBody>
          <a:bodyPr/>
          <a:p/>
        </p:txBody>
      </p:sp>
      <p:sp>
        <p:nvSpPr>
          <p:cNvPr id="14" name="Text 11"/>
          <p:cNvSpPr txBox="1"/>
          <p:nvPr/>
        </p:nvSpPr>
        <p:spPr>
          <a:xfrm>
            <a:off x="6720840" y="2029968"/>
            <a:ext cx="2194560" cy="201168"/>
          </a:xfrm>
          <a:prstGeom prst="rect">
            <a:avLst/>
          </a:prstGeom>
          <a:noFill/>
          <a:ln/>
        </p:spPr>
        <p:txBody>
          <a:bodyPr wrap="square" lIns="0" tIns="0" rIns="0" bIns="0" rtlCol="0" anchor="t"/>
          <a:lstStyle/>
          <a:p>
            <a:pPr algn="ctr" indent="0" marL="0">
              <a:lnSpc>
                <a:spcPct val="100000"/>
              </a:lnSpc>
              <a:buNone/>
            </a:pPr>
            <a:r>
              <a:rPr lang="en-US" sz="1150" b="1" dirty="0">
                <a:solidFill>
                  <a:srgbClr val="10603F"/>
                </a:solidFill>
                <a:latin typeface="Aptos" pitchFamily="34" charset="0"/>
                <a:ea typeface="Aptos" pitchFamily="34" charset="-122"/>
                <a:cs typeface="Aptos" pitchFamily="34" charset="-120"/>
              </a:rPr>
              <a:t>Yes</a:t>
            </a:r>
            <a:endParaRPr lang="en-US" sz="1150" dirty="0"/>
          </a:p>
        </p:txBody>
      </p:sp>
      <p:sp>
        <p:nvSpPr>
          <p:cNvPr id="15" name="Shape 12"/>
          <p:cNvSpPr/>
          <p:nvPr/>
        </p:nvSpPr>
        <p:spPr>
          <a:xfrm>
            <a:off x="9189720" y="1901952"/>
            <a:ext cx="2468880" cy="457200"/>
          </a:xfrm>
          <a:prstGeom prst="roundRect">
            <a:avLst>
              <a:gd name="adj" fmla="val 12000"/>
            </a:avLst>
          </a:prstGeom>
          <a:solidFill>
            <a:srgbClr val="FAE7E7"/>
          </a:solidFill>
          <a:ln/>
        </p:spPr>
        <p:txBody>
          <a:bodyPr/>
          <a:p/>
        </p:txBody>
      </p:sp>
      <p:sp>
        <p:nvSpPr>
          <p:cNvPr id="16" name="Text 13"/>
          <p:cNvSpPr txBox="1"/>
          <p:nvPr/>
        </p:nvSpPr>
        <p:spPr>
          <a:xfrm>
            <a:off x="9189720" y="2029968"/>
            <a:ext cx="2468880" cy="201168"/>
          </a:xfrm>
          <a:prstGeom prst="rect">
            <a:avLst/>
          </a:prstGeom>
          <a:noFill/>
          <a:ln/>
        </p:spPr>
        <p:txBody>
          <a:bodyPr wrap="square" lIns="0" tIns="0" rIns="0" bIns="0" rtlCol="0" anchor="t"/>
          <a:lstStyle/>
          <a:p>
            <a:pPr algn="ctr" indent="0" marL="0">
              <a:lnSpc>
                <a:spcPct val="100000"/>
              </a:lnSpc>
              <a:buNone/>
            </a:pPr>
            <a:r>
              <a:rPr lang="en-US" sz="1150" b="1" dirty="0">
                <a:solidFill>
                  <a:srgbClr val="8E2F2F"/>
                </a:solidFill>
                <a:latin typeface="Aptos" pitchFamily="34" charset="0"/>
                <a:ea typeface="Aptos" pitchFamily="34" charset="-122"/>
                <a:cs typeface="Aptos" pitchFamily="34" charset="-120"/>
              </a:rPr>
              <a:t>No</a:t>
            </a:r>
            <a:endParaRPr lang="en-US" sz="1150" dirty="0"/>
          </a:p>
        </p:txBody>
      </p:sp>
      <p:sp>
        <p:nvSpPr>
          <p:cNvPr id="17" name="Shape 14"/>
          <p:cNvSpPr/>
          <p:nvPr/>
        </p:nvSpPr>
        <p:spPr>
          <a:xfrm>
            <a:off x="530352" y="2432304"/>
            <a:ext cx="11130991" cy="0"/>
          </a:xfrm>
          <a:prstGeom prst="line">
            <a:avLst/>
          </a:prstGeom>
          <a:noFill/>
          <a:ln w="9525">
            <a:solidFill>
              <a:srgbClr val="E7EDF1"/>
            </a:solidFill>
            <a:prstDash val="solid"/>
          </a:ln>
        </p:spPr>
        <p:txBody>
          <a:bodyPr/>
          <a:p/>
        </p:txBody>
      </p:sp>
      <p:sp>
        <p:nvSpPr>
          <p:cNvPr id="18" name="Text 15"/>
          <p:cNvSpPr txBox="1"/>
          <p:nvPr/>
        </p:nvSpPr>
        <p:spPr>
          <a:xfrm>
            <a:off x="530352" y="2610612"/>
            <a:ext cx="5943600" cy="329184"/>
          </a:xfrm>
          <a:prstGeom prst="rect">
            <a:avLst/>
          </a:prstGeom>
          <a:noFill/>
          <a:ln/>
        </p:spPr>
        <p:txBody>
          <a:bodyPr wrap="square" lIns="0" tIns="0" rIns="0" bIns="0" rtlCol="0" anchor="t"/>
          <a:lstStyle/>
          <a:p>
            <a:pPr algn="l" indent="0" marL="0">
              <a:lnSpc>
                <a:spcPct val="100000"/>
              </a:lnSpc>
              <a:buNone/>
            </a:pPr>
            <a:r>
              <a:rPr lang="en-US" sz="1350" b="1" dirty="0">
                <a:solidFill>
                  <a:srgbClr val="0B1F33"/>
                </a:solidFill>
                <a:latin typeface="Aptos Display" pitchFamily="34" charset="0"/>
                <a:ea typeface="Aptos Display" pitchFamily="34" charset="-122"/>
                <a:cs typeface="Aptos Display" pitchFamily="34" charset="-120"/>
              </a:rPr>
              <a:t>Bigger trailer offered when it will not fit</a:t>
            </a:r>
            <a:endParaRPr lang="en-US" sz="1350" dirty="0"/>
          </a:p>
        </p:txBody>
      </p:sp>
      <p:sp>
        <p:nvSpPr>
          <p:cNvPr id="19" name="Shape 16"/>
          <p:cNvSpPr/>
          <p:nvPr/>
        </p:nvSpPr>
        <p:spPr>
          <a:xfrm>
            <a:off x="6720840" y="2537460"/>
            <a:ext cx="2194560" cy="457200"/>
          </a:xfrm>
          <a:prstGeom prst="roundRect">
            <a:avLst>
              <a:gd name="adj" fmla="val 12000"/>
            </a:avLst>
          </a:prstGeom>
          <a:solidFill>
            <a:srgbClr val="E1F3EA"/>
          </a:solidFill>
          <a:ln/>
        </p:spPr>
        <p:txBody>
          <a:bodyPr/>
          <a:p/>
        </p:txBody>
      </p:sp>
      <p:sp>
        <p:nvSpPr>
          <p:cNvPr id="20" name="Text 17"/>
          <p:cNvSpPr txBox="1"/>
          <p:nvPr/>
        </p:nvSpPr>
        <p:spPr>
          <a:xfrm>
            <a:off x="6720840" y="2665476"/>
            <a:ext cx="2194560" cy="201168"/>
          </a:xfrm>
          <a:prstGeom prst="rect">
            <a:avLst/>
          </a:prstGeom>
          <a:noFill/>
          <a:ln/>
        </p:spPr>
        <p:txBody>
          <a:bodyPr wrap="square" lIns="0" tIns="0" rIns="0" bIns="0" rtlCol="0" anchor="t"/>
          <a:lstStyle/>
          <a:p>
            <a:pPr algn="ctr" indent="0" marL="0">
              <a:lnSpc>
                <a:spcPct val="100000"/>
              </a:lnSpc>
              <a:buNone/>
            </a:pPr>
            <a:r>
              <a:rPr lang="en-US" sz="1150" b="1" dirty="0">
                <a:solidFill>
                  <a:srgbClr val="10603F"/>
                </a:solidFill>
                <a:latin typeface="Aptos" pitchFamily="34" charset="0"/>
                <a:ea typeface="Aptos" pitchFamily="34" charset="-122"/>
                <a:cs typeface="Aptos" pitchFamily="34" charset="-120"/>
              </a:rPr>
              <a:t>Yes</a:t>
            </a:r>
            <a:endParaRPr lang="en-US" sz="1150" dirty="0"/>
          </a:p>
        </p:txBody>
      </p:sp>
      <p:sp>
        <p:nvSpPr>
          <p:cNvPr id="21" name="Shape 18"/>
          <p:cNvSpPr/>
          <p:nvPr/>
        </p:nvSpPr>
        <p:spPr>
          <a:xfrm>
            <a:off x="9189720" y="2537460"/>
            <a:ext cx="2468880" cy="457200"/>
          </a:xfrm>
          <a:prstGeom prst="roundRect">
            <a:avLst>
              <a:gd name="adj" fmla="val 12000"/>
            </a:avLst>
          </a:prstGeom>
          <a:solidFill>
            <a:srgbClr val="FAE7E7"/>
          </a:solidFill>
          <a:ln/>
        </p:spPr>
        <p:txBody>
          <a:bodyPr/>
          <a:p/>
        </p:txBody>
      </p:sp>
      <p:sp>
        <p:nvSpPr>
          <p:cNvPr id="22" name="Text 19"/>
          <p:cNvSpPr txBox="1"/>
          <p:nvPr/>
        </p:nvSpPr>
        <p:spPr>
          <a:xfrm>
            <a:off x="9189720" y="2665476"/>
            <a:ext cx="2468880" cy="201168"/>
          </a:xfrm>
          <a:prstGeom prst="rect">
            <a:avLst/>
          </a:prstGeom>
          <a:noFill/>
          <a:ln/>
        </p:spPr>
        <p:txBody>
          <a:bodyPr wrap="square" lIns="0" tIns="0" rIns="0" bIns="0" rtlCol="0" anchor="t"/>
          <a:lstStyle/>
          <a:p>
            <a:pPr algn="ctr" indent="0" marL="0">
              <a:lnSpc>
                <a:spcPct val="100000"/>
              </a:lnSpc>
              <a:buNone/>
            </a:pPr>
            <a:r>
              <a:rPr lang="en-US" sz="1150" b="1" dirty="0">
                <a:solidFill>
                  <a:srgbClr val="8E2F2F"/>
                </a:solidFill>
                <a:latin typeface="Aptos" pitchFamily="34" charset="0"/>
                <a:ea typeface="Aptos" pitchFamily="34" charset="-122"/>
                <a:cs typeface="Aptos" pitchFamily="34" charset="-120"/>
              </a:rPr>
              <a:t>No</a:t>
            </a:r>
            <a:endParaRPr lang="en-US" sz="1150" dirty="0"/>
          </a:p>
        </p:txBody>
      </p:sp>
      <p:sp>
        <p:nvSpPr>
          <p:cNvPr id="23" name="Shape 20"/>
          <p:cNvSpPr/>
          <p:nvPr/>
        </p:nvSpPr>
        <p:spPr>
          <a:xfrm>
            <a:off x="530352" y="3054096"/>
            <a:ext cx="11130991" cy="0"/>
          </a:xfrm>
          <a:prstGeom prst="line">
            <a:avLst/>
          </a:prstGeom>
          <a:noFill/>
          <a:ln w="9525">
            <a:solidFill>
              <a:srgbClr val="E7EDF1"/>
            </a:solidFill>
            <a:prstDash val="solid"/>
          </a:ln>
        </p:spPr>
        <p:txBody>
          <a:bodyPr/>
          <a:p/>
        </p:txBody>
      </p:sp>
      <p:sp>
        <p:nvSpPr>
          <p:cNvPr id="24" name="Text 21"/>
          <p:cNvSpPr txBox="1"/>
          <p:nvPr/>
        </p:nvSpPr>
        <p:spPr>
          <a:xfrm>
            <a:off x="530352" y="3246120"/>
            <a:ext cx="5943600" cy="329184"/>
          </a:xfrm>
          <a:prstGeom prst="rect">
            <a:avLst/>
          </a:prstGeom>
          <a:noFill/>
          <a:ln/>
        </p:spPr>
        <p:txBody>
          <a:bodyPr wrap="square" lIns="0" tIns="0" rIns="0" bIns="0" rtlCol="0" anchor="t"/>
          <a:lstStyle/>
          <a:p>
            <a:pPr algn="l" indent="0" marL="0">
              <a:lnSpc>
                <a:spcPct val="100000"/>
              </a:lnSpc>
              <a:buNone/>
            </a:pPr>
            <a:r>
              <a:rPr lang="en-US" sz="1350" b="1" dirty="0">
                <a:solidFill>
                  <a:srgbClr val="0B1F33"/>
                </a:solidFill>
                <a:latin typeface="Aptos Display" pitchFamily="34" charset="0"/>
                <a:ea typeface="Aptos Display" pitchFamily="34" charset="-122"/>
                <a:cs typeface="Aptos Display" pitchFamily="34" charset="-120"/>
              </a:rPr>
              <a:t>Plant-to-plant load booked at both ends</a:t>
            </a:r>
            <a:endParaRPr lang="en-US" sz="1350" dirty="0"/>
          </a:p>
        </p:txBody>
      </p:sp>
      <p:sp>
        <p:nvSpPr>
          <p:cNvPr id="25" name="Shape 22"/>
          <p:cNvSpPr/>
          <p:nvPr/>
        </p:nvSpPr>
        <p:spPr>
          <a:xfrm>
            <a:off x="6720840" y="3172968"/>
            <a:ext cx="2194560" cy="457200"/>
          </a:xfrm>
          <a:prstGeom prst="roundRect">
            <a:avLst>
              <a:gd name="adj" fmla="val 12000"/>
            </a:avLst>
          </a:prstGeom>
          <a:solidFill>
            <a:srgbClr val="E1F3EA"/>
          </a:solidFill>
          <a:ln/>
        </p:spPr>
        <p:txBody>
          <a:bodyPr/>
          <a:p/>
        </p:txBody>
      </p:sp>
      <p:sp>
        <p:nvSpPr>
          <p:cNvPr id="26" name="Text 23"/>
          <p:cNvSpPr txBox="1"/>
          <p:nvPr/>
        </p:nvSpPr>
        <p:spPr>
          <a:xfrm>
            <a:off x="6720840" y="3300984"/>
            <a:ext cx="2194560" cy="201168"/>
          </a:xfrm>
          <a:prstGeom prst="rect">
            <a:avLst/>
          </a:prstGeom>
          <a:noFill/>
          <a:ln/>
        </p:spPr>
        <p:txBody>
          <a:bodyPr wrap="square" lIns="0" tIns="0" rIns="0" bIns="0" rtlCol="0" anchor="t"/>
          <a:lstStyle/>
          <a:p>
            <a:pPr algn="ctr" indent="0" marL="0">
              <a:lnSpc>
                <a:spcPct val="100000"/>
              </a:lnSpc>
              <a:buNone/>
            </a:pPr>
            <a:r>
              <a:rPr lang="en-US" sz="1150" b="1" dirty="0">
                <a:solidFill>
                  <a:srgbClr val="10603F"/>
                </a:solidFill>
                <a:latin typeface="Aptos" pitchFamily="34" charset="0"/>
                <a:ea typeface="Aptos" pitchFamily="34" charset="-122"/>
                <a:cs typeface="Aptos" pitchFamily="34" charset="-120"/>
              </a:rPr>
              <a:t>Yes</a:t>
            </a:r>
            <a:endParaRPr lang="en-US" sz="1150" dirty="0"/>
          </a:p>
        </p:txBody>
      </p:sp>
      <p:sp>
        <p:nvSpPr>
          <p:cNvPr id="27" name="Shape 24"/>
          <p:cNvSpPr/>
          <p:nvPr/>
        </p:nvSpPr>
        <p:spPr>
          <a:xfrm>
            <a:off x="9189720" y="3172968"/>
            <a:ext cx="2468880" cy="457200"/>
          </a:xfrm>
          <a:prstGeom prst="roundRect">
            <a:avLst>
              <a:gd name="adj" fmla="val 12000"/>
            </a:avLst>
          </a:prstGeom>
          <a:solidFill>
            <a:srgbClr val="FAE7E7"/>
          </a:solidFill>
          <a:ln/>
        </p:spPr>
        <p:txBody>
          <a:bodyPr/>
          <a:p/>
        </p:txBody>
      </p:sp>
      <p:sp>
        <p:nvSpPr>
          <p:cNvPr id="28" name="Text 25"/>
          <p:cNvSpPr txBox="1"/>
          <p:nvPr/>
        </p:nvSpPr>
        <p:spPr>
          <a:xfrm>
            <a:off x="9189720" y="3300984"/>
            <a:ext cx="2468880" cy="201168"/>
          </a:xfrm>
          <a:prstGeom prst="rect">
            <a:avLst/>
          </a:prstGeom>
          <a:noFill/>
          <a:ln/>
        </p:spPr>
        <p:txBody>
          <a:bodyPr wrap="square" lIns="0" tIns="0" rIns="0" bIns="0" rtlCol="0" anchor="t"/>
          <a:lstStyle/>
          <a:p>
            <a:pPr algn="ctr" indent="0" marL="0">
              <a:lnSpc>
                <a:spcPct val="100000"/>
              </a:lnSpc>
              <a:buNone/>
            </a:pPr>
            <a:r>
              <a:rPr lang="en-US" sz="1150" b="1" dirty="0">
                <a:solidFill>
                  <a:srgbClr val="8E2F2F"/>
                </a:solidFill>
                <a:latin typeface="Aptos" pitchFamily="34" charset="0"/>
                <a:ea typeface="Aptos" pitchFamily="34" charset="-122"/>
                <a:cs typeface="Aptos" pitchFamily="34" charset="-120"/>
              </a:rPr>
              <a:t>No</a:t>
            </a:r>
            <a:endParaRPr lang="en-US" sz="1150" dirty="0"/>
          </a:p>
        </p:txBody>
      </p:sp>
      <p:sp>
        <p:nvSpPr>
          <p:cNvPr id="29" name="Shape 26"/>
          <p:cNvSpPr/>
          <p:nvPr/>
        </p:nvSpPr>
        <p:spPr>
          <a:xfrm>
            <a:off x="530352" y="3675888"/>
            <a:ext cx="11130991" cy="0"/>
          </a:xfrm>
          <a:prstGeom prst="line">
            <a:avLst/>
          </a:prstGeom>
          <a:noFill/>
          <a:ln w="9525">
            <a:solidFill>
              <a:srgbClr val="E7EDF1"/>
            </a:solidFill>
            <a:prstDash val="solid"/>
          </a:ln>
        </p:spPr>
        <p:txBody>
          <a:bodyPr/>
          <a:p/>
        </p:txBody>
      </p:sp>
      <p:sp>
        <p:nvSpPr>
          <p:cNvPr id="30" name="Text 27"/>
          <p:cNvSpPr txBox="1"/>
          <p:nvPr/>
        </p:nvSpPr>
        <p:spPr>
          <a:xfrm>
            <a:off x="530352" y="3881628"/>
            <a:ext cx="5943600" cy="329184"/>
          </a:xfrm>
          <a:prstGeom prst="rect">
            <a:avLst/>
          </a:prstGeom>
          <a:noFill/>
          <a:ln/>
        </p:spPr>
        <p:txBody>
          <a:bodyPr wrap="square" lIns="0" tIns="0" rIns="0" bIns="0" rtlCol="0" anchor="t"/>
          <a:lstStyle/>
          <a:p>
            <a:pPr algn="l" indent="0" marL="0">
              <a:lnSpc>
                <a:spcPct val="100000"/>
              </a:lnSpc>
              <a:buNone/>
            </a:pPr>
            <a:r>
              <a:rPr lang="en-US" sz="1350" b="1" dirty="0">
                <a:solidFill>
                  <a:srgbClr val="0B1F33"/>
                </a:solidFill>
                <a:latin typeface="Aptos Display" pitchFamily="34" charset="0"/>
                <a:ea typeface="Aptos Display" pitchFamily="34" charset="-122"/>
                <a:cs typeface="Aptos Display" pitchFamily="34" charset="-120"/>
              </a:rPr>
              <a:t>Floor capacity tracked in skids</a:t>
            </a:r>
            <a:endParaRPr lang="en-US" sz="1350" dirty="0"/>
          </a:p>
        </p:txBody>
      </p:sp>
      <p:sp>
        <p:nvSpPr>
          <p:cNvPr id="31" name="Shape 28"/>
          <p:cNvSpPr/>
          <p:nvPr/>
        </p:nvSpPr>
        <p:spPr>
          <a:xfrm>
            <a:off x="6720840" y="3808476"/>
            <a:ext cx="2194560" cy="457200"/>
          </a:xfrm>
          <a:prstGeom prst="roundRect">
            <a:avLst>
              <a:gd name="adj" fmla="val 12000"/>
            </a:avLst>
          </a:prstGeom>
          <a:solidFill>
            <a:srgbClr val="E1F3EA"/>
          </a:solidFill>
          <a:ln/>
        </p:spPr>
        <p:txBody>
          <a:bodyPr/>
          <a:p/>
        </p:txBody>
      </p:sp>
      <p:sp>
        <p:nvSpPr>
          <p:cNvPr id="32" name="Text 29"/>
          <p:cNvSpPr txBox="1"/>
          <p:nvPr/>
        </p:nvSpPr>
        <p:spPr>
          <a:xfrm>
            <a:off x="6720840" y="3936492"/>
            <a:ext cx="2194560" cy="201168"/>
          </a:xfrm>
          <a:prstGeom prst="rect">
            <a:avLst/>
          </a:prstGeom>
          <a:noFill/>
          <a:ln/>
        </p:spPr>
        <p:txBody>
          <a:bodyPr wrap="square" lIns="0" tIns="0" rIns="0" bIns="0" rtlCol="0" anchor="t"/>
          <a:lstStyle/>
          <a:p>
            <a:pPr algn="ctr" indent="0" marL="0">
              <a:lnSpc>
                <a:spcPct val="100000"/>
              </a:lnSpc>
              <a:buNone/>
            </a:pPr>
            <a:r>
              <a:rPr lang="en-US" sz="1150" b="1" dirty="0">
                <a:solidFill>
                  <a:srgbClr val="10603F"/>
                </a:solidFill>
                <a:latin typeface="Aptos" pitchFamily="34" charset="0"/>
                <a:ea typeface="Aptos" pitchFamily="34" charset="-122"/>
                <a:cs typeface="Aptos" pitchFamily="34" charset="-120"/>
              </a:rPr>
              <a:t>Yes</a:t>
            </a:r>
            <a:endParaRPr lang="en-US" sz="1150" dirty="0"/>
          </a:p>
        </p:txBody>
      </p:sp>
      <p:sp>
        <p:nvSpPr>
          <p:cNvPr id="33" name="Shape 30"/>
          <p:cNvSpPr/>
          <p:nvPr/>
        </p:nvSpPr>
        <p:spPr>
          <a:xfrm>
            <a:off x="9189720" y="3808476"/>
            <a:ext cx="2468880" cy="457200"/>
          </a:xfrm>
          <a:prstGeom prst="roundRect">
            <a:avLst>
              <a:gd name="adj" fmla="val 12000"/>
            </a:avLst>
          </a:prstGeom>
          <a:solidFill>
            <a:srgbClr val="FAE7E7"/>
          </a:solidFill>
          <a:ln/>
        </p:spPr>
        <p:txBody>
          <a:bodyPr/>
          <a:p/>
        </p:txBody>
      </p:sp>
      <p:sp>
        <p:nvSpPr>
          <p:cNvPr id="34" name="Text 31"/>
          <p:cNvSpPr txBox="1"/>
          <p:nvPr/>
        </p:nvSpPr>
        <p:spPr>
          <a:xfrm>
            <a:off x="9189720" y="3936492"/>
            <a:ext cx="2468880" cy="201168"/>
          </a:xfrm>
          <a:prstGeom prst="rect">
            <a:avLst/>
          </a:prstGeom>
          <a:noFill/>
          <a:ln/>
        </p:spPr>
        <p:txBody>
          <a:bodyPr wrap="square" lIns="0" tIns="0" rIns="0" bIns="0" rtlCol="0" anchor="t"/>
          <a:lstStyle/>
          <a:p>
            <a:pPr algn="ctr" indent="0" marL="0">
              <a:lnSpc>
                <a:spcPct val="100000"/>
              </a:lnSpc>
              <a:buNone/>
            </a:pPr>
            <a:r>
              <a:rPr lang="en-US" sz="1150" b="1" dirty="0">
                <a:solidFill>
                  <a:srgbClr val="8E2F2F"/>
                </a:solidFill>
                <a:latin typeface="Aptos" pitchFamily="34" charset="0"/>
                <a:ea typeface="Aptos" pitchFamily="34" charset="-122"/>
                <a:cs typeface="Aptos" pitchFamily="34" charset="-120"/>
              </a:rPr>
              <a:t>Partial at best</a:t>
            </a:r>
            <a:endParaRPr lang="en-US" sz="1150" dirty="0"/>
          </a:p>
        </p:txBody>
      </p:sp>
      <p:sp>
        <p:nvSpPr>
          <p:cNvPr id="35" name="Shape 32"/>
          <p:cNvSpPr/>
          <p:nvPr/>
        </p:nvSpPr>
        <p:spPr>
          <a:xfrm>
            <a:off x="530352" y="4297680"/>
            <a:ext cx="11130991" cy="0"/>
          </a:xfrm>
          <a:prstGeom prst="line">
            <a:avLst/>
          </a:prstGeom>
          <a:noFill/>
          <a:ln w="9525">
            <a:solidFill>
              <a:srgbClr val="E7EDF1"/>
            </a:solidFill>
            <a:prstDash val="solid"/>
          </a:ln>
        </p:spPr>
        <p:txBody>
          <a:bodyPr/>
          <a:p/>
        </p:txBody>
      </p:sp>
      <p:sp>
        <p:nvSpPr>
          <p:cNvPr id="36" name="Text 33"/>
          <p:cNvSpPr txBox="1"/>
          <p:nvPr/>
        </p:nvSpPr>
        <p:spPr>
          <a:xfrm>
            <a:off x="530352" y="4517136"/>
            <a:ext cx="5943600" cy="329184"/>
          </a:xfrm>
          <a:prstGeom prst="rect">
            <a:avLst/>
          </a:prstGeom>
          <a:noFill/>
          <a:ln/>
        </p:spPr>
        <p:txBody>
          <a:bodyPr wrap="square" lIns="0" tIns="0" rIns="0" bIns="0" rtlCol="0" anchor="t"/>
          <a:lstStyle/>
          <a:p>
            <a:pPr algn="l" indent="0" marL="0">
              <a:lnSpc>
                <a:spcPct val="100000"/>
              </a:lnSpc>
              <a:buNone/>
            </a:pPr>
            <a:r>
              <a:rPr lang="en-US" sz="1350" b="1" dirty="0">
                <a:solidFill>
                  <a:srgbClr val="0B1F33"/>
                </a:solidFill>
                <a:latin typeface="Aptos Display" pitchFamily="34" charset="0"/>
                <a:ea typeface="Aptos Display" pitchFamily="34" charset="-122"/>
                <a:cs typeface="Aptos Display" pitchFamily="34" charset="-120"/>
              </a:rPr>
              <a:t>Dock labour hours from the schedule</a:t>
            </a:r>
            <a:endParaRPr lang="en-US" sz="1350" dirty="0"/>
          </a:p>
        </p:txBody>
      </p:sp>
      <p:sp>
        <p:nvSpPr>
          <p:cNvPr id="37" name="Shape 34"/>
          <p:cNvSpPr/>
          <p:nvPr/>
        </p:nvSpPr>
        <p:spPr>
          <a:xfrm>
            <a:off x="6720840" y="4443984"/>
            <a:ext cx="2194560" cy="457200"/>
          </a:xfrm>
          <a:prstGeom prst="roundRect">
            <a:avLst>
              <a:gd name="adj" fmla="val 12000"/>
            </a:avLst>
          </a:prstGeom>
          <a:solidFill>
            <a:srgbClr val="E1F3EA"/>
          </a:solidFill>
          <a:ln/>
        </p:spPr>
        <p:txBody>
          <a:bodyPr/>
          <a:p/>
        </p:txBody>
      </p:sp>
      <p:sp>
        <p:nvSpPr>
          <p:cNvPr id="38" name="Text 35"/>
          <p:cNvSpPr txBox="1"/>
          <p:nvPr/>
        </p:nvSpPr>
        <p:spPr>
          <a:xfrm>
            <a:off x="6720840" y="4572000"/>
            <a:ext cx="2194560" cy="201168"/>
          </a:xfrm>
          <a:prstGeom prst="rect">
            <a:avLst/>
          </a:prstGeom>
          <a:noFill/>
          <a:ln/>
        </p:spPr>
        <p:txBody>
          <a:bodyPr wrap="square" lIns="0" tIns="0" rIns="0" bIns="0" rtlCol="0" anchor="t"/>
          <a:lstStyle/>
          <a:p>
            <a:pPr algn="ctr" indent="0" marL="0">
              <a:lnSpc>
                <a:spcPct val="100000"/>
              </a:lnSpc>
              <a:buNone/>
            </a:pPr>
            <a:r>
              <a:rPr lang="en-US" sz="1150" b="1" dirty="0">
                <a:solidFill>
                  <a:srgbClr val="10603F"/>
                </a:solidFill>
                <a:latin typeface="Aptos" pitchFamily="34" charset="0"/>
                <a:ea typeface="Aptos" pitchFamily="34" charset="-122"/>
                <a:cs typeface="Aptos" pitchFamily="34" charset="-120"/>
              </a:rPr>
              <a:t>Yes</a:t>
            </a:r>
            <a:endParaRPr lang="en-US" sz="1150" dirty="0"/>
          </a:p>
        </p:txBody>
      </p:sp>
      <p:sp>
        <p:nvSpPr>
          <p:cNvPr id="39" name="Shape 36"/>
          <p:cNvSpPr/>
          <p:nvPr/>
        </p:nvSpPr>
        <p:spPr>
          <a:xfrm>
            <a:off x="9189720" y="4443984"/>
            <a:ext cx="2468880" cy="457200"/>
          </a:xfrm>
          <a:prstGeom prst="roundRect">
            <a:avLst>
              <a:gd name="adj" fmla="val 12000"/>
            </a:avLst>
          </a:prstGeom>
          <a:solidFill>
            <a:srgbClr val="FAE7E7"/>
          </a:solidFill>
          <a:ln/>
        </p:spPr>
        <p:txBody>
          <a:bodyPr/>
          <a:p/>
        </p:txBody>
      </p:sp>
      <p:sp>
        <p:nvSpPr>
          <p:cNvPr id="40" name="Text 37"/>
          <p:cNvSpPr txBox="1"/>
          <p:nvPr/>
        </p:nvSpPr>
        <p:spPr>
          <a:xfrm>
            <a:off x="9189720" y="4572000"/>
            <a:ext cx="2468880" cy="201168"/>
          </a:xfrm>
          <a:prstGeom prst="rect">
            <a:avLst/>
          </a:prstGeom>
          <a:noFill/>
          <a:ln/>
        </p:spPr>
        <p:txBody>
          <a:bodyPr wrap="square" lIns="0" tIns="0" rIns="0" bIns="0" rtlCol="0" anchor="t"/>
          <a:lstStyle/>
          <a:p>
            <a:pPr algn="ctr" indent="0" marL="0">
              <a:lnSpc>
                <a:spcPct val="100000"/>
              </a:lnSpc>
              <a:buNone/>
            </a:pPr>
            <a:r>
              <a:rPr lang="en-US" sz="1150" b="1" dirty="0">
                <a:solidFill>
                  <a:srgbClr val="8E2F2F"/>
                </a:solidFill>
                <a:latin typeface="Aptos" pitchFamily="34" charset="0"/>
                <a:ea typeface="Aptos" pitchFamily="34" charset="-122"/>
                <a:cs typeface="Aptos" pitchFamily="34" charset="-120"/>
              </a:rPr>
              <a:t>Partial / no</a:t>
            </a:r>
            <a:endParaRPr lang="en-US" sz="1150" dirty="0"/>
          </a:p>
        </p:txBody>
      </p:sp>
      <p:sp>
        <p:nvSpPr>
          <p:cNvPr id="41" name="Shape 38"/>
          <p:cNvSpPr/>
          <p:nvPr/>
        </p:nvSpPr>
        <p:spPr>
          <a:xfrm>
            <a:off x="530352" y="4919472"/>
            <a:ext cx="11130991" cy="0"/>
          </a:xfrm>
          <a:prstGeom prst="line">
            <a:avLst/>
          </a:prstGeom>
          <a:noFill/>
          <a:ln w="9525">
            <a:solidFill>
              <a:srgbClr val="E7EDF1"/>
            </a:solidFill>
            <a:prstDash val="solid"/>
          </a:ln>
        </p:spPr>
        <p:txBody>
          <a:bodyPr/>
          <a:p/>
        </p:txBody>
      </p:sp>
      <p:sp>
        <p:nvSpPr>
          <p:cNvPr id="42" name="Text 39"/>
          <p:cNvSpPr txBox="1"/>
          <p:nvPr/>
        </p:nvSpPr>
        <p:spPr>
          <a:xfrm>
            <a:off x="530352" y="5152644"/>
            <a:ext cx="5943600" cy="329184"/>
          </a:xfrm>
          <a:prstGeom prst="rect">
            <a:avLst/>
          </a:prstGeom>
          <a:noFill/>
          <a:ln/>
        </p:spPr>
        <p:txBody>
          <a:bodyPr wrap="square" lIns="0" tIns="0" rIns="0" bIns="0" rtlCol="0" anchor="t"/>
          <a:lstStyle/>
          <a:p>
            <a:pPr algn="l" indent="0" marL="0">
              <a:lnSpc>
                <a:spcPct val="100000"/>
              </a:lnSpc>
              <a:buNone/>
            </a:pPr>
            <a:r>
              <a:rPr lang="en-US" sz="1350" b="1" dirty="0">
                <a:solidFill>
                  <a:srgbClr val="0B1F33"/>
                </a:solidFill>
                <a:latin typeface="Aptos Display" pitchFamily="34" charset="0"/>
                <a:ea typeface="Aptos Display" pitchFamily="34" charset="-122"/>
                <a:cs typeface="Aptos Display" pitchFamily="34" charset="-120"/>
              </a:rPr>
              <a:t>Licence cost per plant, per year</a:t>
            </a:r>
            <a:endParaRPr lang="en-US" sz="1350" dirty="0"/>
          </a:p>
        </p:txBody>
      </p:sp>
      <p:sp>
        <p:nvSpPr>
          <p:cNvPr id="43" name="Shape 40"/>
          <p:cNvSpPr/>
          <p:nvPr/>
        </p:nvSpPr>
        <p:spPr>
          <a:xfrm>
            <a:off x="6720840" y="5079492"/>
            <a:ext cx="2194560" cy="457200"/>
          </a:xfrm>
          <a:prstGeom prst="roundRect">
            <a:avLst>
              <a:gd name="adj" fmla="val 12000"/>
            </a:avLst>
          </a:prstGeom>
          <a:solidFill>
            <a:srgbClr val="E1F3EA"/>
          </a:solidFill>
          <a:ln/>
        </p:spPr>
        <p:txBody>
          <a:bodyPr/>
          <a:p/>
        </p:txBody>
      </p:sp>
      <p:sp>
        <p:nvSpPr>
          <p:cNvPr id="44" name="Text 41"/>
          <p:cNvSpPr txBox="1"/>
          <p:nvPr/>
        </p:nvSpPr>
        <p:spPr>
          <a:xfrm>
            <a:off x="6720840" y="5207508"/>
            <a:ext cx="2194560" cy="201168"/>
          </a:xfrm>
          <a:prstGeom prst="rect">
            <a:avLst/>
          </a:prstGeom>
          <a:noFill/>
          <a:ln/>
        </p:spPr>
        <p:txBody>
          <a:bodyPr wrap="square" lIns="0" tIns="0" rIns="0" bIns="0" rtlCol="0" anchor="t"/>
          <a:lstStyle/>
          <a:p>
            <a:pPr algn="ctr" indent="0" marL="0">
              <a:lnSpc>
                <a:spcPct val="100000"/>
              </a:lnSpc>
              <a:buNone/>
            </a:pPr>
            <a:r>
              <a:rPr lang="en-US" sz="1150" b="1" dirty="0">
                <a:solidFill>
                  <a:srgbClr val="10603F"/>
                </a:solidFill>
                <a:latin typeface="Aptos" pitchFamily="34" charset="0"/>
                <a:ea typeface="Aptos" pitchFamily="34" charset="-122"/>
                <a:cs typeface="Aptos" pitchFamily="34" charset="-120"/>
              </a:rPr>
              <a:t>None</a:t>
            </a:r>
            <a:endParaRPr lang="en-US" sz="1150" dirty="0"/>
          </a:p>
        </p:txBody>
      </p:sp>
      <p:sp>
        <p:nvSpPr>
          <p:cNvPr id="45" name="Shape 42"/>
          <p:cNvSpPr/>
          <p:nvPr/>
        </p:nvSpPr>
        <p:spPr>
          <a:xfrm>
            <a:off x="9189720" y="5079492"/>
            <a:ext cx="2468880" cy="457200"/>
          </a:xfrm>
          <a:prstGeom prst="roundRect">
            <a:avLst>
              <a:gd name="adj" fmla="val 12000"/>
            </a:avLst>
          </a:prstGeom>
          <a:solidFill>
            <a:srgbClr val="FAE7E7"/>
          </a:solidFill>
          <a:ln/>
        </p:spPr>
        <p:txBody>
          <a:bodyPr/>
          <a:p/>
        </p:txBody>
      </p:sp>
      <p:sp>
        <p:nvSpPr>
          <p:cNvPr id="46" name="Text 43"/>
          <p:cNvSpPr txBox="1"/>
          <p:nvPr/>
        </p:nvSpPr>
        <p:spPr>
          <a:xfrm>
            <a:off x="9189720" y="5207508"/>
            <a:ext cx="2468880" cy="201168"/>
          </a:xfrm>
          <a:prstGeom prst="rect">
            <a:avLst/>
          </a:prstGeom>
          <a:noFill/>
          <a:ln/>
        </p:spPr>
        <p:txBody>
          <a:bodyPr wrap="square" lIns="0" tIns="0" rIns="0" bIns="0" rtlCol="0" anchor="t"/>
          <a:lstStyle/>
          <a:p>
            <a:pPr algn="ctr" indent="0" marL="0">
              <a:lnSpc>
                <a:spcPct val="100000"/>
              </a:lnSpc>
              <a:buNone/>
            </a:pPr>
            <a:r>
              <a:rPr lang="en-US" sz="1150" b="1" dirty="0">
                <a:solidFill>
                  <a:srgbClr val="8E2F2F"/>
                </a:solidFill>
                <a:latin typeface="Aptos" pitchFamily="34" charset="0"/>
                <a:ea typeface="Aptos" pitchFamily="34" charset="-122"/>
                <a:cs typeface="Aptos" pitchFamily="34" charset="-120"/>
              </a:rPr>
              <a:t>Subscription</a:t>
            </a:r>
            <a:endParaRPr lang="en-US" sz="1150" dirty="0"/>
          </a:p>
        </p:txBody>
      </p:sp>
      <p:sp>
        <p:nvSpPr>
          <p:cNvPr id="47" name="Shape 44"/>
          <p:cNvSpPr/>
          <p:nvPr/>
        </p:nvSpPr>
        <p:spPr>
          <a:xfrm>
            <a:off x="530352" y="5779008"/>
            <a:ext cx="11130991" cy="548640"/>
          </a:xfrm>
          <a:prstGeom prst="roundRect">
            <a:avLst>
              <a:gd name="adj" fmla="val 10526"/>
            </a:avLst>
          </a:prstGeom>
          <a:solidFill>
            <a:srgbClr val="072238"/>
          </a:solidFill>
          <a:ln/>
        </p:spPr>
        <p:txBody>
          <a:bodyPr/>
          <a:p/>
        </p:txBody>
      </p:sp>
      <p:sp>
        <p:nvSpPr>
          <p:cNvPr id="48" name="Text 45"/>
          <p:cNvSpPr txBox="1"/>
          <p:nvPr/>
        </p:nvSpPr>
        <p:spPr>
          <a:xfrm>
            <a:off x="877824" y="5833872"/>
            <a:ext cx="10436047" cy="438912"/>
          </a:xfrm>
          <a:prstGeom prst="rect">
            <a:avLst/>
          </a:prstGeom>
          <a:noFill/>
          <a:ln/>
        </p:spPr>
        <p:txBody>
          <a:bodyPr wrap="square" lIns="0" tIns="0" rIns="0" bIns="0" rtlCol="0" anchor="ctr"/>
          <a:lstStyle/>
          <a:p>
            <a:pPr algn="l" indent="0" marL="0">
              <a:lnSpc>
                <a:spcPct val="115000"/>
              </a:lnSpc>
              <a:buNone/>
            </a:pPr>
            <a:r>
              <a:rPr lang="en-US" sz="1250" b="1" dirty="0">
                <a:solidFill>
                  <a:srgbClr val="FFFFFF"/>
                </a:solidFill>
                <a:latin typeface="Aptos" pitchFamily="34" charset="0"/>
                <a:ea typeface="Aptos" pitchFamily="34" charset="-122"/>
                <a:cs typeface="Aptos" pitchFamily="34" charset="-120"/>
              </a:rPr>
              <a:t>Yard management is a deliberate omission, not a shortfall. We have no gate and no yard to manage.</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31</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COMPARED WITH WHAT IS ON THE MARKET</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MaxDock also covers the expected basics.</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A guide for discussion, from published material — not a procurement assessment.</a:t>
            </a:r>
            <a:endParaRPr lang="en-US" sz="1200" dirty="0"/>
          </a:p>
        </p:txBody>
      </p:sp>
      <p:sp>
        <p:nvSpPr>
          <p:cNvPr id="10" name="Text 7"/>
          <p:cNvSpPr txBox="1"/>
          <p:nvPr/>
        </p:nvSpPr>
        <p:spPr>
          <a:xfrm>
            <a:off x="530352" y="1700784"/>
            <a:ext cx="7315200" cy="310896"/>
          </a:xfrm>
          <a:prstGeom prst="rect">
            <a:avLst/>
          </a:prstGeom>
          <a:noFill/>
          <a:ln/>
        </p:spPr>
        <p:txBody>
          <a:bodyPr wrap="square" lIns="0" tIns="0" rIns="0" bIns="0" rtlCol="0" anchor="t"/>
          <a:lstStyle/>
          <a:p>
            <a:pPr algn="l" indent="0" marL="0">
              <a:lnSpc>
                <a:spcPct val="100000"/>
              </a:lnSpc>
              <a:buNone/>
            </a:pPr>
            <a:r>
              <a:rPr lang="en-US" sz="1350" b="1" dirty="0">
                <a:solidFill>
                  <a:srgbClr val="0B1F33"/>
                </a:solidFill>
                <a:latin typeface="Aptos Display" pitchFamily="34" charset="0"/>
                <a:ea typeface="Aptos Display" pitchFamily="34" charset="-122"/>
                <a:cs typeface="Aptos Display" pitchFamily="34" charset="-120"/>
              </a:rPr>
              <a:t>Carrier self-scheduling</a:t>
            </a:r>
            <a:endParaRPr lang="en-US" sz="1350" dirty="0"/>
          </a:p>
        </p:txBody>
      </p:sp>
      <p:sp>
        <p:nvSpPr>
          <p:cNvPr id="11" name="Shape 8"/>
          <p:cNvSpPr/>
          <p:nvPr/>
        </p:nvSpPr>
        <p:spPr>
          <a:xfrm>
            <a:off x="9006840" y="1627632"/>
            <a:ext cx="2651760" cy="420624"/>
          </a:xfrm>
          <a:prstGeom prst="roundRect">
            <a:avLst>
              <a:gd name="adj" fmla="val 13043"/>
            </a:avLst>
          </a:prstGeom>
          <a:solidFill>
            <a:srgbClr val="E1F3EA"/>
          </a:solidFill>
          <a:ln/>
        </p:spPr>
        <p:txBody>
          <a:bodyPr/>
          <a:p/>
        </p:txBody>
      </p:sp>
      <p:sp>
        <p:nvSpPr>
          <p:cNvPr id="12" name="Text 9"/>
          <p:cNvSpPr txBox="1"/>
          <p:nvPr/>
        </p:nvSpPr>
        <p:spPr>
          <a:xfrm>
            <a:off x="9006840" y="1737360"/>
            <a:ext cx="2651760" cy="201168"/>
          </a:xfrm>
          <a:prstGeom prst="rect">
            <a:avLst/>
          </a:prstGeom>
          <a:noFill/>
          <a:ln/>
        </p:spPr>
        <p:txBody>
          <a:bodyPr wrap="square" lIns="0" tIns="0" rIns="0" bIns="0" rtlCol="0" anchor="t"/>
          <a:lstStyle/>
          <a:p>
            <a:pPr algn="ctr" indent="0" marL="0">
              <a:lnSpc>
                <a:spcPct val="100000"/>
              </a:lnSpc>
              <a:buNone/>
            </a:pPr>
            <a:r>
              <a:rPr lang="en-US" sz="1100" b="1" dirty="0">
                <a:solidFill>
                  <a:srgbClr val="10603F"/>
                </a:solidFill>
                <a:latin typeface="Aptos" pitchFamily="34" charset="0"/>
                <a:ea typeface="Aptos" pitchFamily="34" charset="-122"/>
                <a:cs typeface="Aptos" pitchFamily="34" charset="-120"/>
              </a:rPr>
              <a:t>Yes</a:t>
            </a:r>
            <a:endParaRPr lang="en-US" sz="1100" dirty="0"/>
          </a:p>
        </p:txBody>
      </p:sp>
      <p:sp>
        <p:nvSpPr>
          <p:cNvPr id="13" name="Shape 10"/>
          <p:cNvSpPr/>
          <p:nvPr/>
        </p:nvSpPr>
        <p:spPr>
          <a:xfrm>
            <a:off x="530352" y="2103120"/>
            <a:ext cx="11130991" cy="0"/>
          </a:xfrm>
          <a:prstGeom prst="line">
            <a:avLst/>
          </a:prstGeom>
          <a:noFill/>
          <a:ln w="9525">
            <a:solidFill>
              <a:srgbClr val="E7EDF1"/>
            </a:solidFill>
            <a:prstDash val="solid"/>
          </a:ln>
        </p:spPr>
        <p:txBody>
          <a:bodyPr/>
          <a:p/>
        </p:txBody>
      </p:sp>
      <p:sp>
        <p:nvSpPr>
          <p:cNvPr id="14" name="Text 11"/>
          <p:cNvSpPr txBox="1"/>
          <p:nvPr/>
        </p:nvSpPr>
        <p:spPr>
          <a:xfrm>
            <a:off x="530352" y="2278685"/>
            <a:ext cx="7315200" cy="310896"/>
          </a:xfrm>
          <a:prstGeom prst="rect">
            <a:avLst/>
          </a:prstGeom>
          <a:noFill/>
          <a:ln/>
        </p:spPr>
        <p:txBody>
          <a:bodyPr wrap="square" lIns="0" tIns="0" rIns="0" bIns="0" rtlCol="0" anchor="t"/>
          <a:lstStyle/>
          <a:p>
            <a:pPr algn="l" indent="0" marL="0">
              <a:lnSpc>
                <a:spcPct val="100000"/>
              </a:lnSpc>
              <a:buNone/>
            </a:pPr>
            <a:r>
              <a:rPr lang="en-US" sz="1350" b="1" dirty="0">
                <a:solidFill>
                  <a:srgbClr val="0B1F33"/>
                </a:solidFill>
                <a:latin typeface="Aptos Display" pitchFamily="34" charset="0"/>
                <a:ea typeface="Aptos Display" pitchFamily="34" charset="-122"/>
                <a:cs typeface="Aptos Display" pitchFamily="34" charset="-120"/>
              </a:rPr>
              <a:t>Live dock board</a:t>
            </a:r>
            <a:endParaRPr lang="en-US" sz="1350" dirty="0"/>
          </a:p>
        </p:txBody>
      </p:sp>
      <p:sp>
        <p:nvSpPr>
          <p:cNvPr id="15" name="Shape 12"/>
          <p:cNvSpPr/>
          <p:nvPr/>
        </p:nvSpPr>
        <p:spPr>
          <a:xfrm>
            <a:off x="9006840" y="2205533"/>
            <a:ext cx="2651760" cy="420624"/>
          </a:xfrm>
          <a:prstGeom prst="roundRect">
            <a:avLst>
              <a:gd name="adj" fmla="val 13043"/>
            </a:avLst>
          </a:prstGeom>
          <a:solidFill>
            <a:srgbClr val="E1F3EA"/>
          </a:solidFill>
          <a:ln/>
        </p:spPr>
        <p:txBody>
          <a:bodyPr/>
          <a:p/>
        </p:txBody>
      </p:sp>
      <p:sp>
        <p:nvSpPr>
          <p:cNvPr id="16" name="Text 13"/>
          <p:cNvSpPr txBox="1"/>
          <p:nvPr/>
        </p:nvSpPr>
        <p:spPr>
          <a:xfrm>
            <a:off x="9006840" y="2315261"/>
            <a:ext cx="2651760" cy="201168"/>
          </a:xfrm>
          <a:prstGeom prst="rect">
            <a:avLst/>
          </a:prstGeom>
          <a:noFill/>
          <a:ln/>
        </p:spPr>
        <p:txBody>
          <a:bodyPr wrap="square" lIns="0" tIns="0" rIns="0" bIns="0" rtlCol="0" anchor="t"/>
          <a:lstStyle/>
          <a:p>
            <a:pPr algn="ctr" indent="0" marL="0">
              <a:lnSpc>
                <a:spcPct val="100000"/>
              </a:lnSpc>
              <a:buNone/>
            </a:pPr>
            <a:r>
              <a:rPr lang="en-US" sz="1100" b="1" dirty="0">
                <a:solidFill>
                  <a:srgbClr val="10603F"/>
                </a:solidFill>
                <a:latin typeface="Aptos" pitchFamily="34" charset="0"/>
                <a:ea typeface="Aptos" pitchFamily="34" charset="-122"/>
                <a:cs typeface="Aptos" pitchFamily="34" charset="-120"/>
              </a:rPr>
              <a:t>Yes</a:t>
            </a:r>
            <a:endParaRPr lang="en-US" sz="1100" dirty="0"/>
          </a:p>
        </p:txBody>
      </p:sp>
      <p:sp>
        <p:nvSpPr>
          <p:cNvPr id="17" name="Shape 14"/>
          <p:cNvSpPr/>
          <p:nvPr/>
        </p:nvSpPr>
        <p:spPr>
          <a:xfrm>
            <a:off x="530352" y="2670048"/>
            <a:ext cx="11130991" cy="0"/>
          </a:xfrm>
          <a:prstGeom prst="line">
            <a:avLst/>
          </a:prstGeom>
          <a:noFill/>
          <a:ln w="9525">
            <a:solidFill>
              <a:srgbClr val="E7EDF1"/>
            </a:solidFill>
            <a:prstDash val="solid"/>
          </a:ln>
        </p:spPr>
        <p:txBody>
          <a:bodyPr/>
          <a:p/>
        </p:txBody>
      </p:sp>
      <p:sp>
        <p:nvSpPr>
          <p:cNvPr id="18" name="Text 15"/>
          <p:cNvSpPr txBox="1"/>
          <p:nvPr/>
        </p:nvSpPr>
        <p:spPr>
          <a:xfrm>
            <a:off x="530352" y="2856586"/>
            <a:ext cx="7315200" cy="310896"/>
          </a:xfrm>
          <a:prstGeom prst="rect">
            <a:avLst/>
          </a:prstGeom>
          <a:noFill/>
          <a:ln/>
        </p:spPr>
        <p:txBody>
          <a:bodyPr wrap="square" lIns="0" tIns="0" rIns="0" bIns="0" rtlCol="0" anchor="t"/>
          <a:lstStyle/>
          <a:p>
            <a:pPr algn="l" indent="0" marL="0">
              <a:lnSpc>
                <a:spcPct val="100000"/>
              </a:lnSpc>
              <a:buNone/>
            </a:pPr>
            <a:r>
              <a:rPr lang="en-US" sz="1350" b="1" dirty="0">
                <a:solidFill>
                  <a:srgbClr val="0B1F33"/>
                </a:solidFill>
                <a:latin typeface="Aptos Display" pitchFamily="34" charset="0"/>
                <a:ea typeface="Aptos Display" pitchFamily="34" charset="-122"/>
                <a:cs typeface="Aptos Display" pitchFamily="34" charset="-120"/>
              </a:rPr>
              <a:t>Carrier scorecards</a:t>
            </a:r>
            <a:endParaRPr lang="en-US" sz="1350" dirty="0"/>
          </a:p>
        </p:txBody>
      </p:sp>
      <p:sp>
        <p:nvSpPr>
          <p:cNvPr id="19" name="Shape 16"/>
          <p:cNvSpPr/>
          <p:nvPr/>
        </p:nvSpPr>
        <p:spPr>
          <a:xfrm>
            <a:off x="9006840" y="2783434"/>
            <a:ext cx="2651760" cy="420624"/>
          </a:xfrm>
          <a:prstGeom prst="roundRect">
            <a:avLst>
              <a:gd name="adj" fmla="val 13043"/>
            </a:avLst>
          </a:prstGeom>
          <a:solidFill>
            <a:srgbClr val="E1F3EA"/>
          </a:solidFill>
          <a:ln/>
        </p:spPr>
        <p:txBody>
          <a:bodyPr/>
          <a:p/>
        </p:txBody>
      </p:sp>
      <p:sp>
        <p:nvSpPr>
          <p:cNvPr id="20" name="Text 17"/>
          <p:cNvSpPr txBox="1"/>
          <p:nvPr/>
        </p:nvSpPr>
        <p:spPr>
          <a:xfrm>
            <a:off x="9006840" y="2893162"/>
            <a:ext cx="2651760" cy="201168"/>
          </a:xfrm>
          <a:prstGeom prst="rect">
            <a:avLst/>
          </a:prstGeom>
          <a:noFill/>
          <a:ln/>
        </p:spPr>
        <p:txBody>
          <a:bodyPr wrap="square" lIns="0" tIns="0" rIns="0" bIns="0" rtlCol="0" anchor="t"/>
          <a:lstStyle/>
          <a:p>
            <a:pPr algn="ctr" indent="0" marL="0">
              <a:lnSpc>
                <a:spcPct val="100000"/>
              </a:lnSpc>
              <a:buNone/>
            </a:pPr>
            <a:r>
              <a:rPr lang="en-US" sz="1100" b="1" dirty="0">
                <a:solidFill>
                  <a:srgbClr val="10603F"/>
                </a:solidFill>
                <a:latin typeface="Aptos" pitchFamily="34" charset="0"/>
                <a:ea typeface="Aptos" pitchFamily="34" charset="-122"/>
                <a:cs typeface="Aptos" pitchFamily="34" charset="-120"/>
              </a:rPr>
              <a:t>Yes</a:t>
            </a:r>
            <a:endParaRPr lang="en-US" sz="1100" dirty="0"/>
          </a:p>
        </p:txBody>
      </p:sp>
      <p:sp>
        <p:nvSpPr>
          <p:cNvPr id="21" name="Shape 18"/>
          <p:cNvSpPr/>
          <p:nvPr/>
        </p:nvSpPr>
        <p:spPr>
          <a:xfrm>
            <a:off x="530352" y="3236976"/>
            <a:ext cx="11130991" cy="0"/>
          </a:xfrm>
          <a:prstGeom prst="line">
            <a:avLst/>
          </a:prstGeom>
          <a:noFill/>
          <a:ln w="9525">
            <a:solidFill>
              <a:srgbClr val="E7EDF1"/>
            </a:solidFill>
            <a:prstDash val="solid"/>
          </a:ln>
        </p:spPr>
        <p:txBody>
          <a:bodyPr/>
          <a:p/>
        </p:txBody>
      </p:sp>
      <p:sp>
        <p:nvSpPr>
          <p:cNvPr id="22" name="Text 19"/>
          <p:cNvSpPr txBox="1"/>
          <p:nvPr/>
        </p:nvSpPr>
        <p:spPr>
          <a:xfrm>
            <a:off x="530352" y="3434486"/>
            <a:ext cx="7315200" cy="310896"/>
          </a:xfrm>
          <a:prstGeom prst="rect">
            <a:avLst/>
          </a:prstGeom>
          <a:noFill/>
          <a:ln/>
        </p:spPr>
        <p:txBody>
          <a:bodyPr wrap="square" lIns="0" tIns="0" rIns="0" bIns="0" rtlCol="0" anchor="t"/>
          <a:lstStyle/>
          <a:p>
            <a:pPr algn="l" indent="0" marL="0">
              <a:lnSpc>
                <a:spcPct val="100000"/>
              </a:lnSpc>
              <a:buNone/>
            </a:pPr>
            <a:r>
              <a:rPr lang="en-US" sz="1350" b="1" dirty="0">
                <a:solidFill>
                  <a:srgbClr val="0B1F33"/>
                </a:solidFill>
                <a:latin typeface="Aptos Display" pitchFamily="34" charset="0"/>
                <a:ea typeface="Aptos Display" pitchFamily="34" charset="-122"/>
                <a:cs typeface="Aptos Display" pitchFamily="34" charset="-120"/>
              </a:rPr>
              <a:t>Phone app for the dock crew</a:t>
            </a:r>
            <a:endParaRPr lang="en-US" sz="1350" dirty="0"/>
          </a:p>
        </p:txBody>
      </p:sp>
      <p:sp>
        <p:nvSpPr>
          <p:cNvPr id="23" name="Shape 20"/>
          <p:cNvSpPr/>
          <p:nvPr/>
        </p:nvSpPr>
        <p:spPr>
          <a:xfrm>
            <a:off x="9006840" y="3361334"/>
            <a:ext cx="2651760" cy="420624"/>
          </a:xfrm>
          <a:prstGeom prst="roundRect">
            <a:avLst>
              <a:gd name="adj" fmla="val 13043"/>
            </a:avLst>
          </a:prstGeom>
          <a:solidFill>
            <a:srgbClr val="E1F3EA"/>
          </a:solidFill>
          <a:ln/>
        </p:spPr>
        <p:txBody>
          <a:bodyPr/>
          <a:p/>
        </p:txBody>
      </p:sp>
      <p:sp>
        <p:nvSpPr>
          <p:cNvPr id="24" name="Text 21"/>
          <p:cNvSpPr txBox="1"/>
          <p:nvPr/>
        </p:nvSpPr>
        <p:spPr>
          <a:xfrm>
            <a:off x="9006840" y="3471062"/>
            <a:ext cx="2651760" cy="201168"/>
          </a:xfrm>
          <a:prstGeom prst="rect">
            <a:avLst/>
          </a:prstGeom>
          <a:noFill/>
          <a:ln/>
        </p:spPr>
        <p:txBody>
          <a:bodyPr wrap="square" lIns="0" tIns="0" rIns="0" bIns="0" rtlCol="0" anchor="t"/>
          <a:lstStyle/>
          <a:p>
            <a:pPr algn="ctr" indent="0" marL="0">
              <a:lnSpc>
                <a:spcPct val="100000"/>
              </a:lnSpc>
              <a:buNone/>
            </a:pPr>
            <a:r>
              <a:rPr lang="en-US" sz="1100" b="1" dirty="0">
                <a:solidFill>
                  <a:srgbClr val="10603F"/>
                </a:solidFill>
                <a:latin typeface="Aptos" pitchFamily="34" charset="0"/>
                <a:ea typeface="Aptos" pitchFamily="34" charset="-122"/>
                <a:cs typeface="Aptos" pitchFamily="34" charset="-120"/>
              </a:rPr>
              <a:t>Yes</a:t>
            </a:r>
            <a:endParaRPr lang="en-US" sz="1100" dirty="0"/>
          </a:p>
        </p:txBody>
      </p:sp>
      <p:sp>
        <p:nvSpPr>
          <p:cNvPr id="25" name="Shape 22"/>
          <p:cNvSpPr/>
          <p:nvPr/>
        </p:nvSpPr>
        <p:spPr>
          <a:xfrm>
            <a:off x="530352" y="3803904"/>
            <a:ext cx="11130991" cy="0"/>
          </a:xfrm>
          <a:prstGeom prst="line">
            <a:avLst/>
          </a:prstGeom>
          <a:noFill/>
          <a:ln w="9525">
            <a:solidFill>
              <a:srgbClr val="E7EDF1"/>
            </a:solidFill>
            <a:prstDash val="solid"/>
          </a:ln>
        </p:spPr>
        <p:txBody>
          <a:bodyPr/>
          <a:p/>
        </p:txBody>
      </p:sp>
      <p:sp>
        <p:nvSpPr>
          <p:cNvPr id="26" name="Text 23"/>
          <p:cNvSpPr txBox="1"/>
          <p:nvPr/>
        </p:nvSpPr>
        <p:spPr>
          <a:xfrm>
            <a:off x="530352" y="4012387"/>
            <a:ext cx="7315200" cy="310896"/>
          </a:xfrm>
          <a:prstGeom prst="rect">
            <a:avLst/>
          </a:prstGeom>
          <a:noFill/>
          <a:ln/>
        </p:spPr>
        <p:txBody>
          <a:bodyPr wrap="square" lIns="0" tIns="0" rIns="0" bIns="0" rtlCol="0" anchor="t"/>
          <a:lstStyle/>
          <a:p>
            <a:pPr algn="l" indent="0" marL="0">
              <a:lnSpc>
                <a:spcPct val="100000"/>
              </a:lnSpc>
              <a:buNone/>
            </a:pPr>
            <a:r>
              <a:rPr lang="en-US" sz="1350" b="1" dirty="0">
                <a:solidFill>
                  <a:srgbClr val="0B1F33"/>
                </a:solidFill>
                <a:latin typeface="Aptos Display" pitchFamily="34" charset="0"/>
                <a:ea typeface="Aptos Display" pitchFamily="34" charset="-122"/>
                <a:cs typeface="Aptos Display" pitchFamily="34" charset="-120"/>
              </a:rPr>
              <a:t>Email confirmations and reminders</a:t>
            </a:r>
            <a:endParaRPr lang="en-US" sz="1350" dirty="0"/>
          </a:p>
        </p:txBody>
      </p:sp>
      <p:sp>
        <p:nvSpPr>
          <p:cNvPr id="27" name="Shape 24"/>
          <p:cNvSpPr/>
          <p:nvPr/>
        </p:nvSpPr>
        <p:spPr>
          <a:xfrm>
            <a:off x="9006840" y="3939235"/>
            <a:ext cx="2651760" cy="420624"/>
          </a:xfrm>
          <a:prstGeom prst="roundRect">
            <a:avLst>
              <a:gd name="adj" fmla="val 13043"/>
            </a:avLst>
          </a:prstGeom>
          <a:solidFill>
            <a:srgbClr val="FCF0DC"/>
          </a:solidFill>
          <a:ln/>
        </p:spPr>
        <p:txBody>
          <a:bodyPr/>
          <a:p/>
        </p:txBody>
      </p:sp>
      <p:sp>
        <p:nvSpPr>
          <p:cNvPr id="28" name="Text 25"/>
          <p:cNvSpPr txBox="1"/>
          <p:nvPr/>
        </p:nvSpPr>
        <p:spPr>
          <a:xfrm>
            <a:off x="9006840" y="4048963"/>
            <a:ext cx="2651760" cy="201168"/>
          </a:xfrm>
          <a:prstGeom prst="rect">
            <a:avLst/>
          </a:prstGeom>
          <a:noFill/>
          <a:ln/>
        </p:spPr>
        <p:txBody>
          <a:bodyPr wrap="square" lIns="0" tIns="0" rIns="0" bIns="0" rtlCol="0" anchor="t"/>
          <a:lstStyle/>
          <a:p>
            <a:pPr algn="ctr" indent="0" marL="0">
              <a:lnSpc>
                <a:spcPct val="100000"/>
              </a:lnSpc>
              <a:buNone/>
            </a:pPr>
            <a:r>
              <a:rPr lang="en-US" sz="1100" b="1" dirty="0">
                <a:solidFill>
                  <a:srgbClr val="8A5B06"/>
                </a:solidFill>
                <a:latin typeface="Aptos" pitchFamily="34" charset="0"/>
                <a:ea typeface="Aptos" pitchFamily="34" charset="-122"/>
                <a:cs typeface="Aptos" pitchFamily="34" charset="-120"/>
              </a:rPr>
              <a:t>Building</a:t>
            </a:r>
            <a:endParaRPr lang="en-US" sz="1100" dirty="0"/>
          </a:p>
        </p:txBody>
      </p:sp>
      <p:sp>
        <p:nvSpPr>
          <p:cNvPr id="29" name="Shape 26"/>
          <p:cNvSpPr/>
          <p:nvPr/>
        </p:nvSpPr>
        <p:spPr>
          <a:xfrm>
            <a:off x="530352" y="4370832"/>
            <a:ext cx="11130991" cy="0"/>
          </a:xfrm>
          <a:prstGeom prst="line">
            <a:avLst/>
          </a:prstGeom>
          <a:noFill/>
          <a:ln w="9525">
            <a:solidFill>
              <a:srgbClr val="E7EDF1"/>
            </a:solidFill>
            <a:prstDash val="solid"/>
          </a:ln>
        </p:spPr>
        <p:txBody>
          <a:bodyPr/>
          <a:p/>
        </p:txBody>
      </p:sp>
      <p:sp>
        <p:nvSpPr>
          <p:cNvPr id="30" name="Text 27"/>
          <p:cNvSpPr txBox="1"/>
          <p:nvPr/>
        </p:nvSpPr>
        <p:spPr>
          <a:xfrm>
            <a:off x="530352" y="4590288"/>
            <a:ext cx="7315200" cy="310896"/>
          </a:xfrm>
          <a:prstGeom prst="rect">
            <a:avLst/>
          </a:prstGeom>
          <a:noFill/>
          <a:ln/>
        </p:spPr>
        <p:txBody>
          <a:bodyPr wrap="square" lIns="0" tIns="0" rIns="0" bIns="0" rtlCol="0" anchor="t"/>
          <a:lstStyle/>
          <a:p>
            <a:pPr algn="l" indent="0" marL="0">
              <a:lnSpc>
                <a:spcPct val="100000"/>
              </a:lnSpc>
              <a:buNone/>
            </a:pPr>
            <a:r>
              <a:rPr lang="en-US" sz="1350" b="1" dirty="0">
                <a:solidFill>
                  <a:srgbClr val="0B1F33"/>
                </a:solidFill>
                <a:latin typeface="Aptos Display" pitchFamily="34" charset="0"/>
                <a:ea typeface="Aptos Display" pitchFamily="34" charset="-122"/>
                <a:cs typeface="Aptos Display" pitchFamily="34" charset="-120"/>
              </a:rPr>
              <a:t>Connects to the order / TMS system</a:t>
            </a:r>
            <a:endParaRPr lang="en-US" sz="1350" dirty="0"/>
          </a:p>
        </p:txBody>
      </p:sp>
      <p:sp>
        <p:nvSpPr>
          <p:cNvPr id="31" name="Shape 28"/>
          <p:cNvSpPr/>
          <p:nvPr/>
        </p:nvSpPr>
        <p:spPr>
          <a:xfrm>
            <a:off x="9006840" y="4517136"/>
            <a:ext cx="2651760" cy="420624"/>
          </a:xfrm>
          <a:prstGeom prst="roundRect">
            <a:avLst>
              <a:gd name="adj" fmla="val 13043"/>
            </a:avLst>
          </a:prstGeom>
          <a:solidFill>
            <a:srgbClr val="FCF0DC"/>
          </a:solidFill>
          <a:ln/>
        </p:spPr>
        <p:txBody>
          <a:bodyPr/>
          <a:p/>
        </p:txBody>
      </p:sp>
      <p:sp>
        <p:nvSpPr>
          <p:cNvPr id="32" name="Text 29"/>
          <p:cNvSpPr txBox="1"/>
          <p:nvPr/>
        </p:nvSpPr>
        <p:spPr>
          <a:xfrm>
            <a:off x="9006840" y="4626864"/>
            <a:ext cx="2651760" cy="201168"/>
          </a:xfrm>
          <a:prstGeom prst="rect">
            <a:avLst/>
          </a:prstGeom>
          <a:noFill/>
          <a:ln/>
        </p:spPr>
        <p:txBody>
          <a:bodyPr wrap="square" lIns="0" tIns="0" rIns="0" bIns="0" rtlCol="0" anchor="t"/>
          <a:lstStyle/>
          <a:p>
            <a:pPr algn="ctr" indent="0" marL="0">
              <a:lnSpc>
                <a:spcPct val="100000"/>
              </a:lnSpc>
              <a:buNone/>
            </a:pPr>
            <a:r>
              <a:rPr lang="en-US" sz="1100" b="1" dirty="0">
                <a:solidFill>
                  <a:srgbClr val="8A5B06"/>
                </a:solidFill>
                <a:latin typeface="Aptos" pitchFamily="34" charset="0"/>
                <a:ea typeface="Aptos" pitchFamily="34" charset="-122"/>
                <a:cs typeface="Aptos" pitchFamily="34" charset="-120"/>
              </a:rPr>
              <a:t>In build</a:t>
            </a:r>
            <a:endParaRPr lang="en-US" sz="1100" dirty="0"/>
          </a:p>
        </p:txBody>
      </p:sp>
      <p:sp>
        <p:nvSpPr>
          <p:cNvPr id="33" name="Shape 30"/>
          <p:cNvSpPr/>
          <p:nvPr/>
        </p:nvSpPr>
        <p:spPr>
          <a:xfrm>
            <a:off x="530352" y="4937760"/>
            <a:ext cx="11130991" cy="0"/>
          </a:xfrm>
          <a:prstGeom prst="line">
            <a:avLst/>
          </a:prstGeom>
          <a:noFill/>
          <a:ln w="9525">
            <a:solidFill>
              <a:srgbClr val="E7EDF1"/>
            </a:solidFill>
            <a:prstDash val="solid"/>
          </a:ln>
        </p:spPr>
        <p:txBody>
          <a:bodyPr/>
          <a:p/>
        </p:txBody>
      </p:sp>
      <p:sp>
        <p:nvSpPr>
          <p:cNvPr id="34" name="Text 31"/>
          <p:cNvSpPr txBox="1"/>
          <p:nvPr/>
        </p:nvSpPr>
        <p:spPr>
          <a:xfrm>
            <a:off x="530352" y="5168189"/>
            <a:ext cx="7315200" cy="310896"/>
          </a:xfrm>
          <a:prstGeom prst="rect">
            <a:avLst/>
          </a:prstGeom>
          <a:noFill/>
          <a:ln/>
        </p:spPr>
        <p:txBody>
          <a:bodyPr wrap="square" lIns="0" tIns="0" rIns="0" bIns="0" rtlCol="0" anchor="t"/>
          <a:lstStyle/>
          <a:p>
            <a:pPr algn="l" indent="0" marL="0">
              <a:lnSpc>
                <a:spcPct val="100000"/>
              </a:lnSpc>
              <a:buNone/>
            </a:pPr>
            <a:r>
              <a:rPr lang="en-US" sz="1350" b="1" dirty="0">
                <a:solidFill>
                  <a:srgbClr val="0B1F33"/>
                </a:solidFill>
                <a:latin typeface="Aptos Display" pitchFamily="34" charset="0"/>
                <a:ea typeface="Aptos Display" pitchFamily="34" charset="-122"/>
                <a:cs typeface="Aptos Display" pitchFamily="34" charset="-120"/>
              </a:rPr>
              <a:t>Yard management / trailer pool</a:t>
            </a:r>
            <a:endParaRPr lang="en-US" sz="1350" dirty="0"/>
          </a:p>
        </p:txBody>
      </p:sp>
      <p:sp>
        <p:nvSpPr>
          <p:cNvPr id="35" name="Shape 32"/>
          <p:cNvSpPr/>
          <p:nvPr/>
        </p:nvSpPr>
        <p:spPr>
          <a:xfrm>
            <a:off x="9006840" y="5095037"/>
            <a:ext cx="2651760" cy="420624"/>
          </a:xfrm>
          <a:prstGeom prst="roundRect">
            <a:avLst>
              <a:gd name="adj" fmla="val 13043"/>
            </a:avLst>
          </a:prstGeom>
          <a:solidFill>
            <a:srgbClr val="E9EFF4"/>
          </a:solidFill>
          <a:ln/>
        </p:spPr>
        <p:txBody>
          <a:bodyPr/>
          <a:p/>
        </p:txBody>
      </p:sp>
      <p:sp>
        <p:nvSpPr>
          <p:cNvPr id="36" name="Text 33"/>
          <p:cNvSpPr txBox="1"/>
          <p:nvPr/>
        </p:nvSpPr>
        <p:spPr>
          <a:xfrm>
            <a:off x="9006840" y="5204765"/>
            <a:ext cx="2651760" cy="201168"/>
          </a:xfrm>
          <a:prstGeom prst="rect">
            <a:avLst/>
          </a:prstGeom>
          <a:noFill/>
          <a:ln/>
        </p:spPr>
        <p:txBody>
          <a:bodyPr wrap="square" lIns="0" tIns="0" rIns="0" bIns="0" rtlCol="0" anchor="t"/>
          <a:lstStyle/>
          <a:p>
            <a:pPr algn="ctr" indent="0" marL="0">
              <a:lnSpc>
                <a:spcPct val="100000"/>
              </a:lnSpc>
              <a:buNone/>
            </a:pPr>
            <a:r>
              <a:rPr lang="en-US" sz="1100" b="1" dirty="0">
                <a:solidFill>
                  <a:srgbClr val="456174"/>
                </a:solidFill>
                <a:latin typeface="Aptos" pitchFamily="34" charset="0"/>
                <a:ea typeface="Aptos" pitchFamily="34" charset="-122"/>
                <a:cs typeface="Aptos" pitchFamily="34" charset="-120"/>
              </a:rPr>
              <a:t>By choice, no</a:t>
            </a:r>
            <a:endParaRPr lang="en-US" sz="1100" dirty="0"/>
          </a:p>
        </p:txBody>
      </p:sp>
      <p:sp>
        <p:nvSpPr>
          <p:cNvPr id="37" name="Shape 34"/>
          <p:cNvSpPr/>
          <p:nvPr/>
        </p:nvSpPr>
        <p:spPr>
          <a:xfrm>
            <a:off x="530352" y="5779008"/>
            <a:ext cx="11130991" cy="548640"/>
          </a:xfrm>
          <a:prstGeom prst="roundRect">
            <a:avLst>
              <a:gd name="adj" fmla="val 10811"/>
            </a:avLst>
          </a:prstGeom>
          <a:solidFill>
            <a:srgbClr val="FFFFFF"/>
          </a:solidFill>
          <a:ln w="9525">
            <a:solidFill>
              <a:srgbClr val="D8E4EA"/>
            </a:solidFill>
            <a:prstDash val="solid"/>
          </a:ln>
        </p:spPr>
        <p:txBody>
          <a:bodyPr/>
          <a:p/>
        </p:txBody>
      </p:sp>
      <p:sp>
        <p:nvSpPr>
          <p:cNvPr id="38" name="Text 35"/>
          <p:cNvSpPr txBox="1"/>
          <p:nvPr/>
        </p:nvSpPr>
        <p:spPr>
          <a:xfrm>
            <a:off x="841248" y="5779008"/>
            <a:ext cx="10509199" cy="548640"/>
          </a:xfrm>
          <a:prstGeom prst="rect">
            <a:avLst/>
          </a:prstGeom>
          <a:noFill/>
          <a:ln/>
        </p:spPr>
        <p:txBody>
          <a:bodyPr wrap="square" lIns="0" tIns="0" rIns="0" bIns="0" rtlCol="0" anchor="ctr"/>
          <a:lstStyle/>
          <a:p>
            <a:pPr algn="l" indent="0" marL="0">
              <a:lnSpc>
                <a:spcPct val="115000"/>
              </a:lnSpc>
              <a:buNone/>
            </a:pPr>
            <a:r>
              <a:rPr lang="en-US" sz="1150" b="1" dirty="0">
                <a:solidFill>
                  <a:srgbClr val="0B1F33"/>
                </a:solidFill>
                <a:latin typeface="Aptos" pitchFamily="34" charset="0"/>
                <a:ea typeface="Aptos" pitchFamily="34" charset="-122"/>
                <a:cs typeface="Aptos" pitchFamily="34" charset="-120"/>
              </a:rPr>
              <a:t>They all schedule doors. MaxDock schedules the load, the trailer, the floor and the plant-to-plant move as one system.</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32</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WHERE IT STANDS TODAY</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Working now, against the live database.</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Not prototypes. Every item below can be opened this afternoon.</a:t>
            </a:r>
            <a:endParaRPr lang="en-US" sz="1200" dirty="0"/>
          </a:p>
        </p:txBody>
      </p:sp>
      <p:sp>
        <p:nvSpPr>
          <p:cNvPr id="10" name="Shape 7"/>
          <p:cNvSpPr/>
          <p:nvPr/>
        </p:nvSpPr>
        <p:spPr>
          <a:xfrm>
            <a:off x="530352" y="1627632"/>
            <a:ext cx="5303520" cy="1773936"/>
          </a:xfrm>
          <a:prstGeom prst="roundRect">
            <a:avLst>
              <a:gd name="adj" fmla="val 4000"/>
            </a:avLst>
          </a:prstGeom>
          <a:solidFill>
            <a:srgbClr val="FFFFFF"/>
          </a:solidFill>
          <a:ln w="9525">
            <a:solidFill>
              <a:srgbClr val="D8E4EA"/>
            </a:solidFill>
            <a:prstDash val="solid"/>
          </a:ln>
        </p:spPr>
        <p:txBody>
          <a:bodyPr/>
          <a:p/>
        </p:txBody>
      </p:sp>
      <p:sp>
        <p:nvSpPr>
          <p:cNvPr id="11" name="Shape 8"/>
          <p:cNvSpPr/>
          <p:nvPr/>
        </p:nvSpPr>
        <p:spPr>
          <a:xfrm>
            <a:off x="877824" y="1883664"/>
            <a:ext cx="274320" cy="274320"/>
          </a:xfrm>
          <a:prstGeom prst="roundRect">
            <a:avLst>
              <a:gd name="adj" fmla="val 16667"/>
            </a:avLst>
          </a:prstGeom>
          <a:solidFill>
            <a:srgbClr val="0877C9"/>
          </a:solidFill>
          <a:ln/>
        </p:spPr>
        <p:txBody>
          <a:bodyPr/>
          <a:p/>
        </p:txBody>
      </p:sp>
      <p:sp>
        <p:nvSpPr>
          <p:cNvPr id="12" name="Text 9"/>
          <p:cNvSpPr txBox="1"/>
          <p:nvPr/>
        </p:nvSpPr>
        <p:spPr>
          <a:xfrm>
            <a:off x="1261872" y="1883664"/>
            <a:ext cx="4203040" cy="310896"/>
          </a:xfrm>
          <a:prstGeom prst="rect">
            <a:avLst/>
          </a:prstGeom>
          <a:noFill/>
          <a:ln/>
        </p:spPr>
        <p:txBody>
          <a:bodyPr wrap="square" lIns="0" tIns="0" rIns="0" bIns="0" rtlCol="0" anchor="t"/>
          <a:lstStyle/>
          <a:p>
            <a:pPr algn="l" indent="0" marL="0">
              <a:lnSpc>
                <a:spcPct val="100000"/>
              </a:lnSpc>
              <a:buNone/>
            </a:pPr>
            <a:r>
              <a:rPr lang="en-US" sz="1700" b="1" dirty="0">
                <a:solidFill>
                  <a:srgbClr val="0B1F33"/>
                </a:solidFill>
                <a:latin typeface="Aptos Display" pitchFamily="34" charset="0"/>
                <a:ea typeface="Aptos Display" pitchFamily="34" charset="-122"/>
                <a:cs typeface="Aptos Display" pitchFamily="34" charset="-120"/>
              </a:rPr>
              <a:t>Booking</a:t>
            </a:r>
            <a:endParaRPr lang="en-US" sz="1700" dirty="0"/>
          </a:p>
        </p:txBody>
      </p:sp>
      <p:sp>
        <p:nvSpPr>
          <p:cNvPr id="13" name="Shape 10"/>
          <p:cNvSpPr/>
          <p:nvPr/>
        </p:nvSpPr>
        <p:spPr>
          <a:xfrm>
            <a:off x="914400" y="2423160"/>
            <a:ext cx="128016" cy="128016"/>
          </a:xfrm>
          <a:prstGeom prst="roundRect">
            <a:avLst>
              <a:gd name="adj" fmla="val 21429"/>
            </a:avLst>
          </a:prstGeom>
          <a:solidFill>
            <a:srgbClr val="0877C9"/>
          </a:solidFill>
          <a:ln/>
        </p:spPr>
        <p:txBody>
          <a:bodyPr/>
          <a:p/>
        </p:txBody>
      </p:sp>
      <p:sp>
        <p:nvSpPr>
          <p:cNvPr id="14" name="Text 11"/>
          <p:cNvSpPr txBox="1"/>
          <p:nvPr/>
        </p:nvSpPr>
        <p:spPr>
          <a:xfrm>
            <a:off x="1243584" y="2340864"/>
            <a:ext cx="4239616" cy="292608"/>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Self-service for customers, vendors and carriers</a:t>
            </a:r>
            <a:endParaRPr lang="en-US" sz="1150" dirty="0"/>
          </a:p>
        </p:txBody>
      </p:sp>
      <p:sp>
        <p:nvSpPr>
          <p:cNvPr id="15" name="Shape 12"/>
          <p:cNvSpPr/>
          <p:nvPr/>
        </p:nvSpPr>
        <p:spPr>
          <a:xfrm>
            <a:off x="914400" y="2770632"/>
            <a:ext cx="128016" cy="128016"/>
          </a:xfrm>
          <a:prstGeom prst="roundRect">
            <a:avLst>
              <a:gd name="adj" fmla="val 21429"/>
            </a:avLst>
          </a:prstGeom>
          <a:solidFill>
            <a:srgbClr val="0877C9"/>
          </a:solidFill>
          <a:ln/>
        </p:spPr>
        <p:txBody>
          <a:bodyPr/>
          <a:p/>
        </p:txBody>
      </p:sp>
      <p:sp>
        <p:nvSpPr>
          <p:cNvPr id="16" name="Text 13"/>
          <p:cNvSpPr txBox="1"/>
          <p:nvPr/>
        </p:nvSpPr>
        <p:spPr>
          <a:xfrm>
            <a:off x="1243584" y="2688336"/>
            <a:ext cx="4239616" cy="292608"/>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Three steps, against each plant's real rules</a:t>
            </a:r>
            <a:endParaRPr lang="en-US" sz="1150" dirty="0"/>
          </a:p>
        </p:txBody>
      </p:sp>
      <p:sp>
        <p:nvSpPr>
          <p:cNvPr id="17" name="Shape 14"/>
          <p:cNvSpPr/>
          <p:nvPr/>
        </p:nvSpPr>
        <p:spPr>
          <a:xfrm>
            <a:off x="914400" y="3118104"/>
            <a:ext cx="128016" cy="128016"/>
          </a:xfrm>
          <a:prstGeom prst="roundRect">
            <a:avLst>
              <a:gd name="adj" fmla="val 21429"/>
            </a:avLst>
          </a:prstGeom>
          <a:solidFill>
            <a:srgbClr val="0877C9"/>
          </a:solidFill>
          <a:ln/>
        </p:spPr>
        <p:txBody>
          <a:bodyPr/>
          <a:p/>
        </p:txBody>
      </p:sp>
      <p:sp>
        <p:nvSpPr>
          <p:cNvPr id="18" name="Text 15"/>
          <p:cNvSpPr txBox="1"/>
          <p:nvPr/>
        </p:nvSpPr>
        <p:spPr>
          <a:xfrm>
            <a:off x="1243584" y="3035808"/>
            <a:ext cx="4239616" cy="292608"/>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QR check-in code, shareable to any driver</a:t>
            </a:r>
            <a:endParaRPr lang="en-US" sz="1150" dirty="0"/>
          </a:p>
        </p:txBody>
      </p:sp>
      <p:sp>
        <p:nvSpPr>
          <p:cNvPr id="19" name="Shape 16"/>
          <p:cNvSpPr/>
          <p:nvPr/>
        </p:nvSpPr>
        <p:spPr>
          <a:xfrm>
            <a:off x="6355080" y="1627632"/>
            <a:ext cx="5303520" cy="1773936"/>
          </a:xfrm>
          <a:prstGeom prst="roundRect">
            <a:avLst>
              <a:gd name="adj" fmla="val 4000"/>
            </a:avLst>
          </a:prstGeom>
          <a:solidFill>
            <a:srgbClr val="FFFFFF"/>
          </a:solidFill>
          <a:ln w="9525">
            <a:solidFill>
              <a:srgbClr val="D8E4EA"/>
            </a:solidFill>
            <a:prstDash val="solid"/>
          </a:ln>
        </p:spPr>
        <p:txBody>
          <a:bodyPr/>
          <a:p/>
        </p:txBody>
      </p:sp>
      <p:sp>
        <p:nvSpPr>
          <p:cNvPr id="20" name="Shape 17"/>
          <p:cNvSpPr/>
          <p:nvPr/>
        </p:nvSpPr>
        <p:spPr>
          <a:xfrm>
            <a:off x="6699352" y="1883664"/>
            <a:ext cx="274320" cy="274320"/>
          </a:xfrm>
          <a:prstGeom prst="roundRect">
            <a:avLst>
              <a:gd name="adj" fmla="val 16667"/>
            </a:avLst>
          </a:prstGeom>
          <a:solidFill>
            <a:srgbClr val="14A66A"/>
          </a:solidFill>
          <a:ln/>
        </p:spPr>
        <p:txBody>
          <a:bodyPr/>
          <a:p/>
        </p:txBody>
      </p:sp>
      <p:sp>
        <p:nvSpPr>
          <p:cNvPr id="21" name="Text 18"/>
          <p:cNvSpPr txBox="1"/>
          <p:nvPr/>
        </p:nvSpPr>
        <p:spPr>
          <a:xfrm>
            <a:off x="7083400" y="1883664"/>
            <a:ext cx="4203040" cy="310896"/>
          </a:xfrm>
          <a:prstGeom prst="rect">
            <a:avLst/>
          </a:prstGeom>
          <a:noFill/>
          <a:ln/>
        </p:spPr>
        <p:txBody>
          <a:bodyPr wrap="square" lIns="0" tIns="0" rIns="0" bIns="0" rtlCol="0" anchor="t"/>
          <a:lstStyle/>
          <a:p>
            <a:pPr algn="l" indent="0" marL="0">
              <a:lnSpc>
                <a:spcPct val="100000"/>
              </a:lnSpc>
              <a:buNone/>
            </a:pPr>
            <a:r>
              <a:rPr lang="en-US" sz="1700" b="1" dirty="0">
                <a:solidFill>
                  <a:srgbClr val="0B1F33"/>
                </a:solidFill>
                <a:latin typeface="Aptos Display" pitchFamily="34" charset="0"/>
                <a:ea typeface="Aptos Display" pitchFamily="34" charset="-122"/>
                <a:cs typeface="Aptos Display" pitchFamily="34" charset="-120"/>
              </a:rPr>
              <a:t>Operations</a:t>
            </a:r>
            <a:endParaRPr lang="en-US" sz="1700" dirty="0"/>
          </a:p>
        </p:txBody>
      </p:sp>
      <p:sp>
        <p:nvSpPr>
          <p:cNvPr id="22" name="Shape 19"/>
          <p:cNvSpPr/>
          <p:nvPr/>
        </p:nvSpPr>
        <p:spPr>
          <a:xfrm>
            <a:off x="6735928" y="2423160"/>
            <a:ext cx="128016" cy="128016"/>
          </a:xfrm>
          <a:prstGeom prst="roundRect">
            <a:avLst>
              <a:gd name="adj" fmla="val 21429"/>
            </a:avLst>
          </a:prstGeom>
          <a:solidFill>
            <a:srgbClr val="14A66A"/>
          </a:solidFill>
          <a:ln/>
        </p:spPr>
        <p:txBody>
          <a:bodyPr/>
          <a:p/>
        </p:txBody>
      </p:sp>
      <p:sp>
        <p:nvSpPr>
          <p:cNvPr id="23" name="Text 20"/>
          <p:cNvSpPr txBox="1"/>
          <p:nvPr/>
        </p:nvSpPr>
        <p:spPr>
          <a:xfrm>
            <a:off x="7065112" y="2340864"/>
            <a:ext cx="4239616" cy="292608"/>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Live dock board and operations queue</a:t>
            </a:r>
            <a:endParaRPr lang="en-US" sz="1150" dirty="0"/>
          </a:p>
        </p:txBody>
      </p:sp>
      <p:sp>
        <p:nvSpPr>
          <p:cNvPr id="24" name="Shape 21"/>
          <p:cNvSpPr/>
          <p:nvPr/>
        </p:nvSpPr>
        <p:spPr>
          <a:xfrm>
            <a:off x="6735928" y="2770632"/>
            <a:ext cx="128016" cy="128016"/>
          </a:xfrm>
          <a:prstGeom prst="roundRect">
            <a:avLst>
              <a:gd name="adj" fmla="val 21429"/>
            </a:avLst>
          </a:prstGeom>
          <a:solidFill>
            <a:srgbClr val="14A66A"/>
          </a:solidFill>
          <a:ln/>
        </p:spPr>
        <p:txBody>
          <a:bodyPr/>
          <a:p/>
        </p:txBody>
      </p:sp>
      <p:sp>
        <p:nvSpPr>
          <p:cNvPr id="25" name="Text 22"/>
          <p:cNvSpPr txBox="1"/>
          <p:nvPr/>
        </p:nvSpPr>
        <p:spPr>
          <a:xfrm>
            <a:off x="7065112" y="2688336"/>
            <a:ext cx="4239616" cy="292608"/>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Load combining, with the bigger-trailer offer</a:t>
            </a:r>
            <a:endParaRPr lang="en-US" sz="1150" dirty="0"/>
          </a:p>
        </p:txBody>
      </p:sp>
      <p:sp>
        <p:nvSpPr>
          <p:cNvPr id="26" name="Shape 23"/>
          <p:cNvSpPr/>
          <p:nvPr/>
        </p:nvSpPr>
        <p:spPr>
          <a:xfrm>
            <a:off x="6735928" y="3118104"/>
            <a:ext cx="128016" cy="128016"/>
          </a:xfrm>
          <a:prstGeom prst="roundRect">
            <a:avLst>
              <a:gd name="adj" fmla="val 21429"/>
            </a:avLst>
          </a:prstGeom>
          <a:solidFill>
            <a:srgbClr val="14A66A"/>
          </a:solidFill>
          <a:ln/>
        </p:spPr>
        <p:txBody>
          <a:bodyPr/>
          <a:p/>
        </p:txBody>
      </p:sp>
      <p:sp>
        <p:nvSpPr>
          <p:cNvPr id="27" name="Text 24"/>
          <p:cNvSpPr txBox="1"/>
          <p:nvPr/>
        </p:nvSpPr>
        <p:spPr>
          <a:xfrm>
            <a:off x="7065112" y="3035808"/>
            <a:ext cx="4239616" cy="292608"/>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Plant-to-plant movements booked at both ends</a:t>
            </a:r>
            <a:endParaRPr lang="en-US" sz="1150" dirty="0"/>
          </a:p>
        </p:txBody>
      </p:sp>
      <p:sp>
        <p:nvSpPr>
          <p:cNvPr id="28" name="Shape 25"/>
          <p:cNvSpPr/>
          <p:nvPr/>
        </p:nvSpPr>
        <p:spPr>
          <a:xfrm>
            <a:off x="530352" y="3749040"/>
            <a:ext cx="5303520" cy="1773936"/>
          </a:xfrm>
          <a:prstGeom prst="roundRect">
            <a:avLst>
              <a:gd name="adj" fmla="val 4000"/>
            </a:avLst>
          </a:prstGeom>
          <a:solidFill>
            <a:srgbClr val="FFFFFF"/>
          </a:solidFill>
          <a:ln w="9525">
            <a:solidFill>
              <a:srgbClr val="D8E4EA"/>
            </a:solidFill>
            <a:prstDash val="solid"/>
          </a:ln>
        </p:spPr>
        <p:txBody>
          <a:bodyPr/>
          <a:p/>
        </p:txBody>
      </p:sp>
      <p:sp>
        <p:nvSpPr>
          <p:cNvPr id="29" name="Shape 26"/>
          <p:cNvSpPr/>
          <p:nvPr/>
        </p:nvSpPr>
        <p:spPr>
          <a:xfrm>
            <a:off x="877824" y="4005072"/>
            <a:ext cx="274320" cy="274320"/>
          </a:xfrm>
          <a:prstGeom prst="roundRect">
            <a:avLst>
              <a:gd name="adj" fmla="val 16667"/>
            </a:avLst>
          </a:prstGeom>
          <a:solidFill>
            <a:srgbClr val="F2A11B"/>
          </a:solidFill>
          <a:ln/>
        </p:spPr>
        <p:txBody>
          <a:bodyPr/>
          <a:p/>
        </p:txBody>
      </p:sp>
      <p:sp>
        <p:nvSpPr>
          <p:cNvPr id="30" name="Text 27"/>
          <p:cNvSpPr txBox="1"/>
          <p:nvPr/>
        </p:nvSpPr>
        <p:spPr>
          <a:xfrm>
            <a:off x="1261872" y="4005072"/>
            <a:ext cx="4203040" cy="310896"/>
          </a:xfrm>
          <a:prstGeom prst="rect">
            <a:avLst/>
          </a:prstGeom>
          <a:noFill/>
          <a:ln/>
        </p:spPr>
        <p:txBody>
          <a:bodyPr wrap="square" lIns="0" tIns="0" rIns="0" bIns="0" rtlCol="0" anchor="t"/>
          <a:lstStyle/>
          <a:p>
            <a:pPr algn="l" indent="0" marL="0">
              <a:lnSpc>
                <a:spcPct val="100000"/>
              </a:lnSpc>
              <a:buNone/>
            </a:pPr>
            <a:r>
              <a:rPr lang="en-US" sz="1700" b="1" dirty="0">
                <a:solidFill>
                  <a:srgbClr val="0B1F33"/>
                </a:solidFill>
                <a:latin typeface="Aptos Display" pitchFamily="34" charset="0"/>
                <a:ea typeface="Aptos Display" pitchFamily="34" charset="-122"/>
                <a:cs typeface="Aptos Display" pitchFamily="34" charset="-120"/>
              </a:rPr>
              <a:t>On the floor</a:t>
            </a:r>
            <a:endParaRPr lang="en-US" sz="1700" dirty="0"/>
          </a:p>
        </p:txBody>
      </p:sp>
      <p:sp>
        <p:nvSpPr>
          <p:cNvPr id="31" name="Shape 28"/>
          <p:cNvSpPr/>
          <p:nvPr/>
        </p:nvSpPr>
        <p:spPr>
          <a:xfrm>
            <a:off x="914400" y="4544568"/>
            <a:ext cx="128016" cy="128016"/>
          </a:xfrm>
          <a:prstGeom prst="roundRect">
            <a:avLst>
              <a:gd name="adj" fmla="val 21429"/>
            </a:avLst>
          </a:prstGeom>
          <a:solidFill>
            <a:srgbClr val="F2A11B"/>
          </a:solidFill>
          <a:ln/>
        </p:spPr>
        <p:txBody>
          <a:bodyPr/>
          <a:p/>
        </p:txBody>
      </p:sp>
      <p:sp>
        <p:nvSpPr>
          <p:cNvPr id="32" name="Text 29"/>
          <p:cNvSpPr txBox="1"/>
          <p:nvPr/>
        </p:nvSpPr>
        <p:spPr>
          <a:xfrm>
            <a:off x="1243584" y="4462272"/>
            <a:ext cx="4239616" cy="292608"/>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Installable phone and tablet app</a:t>
            </a:r>
            <a:endParaRPr lang="en-US" sz="1150" dirty="0"/>
          </a:p>
        </p:txBody>
      </p:sp>
      <p:sp>
        <p:nvSpPr>
          <p:cNvPr id="33" name="Shape 30"/>
          <p:cNvSpPr/>
          <p:nvPr/>
        </p:nvSpPr>
        <p:spPr>
          <a:xfrm>
            <a:off x="914400" y="4892040"/>
            <a:ext cx="128016" cy="128016"/>
          </a:xfrm>
          <a:prstGeom prst="roundRect">
            <a:avLst>
              <a:gd name="adj" fmla="val 21429"/>
            </a:avLst>
          </a:prstGeom>
          <a:solidFill>
            <a:srgbClr val="F2A11B"/>
          </a:solidFill>
          <a:ln/>
        </p:spPr>
        <p:txBody>
          <a:bodyPr/>
          <a:p/>
        </p:txBody>
      </p:sp>
      <p:sp>
        <p:nvSpPr>
          <p:cNvPr id="34" name="Text 31"/>
          <p:cNvSpPr txBox="1"/>
          <p:nvPr/>
        </p:nvSpPr>
        <p:spPr>
          <a:xfrm>
            <a:off x="1243584" y="4809744"/>
            <a:ext cx="4239616" cy="292608"/>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Scan, then three taps to receive a truck</a:t>
            </a:r>
            <a:endParaRPr lang="en-US" sz="1150" dirty="0"/>
          </a:p>
        </p:txBody>
      </p:sp>
      <p:sp>
        <p:nvSpPr>
          <p:cNvPr id="35" name="Shape 32"/>
          <p:cNvSpPr/>
          <p:nvPr/>
        </p:nvSpPr>
        <p:spPr>
          <a:xfrm>
            <a:off x="914400" y="5239512"/>
            <a:ext cx="128016" cy="128016"/>
          </a:xfrm>
          <a:prstGeom prst="roundRect">
            <a:avLst>
              <a:gd name="adj" fmla="val 21429"/>
            </a:avLst>
          </a:prstGeom>
          <a:solidFill>
            <a:srgbClr val="F2A11B"/>
          </a:solidFill>
          <a:ln/>
        </p:spPr>
        <p:txBody>
          <a:bodyPr/>
          <a:p/>
        </p:txBody>
      </p:sp>
      <p:sp>
        <p:nvSpPr>
          <p:cNvPr id="36" name="Text 33"/>
          <p:cNvSpPr txBox="1"/>
          <p:nvPr/>
        </p:nvSpPr>
        <p:spPr>
          <a:xfrm>
            <a:off x="1243584" y="5157216"/>
            <a:ext cx="4239616" cy="292608"/>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Wrong-site warning that names the plant</a:t>
            </a:r>
            <a:endParaRPr lang="en-US" sz="1150" dirty="0"/>
          </a:p>
        </p:txBody>
      </p:sp>
      <p:sp>
        <p:nvSpPr>
          <p:cNvPr id="37" name="Shape 34"/>
          <p:cNvSpPr/>
          <p:nvPr/>
        </p:nvSpPr>
        <p:spPr>
          <a:xfrm>
            <a:off x="6355080" y="3749040"/>
            <a:ext cx="5303520" cy="1773936"/>
          </a:xfrm>
          <a:prstGeom prst="roundRect">
            <a:avLst>
              <a:gd name="adj" fmla="val 4000"/>
            </a:avLst>
          </a:prstGeom>
          <a:solidFill>
            <a:srgbClr val="FFFFFF"/>
          </a:solidFill>
          <a:ln w="9525">
            <a:solidFill>
              <a:srgbClr val="D8E4EA"/>
            </a:solidFill>
            <a:prstDash val="solid"/>
          </a:ln>
        </p:spPr>
        <p:txBody>
          <a:bodyPr/>
          <a:p/>
        </p:txBody>
      </p:sp>
      <p:sp>
        <p:nvSpPr>
          <p:cNvPr id="38" name="Shape 35"/>
          <p:cNvSpPr/>
          <p:nvPr/>
        </p:nvSpPr>
        <p:spPr>
          <a:xfrm>
            <a:off x="6699352" y="4005072"/>
            <a:ext cx="274320" cy="274320"/>
          </a:xfrm>
          <a:prstGeom prst="roundRect">
            <a:avLst>
              <a:gd name="adj" fmla="val 16667"/>
            </a:avLst>
          </a:prstGeom>
          <a:solidFill>
            <a:srgbClr val="6C63D9"/>
          </a:solidFill>
          <a:ln/>
        </p:spPr>
        <p:txBody>
          <a:bodyPr/>
          <a:p/>
        </p:txBody>
      </p:sp>
      <p:sp>
        <p:nvSpPr>
          <p:cNvPr id="39" name="Text 36"/>
          <p:cNvSpPr txBox="1"/>
          <p:nvPr/>
        </p:nvSpPr>
        <p:spPr>
          <a:xfrm>
            <a:off x="7083400" y="4005072"/>
            <a:ext cx="4203040" cy="310896"/>
          </a:xfrm>
          <a:prstGeom prst="rect">
            <a:avLst/>
          </a:prstGeom>
          <a:noFill/>
          <a:ln/>
        </p:spPr>
        <p:txBody>
          <a:bodyPr wrap="square" lIns="0" tIns="0" rIns="0" bIns="0" rtlCol="0" anchor="t"/>
          <a:lstStyle/>
          <a:p>
            <a:pPr algn="l" indent="0" marL="0">
              <a:lnSpc>
                <a:spcPct val="100000"/>
              </a:lnSpc>
              <a:buNone/>
            </a:pPr>
            <a:r>
              <a:rPr lang="en-US" sz="1700" b="1" dirty="0">
                <a:solidFill>
                  <a:srgbClr val="0B1F33"/>
                </a:solidFill>
                <a:latin typeface="Aptos Display" pitchFamily="34" charset="0"/>
                <a:ea typeface="Aptos Display" pitchFamily="34" charset="-122"/>
                <a:cs typeface="Aptos Display" pitchFamily="34" charset="-120"/>
              </a:rPr>
              <a:t>Back office</a:t>
            </a:r>
            <a:endParaRPr lang="en-US" sz="1700" dirty="0"/>
          </a:p>
        </p:txBody>
      </p:sp>
      <p:sp>
        <p:nvSpPr>
          <p:cNvPr id="40" name="Shape 37"/>
          <p:cNvSpPr/>
          <p:nvPr/>
        </p:nvSpPr>
        <p:spPr>
          <a:xfrm>
            <a:off x="6735928" y="4544568"/>
            <a:ext cx="128016" cy="128016"/>
          </a:xfrm>
          <a:prstGeom prst="roundRect">
            <a:avLst>
              <a:gd name="adj" fmla="val 21429"/>
            </a:avLst>
          </a:prstGeom>
          <a:solidFill>
            <a:srgbClr val="6C63D9"/>
          </a:solidFill>
          <a:ln/>
        </p:spPr>
        <p:txBody>
          <a:bodyPr/>
          <a:p/>
        </p:txBody>
      </p:sp>
      <p:sp>
        <p:nvSpPr>
          <p:cNvPr id="41" name="Text 38"/>
          <p:cNvSpPr txBox="1"/>
          <p:nvPr/>
        </p:nvSpPr>
        <p:spPr>
          <a:xfrm>
            <a:off x="7065112" y="4462272"/>
            <a:ext cx="4239616" cy="292608"/>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Nine reports, exportable, across any sites</a:t>
            </a:r>
            <a:endParaRPr lang="en-US" sz="1150" dirty="0"/>
          </a:p>
        </p:txBody>
      </p:sp>
      <p:sp>
        <p:nvSpPr>
          <p:cNvPr id="42" name="Shape 39"/>
          <p:cNvSpPr/>
          <p:nvPr/>
        </p:nvSpPr>
        <p:spPr>
          <a:xfrm>
            <a:off x="6735928" y="4892040"/>
            <a:ext cx="128016" cy="128016"/>
          </a:xfrm>
          <a:prstGeom prst="roundRect">
            <a:avLst>
              <a:gd name="adj" fmla="val 21429"/>
            </a:avLst>
          </a:prstGeom>
          <a:solidFill>
            <a:srgbClr val="6C63D9"/>
          </a:solidFill>
          <a:ln/>
        </p:spPr>
        <p:txBody>
          <a:bodyPr/>
          <a:p/>
        </p:txBody>
      </p:sp>
      <p:sp>
        <p:nvSpPr>
          <p:cNvPr id="43" name="Text 40"/>
          <p:cNvSpPr txBox="1"/>
          <p:nvPr/>
        </p:nvSpPr>
        <p:spPr>
          <a:xfrm>
            <a:off x="7065112" y="4809744"/>
            <a:ext cx="4239616" cy="292608"/>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Roles, permissions, strict customer isolation</a:t>
            </a:r>
            <a:endParaRPr lang="en-US" sz="1150" dirty="0"/>
          </a:p>
        </p:txBody>
      </p:sp>
      <p:sp>
        <p:nvSpPr>
          <p:cNvPr id="44" name="Shape 41"/>
          <p:cNvSpPr/>
          <p:nvPr/>
        </p:nvSpPr>
        <p:spPr>
          <a:xfrm>
            <a:off x="6735928" y="5239512"/>
            <a:ext cx="128016" cy="128016"/>
          </a:xfrm>
          <a:prstGeom prst="roundRect">
            <a:avLst>
              <a:gd name="adj" fmla="val 21429"/>
            </a:avLst>
          </a:prstGeom>
          <a:solidFill>
            <a:srgbClr val="6C63D9"/>
          </a:solidFill>
          <a:ln/>
        </p:spPr>
        <p:txBody>
          <a:bodyPr/>
          <a:p/>
        </p:txBody>
      </p:sp>
      <p:sp>
        <p:nvSpPr>
          <p:cNvPr id="45" name="Text 42"/>
          <p:cNvSpPr txBox="1"/>
          <p:nvPr/>
        </p:nvSpPr>
        <p:spPr>
          <a:xfrm>
            <a:off x="7065112" y="5157216"/>
            <a:ext cx="4239616" cy="292608"/>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Bulk import, documents, full audit history</a:t>
            </a:r>
            <a:endParaRPr lang="en-US" sz="1150" dirty="0"/>
          </a:p>
        </p:txBody>
      </p:sp>
      <p:sp>
        <p:nvSpPr>
          <p:cNvPr id="46" name="Shape 43"/>
          <p:cNvSpPr/>
          <p:nvPr/>
        </p:nvSpPr>
        <p:spPr>
          <a:xfrm>
            <a:off x="530352" y="5760720"/>
            <a:ext cx="11130991" cy="566928"/>
          </a:xfrm>
          <a:prstGeom prst="roundRect">
            <a:avLst>
              <a:gd name="adj" fmla="val 10256"/>
            </a:avLst>
          </a:prstGeom>
          <a:solidFill>
            <a:srgbClr val="072238"/>
          </a:solidFill>
          <a:ln/>
        </p:spPr>
        <p:txBody>
          <a:bodyPr/>
          <a:p/>
        </p:txBody>
      </p:sp>
      <p:sp>
        <p:nvSpPr>
          <p:cNvPr id="47" name="Text 44"/>
          <p:cNvSpPr txBox="1"/>
          <p:nvPr/>
        </p:nvSpPr>
        <p:spPr>
          <a:xfrm>
            <a:off x="877824" y="5907024"/>
            <a:ext cx="10436047" cy="420624"/>
          </a:xfrm>
          <a:prstGeom prst="rect">
            <a:avLst/>
          </a:prstGeom>
          <a:noFill/>
          <a:ln/>
        </p:spPr>
        <p:txBody>
          <a:bodyPr wrap="square" lIns="0" tIns="0" rIns="0" bIns="0" rtlCol="0" anchor="ctr"/>
          <a:lstStyle/>
          <a:p>
            <a:pPr algn="l" indent="0" marL="0">
              <a:lnSpc>
                <a:spcPct val="115000"/>
              </a:lnSpc>
              <a:buNone/>
            </a:pPr>
            <a:r>
              <a:rPr lang="en-US" sz="1200" b="1" dirty="0">
                <a:solidFill>
                  <a:srgbClr val="FFFFFF"/>
                </a:solidFill>
                <a:latin typeface="Aptos" pitchFamily="34" charset="0"/>
                <a:ea typeface="Aptos" pitchFamily="34" charset="-122"/>
                <a:cs typeface="Aptos" pitchFamily="34" charset="-120"/>
              </a:rPr>
              <a:t>No licence, no per-plant subscription, no vendor to renegotiate with. The trade: the capability lives with us.</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33</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HONEST ABOUT THE REST</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Named, not yet built.</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These are gaps with a name and a path, not unknowns.</a:t>
            </a:r>
            <a:endParaRPr lang="en-US" sz="1200" dirty="0"/>
          </a:p>
        </p:txBody>
      </p:sp>
      <p:sp>
        <p:nvSpPr>
          <p:cNvPr id="10" name="Shape 7"/>
          <p:cNvSpPr/>
          <p:nvPr/>
        </p:nvSpPr>
        <p:spPr>
          <a:xfrm>
            <a:off x="530352" y="1572768"/>
            <a:ext cx="5303520" cy="1225296"/>
          </a:xfrm>
          <a:prstGeom prst="roundRect">
            <a:avLst>
              <a:gd name="adj" fmla="val 5634"/>
            </a:avLst>
          </a:prstGeom>
          <a:solidFill>
            <a:srgbClr val="FFFFFF"/>
          </a:solidFill>
          <a:ln w="9525">
            <a:solidFill>
              <a:srgbClr val="D8E4EA"/>
            </a:solidFill>
            <a:prstDash val="solid"/>
          </a:ln>
        </p:spPr>
        <p:txBody>
          <a:bodyPr/>
          <a:p/>
        </p:txBody>
      </p:sp>
      <p:sp>
        <p:nvSpPr>
          <p:cNvPr id="11" name="Text 8"/>
          <p:cNvSpPr txBox="1"/>
          <p:nvPr/>
        </p:nvSpPr>
        <p:spPr>
          <a:xfrm>
            <a:off x="841248" y="1737360"/>
            <a:ext cx="3142336" cy="530352"/>
          </a:xfrm>
          <a:prstGeom prst="rect">
            <a:avLst/>
          </a:prstGeom>
          <a:noFill/>
          <a:ln/>
        </p:spPr>
        <p:txBody>
          <a:bodyPr wrap="square" lIns="0" tIns="0" rIns="0" bIns="0" rtlCol="0" anchor="t"/>
          <a:lstStyle/>
          <a:p>
            <a:pPr algn="l" indent="0" marL="0">
              <a:lnSpc>
                <a:spcPct val="104000"/>
              </a:lnSpc>
              <a:buNone/>
            </a:pPr>
            <a:r>
              <a:rPr lang="en-US" sz="1350" b="1" dirty="0">
                <a:solidFill>
                  <a:srgbClr val="0B1F33"/>
                </a:solidFill>
                <a:latin typeface="Aptos Display" pitchFamily="34" charset="0"/>
                <a:ea typeface="Aptos Display" pitchFamily="34" charset="-122"/>
                <a:cs typeface="Aptos Display" pitchFamily="34" charset="-120"/>
              </a:rPr>
              <a:t>The TMS and CABL bridge</a:t>
            </a:r>
            <a:endParaRPr lang="en-US" sz="1350" dirty="0"/>
          </a:p>
        </p:txBody>
      </p:sp>
      <p:sp>
        <p:nvSpPr>
          <p:cNvPr id="12" name="Shape 9"/>
          <p:cNvSpPr/>
          <p:nvPr/>
        </p:nvSpPr>
        <p:spPr>
          <a:xfrm>
            <a:off x="4175608" y="1755648"/>
            <a:ext cx="1463040" cy="310896"/>
          </a:xfrm>
          <a:prstGeom prst="roundRect">
            <a:avLst>
              <a:gd name="adj" fmla="val 17647"/>
            </a:avLst>
          </a:prstGeom>
          <a:solidFill>
            <a:srgbClr val="E9EFF4"/>
          </a:solidFill>
          <a:ln/>
        </p:spPr>
        <p:txBody>
          <a:bodyPr/>
          <a:p/>
        </p:txBody>
      </p:sp>
      <p:sp>
        <p:nvSpPr>
          <p:cNvPr id="13" name="Text 10"/>
          <p:cNvSpPr txBox="1"/>
          <p:nvPr/>
        </p:nvSpPr>
        <p:spPr>
          <a:xfrm>
            <a:off x="4175608" y="1810512"/>
            <a:ext cx="1463040" cy="201168"/>
          </a:xfrm>
          <a:prstGeom prst="rect">
            <a:avLst/>
          </a:prstGeom>
          <a:noFill/>
          <a:ln/>
        </p:spPr>
        <p:txBody>
          <a:bodyPr wrap="square" lIns="0" tIns="0" rIns="0" bIns="0" rtlCol="0" anchor="t"/>
          <a:lstStyle/>
          <a:p>
            <a:pPr algn="ctr" indent="0" marL="0">
              <a:lnSpc>
                <a:spcPct val="100000"/>
              </a:lnSpc>
              <a:buNone/>
            </a:pPr>
            <a:r>
              <a:rPr lang="en-US" sz="850" b="1" dirty="0">
                <a:solidFill>
                  <a:srgbClr val="F2A11B"/>
                </a:solidFill>
                <a:latin typeface="Aptos" pitchFamily="34" charset="0"/>
                <a:ea typeface="Aptos" pitchFamily="34" charset="-122"/>
                <a:cs typeface="Aptos" pitchFamily="34" charset="-120"/>
              </a:rPr>
              <a:t>In build</a:t>
            </a:r>
            <a:endParaRPr lang="en-US" sz="850" dirty="0"/>
          </a:p>
        </p:txBody>
      </p:sp>
      <p:sp>
        <p:nvSpPr>
          <p:cNvPr id="14" name="Text 11"/>
          <p:cNvSpPr txBox="1"/>
          <p:nvPr/>
        </p:nvSpPr>
        <p:spPr>
          <a:xfrm>
            <a:off x="841248" y="2304288"/>
            <a:ext cx="4678528" cy="457200"/>
          </a:xfrm>
          <a:prstGeom prst="rect">
            <a:avLst/>
          </a:prstGeom>
          <a:noFill/>
          <a:ln/>
        </p:spPr>
        <p:txBody>
          <a:bodyPr wrap="square" lIns="0" tIns="0" rIns="0" bIns="0" rtlCol="0" anchor="t"/>
          <a:lstStyle/>
          <a:p>
            <a:pPr algn="l" indent="0" marL="0">
              <a:lnSpc>
                <a:spcPct val="118000"/>
              </a:lnSpc>
              <a:buNone/>
            </a:pPr>
            <a:r>
              <a:rPr lang="en-US" sz="1100" dirty="0">
                <a:solidFill>
                  <a:srgbClr val="456174"/>
                </a:solidFill>
                <a:latin typeface="Aptos" pitchFamily="34" charset="0"/>
                <a:ea typeface="Aptos" pitchFamily="34" charset="-122"/>
                <a:cs typeface="Aptos" pitchFamily="34" charset="-120"/>
              </a:rPr>
              <a:t>In build and heading for test. This is what makes an appointment create itself.</a:t>
            </a:r>
            <a:endParaRPr lang="en-US" sz="1100" dirty="0"/>
          </a:p>
        </p:txBody>
      </p:sp>
      <p:sp>
        <p:nvSpPr>
          <p:cNvPr id="15" name="Shape 12"/>
          <p:cNvSpPr/>
          <p:nvPr/>
        </p:nvSpPr>
        <p:spPr>
          <a:xfrm>
            <a:off x="6355080" y="1572768"/>
            <a:ext cx="5303520" cy="1225296"/>
          </a:xfrm>
          <a:prstGeom prst="roundRect">
            <a:avLst>
              <a:gd name="adj" fmla="val 5634"/>
            </a:avLst>
          </a:prstGeom>
          <a:solidFill>
            <a:srgbClr val="FFFFFF"/>
          </a:solidFill>
          <a:ln w="9525">
            <a:solidFill>
              <a:srgbClr val="D8E4EA"/>
            </a:solidFill>
            <a:prstDash val="solid"/>
          </a:ln>
        </p:spPr>
        <p:txBody>
          <a:bodyPr/>
          <a:p/>
        </p:txBody>
      </p:sp>
      <p:sp>
        <p:nvSpPr>
          <p:cNvPr id="16" name="Text 13"/>
          <p:cNvSpPr txBox="1"/>
          <p:nvPr/>
        </p:nvSpPr>
        <p:spPr>
          <a:xfrm>
            <a:off x="6662776" y="1737360"/>
            <a:ext cx="3142336" cy="530352"/>
          </a:xfrm>
          <a:prstGeom prst="rect">
            <a:avLst/>
          </a:prstGeom>
          <a:noFill/>
          <a:ln/>
        </p:spPr>
        <p:txBody>
          <a:bodyPr wrap="square" lIns="0" tIns="0" rIns="0" bIns="0" rtlCol="0" anchor="t"/>
          <a:lstStyle/>
          <a:p>
            <a:pPr algn="l" indent="0" marL="0">
              <a:lnSpc>
                <a:spcPct val="104000"/>
              </a:lnSpc>
              <a:buNone/>
            </a:pPr>
            <a:r>
              <a:rPr lang="en-US" sz="1350" b="1" dirty="0">
                <a:solidFill>
                  <a:srgbClr val="0B1F33"/>
                </a:solidFill>
                <a:latin typeface="Aptos Display" pitchFamily="34" charset="0"/>
                <a:ea typeface="Aptos Display" pitchFamily="34" charset="-122"/>
                <a:cs typeface="Aptos Display" pitchFamily="34" charset="-120"/>
              </a:rPr>
              <a:t>Email confirmations and reminders</a:t>
            </a:r>
            <a:endParaRPr lang="en-US" sz="1350" dirty="0"/>
          </a:p>
        </p:txBody>
      </p:sp>
      <p:sp>
        <p:nvSpPr>
          <p:cNvPr id="17" name="Shape 14"/>
          <p:cNvSpPr/>
          <p:nvPr/>
        </p:nvSpPr>
        <p:spPr>
          <a:xfrm>
            <a:off x="9997135" y="1755648"/>
            <a:ext cx="1463040" cy="310896"/>
          </a:xfrm>
          <a:prstGeom prst="roundRect">
            <a:avLst>
              <a:gd name="adj" fmla="val 17647"/>
            </a:avLst>
          </a:prstGeom>
          <a:solidFill>
            <a:srgbClr val="E9EFF4"/>
          </a:solidFill>
          <a:ln/>
        </p:spPr>
        <p:txBody>
          <a:bodyPr/>
          <a:p/>
        </p:txBody>
      </p:sp>
      <p:sp>
        <p:nvSpPr>
          <p:cNvPr id="18" name="Text 15"/>
          <p:cNvSpPr txBox="1"/>
          <p:nvPr/>
        </p:nvSpPr>
        <p:spPr>
          <a:xfrm>
            <a:off x="9997135" y="1810512"/>
            <a:ext cx="1463040" cy="201168"/>
          </a:xfrm>
          <a:prstGeom prst="rect">
            <a:avLst/>
          </a:prstGeom>
          <a:noFill/>
          <a:ln/>
        </p:spPr>
        <p:txBody>
          <a:bodyPr wrap="square" lIns="0" tIns="0" rIns="0" bIns="0" rtlCol="0" anchor="t"/>
          <a:lstStyle/>
          <a:p>
            <a:pPr algn="ctr" indent="0" marL="0">
              <a:lnSpc>
                <a:spcPct val="100000"/>
              </a:lnSpc>
              <a:buNone/>
            </a:pPr>
            <a:r>
              <a:rPr lang="en-US" sz="850" b="1" dirty="0">
                <a:solidFill>
                  <a:srgbClr val="D84C4C"/>
                </a:solidFill>
                <a:latin typeface="Aptos" pitchFamily="34" charset="0"/>
                <a:ea typeface="Aptos" pitchFamily="34" charset="-122"/>
                <a:cs typeface="Aptos" pitchFamily="34" charset="-120"/>
              </a:rPr>
              <a:t>Blocked on a decision</a:t>
            </a:r>
            <a:endParaRPr lang="en-US" sz="850" dirty="0"/>
          </a:p>
        </p:txBody>
      </p:sp>
      <p:sp>
        <p:nvSpPr>
          <p:cNvPr id="19" name="Text 16"/>
          <p:cNvSpPr txBox="1"/>
          <p:nvPr/>
        </p:nvSpPr>
        <p:spPr>
          <a:xfrm>
            <a:off x="6662776" y="2304288"/>
            <a:ext cx="4678528" cy="457200"/>
          </a:xfrm>
          <a:prstGeom prst="rect">
            <a:avLst/>
          </a:prstGeom>
          <a:noFill/>
          <a:ln/>
        </p:spPr>
        <p:txBody>
          <a:bodyPr wrap="square" lIns="0" tIns="0" rIns="0" bIns="0" rtlCol="0" anchor="t"/>
          <a:lstStyle/>
          <a:p>
            <a:pPr algn="l" indent="0" marL="0">
              <a:lnSpc>
                <a:spcPct val="118000"/>
              </a:lnSpc>
              <a:buNone/>
            </a:pPr>
            <a:r>
              <a:rPr lang="en-US" sz="1100" dirty="0">
                <a:solidFill>
                  <a:srgbClr val="456174"/>
                </a:solidFill>
                <a:latin typeface="Aptos" pitchFamily="34" charset="0"/>
                <a:ea typeface="Aptos" pitchFamily="34" charset="-122"/>
                <a:cs typeface="Aptos" pitchFamily="34" charset="-120"/>
              </a:rPr>
              <a:t>The biggest gap in daily use. It needs a mail provider chosen.</a:t>
            </a:r>
            <a:endParaRPr lang="en-US" sz="1100" dirty="0"/>
          </a:p>
        </p:txBody>
      </p:sp>
      <p:sp>
        <p:nvSpPr>
          <p:cNvPr id="20" name="Shape 17"/>
          <p:cNvSpPr/>
          <p:nvPr/>
        </p:nvSpPr>
        <p:spPr>
          <a:xfrm>
            <a:off x="530352" y="3017520"/>
            <a:ext cx="5303520" cy="1225296"/>
          </a:xfrm>
          <a:prstGeom prst="roundRect">
            <a:avLst>
              <a:gd name="adj" fmla="val 5634"/>
            </a:avLst>
          </a:prstGeom>
          <a:solidFill>
            <a:srgbClr val="FFFFFF"/>
          </a:solidFill>
          <a:ln w="9525">
            <a:solidFill>
              <a:srgbClr val="D8E4EA"/>
            </a:solidFill>
            <a:prstDash val="solid"/>
          </a:ln>
        </p:spPr>
        <p:txBody>
          <a:bodyPr/>
          <a:p/>
        </p:txBody>
      </p:sp>
      <p:sp>
        <p:nvSpPr>
          <p:cNvPr id="21" name="Text 18"/>
          <p:cNvSpPr txBox="1"/>
          <p:nvPr/>
        </p:nvSpPr>
        <p:spPr>
          <a:xfrm>
            <a:off x="841248" y="3182112"/>
            <a:ext cx="3142336" cy="530352"/>
          </a:xfrm>
          <a:prstGeom prst="rect">
            <a:avLst/>
          </a:prstGeom>
          <a:noFill/>
          <a:ln/>
        </p:spPr>
        <p:txBody>
          <a:bodyPr wrap="square" lIns="0" tIns="0" rIns="0" bIns="0" rtlCol="0" anchor="t"/>
          <a:lstStyle/>
          <a:p>
            <a:pPr algn="l" indent="0" marL="0">
              <a:lnSpc>
                <a:spcPct val="104000"/>
              </a:lnSpc>
              <a:buNone/>
            </a:pPr>
            <a:r>
              <a:rPr lang="en-US" sz="1350" b="1" dirty="0">
                <a:solidFill>
                  <a:srgbClr val="0B1F33"/>
                </a:solidFill>
                <a:latin typeface="Aptos Display" pitchFamily="34" charset="0"/>
                <a:ea typeface="Aptos Display" pitchFamily="34" charset="-122"/>
                <a:cs typeface="Aptos Display" pitchFamily="34" charset="-120"/>
              </a:rPr>
              <a:t>Copying the people CC'd on a booking</a:t>
            </a:r>
            <a:endParaRPr lang="en-US" sz="1350" dirty="0"/>
          </a:p>
        </p:txBody>
      </p:sp>
      <p:sp>
        <p:nvSpPr>
          <p:cNvPr id="22" name="Shape 19"/>
          <p:cNvSpPr/>
          <p:nvPr/>
        </p:nvSpPr>
        <p:spPr>
          <a:xfrm>
            <a:off x="4175608" y="3200400"/>
            <a:ext cx="1463040" cy="310896"/>
          </a:xfrm>
          <a:prstGeom prst="roundRect">
            <a:avLst>
              <a:gd name="adj" fmla="val 17647"/>
            </a:avLst>
          </a:prstGeom>
          <a:solidFill>
            <a:srgbClr val="E9EFF4"/>
          </a:solidFill>
          <a:ln/>
        </p:spPr>
        <p:txBody>
          <a:bodyPr/>
          <a:p/>
        </p:txBody>
      </p:sp>
      <p:sp>
        <p:nvSpPr>
          <p:cNvPr id="23" name="Text 20"/>
          <p:cNvSpPr txBox="1"/>
          <p:nvPr/>
        </p:nvSpPr>
        <p:spPr>
          <a:xfrm>
            <a:off x="4175608" y="3255264"/>
            <a:ext cx="1463040" cy="201168"/>
          </a:xfrm>
          <a:prstGeom prst="rect">
            <a:avLst/>
          </a:prstGeom>
          <a:noFill/>
          <a:ln/>
        </p:spPr>
        <p:txBody>
          <a:bodyPr wrap="square" lIns="0" tIns="0" rIns="0" bIns="0" rtlCol="0" anchor="t"/>
          <a:lstStyle/>
          <a:p>
            <a:pPr algn="ctr" indent="0" marL="0">
              <a:lnSpc>
                <a:spcPct val="100000"/>
              </a:lnSpc>
              <a:buNone/>
            </a:pPr>
            <a:r>
              <a:rPr lang="en-US" sz="850" b="1" dirty="0">
                <a:solidFill>
                  <a:srgbClr val="D84C4C"/>
                </a:solidFill>
                <a:latin typeface="Aptos" pitchFamily="34" charset="0"/>
                <a:ea typeface="Aptos" pitchFamily="34" charset="-122"/>
                <a:cs typeface="Aptos" pitchFamily="34" charset="-120"/>
              </a:rPr>
              <a:t>Blocked on a decision</a:t>
            </a:r>
            <a:endParaRPr lang="en-US" sz="850" dirty="0"/>
          </a:p>
        </p:txBody>
      </p:sp>
      <p:sp>
        <p:nvSpPr>
          <p:cNvPr id="24" name="Text 21"/>
          <p:cNvSpPr txBox="1"/>
          <p:nvPr/>
        </p:nvSpPr>
        <p:spPr>
          <a:xfrm>
            <a:off x="841248" y="3749040"/>
            <a:ext cx="4678528" cy="457200"/>
          </a:xfrm>
          <a:prstGeom prst="rect">
            <a:avLst/>
          </a:prstGeom>
          <a:noFill/>
          <a:ln/>
        </p:spPr>
        <p:txBody>
          <a:bodyPr wrap="square" lIns="0" tIns="0" rIns="0" bIns="0" rtlCol="0" anchor="t"/>
          <a:lstStyle/>
          <a:p>
            <a:pPr algn="l" indent="0" marL="0">
              <a:lnSpc>
                <a:spcPct val="118000"/>
              </a:lnSpc>
              <a:buNone/>
            </a:pPr>
            <a:r>
              <a:rPr lang="en-US" sz="1100" dirty="0">
                <a:solidFill>
                  <a:srgbClr val="456174"/>
                </a:solidFill>
                <a:latin typeface="Aptos" pitchFamily="34" charset="0"/>
                <a:ea typeface="Aptos" pitchFamily="34" charset="-122"/>
                <a:cs typeface="Aptos" pitchFamily="34" charset="-120"/>
              </a:rPr>
              <a:t>When a booking changes, the people copied on it should hear.</a:t>
            </a:r>
            <a:endParaRPr lang="en-US" sz="1100" dirty="0"/>
          </a:p>
        </p:txBody>
      </p:sp>
      <p:sp>
        <p:nvSpPr>
          <p:cNvPr id="25" name="Shape 22"/>
          <p:cNvSpPr/>
          <p:nvPr/>
        </p:nvSpPr>
        <p:spPr>
          <a:xfrm>
            <a:off x="6355080" y="3017520"/>
            <a:ext cx="5303520" cy="1225296"/>
          </a:xfrm>
          <a:prstGeom prst="roundRect">
            <a:avLst>
              <a:gd name="adj" fmla="val 5634"/>
            </a:avLst>
          </a:prstGeom>
          <a:solidFill>
            <a:srgbClr val="FFFFFF"/>
          </a:solidFill>
          <a:ln w="9525">
            <a:solidFill>
              <a:srgbClr val="D8E4EA"/>
            </a:solidFill>
            <a:prstDash val="solid"/>
          </a:ln>
        </p:spPr>
        <p:txBody>
          <a:bodyPr/>
          <a:p/>
        </p:txBody>
      </p:sp>
      <p:sp>
        <p:nvSpPr>
          <p:cNvPr id="26" name="Text 23"/>
          <p:cNvSpPr txBox="1"/>
          <p:nvPr/>
        </p:nvSpPr>
        <p:spPr>
          <a:xfrm>
            <a:off x="6662776" y="3182112"/>
            <a:ext cx="3142336" cy="530352"/>
          </a:xfrm>
          <a:prstGeom prst="rect">
            <a:avLst/>
          </a:prstGeom>
          <a:noFill/>
          <a:ln/>
        </p:spPr>
        <p:txBody>
          <a:bodyPr wrap="square" lIns="0" tIns="0" rIns="0" bIns="0" rtlCol="0" anchor="t"/>
          <a:lstStyle/>
          <a:p>
            <a:pPr algn="l" indent="0" marL="0">
              <a:lnSpc>
                <a:spcPct val="104000"/>
              </a:lnSpc>
              <a:buNone/>
            </a:pPr>
            <a:r>
              <a:rPr lang="en-US" sz="1350" b="1" dirty="0">
                <a:solidFill>
                  <a:srgbClr val="0B1F33"/>
                </a:solidFill>
                <a:latin typeface="Aptos Display" pitchFamily="34" charset="0"/>
                <a:ea typeface="Aptos Display" pitchFamily="34" charset="-122"/>
                <a:cs typeface="Aptos Display" pitchFamily="34" charset="-120"/>
              </a:rPr>
              <a:t>Single sign-on with Microsoft 365</a:t>
            </a:r>
            <a:endParaRPr lang="en-US" sz="1350" dirty="0"/>
          </a:p>
        </p:txBody>
      </p:sp>
      <p:sp>
        <p:nvSpPr>
          <p:cNvPr id="27" name="Shape 24"/>
          <p:cNvSpPr/>
          <p:nvPr/>
        </p:nvSpPr>
        <p:spPr>
          <a:xfrm>
            <a:off x="9997135" y="3200400"/>
            <a:ext cx="1463040" cy="310896"/>
          </a:xfrm>
          <a:prstGeom prst="roundRect">
            <a:avLst>
              <a:gd name="adj" fmla="val 17647"/>
            </a:avLst>
          </a:prstGeom>
          <a:solidFill>
            <a:srgbClr val="E9EFF4"/>
          </a:solidFill>
          <a:ln/>
        </p:spPr>
        <p:txBody>
          <a:bodyPr/>
          <a:p/>
        </p:txBody>
      </p:sp>
      <p:sp>
        <p:nvSpPr>
          <p:cNvPr id="28" name="Text 25"/>
          <p:cNvSpPr txBox="1"/>
          <p:nvPr/>
        </p:nvSpPr>
        <p:spPr>
          <a:xfrm>
            <a:off x="9997135" y="3255264"/>
            <a:ext cx="1463040" cy="201168"/>
          </a:xfrm>
          <a:prstGeom prst="rect">
            <a:avLst/>
          </a:prstGeom>
          <a:noFill/>
          <a:ln/>
        </p:spPr>
        <p:txBody>
          <a:bodyPr wrap="square" lIns="0" tIns="0" rIns="0" bIns="0" rtlCol="0" anchor="t"/>
          <a:lstStyle/>
          <a:p>
            <a:pPr algn="ctr" indent="0" marL="0">
              <a:lnSpc>
                <a:spcPct val="100000"/>
              </a:lnSpc>
              <a:buNone/>
            </a:pPr>
            <a:r>
              <a:rPr lang="en-US" sz="850" b="1" dirty="0">
                <a:solidFill>
                  <a:srgbClr val="0877C9"/>
                </a:solidFill>
                <a:latin typeface="Aptos" pitchFamily="34" charset="0"/>
                <a:ea typeface="Aptos" pitchFamily="34" charset="-122"/>
                <a:cs typeface="Aptos" pitchFamily="34" charset="-120"/>
              </a:rPr>
              <a:t>Configuration</a:t>
            </a:r>
            <a:endParaRPr lang="en-US" sz="850" dirty="0"/>
          </a:p>
        </p:txBody>
      </p:sp>
      <p:sp>
        <p:nvSpPr>
          <p:cNvPr id="29" name="Text 26"/>
          <p:cNvSpPr txBox="1"/>
          <p:nvPr/>
        </p:nvSpPr>
        <p:spPr>
          <a:xfrm>
            <a:off x="6662776" y="3749040"/>
            <a:ext cx="4678528" cy="457200"/>
          </a:xfrm>
          <a:prstGeom prst="rect">
            <a:avLst/>
          </a:prstGeom>
          <a:noFill/>
          <a:ln/>
        </p:spPr>
        <p:txBody>
          <a:bodyPr wrap="square" lIns="0" tIns="0" rIns="0" bIns="0" rtlCol="0" anchor="t"/>
          <a:lstStyle/>
          <a:p>
            <a:pPr algn="l" indent="0" marL="0">
              <a:lnSpc>
                <a:spcPct val="118000"/>
              </a:lnSpc>
              <a:buNone/>
            </a:pPr>
            <a:r>
              <a:rPr lang="en-US" sz="1100" dirty="0">
                <a:solidFill>
                  <a:srgbClr val="456174"/>
                </a:solidFill>
                <a:latin typeface="Aptos" pitchFamily="34" charset="0"/>
                <a:ea typeface="Aptos" pitchFamily="34" charset="-122"/>
                <a:cs typeface="Aptos" pitchFamily="34" charset="-120"/>
              </a:rPr>
              <a:t>Configuration rather than development, once somebody in IT owns it.</a:t>
            </a:r>
            <a:endParaRPr lang="en-US" sz="1100" dirty="0"/>
          </a:p>
        </p:txBody>
      </p:sp>
      <p:sp>
        <p:nvSpPr>
          <p:cNvPr id="30" name="Shape 27"/>
          <p:cNvSpPr/>
          <p:nvPr/>
        </p:nvSpPr>
        <p:spPr>
          <a:xfrm>
            <a:off x="530352" y="4462272"/>
            <a:ext cx="5303520" cy="1225296"/>
          </a:xfrm>
          <a:prstGeom prst="roundRect">
            <a:avLst>
              <a:gd name="adj" fmla="val 5634"/>
            </a:avLst>
          </a:prstGeom>
          <a:solidFill>
            <a:srgbClr val="FFFFFF"/>
          </a:solidFill>
          <a:ln w="9525">
            <a:solidFill>
              <a:srgbClr val="D8E4EA"/>
            </a:solidFill>
            <a:prstDash val="solid"/>
          </a:ln>
        </p:spPr>
        <p:txBody>
          <a:bodyPr/>
          <a:p/>
        </p:txBody>
      </p:sp>
      <p:sp>
        <p:nvSpPr>
          <p:cNvPr id="31" name="Text 28"/>
          <p:cNvSpPr txBox="1"/>
          <p:nvPr/>
        </p:nvSpPr>
        <p:spPr>
          <a:xfrm>
            <a:off x="841248" y="4626864"/>
            <a:ext cx="3142336" cy="530352"/>
          </a:xfrm>
          <a:prstGeom prst="rect">
            <a:avLst/>
          </a:prstGeom>
          <a:noFill/>
          <a:ln/>
        </p:spPr>
        <p:txBody>
          <a:bodyPr wrap="square" lIns="0" tIns="0" rIns="0" bIns="0" rtlCol="0" anchor="t"/>
          <a:lstStyle/>
          <a:p>
            <a:pPr algn="l" indent="0" marL="0">
              <a:lnSpc>
                <a:spcPct val="104000"/>
              </a:lnSpc>
              <a:buNone/>
            </a:pPr>
            <a:r>
              <a:rPr lang="en-US" sz="1350" b="1" dirty="0">
                <a:solidFill>
                  <a:srgbClr val="0B1F33"/>
                </a:solidFill>
                <a:latin typeface="Aptos Display" pitchFamily="34" charset="0"/>
                <a:ea typeface="Aptos Display" pitchFamily="34" charset="-122"/>
                <a:cs typeface="Aptos Display" pitchFamily="34" charset="-120"/>
              </a:rPr>
              <a:t>Driver check-in by text</a:t>
            </a:r>
            <a:endParaRPr lang="en-US" sz="1350" dirty="0"/>
          </a:p>
        </p:txBody>
      </p:sp>
      <p:sp>
        <p:nvSpPr>
          <p:cNvPr id="32" name="Shape 29"/>
          <p:cNvSpPr/>
          <p:nvPr/>
        </p:nvSpPr>
        <p:spPr>
          <a:xfrm>
            <a:off x="4175608" y="4645152"/>
            <a:ext cx="1463040" cy="310896"/>
          </a:xfrm>
          <a:prstGeom prst="roundRect">
            <a:avLst>
              <a:gd name="adj" fmla="val 17647"/>
            </a:avLst>
          </a:prstGeom>
          <a:solidFill>
            <a:srgbClr val="E9EFF4"/>
          </a:solidFill>
          <a:ln/>
        </p:spPr>
        <p:txBody>
          <a:bodyPr/>
          <a:p/>
        </p:txBody>
      </p:sp>
      <p:sp>
        <p:nvSpPr>
          <p:cNvPr id="33" name="Text 30"/>
          <p:cNvSpPr txBox="1"/>
          <p:nvPr/>
        </p:nvSpPr>
        <p:spPr>
          <a:xfrm>
            <a:off x="4175608" y="4700016"/>
            <a:ext cx="1463040" cy="201168"/>
          </a:xfrm>
          <a:prstGeom prst="rect">
            <a:avLst/>
          </a:prstGeom>
          <a:noFill/>
          <a:ln/>
        </p:spPr>
        <p:txBody>
          <a:bodyPr wrap="square" lIns="0" tIns="0" rIns="0" bIns="0" rtlCol="0" anchor="t"/>
          <a:lstStyle/>
          <a:p>
            <a:pPr algn="ctr" indent="0" marL="0">
              <a:lnSpc>
                <a:spcPct val="100000"/>
              </a:lnSpc>
              <a:buNone/>
            </a:pPr>
            <a:r>
              <a:rPr lang="en-US" sz="850" b="1" dirty="0">
                <a:solidFill>
                  <a:srgbClr val="0877C9"/>
                </a:solidFill>
                <a:latin typeface="Aptos" pitchFamily="34" charset="0"/>
                <a:ea typeface="Aptos" pitchFamily="34" charset="-122"/>
                <a:cs typeface="Aptos" pitchFamily="34" charset="-120"/>
              </a:rPr>
              <a:t>Next up</a:t>
            </a:r>
            <a:endParaRPr lang="en-US" sz="850" dirty="0"/>
          </a:p>
        </p:txBody>
      </p:sp>
      <p:sp>
        <p:nvSpPr>
          <p:cNvPr id="34" name="Text 31"/>
          <p:cNvSpPr txBox="1"/>
          <p:nvPr/>
        </p:nvSpPr>
        <p:spPr>
          <a:xfrm>
            <a:off x="841248" y="5193792"/>
            <a:ext cx="4678528" cy="457200"/>
          </a:xfrm>
          <a:prstGeom prst="rect">
            <a:avLst/>
          </a:prstGeom>
          <a:noFill/>
          <a:ln/>
        </p:spPr>
        <p:txBody>
          <a:bodyPr wrap="square" lIns="0" tIns="0" rIns="0" bIns="0" rtlCol="0" anchor="t"/>
          <a:lstStyle/>
          <a:p>
            <a:pPr algn="l" indent="0" marL="0">
              <a:lnSpc>
                <a:spcPct val="118000"/>
              </a:lnSpc>
              <a:buNone/>
            </a:pPr>
            <a:r>
              <a:rPr lang="en-US" sz="1100" dirty="0">
                <a:solidFill>
                  <a:srgbClr val="456174"/>
                </a:solidFill>
                <a:latin typeface="Aptos" pitchFamily="34" charset="0"/>
                <a:ea typeface="Aptos" pitchFamily="34" charset="-122"/>
                <a:cs typeface="Aptos" pitchFamily="34" charset="-120"/>
              </a:rPr>
              <a:t>For the driver with no app and no account, at a plant for the first time.</a:t>
            </a:r>
            <a:endParaRPr lang="en-US" sz="1100" dirty="0"/>
          </a:p>
        </p:txBody>
      </p:sp>
      <p:sp>
        <p:nvSpPr>
          <p:cNvPr id="35" name="Shape 32"/>
          <p:cNvSpPr/>
          <p:nvPr/>
        </p:nvSpPr>
        <p:spPr>
          <a:xfrm>
            <a:off x="6355080" y="4462272"/>
            <a:ext cx="5303520" cy="1225296"/>
          </a:xfrm>
          <a:prstGeom prst="roundRect">
            <a:avLst>
              <a:gd name="adj" fmla="val 5634"/>
            </a:avLst>
          </a:prstGeom>
          <a:solidFill>
            <a:srgbClr val="FFFFFF"/>
          </a:solidFill>
          <a:ln w="9525">
            <a:solidFill>
              <a:srgbClr val="D8E4EA"/>
            </a:solidFill>
            <a:prstDash val="solid"/>
          </a:ln>
        </p:spPr>
        <p:txBody>
          <a:bodyPr/>
          <a:p/>
        </p:txBody>
      </p:sp>
      <p:sp>
        <p:nvSpPr>
          <p:cNvPr id="36" name="Text 33"/>
          <p:cNvSpPr txBox="1"/>
          <p:nvPr/>
        </p:nvSpPr>
        <p:spPr>
          <a:xfrm>
            <a:off x="6662776" y="4626864"/>
            <a:ext cx="3142336" cy="530352"/>
          </a:xfrm>
          <a:prstGeom prst="rect">
            <a:avLst/>
          </a:prstGeom>
          <a:noFill/>
          <a:ln/>
        </p:spPr>
        <p:txBody>
          <a:bodyPr wrap="square" lIns="0" tIns="0" rIns="0" bIns="0" rtlCol="0" anchor="t"/>
          <a:lstStyle/>
          <a:p>
            <a:pPr algn="l" indent="0" marL="0">
              <a:lnSpc>
                <a:spcPct val="104000"/>
              </a:lnSpc>
              <a:buNone/>
            </a:pPr>
            <a:r>
              <a:rPr lang="en-US" sz="1350" b="1" dirty="0">
                <a:solidFill>
                  <a:srgbClr val="0B1F33"/>
                </a:solidFill>
                <a:latin typeface="Aptos Display" pitchFamily="34" charset="0"/>
                <a:ea typeface="Aptos Display" pitchFamily="34" charset="-122"/>
                <a:cs typeface="Aptos Display" pitchFamily="34" charset="-120"/>
              </a:rPr>
              <a:t>One end-to-end trial on a real load</a:t>
            </a:r>
            <a:endParaRPr lang="en-US" sz="1350" dirty="0"/>
          </a:p>
        </p:txBody>
      </p:sp>
      <p:sp>
        <p:nvSpPr>
          <p:cNvPr id="37" name="Shape 34"/>
          <p:cNvSpPr/>
          <p:nvPr/>
        </p:nvSpPr>
        <p:spPr>
          <a:xfrm>
            <a:off x="9997135" y="4645152"/>
            <a:ext cx="1463040" cy="310896"/>
          </a:xfrm>
          <a:prstGeom prst="roundRect">
            <a:avLst>
              <a:gd name="adj" fmla="val 17647"/>
            </a:avLst>
          </a:prstGeom>
          <a:solidFill>
            <a:srgbClr val="E9EFF4"/>
          </a:solidFill>
          <a:ln/>
        </p:spPr>
        <p:txBody>
          <a:bodyPr/>
          <a:p/>
        </p:txBody>
      </p:sp>
      <p:sp>
        <p:nvSpPr>
          <p:cNvPr id="38" name="Text 35"/>
          <p:cNvSpPr txBox="1"/>
          <p:nvPr/>
        </p:nvSpPr>
        <p:spPr>
          <a:xfrm>
            <a:off x="9997135" y="4700016"/>
            <a:ext cx="1463040" cy="201168"/>
          </a:xfrm>
          <a:prstGeom prst="rect">
            <a:avLst/>
          </a:prstGeom>
          <a:noFill/>
          <a:ln/>
        </p:spPr>
        <p:txBody>
          <a:bodyPr wrap="square" lIns="0" tIns="0" rIns="0" bIns="0" rtlCol="0" anchor="t"/>
          <a:lstStyle/>
          <a:p>
            <a:pPr algn="ctr" indent="0" marL="0">
              <a:lnSpc>
                <a:spcPct val="100000"/>
              </a:lnSpc>
              <a:buNone/>
            </a:pPr>
            <a:r>
              <a:rPr lang="en-US" sz="850" b="1" dirty="0">
                <a:solidFill>
                  <a:srgbClr val="14A66A"/>
                </a:solidFill>
                <a:latin typeface="Aptos" pitchFamily="34" charset="0"/>
                <a:ea typeface="Aptos" pitchFamily="34" charset="-122"/>
                <a:cs typeface="Aptos" pitchFamily="34" charset="-120"/>
              </a:rPr>
              <a:t>Ready to run</a:t>
            </a:r>
            <a:endParaRPr lang="en-US" sz="850" dirty="0"/>
          </a:p>
        </p:txBody>
      </p:sp>
      <p:sp>
        <p:nvSpPr>
          <p:cNvPr id="39" name="Text 36"/>
          <p:cNvSpPr txBox="1"/>
          <p:nvPr/>
        </p:nvSpPr>
        <p:spPr>
          <a:xfrm>
            <a:off x="6662776" y="5193792"/>
            <a:ext cx="4678528" cy="457200"/>
          </a:xfrm>
          <a:prstGeom prst="rect">
            <a:avLst/>
          </a:prstGeom>
          <a:noFill/>
          <a:ln/>
        </p:spPr>
        <p:txBody>
          <a:bodyPr wrap="square" lIns="0" tIns="0" rIns="0" bIns="0" rtlCol="0" anchor="t"/>
          <a:lstStyle/>
          <a:p>
            <a:pPr algn="l" indent="0" marL="0">
              <a:lnSpc>
                <a:spcPct val="118000"/>
              </a:lnSpc>
              <a:buNone/>
            </a:pPr>
            <a:r>
              <a:rPr lang="en-US" sz="1100" dirty="0">
                <a:solidFill>
                  <a:srgbClr val="456174"/>
                </a:solidFill>
                <a:latin typeface="Aptos" pitchFamily="34" charset="0"/>
                <a:ea typeface="Aptos" pitchFamily="34" charset="-122"/>
                <a:cs typeface="Aptos" pitchFamily="34" charset="-120"/>
              </a:rPr>
              <a:t>Book it, scan it, complete it, read the report. Nothing to build first.</a:t>
            </a:r>
            <a:endParaRPr lang="en-US" sz="1100" dirty="0"/>
          </a:p>
        </p:txBody>
      </p:sp>
      <p:sp>
        <p:nvSpPr>
          <p:cNvPr id="40" name="Shape 37"/>
          <p:cNvSpPr/>
          <p:nvPr/>
        </p:nvSpPr>
        <p:spPr>
          <a:xfrm>
            <a:off x="530352" y="5852160"/>
            <a:ext cx="11130991" cy="475488"/>
          </a:xfrm>
          <a:prstGeom prst="roundRect">
            <a:avLst>
              <a:gd name="adj" fmla="val 12903"/>
            </a:avLst>
          </a:prstGeom>
          <a:solidFill>
            <a:srgbClr val="072238"/>
          </a:solidFill>
          <a:ln/>
        </p:spPr>
        <p:txBody>
          <a:bodyPr/>
          <a:p/>
        </p:txBody>
      </p:sp>
      <p:sp>
        <p:nvSpPr>
          <p:cNvPr id="41" name="Text 38"/>
          <p:cNvSpPr txBox="1"/>
          <p:nvPr/>
        </p:nvSpPr>
        <p:spPr>
          <a:xfrm>
            <a:off x="877824" y="5998464"/>
            <a:ext cx="10436047" cy="274320"/>
          </a:xfrm>
          <a:prstGeom prst="rect">
            <a:avLst/>
          </a:prstGeom>
          <a:noFill/>
          <a:ln/>
        </p:spPr>
        <p:txBody>
          <a:bodyPr wrap="square" lIns="0" tIns="0" rIns="0" bIns="0" rtlCol="0" anchor="ctr"/>
          <a:lstStyle/>
          <a:p>
            <a:pPr algn="l" indent="0" marL="0">
              <a:lnSpc>
                <a:spcPct val="115000"/>
              </a:lnSpc>
              <a:buNone/>
            </a:pPr>
            <a:r>
              <a:rPr lang="en-US" sz="1250" b="1" dirty="0">
                <a:solidFill>
                  <a:srgbClr val="FFFFFF"/>
                </a:solidFill>
                <a:latin typeface="Aptos" pitchFamily="34" charset="0"/>
                <a:ea typeface="Aptos" pitchFamily="34" charset="-122"/>
                <a:cs typeface="Aptos" pitchFamily="34" charset="-120"/>
              </a:rPr>
              <a:t>Two of the six wait on one decision: which mail provider we send from.</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34</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HONEST ABOUT THE REST</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Deliberately out of scope.</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A gap you chose is not the same as a gap you have not noticed.</a:t>
            </a:r>
            <a:endParaRPr lang="en-US" sz="1200" dirty="0"/>
          </a:p>
        </p:txBody>
      </p:sp>
      <p:sp>
        <p:nvSpPr>
          <p:cNvPr id="10" name="Shape 7"/>
          <p:cNvSpPr/>
          <p:nvPr/>
        </p:nvSpPr>
        <p:spPr>
          <a:xfrm>
            <a:off x="530352" y="1627632"/>
            <a:ext cx="5303520" cy="1737360"/>
          </a:xfrm>
          <a:prstGeom prst="roundRect">
            <a:avLst>
              <a:gd name="adj" fmla="val 4124"/>
            </a:avLst>
          </a:prstGeom>
          <a:solidFill>
            <a:srgbClr val="FFFFFF"/>
          </a:solidFill>
          <a:ln w="9525">
            <a:solidFill>
              <a:srgbClr val="D8E4EA"/>
            </a:solidFill>
            <a:prstDash val="solid"/>
          </a:ln>
        </p:spPr>
        <p:txBody>
          <a:bodyPr/>
          <a:p/>
        </p:txBody>
      </p:sp>
      <p:sp>
        <p:nvSpPr>
          <p:cNvPr id="11" name="Shape 8"/>
          <p:cNvSpPr/>
          <p:nvPr/>
        </p:nvSpPr>
        <p:spPr>
          <a:xfrm>
            <a:off x="877824" y="1920240"/>
            <a:ext cx="274320" cy="274320"/>
          </a:xfrm>
          <a:prstGeom prst="roundRect">
            <a:avLst>
              <a:gd name="adj" fmla="val 16667"/>
            </a:avLst>
          </a:prstGeom>
          <a:solidFill>
            <a:srgbClr val="E9EFF4"/>
          </a:solidFill>
          <a:ln/>
        </p:spPr>
        <p:txBody>
          <a:bodyPr/>
          <a:p/>
        </p:txBody>
      </p:sp>
      <p:sp>
        <p:nvSpPr>
          <p:cNvPr id="12" name="Text 9"/>
          <p:cNvSpPr txBox="1"/>
          <p:nvPr/>
        </p:nvSpPr>
        <p:spPr>
          <a:xfrm>
            <a:off x="877824" y="1938528"/>
            <a:ext cx="274320" cy="237744"/>
          </a:xfrm>
          <a:prstGeom prst="rect">
            <a:avLst/>
          </a:prstGeom>
          <a:noFill/>
          <a:ln/>
        </p:spPr>
        <p:txBody>
          <a:bodyPr wrap="square" lIns="0" tIns="0" rIns="0" bIns="0" rtlCol="0" anchor="t"/>
          <a:lstStyle/>
          <a:p>
            <a:pPr algn="ctr" indent="0" marL="0">
              <a:lnSpc>
                <a:spcPct val="100000"/>
              </a:lnSpc>
              <a:buNone/>
            </a:pPr>
            <a:r>
              <a:rPr lang="en-US" sz="1200" b="1" dirty="0">
                <a:solidFill>
                  <a:srgbClr val="6F8491"/>
                </a:solidFill>
                <a:latin typeface="Aptos" pitchFamily="34" charset="0"/>
                <a:ea typeface="Aptos" pitchFamily="34" charset="-122"/>
                <a:cs typeface="Aptos" pitchFamily="34" charset="-120"/>
              </a:rPr>
              <a:t>—</a:t>
            </a:r>
            <a:endParaRPr lang="en-US" sz="1200" dirty="0"/>
          </a:p>
        </p:txBody>
      </p:sp>
      <p:sp>
        <p:nvSpPr>
          <p:cNvPr id="13" name="Text 10"/>
          <p:cNvSpPr txBox="1"/>
          <p:nvPr/>
        </p:nvSpPr>
        <p:spPr>
          <a:xfrm>
            <a:off x="877824" y="2359152"/>
            <a:ext cx="4605376" cy="457200"/>
          </a:xfrm>
          <a:prstGeom prst="rect">
            <a:avLst/>
          </a:prstGeom>
          <a:noFill/>
          <a:ln/>
        </p:spPr>
        <p:txBody>
          <a:bodyPr wrap="square" lIns="0" tIns="0" rIns="0" bIns="0" rtlCol="0" anchor="t"/>
          <a:lstStyle/>
          <a:p>
            <a:pPr algn="l" indent="0" marL="0">
              <a:lnSpc>
                <a:spcPct val="105000"/>
              </a:lnSpc>
              <a:buNone/>
            </a:pPr>
            <a:r>
              <a:rPr lang="en-US" sz="1550" b="1" dirty="0">
                <a:solidFill>
                  <a:srgbClr val="0B1F33"/>
                </a:solidFill>
                <a:latin typeface="Aptos Display" pitchFamily="34" charset="0"/>
                <a:ea typeface="Aptos Display" pitchFamily="34" charset="-122"/>
                <a:cs typeface="Aptos Display" pitchFamily="34" charset="-120"/>
              </a:rPr>
              <a:t>Yard and trailer-pool management</a:t>
            </a:r>
            <a:endParaRPr lang="en-US" sz="1550" dirty="0"/>
          </a:p>
        </p:txBody>
      </p:sp>
      <p:sp>
        <p:nvSpPr>
          <p:cNvPr id="14" name="Text 11"/>
          <p:cNvSpPr txBox="1"/>
          <p:nvPr/>
        </p:nvSpPr>
        <p:spPr>
          <a:xfrm>
            <a:off x="877824" y="2852928"/>
            <a:ext cx="4605376" cy="457200"/>
          </a:xfrm>
          <a:prstGeom prst="rect">
            <a:avLst/>
          </a:prstGeom>
          <a:noFill/>
          <a:ln/>
        </p:spPr>
        <p:txBody>
          <a:bodyPr wrap="square" lIns="0" tIns="0" rIns="0" bIns="0" rtlCol="0" anchor="t"/>
          <a:lstStyle/>
          <a:p>
            <a:pPr algn="l" indent="0" marL="0">
              <a:lnSpc>
                <a:spcPct val="118000"/>
              </a:lnSpc>
              <a:buNone/>
            </a:pPr>
            <a:r>
              <a:rPr lang="en-US" sz="1150" dirty="0">
                <a:solidFill>
                  <a:srgbClr val="456174"/>
                </a:solidFill>
                <a:latin typeface="Aptos" pitchFamily="34" charset="0"/>
                <a:ea typeface="Aptos" pitchFamily="34" charset="-122"/>
                <a:cs typeface="Aptos" pitchFamily="34" charset="-120"/>
              </a:rPr>
              <a:t>No gate, no yard. The truck arrives at the door, so the door is where we start.</a:t>
            </a:r>
            <a:endParaRPr lang="en-US" sz="1150" dirty="0"/>
          </a:p>
        </p:txBody>
      </p:sp>
      <p:sp>
        <p:nvSpPr>
          <p:cNvPr id="15" name="Shape 12"/>
          <p:cNvSpPr/>
          <p:nvPr/>
        </p:nvSpPr>
        <p:spPr>
          <a:xfrm>
            <a:off x="6355080" y="1627632"/>
            <a:ext cx="5303520" cy="1737360"/>
          </a:xfrm>
          <a:prstGeom prst="roundRect">
            <a:avLst>
              <a:gd name="adj" fmla="val 4124"/>
            </a:avLst>
          </a:prstGeom>
          <a:solidFill>
            <a:srgbClr val="FFFFFF"/>
          </a:solidFill>
          <a:ln w="9525">
            <a:solidFill>
              <a:srgbClr val="D8E4EA"/>
            </a:solidFill>
            <a:prstDash val="solid"/>
          </a:ln>
        </p:spPr>
        <p:txBody>
          <a:bodyPr/>
          <a:p/>
        </p:txBody>
      </p:sp>
      <p:sp>
        <p:nvSpPr>
          <p:cNvPr id="16" name="Shape 13"/>
          <p:cNvSpPr/>
          <p:nvPr/>
        </p:nvSpPr>
        <p:spPr>
          <a:xfrm>
            <a:off x="6699352" y="1920240"/>
            <a:ext cx="274320" cy="274320"/>
          </a:xfrm>
          <a:prstGeom prst="roundRect">
            <a:avLst>
              <a:gd name="adj" fmla="val 16667"/>
            </a:avLst>
          </a:prstGeom>
          <a:solidFill>
            <a:srgbClr val="E9EFF4"/>
          </a:solidFill>
          <a:ln/>
        </p:spPr>
        <p:txBody>
          <a:bodyPr/>
          <a:p/>
        </p:txBody>
      </p:sp>
      <p:sp>
        <p:nvSpPr>
          <p:cNvPr id="17" name="Text 14"/>
          <p:cNvSpPr txBox="1"/>
          <p:nvPr/>
        </p:nvSpPr>
        <p:spPr>
          <a:xfrm>
            <a:off x="6699352" y="1938528"/>
            <a:ext cx="274320" cy="237744"/>
          </a:xfrm>
          <a:prstGeom prst="rect">
            <a:avLst/>
          </a:prstGeom>
          <a:noFill/>
          <a:ln/>
        </p:spPr>
        <p:txBody>
          <a:bodyPr wrap="square" lIns="0" tIns="0" rIns="0" bIns="0" rtlCol="0" anchor="t"/>
          <a:lstStyle/>
          <a:p>
            <a:pPr algn="ctr" indent="0" marL="0">
              <a:lnSpc>
                <a:spcPct val="100000"/>
              </a:lnSpc>
              <a:buNone/>
            </a:pPr>
            <a:r>
              <a:rPr lang="en-US" sz="1200" b="1" dirty="0">
                <a:solidFill>
                  <a:srgbClr val="6F8491"/>
                </a:solidFill>
                <a:latin typeface="Aptos" pitchFamily="34" charset="0"/>
                <a:ea typeface="Aptos" pitchFamily="34" charset="-122"/>
                <a:cs typeface="Aptos" pitchFamily="34" charset="-120"/>
              </a:rPr>
              <a:t>—</a:t>
            </a:r>
            <a:endParaRPr lang="en-US" sz="1200" dirty="0"/>
          </a:p>
        </p:txBody>
      </p:sp>
      <p:sp>
        <p:nvSpPr>
          <p:cNvPr id="18" name="Text 15"/>
          <p:cNvSpPr txBox="1"/>
          <p:nvPr/>
        </p:nvSpPr>
        <p:spPr>
          <a:xfrm>
            <a:off x="6699352" y="2359152"/>
            <a:ext cx="4605376" cy="457200"/>
          </a:xfrm>
          <a:prstGeom prst="rect">
            <a:avLst/>
          </a:prstGeom>
          <a:noFill/>
          <a:ln/>
        </p:spPr>
        <p:txBody>
          <a:bodyPr wrap="square" lIns="0" tIns="0" rIns="0" bIns="0" rtlCol="0" anchor="t"/>
          <a:lstStyle/>
          <a:p>
            <a:pPr algn="l" indent="0" marL="0">
              <a:lnSpc>
                <a:spcPct val="105000"/>
              </a:lnSpc>
              <a:buNone/>
            </a:pPr>
            <a:r>
              <a:rPr lang="en-US" sz="1550" b="1" dirty="0">
                <a:solidFill>
                  <a:srgbClr val="0B1F33"/>
                </a:solidFill>
                <a:latin typeface="Aptos Display" pitchFamily="34" charset="0"/>
                <a:ea typeface="Aptos Display" pitchFamily="34" charset="-122"/>
                <a:cs typeface="Aptos Display" pitchFamily="34" charset="-120"/>
              </a:rPr>
              <a:t>Gate check-in</a:t>
            </a:r>
            <a:endParaRPr lang="en-US" sz="1550" dirty="0"/>
          </a:p>
        </p:txBody>
      </p:sp>
      <p:sp>
        <p:nvSpPr>
          <p:cNvPr id="19" name="Text 16"/>
          <p:cNvSpPr txBox="1"/>
          <p:nvPr/>
        </p:nvSpPr>
        <p:spPr>
          <a:xfrm>
            <a:off x="6699352" y="2852928"/>
            <a:ext cx="4605376" cy="457200"/>
          </a:xfrm>
          <a:prstGeom prst="rect">
            <a:avLst/>
          </a:prstGeom>
          <a:noFill/>
          <a:ln/>
        </p:spPr>
        <p:txBody>
          <a:bodyPr wrap="square" lIns="0" tIns="0" rIns="0" bIns="0" rtlCol="0" anchor="t"/>
          <a:lstStyle/>
          <a:p>
            <a:pPr algn="l" indent="0" marL="0">
              <a:lnSpc>
                <a:spcPct val="118000"/>
              </a:lnSpc>
              <a:buNone/>
            </a:pPr>
            <a:r>
              <a:rPr lang="en-US" sz="1150" dirty="0">
                <a:solidFill>
                  <a:srgbClr val="456174"/>
                </a:solidFill>
                <a:latin typeface="Aptos" pitchFamily="34" charset="0"/>
                <a:ea typeface="Aptos" pitchFamily="34" charset="-122"/>
                <a:cs typeface="Aptos" pitchFamily="34" charset="-120"/>
              </a:rPr>
              <a:t>Same reason. A gate we do not have cannot produce a clock start we can trust.</a:t>
            </a:r>
            <a:endParaRPr lang="en-US" sz="1150" dirty="0"/>
          </a:p>
        </p:txBody>
      </p:sp>
      <p:sp>
        <p:nvSpPr>
          <p:cNvPr id="20" name="Shape 17"/>
          <p:cNvSpPr/>
          <p:nvPr/>
        </p:nvSpPr>
        <p:spPr>
          <a:xfrm>
            <a:off x="530352" y="3749040"/>
            <a:ext cx="5303520" cy="1737360"/>
          </a:xfrm>
          <a:prstGeom prst="roundRect">
            <a:avLst>
              <a:gd name="adj" fmla="val 4124"/>
            </a:avLst>
          </a:prstGeom>
          <a:solidFill>
            <a:srgbClr val="FFFFFF"/>
          </a:solidFill>
          <a:ln w="9525">
            <a:solidFill>
              <a:srgbClr val="D8E4EA"/>
            </a:solidFill>
            <a:prstDash val="solid"/>
          </a:ln>
        </p:spPr>
        <p:txBody>
          <a:bodyPr/>
          <a:p/>
        </p:txBody>
      </p:sp>
      <p:sp>
        <p:nvSpPr>
          <p:cNvPr id="21" name="Shape 18"/>
          <p:cNvSpPr/>
          <p:nvPr/>
        </p:nvSpPr>
        <p:spPr>
          <a:xfrm>
            <a:off x="877824" y="4041648"/>
            <a:ext cx="274320" cy="274320"/>
          </a:xfrm>
          <a:prstGeom prst="roundRect">
            <a:avLst>
              <a:gd name="adj" fmla="val 16667"/>
            </a:avLst>
          </a:prstGeom>
          <a:solidFill>
            <a:srgbClr val="E9EFF4"/>
          </a:solidFill>
          <a:ln/>
        </p:spPr>
        <p:txBody>
          <a:bodyPr/>
          <a:p/>
        </p:txBody>
      </p:sp>
      <p:sp>
        <p:nvSpPr>
          <p:cNvPr id="22" name="Text 19"/>
          <p:cNvSpPr txBox="1"/>
          <p:nvPr/>
        </p:nvSpPr>
        <p:spPr>
          <a:xfrm>
            <a:off x="877824" y="4059936"/>
            <a:ext cx="274320" cy="237744"/>
          </a:xfrm>
          <a:prstGeom prst="rect">
            <a:avLst/>
          </a:prstGeom>
          <a:noFill/>
          <a:ln/>
        </p:spPr>
        <p:txBody>
          <a:bodyPr wrap="square" lIns="0" tIns="0" rIns="0" bIns="0" rtlCol="0" anchor="t"/>
          <a:lstStyle/>
          <a:p>
            <a:pPr algn="ctr" indent="0" marL="0">
              <a:lnSpc>
                <a:spcPct val="100000"/>
              </a:lnSpc>
              <a:buNone/>
            </a:pPr>
            <a:r>
              <a:rPr lang="en-US" sz="1200" b="1" dirty="0">
                <a:solidFill>
                  <a:srgbClr val="6F8491"/>
                </a:solidFill>
                <a:latin typeface="Aptos" pitchFamily="34" charset="0"/>
                <a:ea typeface="Aptos" pitchFamily="34" charset="-122"/>
                <a:cs typeface="Aptos" pitchFamily="34" charset="-120"/>
              </a:rPr>
              <a:t>—</a:t>
            </a:r>
            <a:endParaRPr lang="en-US" sz="1200" dirty="0"/>
          </a:p>
        </p:txBody>
      </p:sp>
      <p:sp>
        <p:nvSpPr>
          <p:cNvPr id="23" name="Text 20"/>
          <p:cNvSpPr txBox="1"/>
          <p:nvPr/>
        </p:nvSpPr>
        <p:spPr>
          <a:xfrm>
            <a:off x="877824" y="4443984"/>
            <a:ext cx="4605376" cy="530352"/>
          </a:xfrm>
          <a:prstGeom prst="rect">
            <a:avLst/>
          </a:prstGeom>
          <a:noFill/>
          <a:ln/>
        </p:spPr>
        <p:txBody>
          <a:bodyPr wrap="square" lIns="0" tIns="0" rIns="0" bIns="0" rtlCol="0" anchor="t"/>
          <a:lstStyle/>
          <a:p>
            <a:pPr algn="l" indent="0" marL="0">
              <a:lnSpc>
                <a:spcPct val="105000"/>
              </a:lnSpc>
              <a:buNone/>
            </a:pPr>
            <a:r>
              <a:rPr lang="en-US" sz="1550" b="1" dirty="0">
                <a:solidFill>
                  <a:srgbClr val="0B1F33"/>
                </a:solidFill>
                <a:latin typeface="Aptos Display" pitchFamily="34" charset="0"/>
                <a:ea typeface="Aptos Display" pitchFamily="34" charset="-122"/>
                <a:cs typeface="Aptos Display" pitchFamily="34" charset="-120"/>
              </a:rPr>
              <a:t>Turnaround time as a headline measure</a:t>
            </a:r>
            <a:endParaRPr lang="en-US" sz="1550" dirty="0"/>
          </a:p>
        </p:txBody>
      </p:sp>
      <p:sp>
        <p:nvSpPr>
          <p:cNvPr id="24" name="Text 21"/>
          <p:cNvSpPr txBox="1"/>
          <p:nvPr/>
        </p:nvSpPr>
        <p:spPr>
          <a:xfrm>
            <a:off x="877824" y="5010912"/>
            <a:ext cx="4605376" cy="457200"/>
          </a:xfrm>
          <a:prstGeom prst="rect">
            <a:avLst/>
          </a:prstGeom>
          <a:noFill/>
          <a:ln/>
        </p:spPr>
        <p:txBody>
          <a:bodyPr wrap="square" lIns="0" tIns="0" rIns="0" bIns="0" rtlCol="0" anchor="t"/>
          <a:lstStyle/>
          <a:p>
            <a:pPr algn="l" indent="0" marL="0">
              <a:lnSpc>
                <a:spcPct val="118000"/>
              </a:lnSpc>
              <a:buNone/>
            </a:pPr>
            <a:r>
              <a:rPr lang="en-US" sz="1150" dirty="0">
                <a:solidFill>
                  <a:srgbClr val="456174"/>
                </a:solidFill>
                <a:latin typeface="Aptos" pitchFamily="34" charset="0"/>
                <a:ea typeface="Aptos" pitchFamily="34" charset="-122"/>
                <a:cs typeface="Aptos" pitchFamily="34" charset="-120"/>
              </a:rPr>
              <a:t>No gate means no honest clock start, and GTA traffic argues with the number.</a:t>
            </a:r>
            <a:endParaRPr lang="en-US" sz="1150" dirty="0"/>
          </a:p>
        </p:txBody>
      </p:sp>
      <p:sp>
        <p:nvSpPr>
          <p:cNvPr id="25" name="Shape 22"/>
          <p:cNvSpPr/>
          <p:nvPr/>
        </p:nvSpPr>
        <p:spPr>
          <a:xfrm>
            <a:off x="6355080" y="3749040"/>
            <a:ext cx="5303520" cy="1737360"/>
          </a:xfrm>
          <a:prstGeom prst="roundRect">
            <a:avLst>
              <a:gd name="adj" fmla="val 4124"/>
            </a:avLst>
          </a:prstGeom>
          <a:solidFill>
            <a:srgbClr val="FFFFFF"/>
          </a:solidFill>
          <a:ln w="9525">
            <a:solidFill>
              <a:srgbClr val="D8E4EA"/>
            </a:solidFill>
            <a:prstDash val="solid"/>
          </a:ln>
        </p:spPr>
        <p:txBody>
          <a:bodyPr/>
          <a:p/>
        </p:txBody>
      </p:sp>
      <p:sp>
        <p:nvSpPr>
          <p:cNvPr id="26" name="Shape 23"/>
          <p:cNvSpPr/>
          <p:nvPr/>
        </p:nvSpPr>
        <p:spPr>
          <a:xfrm>
            <a:off x="6699352" y="4041648"/>
            <a:ext cx="274320" cy="274320"/>
          </a:xfrm>
          <a:prstGeom prst="roundRect">
            <a:avLst>
              <a:gd name="adj" fmla="val 16667"/>
            </a:avLst>
          </a:prstGeom>
          <a:solidFill>
            <a:srgbClr val="E9EFF4"/>
          </a:solidFill>
          <a:ln/>
        </p:spPr>
        <p:txBody>
          <a:bodyPr/>
          <a:p/>
        </p:txBody>
      </p:sp>
      <p:sp>
        <p:nvSpPr>
          <p:cNvPr id="27" name="Text 24"/>
          <p:cNvSpPr txBox="1"/>
          <p:nvPr/>
        </p:nvSpPr>
        <p:spPr>
          <a:xfrm>
            <a:off x="6699352" y="4059936"/>
            <a:ext cx="274320" cy="237744"/>
          </a:xfrm>
          <a:prstGeom prst="rect">
            <a:avLst/>
          </a:prstGeom>
          <a:noFill/>
          <a:ln/>
        </p:spPr>
        <p:txBody>
          <a:bodyPr wrap="square" lIns="0" tIns="0" rIns="0" bIns="0" rtlCol="0" anchor="t"/>
          <a:lstStyle/>
          <a:p>
            <a:pPr algn="ctr" indent="0" marL="0">
              <a:lnSpc>
                <a:spcPct val="100000"/>
              </a:lnSpc>
              <a:buNone/>
            </a:pPr>
            <a:r>
              <a:rPr lang="en-US" sz="1200" b="1" dirty="0">
                <a:solidFill>
                  <a:srgbClr val="6F8491"/>
                </a:solidFill>
                <a:latin typeface="Aptos" pitchFamily="34" charset="0"/>
                <a:ea typeface="Aptos" pitchFamily="34" charset="-122"/>
                <a:cs typeface="Aptos" pitchFamily="34" charset="-120"/>
              </a:rPr>
              <a:t>—</a:t>
            </a:r>
            <a:endParaRPr lang="en-US" sz="1200" dirty="0"/>
          </a:p>
        </p:txBody>
      </p:sp>
      <p:sp>
        <p:nvSpPr>
          <p:cNvPr id="28" name="Text 25"/>
          <p:cNvSpPr txBox="1"/>
          <p:nvPr/>
        </p:nvSpPr>
        <p:spPr>
          <a:xfrm>
            <a:off x="6699352" y="4443984"/>
            <a:ext cx="4605376" cy="530352"/>
          </a:xfrm>
          <a:prstGeom prst="rect">
            <a:avLst/>
          </a:prstGeom>
          <a:noFill/>
          <a:ln/>
        </p:spPr>
        <p:txBody>
          <a:bodyPr wrap="square" lIns="0" tIns="0" rIns="0" bIns="0" rtlCol="0" anchor="t"/>
          <a:lstStyle/>
          <a:p>
            <a:pPr algn="l" indent="0" marL="0">
              <a:lnSpc>
                <a:spcPct val="105000"/>
              </a:lnSpc>
              <a:buNone/>
            </a:pPr>
            <a:r>
              <a:rPr lang="en-US" sz="1550" b="1" dirty="0">
                <a:solidFill>
                  <a:srgbClr val="0B1F33"/>
                </a:solidFill>
                <a:latin typeface="Aptos Display" pitchFamily="34" charset="0"/>
                <a:ea typeface="Aptos Display" pitchFamily="34" charset="-122"/>
                <a:cs typeface="Aptos Display" pitchFamily="34" charset="-120"/>
              </a:rPr>
              <a:t>No-shows and rejected loads scoring against a site</a:t>
            </a:r>
            <a:endParaRPr lang="en-US" sz="1550" dirty="0"/>
          </a:p>
        </p:txBody>
      </p:sp>
      <p:sp>
        <p:nvSpPr>
          <p:cNvPr id="29" name="Text 26"/>
          <p:cNvSpPr txBox="1"/>
          <p:nvPr/>
        </p:nvSpPr>
        <p:spPr>
          <a:xfrm>
            <a:off x="6699352" y="5010912"/>
            <a:ext cx="4605376" cy="457200"/>
          </a:xfrm>
          <a:prstGeom prst="rect">
            <a:avLst/>
          </a:prstGeom>
          <a:noFill/>
          <a:ln/>
        </p:spPr>
        <p:txBody>
          <a:bodyPr wrap="square" lIns="0" tIns="0" rIns="0" bIns="0" rtlCol="0" anchor="t"/>
          <a:lstStyle/>
          <a:p>
            <a:pPr algn="l" indent="0" marL="0">
              <a:lnSpc>
                <a:spcPct val="118000"/>
              </a:lnSpc>
              <a:buNone/>
            </a:pPr>
            <a:r>
              <a:rPr lang="en-US" sz="1150" dirty="0">
                <a:solidFill>
                  <a:srgbClr val="456174"/>
                </a:solidFill>
                <a:latin typeface="Aptos" pitchFamily="34" charset="0"/>
                <a:ea typeface="Aptos" pitchFamily="34" charset="-122"/>
                <a:cs typeface="Aptos" pitchFamily="34" charset="-120"/>
              </a:rPr>
              <a:t>Recorded, and released by hand. A penalty nobody trusts is a penalty nobody uses.</a:t>
            </a:r>
            <a:endParaRPr lang="en-US" sz="1150" dirty="0"/>
          </a:p>
        </p:txBody>
      </p:sp>
      <p:sp>
        <p:nvSpPr>
          <p:cNvPr id="30" name="Shape 27"/>
          <p:cNvSpPr/>
          <p:nvPr/>
        </p:nvSpPr>
        <p:spPr>
          <a:xfrm>
            <a:off x="530352" y="5742432"/>
            <a:ext cx="11130991" cy="585216"/>
          </a:xfrm>
          <a:prstGeom prst="roundRect">
            <a:avLst>
              <a:gd name="adj" fmla="val 9756"/>
            </a:avLst>
          </a:prstGeom>
          <a:solidFill>
            <a:srgbClr val="072238"/>
          </a:solidFill>
          <a:ln/>
        </p:spPr>
        <p:txBody>
          <a:bodyPr/>
          <a:p/>
        </p:txBody>
      </p:sp>
      <p:sp>
        <p:nvSpPr>
          <p:cNvPr id="31" name="Text 28"/>
          <p:cNvSpPr txBox="1"/>
          <p:nvPr/>
        </p:nvSpPr>
        <p:spPr>
          <a:xfrm>
            <a:off x="877824" y="5888736"/>
            <a:ext cx="10436047" cy="457200"/>
          </a:xfrm>
          <a:prstGeom prst="rect">
            <a:avLst/>
          </a:prstGeom>
          <a:noFill/>
          <a:ln/>
        </p:spPr>
        <p:txBody>
          <a:bodyPr wrap="square" lIns="0" tIns="0" rIns="0" bIns="0" rtlCol="0" anchor="ctr"/>
          <a:lstStyle/>
          <a:p>
            <a:pPr algn="l" indent="0" marL="0">
              <a:lnSpc>
                <a:spcPct val="115000"/>
              </a:lnSpc>
              <a:buNone/>
            </a:pPr>
            <a:r>
              <a:rPr lang="en-US" sz="1250" b="1" dirty="0">
                <a:solidFill>
                  <a:srgbClr val="FFFFFF"/>
                </a:solidFill>
                <a:latin typeface="Aptos" pitchFamily="34" charset="0"/>
                <a:ea typeface="Aptos" pitchFamily="34" charset="-122"/>
                <a:cs typeface="Aptos" pitchFamily="34" charset="-120"/>
              </a:rPr>
              <a:t>The second list matters as much as the first. It keeps the system pointed at our problem.</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72238"/>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164A66"/>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7FA3B8"/>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7FA3B8"/>
                </a:solidFill>
                <a:latin typeface="Aptos" pitchFamily="34" charset="0"/>
                <a:ea typeface="Aptos" pitchFamily="34" charset="-122"/>
                <a:cs typeface="Aptos" pitchFamily="34" charset="-120"/>
              </a:rPr>
              <a:t>35</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7FA3B8"/>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14AEE8"/>
                </a:solidFill>
                <a:latin typeface="Aptos" pitchFamily="34" charset="0"/>
                <a:ea typeface="Aptos" pitchFamily="34" charset="-122"/>
                <a:cs typeface="Aptos" pitchFamily="34" charset="-120"/>
              </a:rPr>
              <a:t>TO PUT IT IN FRONT OF REAL TRUCKS</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FFFFFF"/>
                </a:solidFill>
                <a:latin typeface="Aptos Display" pitchFamily="34" charset="0"/>
                <a:ea typeface="Aptos Display" pitchFamily="34" charset="-122"/>
                <a:cs typeface="Aptos Display" pitchFamily="34" charset="-120"/>
              </a:rPr>
              <a:t>Five decisions, and none of them are technical.</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B9D7E8"/>
                </a:solidFill>
                <a:latin typeface="Aptos" pitchFamily="34" charset="0"/>
                <a:ea typeface="Aptos" pitchFamily="34" charset="-122"/>
                <a:cs typeface="Aptos" pitchFamily="34" charset="-120"/>
              </a:rPr>
              <a:t>Everything in this deck already works. What is left is deciding.</a:t>
            </a:r>
            <a:endParaRPr lang="en-US" sz="1200" dirty="0"/>
          </a:p>
        </p:txBody>
      </p:sp>
      <p:sp>
        <p:nvSpPr>
          <p:cNvPr id="10" name="Text 7"/>
          <p:cNvSpPr txBox="1"/>
          <p:nvPr/>
        </p:nvSpPr>
        <p:spPr>
          <a:xfrm>
            <a:off x="530352" y="1755648"/>
            <a:ext cx="502920" cy="457200"/>
          </a:xfrm>
          <a:prstGeom prst="rect">
            <a:avLst/>
          </a:prstGeom>
          <a:noFill/>
          <a:ln/>
        </p:spPr>
        <p:txBody>
          <a:bodyPr wrap="square" lIns="0" tIns="0" rIns="0" bIns="0" rtlCol="0" anchor="t"/>
          <a:lstStyle/>
          <a:p>
            <a:pPr algn="l" indent="0" marL="0">
              <a:lnSpc>
                <a:spcPct val="100000"/>
              </a:lnSpc>
              <a:buNone/>
            </a:pPr>
            <a:r>
              <a:rPr lang="en-US" sz="2600" b="1" dirty="0">
                <a:solidFill>
                  <a:srgbClr val="14AEE8"/>
                </a:solidFill>
                <a:latin typeface="Aptos Display" pitchFamily="34" charset="0"/>
                <a:ea typeface="Aptos Display" pitchFamily="34" charset="-122"/>
                <a:cs typeface="Aptos Display" pitchFamily="34" charset="-120"/>
              </a:rPr>
              <a:t>1</a:t>
            </a:r>
            <a:endParaRPr lang="en-US" sz="2600" dirty="0"/>
          </a:p>
        </p:txBody>
      </p:sp>
      <p:sp>
        <p:nvSpPr>
          <p:cNvPr id="11" name="Text 8"/>
          <p:cNvSpPr txBox="1"/>
          <p:nvPr/>
        </p:nvSpPr>
        <p:spPr>
          <a:xfrm>
            <a:off x="1170432" y="1773936"/>
            <a:ext cx="4114800" cy="512064"/>
          </a:xfrm>
          <a:prstGeom prst="rect">
            <a:avLst/>
          </a:prstGeom>
          <a:noFill/>
          <a:ln/>
        </p:spPr>
        <p:txBody>
          <a:bodyPr wrap="square" lIns="0" tIns="0" rIns="0" bIns="0" rtlCol="0" anchor="t"/>
          <a:lstStyle/>
          <a:p>
            <a:pPr algn="l" indent="0" marL="0">
              <a:lnSpc>
                <a:spcPct val="105000"/>
              </a:lnSpc>
              <a:buNone/>
            </a:pPr>
            <a:r>
              <a:rPr lang="en-US" sz="1500" b="1" dirty="0">
                <a:solidFill>
                  <a:srgbClr val="FFFFFF"/>
                </a:solidFill>
                <a:latin typeface="Aptos Display" pitchFamily="34" charset="0"/>
                <a:ea typeface="Aptos Display" pitchFamily="34" charset="-122"/>
                <a:cs typeface="Aptos Display" pitchFamily="34" charset="-120"/>
              </a:rPr>
              <a:t>A mail provider</a:t>
            </a:r>
            <a:endParaRPr lang="en-US" sz="1500" dirty="0"/>
          </a:p>
        </p:txBody>
      </p:sp>
      <p:sp>
        <p:nvSpPr>
          <p:cNvPr id="12" name="Text 9"/>
          <p:cNvSpPr txBox="1"/>
          <p:nvPr/>
        </p:nvSpPr>
        <p:spPr>
          <a:xfrm>
            <a:off x="5532120" y="1773936"/>
            <a:ext cx="4709160" cy="512064"/>
          </a:xfrm>
          <a:prstGeom prst="rect">
            <a:avLst/>
          </a:prstGeom>
          <a:noFill/>
          <a:ln/>
        </p:spPr>
        <p:txBody>
          <a:bodyPr wrap="square" lIns="0" tIns="0" rIns="0" bIns="0" rtlCol="0" anchor="t"/>
          <a:lstStyle/>
          <a:p>
            <a:pPr algn="l" indent="0" marL="0">
              <a:lnSpc>
                <a:spcPct val="118000"/>
              </a:lnSpc>
              <a:buNone/>
            </a:pPr>
            <a:r>
              <a:rPr lang="en-US" sz="1150" dirty="0">
                <a:solidFill>
                  <a:srgbClr val="B9D7E8"/>
                </a:solidFill>
                <a:latin typeface="Aptos" pitchFamily="34" charset="0"/>
                <a:ea typeface="Aptos" pitchFamily="34" charset="-122"/>
                <a:cs typeface="Aptos" pitchFamily="34" charset="-120"/>
              </a:rPr>
              <a:t>Unlocks confirmations, changes, cancellations and the people CC'd on a booking.</a:t>
            </a:r>
            <a:endParaRPr lang="en-US" sz="1150" dirty="0"/>
          </a:p>
        </p:txBody>
      </p:sp>
      <p:sp>
        <p:nvSpPr>
          <p:cNvPr id="13" name="Shape 10"/>
          <p:cNvSpPr/>
          <p:nvPr/>
        </p:nvSpPr>
        <p:spPr>
          <a:xfrm>
            <a:off x="10469880" y="1810512"/>
            <a:ext cx="1188720" cy="384048"/>
          </a:xfrm>
          <a:prstGeom prst="roundRect">
            <a:avLst>
              <a:gd name="adj" fmla="val 14286"/>
            </a:avLst>
          </a:prstGeom>
          <a:solidFill>
            <a:srgbClr val="14AEE8"/>
          </a:solidFill>
          <a:ln/>
        </p:spPr>
        <p:txBody>
          <a:bodyPr/>
          <a:p/>
        </p:txBody>
      </p:sp>
      <p:sp>
        <p:nvSpPr>
          <p:cNvPr id="14" name="Text 11"/>
          <p:cNvSpPr txBox="1"/>
          <p:nvPr/>
        </p:nvSpPr>
        <p:spPr>
          <a:xfrm>
            <a:off x="10469880" y="1901952"/>
            <a:ext cx="1188720" cy="201168"/>
          </a:xfrm>
          <a:prstGeom prst="rect">
            <a:avLst/>
          </a:prstGeom>
          <a:noFill/>
          <a:ln/>
        </p:spPr>
        <p:txBody>
          <a:bodyPr wrap="square" lIns="0" tIns="0" rIns="0" bIns="0" rtlCol="0" anchor="t"/>
          <a:lstStyle/>
          <a:p>
            <a:pPr algn="ctr" indent="0" marL="0">
              <a:lnSpc>
                <a:spcPct val="100000"/>
              </a:lnSpc>
              <a:buNone/>
            </a:pPr>
            <a:r>
              <a:rPr lang="en-US" sz="900" b="1" dirty="0">
                <a:solidFill>
                  <a:srgbClr val="072238"/>
                </a:solidFill>
                <a:latin typeface="Aptos" pitchFamily="34" charset="0"/>
                <a:ea typeface="Aptos" pitchFamily="34" charset="-122"/>
                <a:cs typeface="Aptos" pitchFamily="34" charset="-120"/>
              </a:rPr>
              <a:t>IT</a:t>
            </a:r>
            <a:endParaRPr lang="en-US" sz="900" dirty="0"/>
          </a:p>
        </p:txBody>
      </p:sp>
      <p:sp>
        <p:nvSpPr>
          <p:cNvPr id="15" name="Shape 12"/>
          <p:cNvSpPr/>
          <p:nvPr/>
        </p:nvSpPr>
        <p:spPr>
          <a:xfrm>
            <a:off x="530352" y="2395728"/>
            <a:ext cx="11130991" cy="0"/>
          </a:xfrm>
          <a:prstGeom prst="line">
            <a:avLst/>
          </a:prstGeom>
          <a:noFill/>
          <a:ln w="9525">
            <a:solidFill>
              <a:srgbClr val="164A66"/>
            </a:solidFill>
            <a:prstDash val="solid"/>
          </a:ln>
        </p:spPr>
        <p:txBody>
          <a:bodyPr/>
          <a:p/>
        </p:txBody>
      </p:sp>
      <p:sp>
        <p:nvSpPr>
          <p:cNvPr id="16" name="Text 13"/>
          <p:cNvSpPr txBox="1"/>
          <p:nvPr/>
        </p:nvSpPr>
        <p:spPr>
          <a:xfrm>
            <a:off x="530352" y="2638044"/>
            <a:ext cx="502920" cy="457200"/>
          </a:xfrm>
          <a:prstGeom prst="rect">
            <a:avLst/>
          </a:prstGeom>
          <a:noFill/>
          <a:ln/>
        </p:spPr>
        <p:txBody>
          <a:bodyPr wrap="square" lIns="0" tIns="0" rIns="0" bIns="0" rtlCol="0" anchor="t"/>
          <a:lstStyle/>
          <a:p>
            <a:pPr algn="l" indent="0" marL="0">
              <a:lnSpc>
                <a:spcPct val="100000"/>
              </a:lnSpc>
              <a:buNone/>
            </a:pPr>
            <a:r>
              <a:rPr lang="en-US" sz="2600" b="1" dirty="0">
                <a:solidFill>
                  <a:srgbClr val="14AEE8"/>
                </a:solidFill>
                <a:latin typeface="Aptos Display" pitchFamily="34" charset="0"/>
                <a:ea typeface="Aptos Display" pitchFamily="34" charset="-122"/>
                <a:cs typeface="Aptos Display" pitchFamily="34" charset="-120"/>
              </a:rPr>
              <a:t>2</a:t>
            </a:r>
            <a:endParaRPr lang="en-US" sz="2600" dirty="0"/>
          </a:p>
        </p:txBody>
      </p:sp>
      <p:sp>
        <p:nvSpPr>
          <p:cNvPr id="17" name="Text 14"/>
          <p:cNvSpPr txBox="1"/>
          <p:nvPr/>
        </p:nvSpPr>
        <p:spPr>
          <a:xfrm>
            <a:off x="1170432" y="2656332"/>
            <a:ext cx="4114800" cy="512064"/>
          </a:xfrm>
          <a:prstGeom prst="rect">
            <a:avLst/>
          </a:prstGeom>
          <a:noFill/>
          <a:ln/>
        </p:spPr>
        <p:txBody>
          <a:bodyPr wrap="square" lIns="0" tIns="0" rIns="0" bIns="0" rtlCol="0" anchor="t"/>
          <a:lstStyle/>
          <a:p>
            <a:pPr algn="l" indent="0" marL="0">
              <a:lnSpc>
                <a:spcPct val="105000"/>
              </a:lnSpc>
              <a:buNone/>
            </a:pPr>
            <a:r>
              <a:rPr lang="en-US" sz="1500" b="1" dirty="0">
                <a:solidFill>
                  <a:srgbClr val="FFFFFF"/>
                </a:solidFill>
                <a:latin typeface="Aptos Display" pitchFamily="34" charset="0"/>
                <a:ea typeface="Aptos Display" pitchFamily="34" charset="-122"/>
                <a:cs typeface="Aptos Display" pitchFamily="34" charset="-120"/>
              </a:rPr>
              <a:t>The address MaxDock will live at</a:t>
            </a:r>
            <a:endParaRPr lang="en-US" sz="1500" dirty="0"/>
          </a:p>
        </p:txBody>
      </p:sp>
      <p:sp>
        <p:nvSpPr>
          <p:cNvPr id="18" name="Text 15"/>
          <p:cNvSpPr txBox="1"/>
          <p:nvPr/>
        </p:nvSpPr>
        <p:spPr>
          <a:xfrm>
            <a:off x="5532120" y="2656332"/>
            <a:ext cx="4709160" cy="512064"/>
          </a:xfrm>
          <a:prstGeom prst="rect">
            <a:avLst/>
          </a:prstGeom>
          <a:noFill/>
          <a:ln/>
        </p:spPr>
        <p:txBody>
          <a:bodyPr wrap="square" lIns="0" tIns="0" rIns="0" bIns="0" rtlCol="0" anchor="t"/>
          <a:lstStyle/>
          <a:p>
            <a:pPr algn="l" indent="0" marL="0">
              <a:lnSpc>
                <a:spcPct val="118000"/>
              </a:lnSpc>
              <a:buNone/>
            </a:pPr>
            <a:r>
              <a:rPr lang="en-US" sz="1150" dirty="0">
                <a:solidFill>
                  <a:srgbClr val="B9D7E8"/>
                </a:solidFill>
                <a:latin typeface="Aptos" pitchFamily="34" charset="0"/>
                <a:ea typeface="Aptos" pitchFamily="34" charset="-122"/>
                <a:cs typeface="Aptos" pitchFamily="34" charset="-120"/>
              </a:rPr>
              <a:t>The app installs against a fixed address. Move it later and every icon breaks.</a:t>
            </a:r>
            <a:endParaRPr lang="en-US" sz="1150" dirty="0"/>
          </a:p>
        </p:txBody>
      </p:sp>
      <p:sp>
        <p:nvSpPr>
          <p:cNvPr id="19" name="Shape 16"/>
          <p:cNvSpPr/>
          <p:nvPr/>
        </p:nvSpPr>
        <p:spPr>
          <a:xfrm>
            <a:off x="10469880" y="2692908"/>
            <a:ext cx="1188720" cy="384048"/>
          </a:xfrm>
          <a:prstGeom prst="roundRect">
            <a:avLst>
              <a:gd name="adj" fmla="val 14286"/>
            </a:avLst>
          </a:prstGeom>
          <a:solidFill>
            <a:srgbClr val="14AEE8"/>
          </a:solidFill>
          <a:ln/>
        </p:spPr>
        <p:txBody>
          <a:bodyPr/>
          <a:p/>
        </p:txBody>
      </p:sp>
      <p:sp>
        <p:nvSpPr>
          <p:cNvPr id="20" name="Text 17"/>
          <p:cNvSpPr txBox="1"/>
          <p:nvPr/>
        </p:nvSpPr>
        <p:spPr>
          <a:xfrm>
            <a:off x="10469880" y="2784348"/>
            <a:ext cx="1188720" cy="201168"/>
          </a:xfrm>
          <a:prstGeom prst="rect">
            <a:avLst/>
          </a:prstGeom>
          <a:noFill/>
          <a:ln/>
        </p:spPr>
        <p:txBody>
          <a:bodyPr wrap="square" lIns="0" tIns="0" rIns="0" bIns="0" rtlCol="0" anchor="t"/>
          <a:lstStyle/>
          <a:p>
            <a:pPr algn="ctr" indent="0" marL="0">
              <a:lnSpc>
                <a:spcPct val="100000"/>
              </a:lnSpc>
              <a:buNone/>
            </a:pPr>
            <a:r>
              <a:rPr lang="en-US" sz="900" b="1" dirty="0">
                <a:solidFill>
                  <a:srgbClr val="072238"/>
                </a:solidFill>
                <a:latin typeface="Aptos" pitchFamily="34" charset="0"/>
                <a:ea typeface="Aptos" pitchFamily="34" charset="-122"/>
                <a:cs typeface="Aptos" pitchFamily="34" charset="-120"/>
              </a:rPr>
              <a:t>IT</a:t>
            </a:r>
            <a:endParaRPr lang="en-US" sz="900" dirty="0"/>
          </a:p>
        </p:txBody>
      </p:sp>
      <p:sp>
        <p:nvSpPr>
          <p:cNvPr id="21" name="Shape 18"/>
          <p:cNvSpPr/>
          <p:nvPr/>
        </p:nvSpPr>
        <p:spPr>
          <a:xfrm>
            <a:off x="530352" y="3264408"/>
            <a:ext cx="11130991" cy="0"/>
          </a:xfrm>
          <a:prstGeom prst="line">
            <a:avLst/>
          </a:prstGeom>
          <a:noFill/>
          <a:ln w="9525">
            <a:solidFill>
              <a:srgbClr val="164A66"/>
            </a:solidFill>
            <a:prstDash val="solid"/>
          </a:ln>
        </p:spPr>
        <p:txBody>
          <a:bodyPr/>
          <a:p/>
        </p:txBody>
      </p:sp>
      <p:sp>
        <p:nvSpPr>
          <p:cNvPr id="22" name="Text 19"/>
          <p:cNvSpPr txBox="1"/>
          <p:nvPr/>
        </p:nvSpPr>
        <p:spPr>
          <a:xfrm>
            <a:off x="530352" y="3520440"/>
            <a:ext cx="502920" cy="457200"/>
          </a:xfrm>
          <a:prstGeom prst="rect">
            <a:avLst/>
          </a:prstGeom>
          <a:noFill/>
          <a:ln/>
        </p:spPr>
        <p:txBody>
          <a:bodyPr wrap="square" lIns="0" tIns="0" rIns="0" bIns="0" rtlCol="0" anchor="t"/>
          <a:lstStyle/>
          <a:p>
            <a:pPr algn="l" indent="0" marL="0">
              <a:lnSpc>
                <a:spcPct val="100000"/>
              </a:lnSpc>
              <a:buNone/>
            </a:pPr>
            <a:r>
              <a:rPr lang="en-US" sz="2600" b="1" dirty="0">
                <a:solidFill>
                  <a:srgbClr val="14AEE8"/>
                </a:solidFill>
                <a:latin typeface="Aptos Display" pitchFamily="34" charset="0"/>
                <a:ea typeface="Aptos Display" pitchFamily="34" charset="-122"/>
                <a:cs typeface="Aptos Display" pitchFamily="34" charset="-120"/>
              </a:rPr>
              <a:t>3</a:t>
            </a:r>
            <a:endParaRPr lang="en-US" sz="2600" dirty="0"/>
          </a:p>
        </p:txBody>
      </p:sp>
      <p:sp>
        <p:nvSpPr>
          <p:cNvPr id="23" name="Text 20"/>
          <p:cNvSpPr txBox="1"/>
          <p:nvPr/>
        </p:nvSpPr>
        <p:spPr>
          <a:xfrm>
            <a:off x="1170432" y="3538728"/>
            <a:ext cx="4114800" cy="512064"/>
          </a:xfrm>
          <a:prstGeom prst="rect">
            <a:avLst/>
          </a:prstGeom>
          <a:noFill/>
          <a:ln/>
        </p:spPr>
        <p:txBody>
          <a:bodyPr wrap="square" lIns="0" tIns="0" rIns="0" bIns="0" rtlCol="0" anchor="t"/>
          <a:lstStyle/>
          <a:p>
            <a:pPr algn="l" indent="0" marL="0">
              <a:lnSpc>
                <a:spcPct val="105000"/>
              </a:lnSpc>
              <a:buNone/>
            </a:pPr>
            <a:r>
              <a:rPr lang="en-US" sz="1500" b="1" dirty="0">
                <a:solidFill>
                  <a:srgbClr val="FFFFFF"/>
                </a:solidFill>
                <a:latin typeface="Aptos Display" pitchFamily="34" charset="0"/>
                <a:ea typeface="Aptos Display" pitchFamily="34" charset="-122"/>
                <a:cs typeface="Aptos Display" pitchFamily="34" charset="-120"/>
              </a:rPr>
              <a:t>A production database, separate from the one we build on</a:t>
            </a:r>
            <a:endParaRPr lang="en-US" sz="1500" dirty="0"/>
          </a:p>
        </p:txBody>
      </p:sp>
      <p:sp>
        <p:nvSpPr>
          <p:cNvPr id="24" name="Text 21"/>
          <p:cNvSpPr txBox="1"/>
          <p:nvPr/>
        </p:nvSpPr>
        <p:spPr>
          <a:xfrm>
            <a:off x="5532120" y="3538728"/>
            <a:ext cx="4709160" cy="512064"/>
          </a:xfrm>
          <a:prstGeom prst="rect">
            <a:avLst/>
          </a:prstGeom>
          <a:noFill/>
          <a:ln/>
        </p:spPr>
        <p:txBody>
          <a:bodyPr wrap="square" lIns="0" tIns="0" rIns="0" bIns="0" rtlCol="0" anchor="t"/>
          <a:lstStyle/>
          <a:p>
            <a:pPr algn="l" indent="0" marL="0">
              <a:lnSpc>
                <a:spcPct val="118000"/>
              </a:lnSpc>
              <a:buNone/>
            </a:pPr>
            <a:r>
              <a:rPr lang="en-US" sz="1150" dirty="0">
                <a:solidFill>
                  <a:srgbClr val="B9D7E8"/>
                </a:solidFill>
                <a:latin typeface="Aptos" pitchFamily="34" charset="0"/>
                <a:ea typeface="Aptos" pitchFamily="34" charset="-122"/>
                <a:cs typeface="Aptos" pitchFamily="34" charset="-120"/>
              </a:rPr>
              <a:t>There is one today, so there is nowhere to rehearse a change.</a:t>
            </a:r>
            <a:endParaRPr lang="en-US" sz="1150" dirty="0"/>
          </a:p>
        </p:txBody>
      </p:sp>
      <p:sp>
        <p:nvSpPr>
          <p:cNvPr id="25" name="Shape 22"/>
          <p:cNvSpPr/>
          <p:nvPr/>
        </p:nvSpPr>
        <p:spPr>
          <a:xfrm>
            <a:off x="10469880" y="3575304"/>
            <a:ext cx="1188720" cy="384048"/>
          </a:xfrm>
          <a:prstGeom prst="roundRect">
            <a:avLst>
              <a:gd name="adj" fmla="val 14286"/>
            </a:avLst>
          </a:prstGeom>
          <a:solidFill>
            <a:srgbClr val="14AEE8"/>
          </a:solidFill>
          <a:ln/>
        </p:spPr>
        <p:txBody>
          <a:bodyPr/>
          <a:p/>
        </p:txBody>
      </p:sp>
      <p:sp>
        <p:nvSpPr>
          <p:cNvPr id="26" name="Text 23"/>
          <p:cNvSpPr txBox="1"/>
          <p:nvPr/>
        </p:nvSpPr>
        <p:spPr>
          <a:xfrm>
            <a:off x="10469880" y="3666744"/>
            <a:ext cx="1188720" cy="201168"/>
          </a:xfrm>
          <a:prstGeom prst="rect">
            <a:avLst/>
          </a:prstGeom>
          <a:noFill/>
          <a:ln/>
        </p:spPr>
        <p:txBody>
          <a:bodyPr wrap="square" lIns="0" tIns="0" rIns="0" bIns="0" rtlCol="0" anchor="t"/>
          <a:lstStyle/>
          <a:p>
            <a:pPr algn="ctr" indent="0" marL="0">
              <a:lnSpc>
                <a:spcPct val="100000"/>
              </a:lnSpc>
              <a:buNone/>
            </a:pPr>
            <a:r>
              <a:rPr lang="en-US" sz="900" b="1" dirty="0">
                <a:solidFill>
                  <a:srgbClr val="072238"/>
                </a:solidFill>
                <a:latin typeface="Aptos" pitchFamily="34" charset="0"/>
                <a:ea typeface="Aptos" pitchFamily="34" charset="-122"/>
                <a:cs typeface="Aptos" pitchFamily="34" charset="-120"/>
              </a:rPr>
              <a:t>IT</a:t>
            </a:r>
            <a:endParaRPr lang="en-US" sz="900" dirty="0"/>
          </a:p>
        </p:txBody>
      </p:sp>
      <p:sp>
        <p:nvSpPr>
          <p:cNvPr id="27" name="Shape 24"/>
          <p:cNvSpPr/>
          <p:nvPr/>
        </p:nvSpPr>
        <p:spPr>
          <a:xfrm>
            <a:off x="530352" y="4133088"/>
            <a:ext cx="11130991" cy="0"/>
          </a:xfrm>
          <a:prstGeom prst="line">
            <a:avLst/>
          </a:prstGeom>
          <a:noFill/>
          <a:ln w="9525">
            <a:solidFill>
              <a:srgbClr val="164A66"/>
            </a:solidFill>
            <a:prstDash val="solid"/>
          </a:ln>
        </p:spPr>
        <p:txBody>
          <a:bodyPr/>
          <a:p/>
        </p:txBody>
      </p:sp>
      <p:sp>
        <p:nvSpPr>
          <p:cNvPr id="28" name="Text 25"/>
          <p:cNvSpPr txBox="1"/>
          <p:nvPr/>
        </p:nvSpPr>
        <p:spPr>
          <a:xfrm>
            <a:off x="530352" y="4402836"/>
            <a:ext cx="502920" cy="457200"/>
          </a:xfrm>
          <a:prstGeom prst="rect">
            <a:avLst/>
          </a:prstGeom>
          <a:noFill/>
          <a:ln/>
        </p:spPr>
        <p:txBody>
          <a:bodyPr wrap="square" lIns="0" tIns="0" rIns="0" bIns="0" rtlCol="0" anchor="t"/>
          <a:lstStyle/>
          <a:p>
            <a:pPr algn="l" indent="0" marL="0">
              <a:lnSpc>
                <a:spcPct val="100000"/>
              </a:lnSpc>
              <a:buNone/>
            </a:pPr>
            <a:r>
              <a:rPr lang="en-US" sz="2600" b="1" dirty="0">
                <a:solidFill>
                  <a:srgbClr val="14A66A"/>
                </a:solidFill>
                <a:latin typeface="Aptos Display" pitchFamily="34" charset="0"/>
                <a:ea typeface="Aptos Display" pitchFamily="34" charset="-122"/>
                <a:cs typeface="Aptos Display" pitchFamily="34" charset="-120"/>
              </a:rPr>
              <a:t>4</a:t>
            </a:r>
            <a:endParaRPr lang="en-US" sz="2600" dirty="0"/>
          </a:p>
        </p:txBody>
      </p:sp>
      <p:sp>
        <p:nvSpPr>
          <p:cNvPr id="29" name="Text 26"/>
          <p:cNvSpPr txBox="1"/>
          <p:nvPr/>
        </p:nvSpPr>
        <p:spPr>
          <a:xfrm>
            <a:off x="1170432" y="4421124"/>
            <a:ext cx="4114800" cy="512064"/>
          </a:xfrm>
          <a:prstGeom prst="rect">
            <a:avLst/>
          </a:prstGeom>
          <a:noFill/>
          <a:ln/>
        </p:spPr>
        <p:txBody>
          <a:bodyPr wrap="square" lIns="0" tIns="0" rIns="0" bIns="0" rtlCol="0" anchor="t"/>
          <a:lstStyle/>
          <a:p>
            <a:pPr algn="l" indent="0" marL="0">
              <a:lnSpc>
                <a:spcPct val="105000"/>
              </a:lnSpc>
              <a:buNone/>
            </a:pPr>
            <a:r>
              <a:rPr lang="en-US" sz="1500" b="1" dirty="0">
                <a:solidFill>
                  <a:srgbClr val="FFFFFF"/>
                </a:solidFill>
                <a:latin typeface="Aptos Display" pitchFamily="34" charset="0"/>
                <a:ea typeface="Aptos Display" pitchFamily="34" charset="-122"/>
                <a:cs typeface="Aptos Display" pitchFamily="34" charset="-120"/>
              </a:rPr>
              <a:t>The real account list, site by site</a:t>
            </a:r>
            <a:endParaRPr lang="en-US" sz="1500" dirty="0"/>
          </a:p>
        </p:txBody>
      </p:sp>
      <p:sp>
        <p:nvSpPr>
          <p:cNvPr id="30" name="Text 27"/>
          <p:cNvSpPr txBox="1"/>
          <p:nvPr/>
        </p:nvSpPr>
        <p:spPr>
          <a:xfrm>
            <a:off x="5532120" y="4421124"/>
            <a:ext cx="4709160" cy="512064"/>
          </a:xfrm>
          <a:prstGeom prst="rect">
            <a:avLst/>
          </a:prstGeom>
          <a:noFill/>
          <a:ln/>
        </p:spPr>
        <p:txBody>
          <a:bodyPr wrap="square" lIns="0" tIns="0" rIns="0" bIns="0" rtlCol="0" anchor="t"/>
          <a:lstStyle/>
          <a:p>
            <a:pPr algn="l" indent="0" marL="0">
              <a:lnSpc>
                <a:spcPct val="118000"/>
              </a:lnSpc>
              <a:buNone/>
            </a:pPr>
            <a:r>
              <a:rPr lang="en-US" sz="1150" dirty="0">
                <a:solidFill>
                  <a:srgbClr val="B9D7E8"/>
                </a:solidFill>
                <a:latin typeface="Aptos" pitchFamily="34" charset="0"/>
                <a:ea typeface="Aptos" pitchFamily="34" charset="-122"/>
                <a:cs typeface="Aptos" pitchFamily="34" charset="-120"/>
              </a:rPr>
              <a:t>Coordinators, managers, and the companies who will book. Six accounts exist today.</a:t>
            </a:r>
            <a:endParaRPr lang="en-US" sz="1150" dirty="0"/>
          </a:p>
        </p:txBody>
      </p:sp>
      <p:sp>
        <p:nvSpPr>
          <p:cNvPr id="31" name="Shape 28"/>
          <p:cNvSpPr/>
          <p:nvPr/>
        </p:nvSpPr>
        <p:spPr>
          <a:xfrm>
            <a:off x="10469880" y="4457700"/>
            <a:ext cx="1188720" cy="384048"/>
          </a:xfrm>
          <a:prstGeom prst="roundRect">
            <a:avLst>
              <a:gd name="adj" fmla="val 14286"/>
            </a:avLst>
          </a:prstGeom>
          <a:solidFill>
            <a:srgbClr val="14A66A"/>
          </a:solidFill>
          <a:ln/>
        </p:spPr>
        <p:txBody>
          <a:bodyPr/>
          <a:p/>
        </p:txBody>
      </p:sp>
      <p:sp>
        <p:nvSpPr>
          <p:cNvPr id="32" name="Text 29"/>
          <p:cNvSpPr txBox="1"/>
          <p:nvPr/>
        </p:nvSpPr>
        <p:spPr>
          <a:xfrm>
            <a:off x="10469880" y="4549140"/>
            <a:ext cx="1188720" cy="201168"/>
          </a:xfrm>
          <a:prstGeom prst="rect">
            <a:avLst/>
          </a:prstGeom>
          <a:noFill/>
          <a:ln/>
        </p:spPr>
        <p:txBody>
          <a:bodyPr wrap="square" lIns="0" tIns="0" rIns="0" bIns="0" rtlCol="0" anchor="t"/>
          <a:lstStyle/>
          <a:p>
            <a:pPr algn="ctr" indent="0" marL="0">
              <a:lnSpc>
                <a:spcPct val="100000"/>
              </a:lnSpc>
              <a:buNone/>
            </a:pPr>
            <a:r>
              <a:rPr lang="en-US" sz="900" b="1" dirty="0">
                <a:solidFill>
                  <a:srgbClr val="072238"/>
                </a:solidFill>
                <a:latin typeface="Aptos" pitchFamily="34" charset="0"/>
                <a:ea typeface="Aptos" pitchFamily="34" charset="-122"/>
                <a:cs typeface="Aptos" pitchFamily="34" charset="-120"/>
              </a:rPr>
              <a:t>Site admin</a:t>
            </a:r>
            <a:endParaRPr lang="en-US" sz="900" dirty="0"/>
          </a:p>
        </p:txBody>
      </p:sp>
      <p:sp>
        <p:nvSpPr>
          <p:cNvPr id="33" name="Shape 30"/>
          <p:cNvSpPr/>
          <p:nvPr/>
        </p:nvSpPr>
        <p:spPr>
          <a:xfrm>
            <a:off x="530352" y="5001768"/>
            <a:ext cx="11130991" cy="0"/>
          </a:xfrm>
          <a:prstGeom prst="line">
            <a:avLst/>
          </a:prstGeom>
          <a:noFill/>
          <a:ln w="9525">
            <a:solidFill>
              <a:srgbClr val="164A66"/>
            </a:solidFill>
            <a:prstDash val="solid"/>
          </a:ln>
        </p:spPr>
        <p:txBody>
          <a:bodyPr/>
          <a:p/>
        </p:txBody>
      </p:sp>
      <p:sp>
        <p:nvSpPr>
          <p:cNvPr id="34" name="Text 31"/>
          <p:cNvSpPr txBox="1"/>
          <p:nvPr/>
        </p:nvSpPr>
        <p:spPr>
          <a:xfrm>
            <a:off x="530352" y="5285232"/>
            <a:ext cx="502920" cy="457200"/>
          </a:xfrm>
          <a:prstGeom prst="rect">
            <a:avLst/>
          </a:prstGeom>
          <a:noFill/>
          <a:ln/>
        </p:spPr>
        <p:txBody>
          <a:bodyPr wrap="square" lIns="0" tIns="0" rIns="0" bIns="0" rtlCol="0" anchor="t"/>
          <a:lstStyle/>
          <a:p>
            <a:pPr algn="l" indent="0" marL="0">
              <a:lnSpc>
                <a:spcPct val="100000"/>
              </a:lnSpc>
              <a:buNone/>
            </a:pPr>
            <a:r>
              <a:rPr lang="en-US" sz="2600" b="1" dirty="0">
                <a:solidFill>
                  <a:srgbClr val="14A66A"/>
                </a:solidFill>
                <a:latin typeface="Aptos Display" pitchFamily="34" charset="0"/>
                <a:ea typeface="Aptos Display" pitchFamily="34" charset="-122"/>
                <a:cs typeface="Aptos Display" pitchFamily="34" charset="-120"/>
              </a:rPr>
              <a:t>5</a:t>
            </a:r>
            <a:endParaRPr lang="en-US" sz="2600" dirty="0"/>
          </a:p>
        </p:txBody>
      </p:sp>
      <p:sp>
        <p:nvSpPr>
          <p:cNvPr id="35" name="Text 32"/>
          <p:cNvSpPr txBox="1"/>
          <p:nvPr/>
        </p:nvSpPr>
        <p:spPr>
          <a:xfrm>
            <a:off x="1170432" y="5303520"/>
            <a:ext cx="4114800" cy="512064"/>
          </a:xfrm>
          <a:prstGeom prst="rect">
            <a:avLst/>
          </a:prstGeom>
          <a:noFill/>
          <a:ln/>
        </p:spPr>
        <p:txBody>
          <a:bodyPr wrap="square" lIns="0" tIns="0" rIns="0" bIns="0" rtlCol="0" anchor="t"/>
          <a:lstStyle/>
          <a:p>
            <a:pPr algn="l" indent="0" marL="0">
              <a:lnSpc>
                <a:spcPct val="105000"/>
              </a:lnSpc>
              <a:buNone/>
            </a:pPr>
            <a:r>
              <a:rPr lang="en-US" sz="1500" b="1" dirty="0">
                <a:solidFill>
                  <a:srgbClr val="FFFFFF"/>
                </a:solidFill>
                <a:latin typeface="Aptos Display" pitchFamily="34" charset="0"/>
                <a:ea typeface="Aptos Display" pitchFamily="34" charset="-122"/>
                <a:cs typeface="Aptos Display" pitchFamily="34" charset="-120"/>
              </a:rPr>
              <a:t>One plant to go first</a:t>
            </a:r>
            <a:endParaRPr lang="en-US" sz="1500" dirty="0"/>
          </a:p>
        </p:txBody>
      </p:sp>
      <p:sp>
        <p:nvSpPr>
          <p:cNvPr id="36" name="Text 33"/>
          <p:cNvSpPr txBox="1"/>
          <p:nvPr/>
        </p:nvSpPr>
        <p:spPr>
          <a:xfrm>
            <a:off x="5532120" y="5303520"/>
            <a:ext cx="4709160" cy="512064"/>
          </a:xfrm>
          <a:prstGeom prst="rect">
            <a:avLst/>
          </a:prstGeom>
          <a:noFill/>
          <a:ln/>
        </p:spPr>
        <p:txBody>
          <a:bodyPr wrap="square" lIns="0" tIns="0" rIns="0" bIns="0" rtlCol="0" anchor="t"/>
          <a:lstStyle/>
          <a:p>
            <a:pPr algn="l" indent="0" marL="0">
              <a:lnSpc>
                <a:spcPct val="118000"/>
              </a:lnSpc>
              <a:buNone/>
            </a:pPr>
            <a:r>
              <a:rPr lang="en-US" sz="1150" dirty="0">
                <a:solidFill>
                  <a:srgbClr val="B9D7E8"/>
                </a:solidFill>
                <a:latin typeface="Aptos" pitchFamily="34" charset="0"/>
                <a:ea typeface="Aptos" pitchFamily="34" charset="-122"/>
                <a:cs typeface="Aptos" pitchFamily="34" charset="-120"/>
              </a:rPr>
              <a:t>One site running it properly for a month teaches more than twelve half-doing it.</a:t>
            </a:r>
            <a:endParaRPr lang="en-US" sz="1150" dirty="0"/>
          </a:p>
        </p:txBody>
      </p:sp>
      <p:sp>
        <p:nvSpPr>
          <p:cNvPr id="37" name="Shape 34"/>
          <p:cNvSpPr/>
          <p:nvPr/>
        </p:nvSpPr>
        <p:spPr>
          <a:xfrm>
            <a:off x="10469880" y="5340096"/>
            <a:ext cx="1188720" cy="384048"/>
          </a:xfrm>
          <a:prstGeom prst="roundRect">
            <a:avLst>
              <a:gd name="adj" fmla="val 14286"/>
            </a:avLst>
          </a:prstGeom>
          <a:solidFill>
            <a:srgbClr val="14A66A"/>
          </a:solidFill>
          <a:ln/>
        </p:spPr>
        <p:txBody>
          <a:bodyPr/>
          <a:p/>
        </p:txBody>
      </p:sp>
      <p:sp>
        <p:nvSpPr>
          <p:cNvPr id="38" name="Text 35"/>
          <p:cNvSpPr txBox="1"/>
          <p:nvPr/>
        </p:nvSpPr>
        <p:spPr>
          <a:xfrm>
            <a:off x="10469880" y="5431536"/>
            <a:ext cx="1188720" cy="201168"/>
          </a:xfrm>
          <a:prstGeom prst="rect">
            <a:avLst/>
          </a:prstGeom>
          <a:noFill/>
          <a:ln/>
        </p:spPr>
        <p:txBody>
          <a:bodyPr wrap="square" lIns="0" tIns="0" rIns="0" bIns="0" rtlCol="0" anchor="t"/>
          <a:lstStyle/>
          <a:p>
            <a:pPr algn="ctr" indent="0" marL="0">
              <a:lnSpc>
                <a:spcPct val="100000"/>
              </a:lnSpc>
              <a:buNone/>
            </a:pPr>
            <a:r>
              <a:rPr lang="en-US" sz="900" b="1" dirty="0">
                <a:solidFill>
                  <a:srgbClr val="072238"/>
                </a:solidFill>
                <a:latin typeface="Aptos" pitchFamily="34" charset="0"/>
                <a:ea typeface="Aptos" pitchFamily="34" charset="-122"/>
                <a:cs typeface="Aptos" pitchFamily="34" charset="-120"/>
              </a:rPr>
              <a:t>Supply chain</a:t>
            </a:r>
            <a:endParaRPr lang="en-US" sz="900" dirty="0"/>
          </a:p>
        </p:txBody>
      </p:sp>
      <p:sp>
        <p:nvSpPr>
          <p:cNvPr id="39" name="Text 36"/>
          <p:cNvSpPr txBox="1"/>
          <p:nvPr/>
        </p:nvSpPr>
        <p:spPr>
          <a:xfrm>
            <a:off x="530352" y="6035040"/>
            <a:ext cx="11130991" cy="310896"/>
          </a:xfrm>
          <a:prstGeom prst="rect">
            <a:avLst/>
          </a:prstGeom>
          <a:noFill/>
          <a:ln/>
        </p:spPr>
        <p:txBody>
          <a:bodyPr wrap="square" lIns="0" tIns="0" rIns="0" bIns="0" rtlCol="0" anchor="t"/>
          <a:lstStyle/>
          <a:p>
            <a:pPr algn="l" indent="0" marL="0">
              <a:lnSpc>
                <a:spcPct val="100000"/>
              </a:lnSpc>
              <a:buNone/>
            </a:pPr>
            <a:r>
              <a:rPr lang="en-US" sz="1150" i="1" dirty="0">
                <a:solidFill>
                  <a:srgbClr val="7FA3B8"/>
                </a:solidFill>
                <a:latin typeface="Aptos" pitchFamily="34" charset="0"/>
                <a:ea typeface="Aptos" pitchFamily="34" charset="-122"/>
                <a:cs typeface="Aptos" pitchFamily="34" charset="-120"/>
              </a:rPr>
              <a:t>Three of the five are one conversation with IT. The last one needs a name against it.</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72238"/>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164A66"/>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7FA3B8"/>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7FA3B8"/>
                </a:solidFill>
                <a:latin typeface="Aptos" pitchFamily="34" charset="0"/>
                <a:ea typeface="Aptos" pitchFamily="34" charset="-122"/>
                <a:cs typeface="Aptos" pitchFamily="34" charset="-120"/>
              </a:rPr>
              <a:t>36</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7FA3B8"/>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713232" y="868680"/>
            <a:ext cx="5669280" cy="640080"/>
          </a:xfrm>
          <a:prstGeom prst="rect">
            <a:avLst/>
          </a:prstGeom>
          <a:noFill/>
          <a:ln/>
        </p:spPr>
        <p:txBody>
          <a:bodyPr wrap="square" lIns="0" tIns="0" rIns="0" bIns="0" rtlCol="0" anchor="t"/>
          <a:lstStyle/>
          <a:p>
            <a:pPr algn="l" indent="0" marL="0">
              <a:lnSpc>
                <a:spcPct val="100000"/>
              </a:lnSpc>
              <a:buNone/>
            </a:pPr>
            <a:r>
              <a:rPr lang="en-US" sz="3400" b="1" dirty="0">
                <a:solidFill>
                  <a:srgbClr val="FFFFFF"/>
                </a:solidFill>
                <a:latin typeface="Aptos Display" pitchFamily="34" charset="0"/>
                <a:ea typeface="Aptos Display" pitchFamily="34" charset="-122"/>
                <a:cs typeface="Aptos Display" pitchFamily="34" charset="-120"/>
              </a:rPr>
              <a:t>MaxDock</a:t>
            </a:r>
            <a:endParaRPr lang="en-US" sz="3400" dirty="0"/>
          </a:p>
        </p:txBody>
      </p:sp>
      <p:sp>
        <p:nvSpPr>
          <p:cNvPr id="8" name="Text 5"/>
          <p:cNvSpPr txBox="1"/>
          <p:nvPr/>
        </p:nvSpPr>
        <p:spPr>
          <a:xfrm>
            <a:off x="713232" y="1874520"/>
            <a:ext cx="6035040" cy="777240"/>
          </a:xfrm>
          <a:prstGeom prst="rect">
            <a:avLst/>
          </a:prstGeom>
          <a:noFill/>
          <a:ln/>
        </p:spPr>
        <p:txBody>
          <a:bodyPr wrap="square" lIns="0" tIns="0" rIns="0" bIns="0" rtlCol="0" anchor="t"/>
          <a:lstStyle/>
          <a:p>
            <a:pPr algn="l" indent="0" marL="0">
              <a:lnSpc>
                <a:spcPct val="100000"/>
              </a:lnSpc>
              <a:buNone/>
            </a:pPr>
            <a:r>
              <a:rPr lang="en-US" sz="4000" b="1" dirty="0">
                <a:solidFill>
                  <a:srgbClr val="FFFFFF"/>
                </a:solidFill>
                <a:latin typeface="Aptos Display" pitchFamily="34" charset="0"/>
                <a:ea typeface="Aptos Display" pitchFamily="34" charset="-122"/>
                <a:cs typeface="Aptos Display" pitchFamily="34" charset="-120"/>
              </a:rPr>
              <a:t>Built, not proposed.</a:t>
            </a:r>
            <a:endParaRPr lang="en-US" sz="4000" dirty="0"/>
          </a:p>
        </p:txBody>
      </p:sp>
      <p:sp>
        <p:nvSpPr>
          <p:cNvPr id="9" name="Text 6"/>
          <p:cNvSpPr txBox="1"/>
          <p:nvPr/>
        </p:nvSpPr>
        <p:spPr>
          <a:xfrm>
            <a:off x="713232" y="2880360"/>
            <a:ext cx="5760720" cy="822960"/>
          </a:xfrm>
          <a:prstGeom prst="rect">
            <a:avLst/>
          </a:prstGeom>
          <a:noFill/>
          <a:ln/>
        </p:spPr>
        <p:txBody>
          <a:bodyPr wrap="square" lIns="0" tIns="0" rIns="0" bIns="0" rtlCol="0" anchor="t"/>
          <a:lstStyle/>
          <a:p>
            <a:pPr algn="l" indent="0" marL="0">
              <a:lnSpc>
                <a:spcPct val="130000"/>
              </a:lnSpc>
              <a:buNone/>
            </a:pPr>
            <a:r>
              <a:rPr lang="en-US" sz="1500" dirty="0">
                <a:solidFill>
                  <a:srgbClr val="B9D7E8"/>
                </a:solidFill>
                <a:latin typeface="Aptos" pitchFamily="34" charset="0"/>
                <a:ea typeface="Aptos" pitchFamily="34" charset="-122"/>
                <a:cs typeface="Aptos" pitchFamily="34" charset="-120"/>
              </a:rPr>
              <a:t>What is left is where it lives, who uses it first, and how we send the emails.</a:t>
            </a:r>
            <a:endParaRPr lang="en-US" sz="1500" dirty="0"/>
          </a:p>
        </p:txBody>
      </p:sp>
      <p:sp>
        <p:nvSpPr>
          <p:cNvPr id="10" name="Shape 7"/>
          <p:cNvSpPr/>
          <p:nvPr/>
        </p:nvSpPr>
        <p:spPr>
          <a:xfrm>
            <a:off x="7022592" y="1234440"/>
            <a:ext cx="50292" cy="4572000"/>
          </a:xfrm>
          <a:prstGeom prst="rect">
            <a:avLst/>
          </a:prstGeom>
          <a:solidFill>
            <a:srgbClr val="14AEE8"/>
          </a:solidFill>
          <a:ln/>
        </p:spPr>
        <p:txBody>
          <a:bodyPr/>
          <a:p/>
        </p:txBody>
      </p:sp>
      <p:sp>
        <p:nvSpPr>
          <p:cNvPr id="11" name="Text 8"/>
          <p:cNvSpPr txBox="1"/>
          <p:nvPr/>
        </p:nvSpPr>
        <p:spPr>
          <a:xfrm>
            <a:off x="7479792" y="1874520"/>
            <a:ext cx="3931920" cy="1554480"/>
          </a:xfrm>
          <a:prstGeom prst="rect">
            <a:avLst/>
          </a:prstGeom>
          <a:noFill/>
          <a:ln/>
        </p:spPr>
        <p:txBody>
          <a:bodyPr wrap="square" lIns="0" tIns="0" rIns="0" bIns="0" rtlCol="0" anchor="t"/>
          <a:lstStyle/>
          <a:p>
            <a:pPr algn="l" indent="0" marL="0">
              <a:lnSpc>
                <a:spcPct val="120000"/>
              </a:lnSpc>
              <a:buNone/>
            </a:pPr>
            <a:r>
              <a:rPr lang="en-US" sz="2200" b="1" dirty="0">
                <a:solidFill>
                  <a:srgbClr val="FFFFFF"/>
                </a:solidFill>
                <a:latin typeface="Aptos Display" pitchFamily="34" charset="0"/>
                <a:ea typeface="Aptos Display" pitchFamily="34" charset="-122"/>
                <a:cs typeface="Aptos Display" pitchFamily="34" charset="-120"/>
              </a:rPr>
              <a:t>Freight arrives</a:t>
            </a:r>
            <a:endParaRPr lang="en-US" sz="2200" dirty="0"/>
          </a:p>
          <a:p>
            <a:pPr algn="l" indent="0" marL="0">
              <a:lnSpc>
                <a:spcPct val="120000"/>
              </a:lnSpc>
              <a:buNone/>
            </a:pPr>
            <a:r>
              <a:rPr lang="en-US" sz="2200" b="1" dirty="0">
                <a:solidFill>
                  <a:srgbClr val="FFFFFF"/>
                </a:solidFill>
                <a:latin typeface="Aptos Display" pitchFamily="34" charset="0"/>
                <a:ea typeface="Aptos Display" pitchFamily="34" charset="-122"/>
                <a:cs typeface="Aptos Display" pitchFamily="34" charset="-120"/>
              </a:rPr>
              <a:t>when we say</a:t>
            </a:r>
            <a:endParaRPr lang="en-US" sz="2200" dirty="0"/>
          </a:p>
          <a:p>
            <a:pPr algn="l" indent="0" marL="0">
              <a:lnSpc>
                <a:spcPct val="120000"/>
              </a:lnSpc>
              <a:buNone/>
            </a:pPr>
            <a:r>
              <a:rPr lang="en-US" sz="2200" b="1" dirty="0">
                <a:solidFill>
                  <a:srgbClr val="FFFFFF"/>
                </a:solidFill>
                <a:latin typeface="Aptos Display" pitchFamily="34" charset="0"/>
                <a:ea typeface="Aptos Display" pitchFamily="34" charset="-122"/>
                <a:cs typeface="Aptos Display" pitchFamily="34" charset="-120"/>
              </a:rPr>
              <a:t>it will.</a:t>
            </a:r>
            <a:endParaRPr lang="en-US" sz="2200" dirty="0"/>
          </a:p>
        </p:txBody>
      </p:sp>
      <p:sp>
        <p:nvSpPr>
          <p:cNvPr id="12" name="Shape 9"/>
          <p:cNvSpPr/>
          <p:nvPr/>
        </p:nvSpPr>
        <p:spPr>
          <a:xfrm>
            <a:off x="713232" y="3950208"/>
            <a:ext cx="5760720" cy="0"/>
          </a:xfrm>
          <a:prstGeom prst="line">
            <a:avLst/>
          </a:prstGeom>
          <a:noFill/>
          <a:ln w="9525">
            <a:solidFill>
              <a:srgbClr val="164A66"/>
            </a:solidFill>
            <a:prstDash val="solid"/>
          </a:ln>
        </p:spPr>
        <p:txBody>
          <a:bodyPr/>
          <a:p/>
        </p:txBody>
      </p:sp>
      <p:sp>
        <p:nvSpPr>
          <p:cNvPr id="13" name="Text 10"/>
          <p:cNvSpPr txBox="1"/>
          <p:nvPr/>
        </p:nvSpPr>
        <p:spPr>
          <a:xfrm>
            <a:off x="713232" y="4151376"/>
            <a:ext cx="5760720" cy="219456"/>
          </a:xfrm>
          <a:prstGeom prst="rect">
            <a:avLst/>
          </a:prstGeom>
          <a:noFill/>
          <a:ln/>
        </p:spPr>
        <p:txBody>
          <a:bodyPr wrap="square" lIns="0" tIns="0" rIns="0" bIns="0" rtlCol="0" anchor="t"/>
          <a:lstStyle/>
          <a:p>
            <a:pPr algn="l" indent="0" marL="0">
              <a:lnSpc>
                <a:spcPct val="100000"/>
              </a:lnSpc>
              <a:buNone/>
            </a:pPr>
            <a:r>
              <a:rPr lang="en-US" sz="950" b="1" spc="90" kern="0" dirty="0">
                <a:solidFill>
                  <a:srgbClr val="14AEE8"/>
                </a:solidFill>
                <a:latin typeface="Aptos" pitchFamily="34" charset="0"/>
                <a:ea typeface="Aptos" pitchFamily="34" charset="-122"/>
                <a:cs typeface="Aptos" pitchFamily="34" charset="-120"/>
              </a:rPr>
              <a:t>WHAT HAPPENS NEXT</a:t>
            </a:r>
            <a:endParaRPr lang="en-US" sz="950" dirty="0"/>
          </a:p>
        </p:txBody>
      </p:sp>
      <p:sp>
        <p:nvSpPr>
          <p:cNvPr id="14" name="Text 11"/>
          <p:cNvSpPr txBox="1"/>
          <p:nvPr/>
        </p:nvSpPr>
        <p:spPr>
          <a:xfrm>
            <a:off x="713232" y="4553712"/>
            <a:ext cx="274320" cy="274320"/>
          </a:xfrm>
          <a:prstGeom prst="rect">
            <a:avLst/>
          </a:prstGeom>
          <a:noFill/>
          <a:ln/>
        </p:spPr>
        <p:txBody>
          <a:bodyPr wrap="square" lIns="0" tIns="0" rIns="0" bIns="0" rtlCol="0" anchor="t"/>
          <a:lstStyle/>
          <a:p>
            <a:pPr algn="l" indent="0" marL="0">
              <a:lnSpc>
                <a:spcPct val="100000"/>
              </a:lnSpc>
              <a:buNone/>
            </a:pPr>
            <a:r>
              <a:rPr lang="en-US" sz="1300" b="1" dirty="0">
                <a:solidFill>
                  <a:srgbClr val="14AEE8"/>
                </a:solidFill>
                <a:latin typeface="Aptos Display" pitchFamily="34" charset="0"/>
                <a:ea typeface="Aptos Display" pitchFamily="34" charset="-122"/>
                <a:cs typeface="Aptos Display" pitchFamily="34" charset="-120"/>
              </a:rPr>
              <a:t>1</a:t>
            </a:r>
            <a:endParaRPr lang="en-US" sz="1300" dirty="0"/>
          </a:p>
        </p:txBody>
      </p:sp>
      <p:sp>
        <p:nvSpPr>
          <p:cNvPr id="15" name="Text 12"/>
          <p:cNvSpPr txBox="1"/>
          <p:nvPr/>
        </p:nvSpPr>
        <p:spPr>
          <a:xfrm>
            <a:off x="1097280" y="4572000"/>
            <a:ext cx="5394960" cy="274320"/>
          </a:xfrm>
          <a:prstGeom prst="rect">
            <a:avLst/>
          </a:prstGeom>
          <a:noFill/>
          <a:ln/>
        </p:spPr>
        <p:txBody>
          <a:bodyPr wrap="square" lIns="0" tIns="0" rIns="0" bIns="0" rtlCol="0" anchor="t"/>
          <a:lstStyle/>
          <a:p>
            <a:pPr algn="l" indent="0" marL="0">
              <a:lnSpc>
                <a:spcPct val="100000"/>
              </a:lnSpc>
              <a:buNone/>
            </a:pPr>
            <a:r>
              <a:rPr lang="en-US" sz="1250" dirty="0">
                <a:solidFill>
                  <a:srgbClr val="FFFFFF"/>
                </a:solidFill>
                <a:latin typeface="Aptos" pitchFamily="34" charset="0"/>
                <a:ea typeface="Aptos" pitchFamily="34" charset="-122"/>
                <a:cs typeface="Aptos" pitchFamily="34" charset="-120"/>
              </a:rPr>
              <a:t>Pick one plant to run it properly for a month</a:t>
            </a:r>
            <a:endParaRPr lang="en-US" sz="1250" dirty="0"/>
          </a:p>
        </p:txBody>
      </p:sp>
      <p:sp>
        <p:nvSpPr>
          <p:cNvPr id="16" name="Text 13"/>
          <p:cNvSpPr txBox="1"/>
          <p:nvPr/>
        </p:nvSpPr>
        <p:spPr>
          <a:xfrm>
            <a:off x="713232" y="5029200"/>
            <a:ext cx="274320" cy="274320"/>
          </a:xfrm>
          <a:prstGeom prst="rect">
            <a:avLst/>
          </a:prstGeom>
          <a:noFill/>
          <a:ln/>
        </p:spPr>
        <p:txBody>
          <a:bodyPr wrap="square" lIns="0" tIns="0" rIns="0" bIns="0" rtlCol="0" anchor="t"/>
          <a:lstStyle/>
          <a:p>
            <a:pPr algn="l" indent="0" marL="0">
              <a:lnSpc>
                <a:spcPct val="100000"/>
              </a:lnSpc>
              <a:buNone/>
            </a:pPr>
            <a:r>
              <a:rPr lang="en-US" sz="1300" b="1" dirty="0">
                <a:solidFill>
                  <a:srgbClr val="14AEE8"/>
                </a:solidFill>
                <a:latin typeface="Aptos Display" pitchFamily="34" charset="0"/>
                <a:ea typeface="Aptos Display" pitchFamily="34" charset="-122"/>
                <a:cs typeface="Aptos Display" pitchFamily="34" charset="-120"/>
              </a:rPr>
              <a:t>2</a:t>
            </a:r>
            <a:endParaRPr lang="en-US" sz="1300" dirty="0"/>
          </a:p>
        </p:txBody>
      </p:sp>
      <p:sp>
        <p:nvSpPr>
          <p:cNvPr id="17" name="Text 14"/>
          <p:cNvSpPr txBox="1"/>
          <p:nvPr/>
        </p:nvSpPr>
        <p:spPr>
          <a:xfrm>
            <a:off x="1097280" y="5047488"/>
            <a:ext cx="5394960" cy="274320"/>
          </a:xfrm>
          <a:prstGeom prst="rect">
            <a:avLst/>
          </a:prstGeom>
          <a:noFill/>
          <a:ln/>
        </p:spPr>
        <p:txBody>
          <a:bodyPr wrap="square" lIns="0" tIns="0" rIns="0" bIns="0" rtlCol="0" anchor="t"/>
          <a:lstStyle/>
          <a:p>
            <a:pPr algn="l" indent="0" marL="0">
              <a:lnSpc>
                <a:spcPct val="100000"/>
              </a:lnSpc>
              <a:buNone/>
            </a:pPr>
            <a:r>
              <a:rPr lang="en-US" sz="1250" dirty="0">
                <a:solidFill>
                  <a:srgbClr val="FFFFFF"/>
                </a:solidFill>
                <a:latin typeface="Aptos" pitchFamily="34" charset="0"/>
                <a:ea typeface="Aptos" pitchFamily="34" charset="-122"/>
                <a:cs typeface="Aptos" pitchFamily="34" charset="-120"/>
              </a:rPr>
              <a:t>Choose a mail provider, and the emails switch on</a:t>
            </a:r>
            <a:endParaRPr lang="en-US" sz="1250" dirty="0"/>
          </a:p>
        </p:txBody>
      </p:sp>
      <p:sp>
        <p:nvSpPr>
          <p:cNvPr id="18" name="Text 15"/>
          <p:cNvSpPr txBox="1"/>
          <p:nvPr/>
        </p:nvSpPr>
        <p:spPr>
          <a:xfrm>
            <a:off x="713232" y="5504688"/>
            <a:ext cx="274320" cy="274320"/>
          </a:xfrm>
          <a:prstGeom prst="rect">
            <a:avLst/>
          </a:prstGeom>
          <a:noFill/>
          <a:ln/>
        </p:spPr>
        <p:txBody>
          <a:bodyPr wrap="square" lIns="0" tIns="0" rIns="0" bIns="0" rtlCol="0" anchor="t"/>
          <a:lstStyle/>
          <a:p>
            <a:pPr algn="l" indent="0" marL="0">
              <a:lnSpc>
                <a:spcPct val="100000"/>
              </a:lnSpc>
              <a:buNone/>
            </a:pPr>
            <a:r>
              <a:rPr lang="en-US" sz="1300" b="1" dirty="0">
                <a:solidFill>
                  <a:srgbClr val="14AEE8"/>
                </a:solidFill>
                <a:latin typeface="Aptos Display" pitchFamily="34" charset="0"/>
                <a:ea typeface="Aptos Display" pitchFamily="34" charset="-122"/>
                <a:cs typeface="Aptos Display" pitchFamily="34" charset="-120"/>
              </a:rPr>
              <a:t>3</a:t>
            </a:r>
            <a:endParaRPr lang="en-US" sz="1300" dirty="0"/>
          </a:p>
        </p:txBody>
      </p:sp>
      <p:sp>
        <p:nvSpPr>
          <p:cNvPr id="19" name="Text 16"/>
          <p:cNvSpPr txBox="1"/>
          <p:nvPr/>
        </p:nvSpPr>
        <p:spPr>
          <a:xfrm>
            <a:off x="1097280" y="5522976"/>
            <a:ext cx="5394960" cy="274320"/>
          </a:xfrm>
          <a:prstGeom prst="rect">
            <a:avLst/>
          </a:prstGeom>
          <a:noFill/>
          <a:ln/>
        </p:spPr>
        <p:txBody>
          <a:bodyPr wrap="square" lIns="0" tIns="0" rIns="0" bIns="0" rtlCol="0" anchor="t"/>
          <a:lstStyle/>
          <a:p>
            <a:pPr algn="l" indent="0" marL="0">
              <a:lnSpc>
                <a:spcPct val="100000"/>
              </a:lnSpc>
              <a:buNone/>
            </a:pPr>
            <a:r>
              <a:rPr lang="en-US" sz="1250" dirty="0">
                <a:solidFill>
                  <a:srgbClr val="FFFFFF"/>
                </a:solidFill>
                <a:latin typeface="Aptos" pitchFamily="34" charset="0"/>
                <a:ea typeface="Aptos" pitchFamily="34" charset="-122"/>
                <a:cs typeface="Aptos" pitchFamily="34" charset="-120"/>
              </a:rPr>
              <a:t>Fix the address it lives at, before the app is installed</a:t>
            </a:r>
            <a:endParaRPr lang="en-US" sz="1250" dirty="0"/>
          </a:p>
        </p:txBody>
      </p:sp>
      <p:pic>
        <p:nvPicPr>
          <p:cNvPr id="20" name="Image 1" descr="unpacked/ppt/media/image-1-1.png">    </p:cNvPr>
          <p:cNvPicPr>
            <a:picLocks noChangeAspect="1"/>
          </p:cNvPicPr>
          <p:nvPr/>
        </p:nvPicPr>
        <p:blipFill>
          <a:blip r:embed="rId2"/>
          <a:stretch>
            <a:fillRect/>
          </a:stretch>
        </p:blipFill>
        <p:spPr>
          <a:xfrm>
            <a:off x="8138160" y="4526280"/>
            <a:ext cx="2057400" cy="1179576"/>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502920" y="6464808"/>
            <a:ext cx="11192256" cy="9525"/>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502920" y="6547104"/>
            <a:ext cx="146304" cy="146304"/>
          </a:xfrm>
          <a:prstGeom prst="rect">
            <a:avLst/>
          </a:prstGeom>
        </p:spPr>
      </p:pic>
      <p:sp>
        <p:nvSpPr>
          <p:cNvPr id="4" name="TextBox 3"/>
          <p:cNvSpPr txBox="1"/>
          <p:nvPr/>
        </p:nvSpPr>
        <p:spPr>
          <a:xfrm>
            <a:off x="713232" y="6547104"/>
            <a:ext cx="1005840" cy="146304"/>
          </a:xfrm>
          <a:prstGeom prst="rect">
            <a:avLst/>
          </a:prstGeom>
          <a:noFill/>
        </p:spPr>
        <p:txBody>
          <a:bodyPr wrap="square" lIns="0" rIns="0" tIns="0" bIns="0" anchor="t">
            <a:spAutoFit/>
          </a:bodyPr>
          <a:lstStyle/>
          <a:p>
            <a:pPr algn="l">
              <a:lnSpc>
                <a:spcPct val="100000"/>
              </a:lnSpc>
            </a:pPr>
            <a:r>
              <a:rPr sz="670" b="0" i="0">
                <a:solidFill>
                  <a:srgbClr val="6F8491"/>
                </a:solidFill>
                <a:latin typeface="Aptos"/>
              </a:rPr>
              <a:t>MaxDock</a:t>
            </a:r>
          </a:p>
        </p:txBody>
      </p:sp>
      <p:sp>
        <p:nvSpPr>
          <p:cNvPr id="5" name="TextBox 4"/>
          <p:cNvSpPr txBox="1"/>
          <p:nvPr/>
        </p:nvSpPr>
        <p:spPr>
          <a:xfrm>
            <a:off x="5870448" y="6547104"/>
            <a:ext cx="457200" cy="146304"/>
          </a:xfrm>
          <a:prstGeom prst="rect">
            <a:avLst/>
          </a:prstGeom>
          <a:noFill/>
        </p:spPr>
        <p:txBody>
          <a:bodyPr wrap="square" lIns="0" rIns="0" tIns="0" bIns="0" anchor="t">
            <a:spAutoFit/>
          </a:bodyPr>
          <a:lstStyle/>
          <a:p>
            <a:pPr algn="ctr">
              <a:lnSpc>
                <a:spcPct val="100000"/>
              </a:lnSpc>
            </a:pPr>
            <a:r>
              <a:rPr sz="670" b="0" i="0">
                <a:solidFill>
                  <a:srgbClr val="6F8491"/>
                </a:solidFill>
                <a:latin typeface="Aptos"/>
              </a:rPr>
              <a:t>2</a:t>
            </a:r>
          </a:p>
        </p:txBody>
      </p:sp>
      <p:sp>
        <p:nvSpPr>
          <p:cNvPr id="6" name="TextBox 5"/>
          <p:cNvSpPr txBox="1"/>
          <p:nvPr/>
        </p:nvSpPr>
        <p:spPr>
          <a:xfrm>
            <a:off x="10241280" y="6547104"/>
            <a:ext cx="1444752" cy="146304"/>
          </a:xfrm>
          <a:prstGeom prst="rect">
            <a:avLst/>
          </a:prstGeom>
          <a:noFill/>
        </p:spPr>
        <p:txBody>
          <a:bodyPr wrap="square" lIns="0" rIns="0" tIns="0" bIns="0" anchor="t">
            <a:spAutoFit/>
          </a:bodyPr>
          <a:lstStyle/>
          <a:p>
            <a:pPr algn="r">
              <a:lnSpc>
                <a:spcPct val="100000"/>
              </a:lnSpc>
            </a:pPr>
            <a:r>
              <a:rPr sz="670" b="1" i="0" spc="60">
                <a:solidFill>
                  <a:srgbClr val="6F8491"/>
                </a:solidFill>
                <a:latin typeface="Aptos"/>
              </a:rPr>
              <a:t>MAX SOLUTIONS</a:t>
            </a:r>
          </a:p>
        </p:txBody>
      </p:sp>
      <p:sp>
        <p:nvSpPr>
          <p:cNvPr id="7" name="TextBox 6"/>
          <p:cNvSpPr txBox="1"/>
          <p:nvPr/>
        </p:nvSpPr>
        <p:spPr>
          <a:xfrm>
            <a:off x="530352" y="310896"/>
            <a:ext cx="11128248" cy="201168"/>
          </a:xfrm>
          <a:prstGeom prst="rect">
            <a:avLst/>
          </a:prstGeom>
          <a:noFill/>
        </p:spPr>
        <p:txBody>
          <a:bodyPr wrap="square" lIns="0" rIns="0" tIns="0" bIns="0" anchor="t">
            <a:spAutoFit/>
          </a:bodyPr>
          <a:lstStyle/>
          <a:p>
            <a:pPr algn="l">
              <a:lnSpc>
                <a:spcPct val="100000"/>
              </a:lnSpc>
            </a:pPr>
            <a:r>
              <a:rPr sz="900" b="1" i="0" spc="90">
                <a:solidFill>
                  <a:srgbClr val="0877C9"/>
                </a:solidFill>
                <a:latin typeface="Aptos"/>
              </a:rPr>
              <a:t>HOW THIS STARTED</a:t>
            </a:r>
          </a:p>
        </p:txBody>
      </p:sp>
      <p:sp>
        <p:nvSpPr>
          <p:cNvPr id="8" name="TextBox 7"/>
          <p:cNvSpPr txBox="1"/>
          <p:nvPr/>
        </p:nvSpPr>
        <p:spPr>
          <a:xfrm>
            <a:off x="530352" y="530352"/>
            <a:ext cx="11128248" cy="566928"/>
          </a:xfrm>
          <a:prstGeom prst="rect">
            <a:avLst/>
          </a:prstGeom>
          <a:noFill/>
        </p:spPr>
        <p:txBody>
          <a:bodyPr wrap="square" lIns="0" rIns="0" tIns="0" bIns="0" anchor="t">
            <a:spAutoFit/>
          </a:bodyPr>
          <a:lstStyle/>
          <a:p>
            <a:pPr algn="l">
              <a:lnSpc>
                <a:spcPct val="102000"/>
              </a:lnSpc>
            </a:pPr>
            <a:r>
              <a:rPr sz="2500" b="1" i="0">
                <a:solidFill>
                  <a:srgbClr val="0B1F33"/>
                </a:solidFill>
                <a:latin typeface="Aptos Display"/>
              </a:rPr>
              <a:t>One Tuesday morning, and none of it was unusual.</a:t>
            </a:r>
          </a:p>
        </p:txBody>
      </p:sp>
      <p:sp>
        <p:nvSpPr>
          <p:cNvPr id="9" name="TextBox 8"/>
          <p:cNvSpPr txBox="1"/>
          <p:nvPr/>
        </p:nvSpPr>
        <p:spPr>
          <a:xfrm>
            <a:off x="530352" y="1152144"/>
            <a:ext cx="11128248" cy="274320"/>
          </a:xfrm>
          <a:prstGeom prst="rect">
            <a:avLst/>
          </a:prstGeom>
          <a:noFill/>
        </p:spPr>
        <p:txBody>
          <a:bodyPr wrap="square" lIns="0" rIns="0" tIns="0" bIns="0" anchor="t">
            <a:spAutoFit/>
          </a:bodyPr>
          <a:lstStyle/>
          <a:p>
            <a:pPr algn="l">
              <a:lnSpc>
                <a:spcPct val="110000"/>
              </a:lnSpc>
            </a:pPr>
            <a:r>
              <a:rPr sz="1200" b="0" i="0">
                <a:solidFill>
                  <a:srgbClr val="456174"/>
                </a:solidFill>
                <a:latin typeface="Aptos"/>
              </a:rPr>
              <a:t>Where MaxDock came from: one plant, one morning, written down as it happened.</a:t>
            </a:r>
          </a:p>
        </p:txBody>
      </p:sp>
      <p:sp>
        <p:nvSpPr>
          <p:cNvPr id="10" name="Rounded Rectangle 9"/>
          <p:cNvSpPr/>
          <p:nvPr/>
        </p:nvSpPr>
        <p:spPr>
          <a:xfrm>
            <a:off x="530352" y="1700784"/>
            <a:ext cx="786384" cy="274320"/>
          </a:xfrm>
          <a:prstGeom prst="roundRect">
            <a:avLst>
              <a:gd name="adj" fmla="val 20000"/>
            </a:avLst>
          </a:prstGeom>
          <a:solidFill>
            <a:srgbClr val="E4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30352" y="1700784"/>
            <a:ext cx="786384" cy="274320"/>
          </a:xfrm>
          <a:prstGeom prst="rect">
            <a:avLst/>
          </a:prstGeom>
          <a:noFill/>
        </p:spPr>
        <p:txBody>
          <a:bodyPr wrap="square" lIns="0" rIns="0" tIns="0" bIns="0" anchor="ctr">
            <a:spAutoFit/>
          </a:bodyPr>
          <a:lstStyle/>
          <a:p>
            <a:pPr algn="ctr">
              <a:lnSpc>
                <a:spcPct val="100000"/>
              </a:lnSpc>
            </a:pPr>
            <a:r>
              <a:rPr sz="1000" b="1" i="0">
                <a:solidFill>
                  <a:srgbClr val="0877C9"/>
                </a:solidFill>
                <a:latin typeface="Aptos"/>
              </a:rPr>
              <a:t>06:40</a:t>
            </a:r>
          </a:p>
        </p:txBody>
      </p:sp>
      <p:sp>
        <p:nvSpPr>
          <p:cNvPr id="12" name="Rectangle 11"/>
          <p:cNvSpPr/>
          <p:nvPr/>
        </p:nvSpPr>
        <p:spPr>
          <a:xfrm>
            <a:off x="914400" y="2048256"/>
            <a:ext cx="15240" cy="457200"/>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17904" y="1691640"/>
            <a:ext cx="5760720" cy="292608"/>
          </a:xfrm>
          <a:prstGeom prst="rect">
            <a:avLst/>
          </a:prstGeom>
          <a:noFill/>
        </p:spPr>
        <p:txBody>
          <a:bodyPr wrap="square" lIns="0" rIns="0" tIns="0" bIns="0" anchor="t">
            <a:spAutoFit/>
          </a:bodyPr>
          <a:lstStyle/>
          <a:p>
            <a:pPr algn="l">
              <a:lnSpc>
                <a:spcPct val="100000"/>
              </a:lnSpc>
            </a:pPr>
            <a:r>
              <a:rPr sz="1250" b="1" i="0">
                <a:solidFill>
                  <a:srgbClr val="0B1F33"/>
                </a:solidFill>
                <a:latin typeface="Aptos Display"/>
              </a:rPr>
              <a:t>A truck at the gate nobody expected</a:t>
            </a:r>
          </a:p>
        </p:txBody>
      </p:sp>
      <p:sp>
        <p:nvSpPr>
          <p:cNvPr id="14" name="TextBox 13"/>
          <p:cNvSpPr txBox="1"/>
          <p:nvPr/>
        </p:nvSpPr>
        <p:spPr>
          <a:xfrm>
            <a:off x="1517904" y="2011680"/>
            <a:ext cx="5760720" cy="256032"/>
          </a:xfrm>
          <a:prstGeom prst="rect">
            <a:avLst/>
          </a:prstGeom>
          <a:noFill/>
        </p:spPr>
        <p:txBody>
          <a:bodyPr wrap="square" lIns="0" rIns="0" tIns="0" bIns="0" anchor="t">
            <a:spAutoFit/>
          </a:bodyPr>
          <a:lstStyle/>
          <a:p>
            <a:pPr algn="l">
              <a:lnSpc>
                <a:spcPct val="100000"/>
              </a:lnSpc>
            </a:pPr>
            <a:r>
              <a:rPr sz="1050" b="0" i="0">
                <a:solidFill>
                  <a:srgbClr val="456174"/>
                </a:solidFill>
                <a:latin typeface="Aptos"/>
              </a:rPr>
              <a:t>Nothing on paper said it was coming.</a:t>
            </a:r>
          </a:p>
        </p:txBody>
      </p:sp>
      <p:sp>
        <p:nvSpPr>
          <p:cNvPr id="15" name="Rounded Rectangle 14"/>
          <p:cNvSpPr/>
          <p:nvPr/>
        </p:nvSpPr>
        <p:spPr>
          <a:xfrm>
            <a:off x="530352" y="2578608"/>
            <a:ext cx="786384" cy="274320"/>
          </a:xfrm>
          <a:prstGeom prst="roundRect">
            <a:avLst>
              <a:gd name="adj" fmla="val 20000"/>
            </a:avLst>
          </a:prstGeom>
          <a:solidFill>
            <a:srgbClr val="E4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30352" y="2578608"/>
            <a:ext cx="786384" cy="274320"/>
          </a:xfrm>
          <a:prstGeom prst="rect">
            <a:avLst/>
          </a:prstGeom>
          <a:noFill/>
        </p:spPr>
        <p:txBody>
          <a:bodyPr wrap="square" lIns="0" rIns="0" tIns="0" bIns="0" anchor="ctr">
            <a:spAutoFit/>
          </a:bodyPr>
          <a:lstStyle/>
          <a:p>
            <a:pPr algn="ctr">
              <a:lnSpc>
                <a:spcPct val="100000"/>
              </a:lnSpc>
            </a:pPr>
            <a:r>
              <a:rPr sz="1000" b="1" i="0">
                <a:solidFill>
                  <a:srgbClr val="0877C9"/>
                </a:solidFill>
                <a:latin typeface="Aptos"/>
              </a:rPr>
              <a:t>07:15</a:t>
            </a:r>
          </a:p>
        </p:txBody>
      </p:sp>
      <p:sp>
        <p:nvSpPr>
          <p:cNvPr id="17" name="Rectangle 16"/>
          <p:cNvSpPr/>
          <p:nvPr/>
        </p:nvSpPr>
        <p:spPr>
          <a:xfrm>
            <a:off x="914400" y="2926080"/>
            <a:ext cx="15240" cy="457200"/>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17904" y="2569464"/>
            <a:ext cx="5760720" cy="292608"/>
          </a:xfrm>
          <a:prstGeom prst="rect">
            <a:avLst/>
          </a:prstGeom>
          <a:noFill/>
        </p:spPr>
        <p:txBody>
          <a:bodyPr wrap="square" lIns="0" rIns="0" tIns="0" bIns="0" anchor="t">
            <a:spAutoFit/>
          </a:bodyPr>
          <a:lstStyle/>
          <a:p>
            <a:pPr algn="l">
              <a:lnSpc>
                <a:spcPct val="100000"/>
              </a:lnSpc>
            </a:pPr>
            <a:r>
              <a:rPr sz="1250" b="1" i="0">
                <a:solidFill>
                  <a:srgbClr val="0B1F33"/>
                </a:solidFill>
                <a:latin typeface="Aptos Display"/>
              </a:rPr>
              <a:t>Two more, in the same fifteen minutes</a:t>
            </a:r>
          </a:p>
        </p:txBody>
      </p:sp>
      <p:sp>
        <p:nvSpPr>
          <p:cNvPr id="19" name="TextBox 18"/>
          <p:cNvSpPr txBox="1"/>
          <p:nvPr/>
        </p:nvSpPr>
        <p:spPr>
          <a:xfrm>
            <a:off x="1517904" y="2889504"/>
            <a:ext cx="5760720" cy="256032"/>
          </a:xfrm>
          <a:prstGeom prst="rect">
            <a:avLst/>
          </a:prstGeom>
          <a:noFill/>
        </p:spPr>
        <p:txBody>
          <a:bodyPr wrap="square" lIns="0" rIns="0" tIns="0" bIns="0" anchor="t">
            <a:spAutoFit/>
          </a:bodyPr>
          <a:lstStyle/>
          <a:p>
            <a:pPr algn="l">
              <a:lnSpc>
                <a:spcPct val="100000"/>
              </a:lnSpc>
            </a:pPr>
            <a:r>
              <a:rPr sz="1050" b="0" i="0">
                <a:solidFill>
                  <a:srgbClr val="456174"/>
                </a:solidFill>
                <a:latin typeface="Aptos"/>
              </a:rPr>
              <a:t>Four doors free, two people on shift. Doors were never the problem.</a:t>
            </a:r>
          </a:p>
        </p:txBody>
      </p:sp>
      <p:sp>
        <p:nvSpPr>
          <p:cNvPr id="20" name="Rounded Rectangle 19"/>
          <p:cNvSpPr/>
          <p:nvPr/>
        </p:nvSpPr>
        <p:spPr>
          <a:xfrm>
            <a:off x="530352" y="3456432"/>
            <a:ext cx="786384" cy="274320"/>
          </a:xfrm>
          <a:prstGeom prst="roundRect">
            <a:avLst>
              <a:gd name="adj" fmla="val 20000"/>
            </a:avLst>
          </a:prstGeom>
          <a:solidFill>
            <a:srgbClr val="E4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0352" y="3456432"/>
            <a:ext cx="786384" cy="274320"/>
          </a:xfrm>
          <a:prstGeom prst="rect">
            <a:avLst/>
          </a:prstGeom>
          <a:noFill/>
        </p:spPr>
        <p:txBody>
          <a:bodyPr wrap="square" lIns="0" rIns="0" tIns="0" bIns="0" anchor="ctr">
            <a:spAutoFit/>
          </a:bodyPr>
          <a:lstStyle/>
          <a:p>
            <a:pPr algn="ctr">
              <a:lnSpc>
                <a:spcPct val="100000"/>
              </a:lnSpc>
            </a:pPr>
            <a:r>
              <a:rPr sz="1000" b="1" i="0">
                <a:solidFill>
                  <a:srgbClr val="0877C9"/>
                </a:solidFill>
                <a:latin typeface="Aptos"/>
              </a:rPr>
              <a:t>09:20</a:t>
            </a:r>
          </a:p>
        </p:txBody>
      </p:sp>
      <p:sp>
        <p:nvSpPr>
          <p:cNvPr id="22" name="Rectangle 21"/>
          <p:cNvSpPr/>
          <p:nvPr/>
        </p:nvSpPr>
        <p:spPr>
          <a:xfrm>
            <a:off x="914400" y="3803904"/>
            <a:ext cx="15240" cy="457200"/>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17904" y="3447288"/>
            <a:ext cx="5760720" cy="292608"/>
          </a:xfrm>
          <a:prstGeom prst="rect">
            <a:avLst/>
          </a:prstGeom>
          <a:noFill/>
        </p:spPr>
        <p:txBody>
          <a:bodyPr wrap="square" lIns="0" rIns="0" tIns="0" bIns="0" anchor="t">
            <a:spAutoFit/>
          </a:bodyPr>
          <a:lstStyle/>
          <a:p>
            <a:pPr algn="l">
              <a:lnSpc>
                <a:spcPct val="100000"/>
              </a:lnSpc>
            </a:pPr>
            <a:r>
              <a:rPr sz="1250" b="1" i="0">
                <a:solidFill>
                  <a:srgbClr val="0B1F33"/>
                </a:solidFill>
                <a:latin typeface="Aptos Display"/>
              </a:rPr>
              <a:t>The lot backs up, and the clock runs</a:t>
            </a:r>
          </a:p>
        </p:txBody>
      </p:sp>
      <p:sp>
        <p:nvSpPr>
          <p:cNvPr id="24" name="TextBox 23"/>
          <p:cNvSpPr txBox="1"/>
          <p:nvPr/>
        </p:nvSpPr>
        <p:spPr>
          <a:xfrm>
            <a:off x="1517904" y="3767328"/>
            <a:ext cx="5760720" cy="256032"/>
          </a:xfrm>
          <a:prstGeom prst="rect">
            <a:avLst/>
          </a:prstGeom>
          <a:noFill/>
        </p:spPr>
        <p:txBody>
          <a:bodyPr wrap="square" lIns="0" rIns="0" tIns="0" bIns="0" anchor="t">
            <a:spAutoFit/>
          </a:bodyPr>
          <a:lstStyle/>
          <a:p>
            <a:pPr algn="l">
              <a:lnSpc>
                <a:spcPct val="100000"/>
              </a:lnSpc>
            </a:pPr>
            <a:r>
              <a:rPr sz="1050" b="0" i="0">
                <a:solidFill>
                  <a:srgbClr val="456174"/>
                </a:solidFill>
                <a:latin typeface="Aptos"/>
              </a:rPr>
              <a:t>The 06:40 truck is still waiting. Waiting gets billed back to us.</a:t>
            </a:r>
          </a:p>
        </p:txBody>
      </p:sp>
      <p:sp>
        <p:nvSpPr>
          <p:cNvPr id="25" name="Rounded Rectangle 24"/>
          <p:cNvSpPr/>
          <p:nvPr/>
        </p:nvSpPr>
        <p:spPr>
          <a:xfrm>
            <a:off x="530352" y="4334256"/>
            <a:ext cx="786384" cy="274320"/>
          </a:xfrm>
          <a:prstGeom prst="roundRect">
            <a:avLst>
              <a:gd name="adj" fmla="val 20000"/>
            </a:avLst>
          </a:prstGeom>
          <a:solidFill>
            <a:srgbClr val="E4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30352" y="4334256"/>
            <a:ext cx="786384" cy="274320"/>
          </a:xfrm>
          <a:prstGeom prst="rect">
            <a:avLst/>
          </a:prstGeom>
          <a:noFill/>
        </p:spPr>
        <p:txBody>
          <a:bodyPr wrap="square" lIns="0" rIns="0" tIns="0" bIns="0" anchor="ctr">
            <a:spAutoFit/>
          </a:bodyPr>
          <a:lstStyle/>
          <a:p>
            <a:pPr algn="ctr">
              <a:lnSpc>
                <a:spcPct val="100000"/>
              </a:lnSpc>
            </a:pPr>
            <a:r>
              <a:rPr sz="1000" b="1" i="0">
                <a:solidFill>
                  <a:srgbClr val="0877C9"/>
                </a:solidFill>
                <a:latin typeface="Aptos"/>
              </a:rPr>
              <a:t>11:00</a:t>
            </a:r>
          </a:p>
        </p:txBody>
      </p:sp>
      <p:sp>
        <p:nvSpPr>
          <p:cNvPr id="27" name="Rectangle 26"/>
          <p:cNvSpPr/>
          <p:nvPr/>
        </p:nvSpPr>
        <p:spPr>
          <a:xfrm>
            <a:off x="914400" y="4681728"/>
            <a:ext cx="15240" cy="457200"/>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17904" y="4325112"/>
            <a:ext cx="5760720" cy="292608"/>
          </a:xfrm>
          <a:prstGeom prst="rect">
            <a:avLst/>
          </a:prstGeom>
          <a:noFill/>
        </p:spPr>
        <p:txBody>
          <a:bodyPr wrap="square" lIns="0" rIns="0" tIns="0" bIns="0" anchor="t">
            <a:spAutoFit/>
          </a:bodyPr>
          <a:lstStyle/>
          <a:p>
            <a:pPr algn="l">
              <a:lnSpc>
                <a:spcPct val="100000"/>
              </a:lnSpc>
            </a:pPr>
            <a:r>
              <a:rPr sz="1250" b="1" i="0">
                <a:solidFill>
                  <a:srgbClr val="0B1F33"/>
                </a:solidFill>
                <a:latin typeface="Aptos Display"/>
              </a:rPr>
              <a:t>Guelph asks where their skids are</a:t>
            </a:r>
          </a:p>
        </p:txBody>
      </p:sp>
      <p:sp>
        <p:nvSpPr>
          <p:cNvPr id="29" name="TextBox 28"/>
          <p:cNvSpPr txBox="1"/>
          <p:nvPr/>
        </p:nvSpPr>
        <p:spPr>
          <a:xfrm>
            <a:off x="1517904" y="4645152"/>
            <a:ext cx="5760720" cy="256032"/>
          </a:xfrm>
          <a:prstGeom prst="rect">
            <a:avLst/>
          </a:prstGeom>
          <a:noFill/>
        </p:spPr>
        <p:txBody>
          <a:bodyPr wrap="square" lIns="0" rIns="0" tIns="0" bIns="0" anchor="t">
            <a:spAutoFit/>
          </a:bodyPr>
          <a:lstStyle/>
          <a:p>
            <a:pPr algn="l">
              <a:lnSpc>
                <a:spcPct val="100000"/>
              </a:lnSpc>
            </a:pPr>
            <a:r>
              <a:rPr sz="1050" b="0" i="0">
                <a:solidFill>
                  <a:srgbClr val="456174"/>
                </a:solidFill>
                <a:latin typeface="Aptos"/>
              </a:rPr>
              <a:t>Half a trailer went Tuesday. The rest is booked for Thursday.</a:t>
            </a:r>
          </a:p>
        </p:txBody>
      </p:sp>
      <p:sp>
        <p:nvSpPr>
          <p:cNvPr id="30" name="Rounded Rectangle 29"/>
          <p:cNvSpPr/>
          <p:nvPr/>
        </p:nvSpPr>
        <p:spPr>
          <a:xfrm>
            <a:off x="530352" y="5212080"/>
            <a:ext cx="786384" cy="274320"/>
          </a:xfrm>
          <a:prstGeom prst="roundRect">
            <a:avLst>
              <a:gd name="adj" fmla="val 20000"/>
            </a:avLst>
          </a:prstGeom>
          <a:solidFill>
            <a:srgbClr val="E4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530352" y="5212080"/>
            <a:ext cx="786384" cy="274320"/>
          </a:xfrm>
          <a:prstGeom prst="rect">
            <a:avLst/>
          </a:prstGeom>
          <a:noFill/>
        </p:spPr>
        <p:txBody>
          <a:bodyPr wrap="square" lIns="0" rIns="0" tIns="0" bIns="0" anchor="ctr">
            <a:spAutoFit/>
          </a:bodyPr>
          <a:lstStyle/>
          <a:p>
            <a:pPr algn="ctr">
              <a:lnSpc>
                <a:spcPct val="100000"/>
              </a:lnSpc>
            </a:pPr>
            <a:r>
              <a:rPr sz="1000" b="1" i="0">
                <a:solidFill>
                  <a:srgbClr val="0877C9"/>
                </a:solidFill>
                <a:latin typeface="Aptos"/>
              </a:rPr>
              <a:t>15:30</a:t>
            </a:r>
          </a:p>
        </p:txBody>
      </p:sp>
      <p:sp>
        <p:nvSpPr>
          <p:cNvPr id="32" name="TextBox 31"/>
          <p:cNvSpPr txBox="1"/>
          <p:nvPr/>
        </p:nvSpPr>
        <p:spPr>
          <a:xfrm>
            <a:off x="1517904" y="5202936"/>
            <a:ext cx="5760720" cy="292608"/>
          </a:xfrm>
          <a:prstGeom prst="rect">
            <a:avLst/>
          </a:prstGeom>
          <a:noFill/>
        </p:spPr>
        <p:txBody>
          <a:bodyPr wrap="square" lIns="0" rIns="0" tIns="0" bIns="0" anchor="t">
            <a:spAutoFit/>
          </a:bodyPr>
          <a:lstStyle/>
          <a:p>
            <a:pPr algn="l">
              <a:lnSpc>
                <a:spcPct val="100000"/>
              </a:lnSpc>
            </a:pPr>
            <a:r>
              <a:rPr sz="1250" b="1" i="0">
                <a:solidFill>
                  <a:srgbClr val="0B1F33"/>
                </a:solidFill>
                <a:latin typeface="Aptos Display"/>
              </a:rPr>
              <a:t>The day gets written up from memory</a:t>
            </a:r>
          </a:p>
        </p:txBody>
      </p:sp>
      <p:sp>
        <p:nvSpPr>
          <p:cNvPr id="33" name="TextBox 32"/>
          <p:cNvSpPr txBox="1"/>
          <p:nvPr/>
        </p:nvSpPr>
        <p:spPr>
          <a:xfrm>
            <a:off x="1517904" y="5522976"/>
            <a:ext cx="5760720" cy="256032"/>
          </a:xfrm>
          <a:prstGeom prst="rect">
            <a:avLst/>
          </a:prstGeom>
          <a:noFill/>
        </p:spPr>
        <p:txBody>
          <a:bodyPr wrap="square" lIns="0" rIns="0" tIns="0" bIns="0" anchor="t">
            <a:spAutoFit/>
          </a:bodyPr>
          <a:lstStyle/>
          <a:p>
            <a:pPr algn="l">
              <a:lnSpc>
                <a:spcPct val="100000"/>
              </a:lnSpc>
            </a:pPr>
            <a:r>
              <a:rPr sz="1050" b="0" i="0">
                <a:solidFill>
                  <a:srgbClr val="456174"/>
                </a:solidFill>
                <a:latin typeface="Aptos"/>
              </a:rPr>
              <a:t>Whoever answered the phone is the only record.</a:t>
            </a:r>
          </a:p>
        </p:txBody>
      </p:sp>
      <p:sp>
        <p:nvSpPr>
          <p:cNvPr id="34" name="Rounded Rectangle 33"/>
          <p:cNvSpPr/>
          <p:nvPr/>
        </p:nvSpPr>
        <p:spPr>
          <a:xfrm>
            <a:off x="7909560" y="1700784"/>
            <a:ext cx="3749040" cy="4078224"/>
          </a:xfrm>
          <a:prstGeom prst="roundRect">
            <a:avLst>
              <a:gd name="adj" fmla="val 1780"/>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8257032" y="1938528"/>
            <a:ext cx="3054096" cy="201168"/>
          </a:xfrm>
          <a:prstGeom prst="rect">
            <a:avLst/>
          </a:prstGeom>
          <a:noFill/>
        </p:spPr>
        <p:txBody>
          <a:bodyPr wrap="square" lIns="0" rIns="0" tIns="0" bIns="0" anchor="t">
            <a:spAutoFit/>
          </a:bodyPr>
          <a:lstStyle/>
          <a:p>
            <a:pPr algn="l">
              <a:lnSpc>
                <a:spcPct val="100000"/>
              </a:lnSpc>
            </a:pPr>
            <a:r>
              <a:rPr sz="900" b="1" i="0" spc="90">
                <a:solidFill>
                  <a:srgbClr val="14AEE8"/>
                </a:solidFill>
                <a:latin typeface="Aptos"/>
              </a:rPr>
              <a:t>WHAT THAT MORNING COST</a:t>
            </a:r>
          </a:p>
        </p:txBody>
      </p:sp>
      <p:sp>
        <p:nvSpPr>
          <p:cNvPr id="36" name="TextBox 35"/>
          <p:cNvSpPr txBox="1"/>
          <p:nvPr/>
        </p:nvSpPr>
        <p:spPr>
          <a:xfrm>
            <a:off x="8257032" y="2359152"/>
            <a:ext cx="3054096" cy="256032"/>
          </a:xfrm>
          <a:prstGeom prst="rect">
            <a:avLst/>
          </a:prstGeom>
          <a:noFill/>
        </p:spPr>
        <p:txBody>
          <a:bodyPr wrap="square" lIns="0" rIns="0" tIns="0" bIns="0" anchor="t">
            <a:spAutoFit/>
          </a:bodyPr>
          <a:lstStyle/>
          <a:p>
            <a:pPr algn="l">
              <a:lnSpc>
                <a:spcPct val="100000"/>
              </a:lnSpc>
            </a:pPr>
            <a:r>
              <a:rPr sz="1300" b="1" i="0">
                <a:solidFill>
                  <a:srgbClr val="FFFFFF"/>
                </a:solidFill>
                <a:latin typeface="Aptos Display"/>
              </a:rPr>
              <a:t>Three trucks, two people</a:t>
            </a:r>
          </a:p>
        </p:txBody>
      </p:sp>
      <p:sp>
        <p:nvSpPr>
          <p:cNvPr id="37" name="TextBox 36"/>
          <p:cNvSpPr txBox="1"/>
          <p:nvPr/>
        </p:nvSpPr>
        <p:spPr>
          <a:xfrm>
            <a:off x="8257032" y="2651760"/>
            <a:ext cx="3054096" cy="402336"/>
          </a:xfrm>
          <a:prstGeom prst="rect">
            <a:avLst/>
          </a:prstGeom>
          <a:noFill/>
        </p:spPr>
        <p:txBody>
          <a:bodyPr wrap="square" lIns="0" rIns="0" tIns="0" bIns="0" anchor="t">
            <a:spAutoFit/>
          </a:bodyPr>
          <a:lstStyle/>
          <a:p>
            <a:pPr algn="l">
              <a:lnSpc>
                <a:spcPct val="114000"/>
              </a:lnSpc>
            </a:pPr>
            <a:r>
              <a:rPr sz="1000" b="0" i="0">
                <a:solidFill>
                  <a:srgbClr val="7FA3B8"/>
                </a:solidFill>
                <a:latin typeface="Aptos"/>
              </a:rPr>
              <a:t>Crew set a week earlier, against a day nobody could see.</a:t>
            </a:r>
          </a:p>
        </p:txBody>
      </p:sp>
      <p:sp>
        <p:nvSpPr>
          <p:cNvPr id="38" name="TextBox 37"/>
          <p:cNvSpPr txBox="1"/>
          <p:nvPr/>
        </p:nvSpPr>
        <p:spPr>
          <a:xfrm>
            <a:off x="8257032" y="3209544"/>
            <a:ext cx="3054096" cy="256032"/>
          </a:xfrm>
          <a:prstGeom prst="rect">
            <a:avLst/>
          </a:prstGeom>
          <a:noFill/>
        </p:spPr>
        <p:txBody>
          <a:bodyPr wrap="square" lIns="0" rIns="0" tIns="0" bIns="0" anchor="t">
            <a:spAutoFit/>
          </a:bodyPr>
          <a:lstStyle/>
          <a:p>
            <a:pPr algn="l">
              <a:lnSpc>
                <a:spcPct val="100000"/>
              </a:lnSpc>
            </a:pPr>
            <a:r>
              <a:rPr sz="1300" b="1" i="0">
                <a:solidFill>
                  <a:srgbClr val="FFFFFF"/>
                </a:solidFill>
                <a:latin typeface="Aptos Display"/>
              </a:rPr>
              <a:t>An hour and forty of waiting</a:t>
            </a:r>
          </a:p>
        </p:txBody>
      </p:sp>
      <p:sp>
        <p:nvSpPr>
          <p:cNvPr id="39" name="TextBox 38"/>
          <p:cNvSpPr txBox="1"/>
          <p:nvPr/>
        </p:nvSpPr>
        <p:spPr>
          <a:xfrm>
            <a:off x="8257032" y="3502152"/>
            <a:ext cx="3054096" cy="402336"/>
          </a:xfrm>
          <a:prstGeom prst="rect">
            <a:avLst/>
          </a:prstGeom>
          <a:noFill/>
        </p:spPr>
        <p:txBody>
          <a:bodyPr wrap="square" lIns="0" rIns="0" tIns="0" bIns="0" anchor="t">
            <a:spAutoFit/>
          </a:bodyPr>
          <a:lstStyle/>
          <a:p>
            <a:pPr algn="l">
              <a:lnSpc>
                <a:spcPct val="114000"/>
              </a:lnSpc>
            </a:pPr>
            <a:r>
              <a:rPr sz="1000" b="0" i="0">
                <a:solidFill>
                  <a:srgbClr val="7FA3B8"/>
                </a:solidFill>
                <a:latin typeface="Aptos"/>
              </a:rPr>
              <a:t>Detention is billed by the hour, and it is billed to us.</a:t>
            </a:r>
          </a:p>
        </p:txBody>
      </p:sp>
      <p:sp>
        <p:nvSpPr>
          <p:cNvPr id="40" name="TextBox 39"/>
          <p:cNvSpPr txBox="1"/>
          <p:nvPr/>
        </p:nvSpPr>
        <p:spPr>
          <a:xfrm>
            <a:off x="8257032" y="4059936"/>
            <a:ext cx="3054096" cy="256032"/>
          </a:xfrm>
          <a:prstGeom prst="rect">
            <a:avLst/>
          </a:prstGeom>
          <a:noFill/>
        </p:spPr>
        <p:txBody>
          <a:bodyPr wrap="square" lIns="0" rIns="0" tIns="0" bIns="0" anchor="t">
            <a:spAutoFit/>
          </a:bodyPr>
          <a:lstStyle/>
          <a:p>
            <a:pPr algn="l">
              <a:lnSpc>
                <a:spcPct val="100000"/>
              </a:lnSpc>
            </a:pPr>
            <a:r>
              <a:rPr sz="1300" b="1" i="0">
                <a:solidFill>
                  <a:srgbClr val="FFFFFF"/>
                </a:solidFill>
                <a:latin typeface="Aptos Display"/>
              </a:rPr>
              <a:t>Two half-empty trailers</a:t>
            </a:r>
          </a:p>
        </p:txBody>
      </p:sp>
      <p:sp>
        <p:nvSpPr>
          <p:cNvPr id="41" name="TextBox 40"/>
          <p:cNvSpPr txBox="1"/>
          <p:nvPr/>
        </p:nvSpPr>
        <p:spPr>
          <a:xfrm>
            <a:off x="8257032" y="4352544"/>
            <a:ext cx="3054096" cy="402336"/>
          </a:xfrm>
          <a:prstGeom prst="rect">
            <a:avLst/>
          </a:prstGeom>
          <a:noFill/>
        </p:spPr>
        <p:txBody>
          <a:bodyPr wrap="square" lIns="0" rIns="0" tIns="0" bIns="0" anchor="t">
            <a:spAutoFit/>
          </a:bodyPr>
          <a:lstStyle/>
          <a:p>
            <a:pPr algn="l">
              <a:lnSpc>
                <a:spcPct val="114000"/>
              </a:lnSpc>
            </a:pPr>
            <a:r>
              <a:rPr sz="1000" b="0" i="0">
                <a:solidFill>
                  <a:srgbClr val="7FA3B8"/>
                </a:solidFill>
                <a:latin typeface="Aptos"/>
              </a:rPr>
              <a:t>Same lane, same week. Two trucks, two freight bills.</a:t>
            </a:r>
          </a:p>
        </p:txBody>
      </p:sp>
      <p:sp>
        <p:nvSpPr>
          <p:cNvPr id="42" name="TextBox 41"/>
          <p:cNvSpPr txBox="1"/>
          <p:nvPr/>
        </p:nvSpPr>
        <p:spPr>
          <a:xfrm>
            <a:off x="8257032" y="4910328"/>
            <a:ext cx="3054096" cy="256032"/>
          </a:xfrm>
          <a:prstGeom prst="rect">
            <a:avLst/>
          </a:prstGeom>
          <a:noFill/>
        </p:spPr>
        <p:txBody>
          <a:bodyPr wrap="square" lIns="0" rIns="0" tIns="0" bIns="0" anchor="t">
            <a:spAutoFit/>
          </a:bodyPr>
          <a:lstStyle/>
          <a:p>
            <a:pPr algn="l">
              <a:lnSpc>
                <a:spcPct val="100000"/>
              </a:lnSpc>
            </a:pPr>
            <a:r>
              <a:rPr sz="1300" b="1" i="0">
                <a:solidFill>
                  <a:srgbClr val="FFFFFF"/>
                </a:solidFill>
                <a:latin typeface="Aptos Display"/>
              </a:rPr>
              <a:t>A morning of phone calls</a:t>
            </a:r>
          </a:p>
        </p:txBody>
      </p:sp>
      <p:sp>
        <p:nvSpPr>
          <p:cNvPr id="43" name="TextBox 42"/>
          <p:cNvSpPr txBox="1"/>
          <p:nvPr/>
        </p:nvSpPr>
        <p:spPr>
          <a:xfrm>
            <a:off x="8257032" y="5202936"/>
            <a:ext cx="3054096" cy="402336"/>
          </a:xfrm>
          <a:prstGeom prst="rect">
            <a:avLst/>
          </a:prstGeom>
          <a:noFill/>
        </p:spPr>
        <p:txBody>
          <a:bodyPr wrap="square" lIns="0" rIns="0" tIns="0" bIns="0" anchor="t">
            <a:spAutoFit/>
          </a:bodyPr>
          <a:lstStyle/>
          <a:p>
            <a:pPr algn="l">
              <a:lnSpc>
                <a:spcPct val="114000"/>
              </a:lnSpc>
            </a:pPr>
            <a:r>
              <a:rPr sz="1000" b="0" i="0">
                <a:solidFill>
                  <a:srgbClr val="7FA3B8"/>
                </a:solidFill>
                <a:latin typeface="Aptos"/>
              </a:rPr>
              <a:t>Rebuilding a schedule that existed in three places.</a:t>
            </a:r>
          </a:p>
        </p:txBody>
      </p:sp>
      <p:sp>
        <p:nvSpPr>
          <p:cNvPr id="44" name="TextBox 43"/>
          <p:cNvSpPr txBox="1"/>
          <p:nvPr/>
        </p:nvSpPr>
        <p:spPr>
          <a:xfrm>
            <a:off x="530352" y="6035040"/>
            <a:ext cx="11128248" cy="274320"/>
          </a:xfrm>
          <a:prstGeom prst="rect">
            <a:avLst/>
          </a:prstGeom>
          <a:noFill/>
        </p:spPr>
        <p:txBody>
          <a:bodyPr wrap="square" lIns="0" rIns="0" tIns="0" bIns="0" anchor="t">
            <a:spAutoFit/>
          </a:bodyPr>
          <a:lstStyle/>
          <a:p>
            <a:pPr algn="l">
              <a:lnSpc>
                <a:spcPct val="100000"/>
              </a:lnSpc>
            </a:pPr>
            <a:r>
              <a:rPr sz="1150" b="1" i="0">
                <a:solidFill>
                  <a:srgbClr val="0B1F33"/>
                </a:solidFill>
                <a:latin typeface="Aptos"/>
              </a:rPr>
              <a:t>The same six things kept coming back. </a:t>
            </a:r>
            <a:r>
              <a:rPr sz="1150" b="0" i="0">
                <a:solidFill>
                  <a:srgbClr val="456174"/>
                </a:solidFill>
                <a:latin typeface="Aptos"/>
              </a:rPr>
              <a:t>They are the next slide.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502920" y="6464808"/>
            <a:ext cx="11192256" cy="9525"/>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502920" y="6547104"/>
            <a:ext cx="146304" cy="146304"/>
          </a:xfrm>
          <a:prstGeom prst="rect">
            <a:avLst/>
          </a:prstGeom>
        </p:spPr>
      </p:pic>
      <p:sp>
        <p:nvSpPr>
          <p:cNvPr id="4" name="TextBox 3"/>
          <p:cNvSpPr txBox="1"/>
          <p:nvPr/>
        </p:nvSpPr>
        <p:spPr>
          <a:xfrm>
            <a:off x="713232" y="6547104"/>
            <a:ext cx="1005840" cy="146304"/>
          </a:xfrm>
          <a:prstGeom prst="rect">
            <a:avLst/>
          </a:prstGeom>
          <a:noFill/>
        </p:spPr>
        <p:txBody>
          <a:bodyPr wrap="square" lIns="0" rIns="0" tIns="0" bIns="0" anchor="t">
            <a:spAutoFit/>
          </a:bodyPr>
          <a:lstStyle/>
          <a:p>
            <a:pPr algn="l">
              <a:lnSpc>
                <a:spcPct val="100000"/>
              </a:lnSpc>
            </a:pPr>
            <a:r>
              <a:rPr sz="670" b="0" i="0">
                <a:solidFill>
                  <a:srgbClr val="6F8491"/>
                </a:solidFill>
                <a:latin typeface="Aptos"/>
              </a:rPr>
              <a:t>MaxDock</a:t>
            </a:r>
          </a:p>
        </p:txBody>
      </p:sp>
      <p:sp>
        <p:nvSpPr>
          <p:cNvPr id="5" name="TextBox 4"/>
          <p:cNvSpPr txBox="1"/>
          <p:nvPr/>
        </p:nvSpPr>
        <p:spPr>
          <a:xfrm>
            <a:off x="5870448" y="6547104"/>
            <a:ext cx="457200" cy="146304"/>
          </a:xfrm>
          <a:prstGeom prst="rect">
            <a:avLst/>
          </a:prstGeom>
          <a:noFill/>
        </p:spPr>
        <p:txBody>
          <a:bodyPr wrap="square" lIns="0" rIns="0" tIns="0" bIns="0" anchor="t">
            <a:spAutoFit/>
          </a:bodyPr>
          <a:lstStyle/>
          <a:p>
            <a:pPr algn="ctr">
              <a:lnSpc>
                <a:spcPct val="100000"/>
              </a:lnSpc>
            </a:pPr>
            <a:r>
              <a:rPr sz="670" b="0" i="0">
                <a:solidFill>
                  <a:srgbClr val="6F8491"/>
                </a:solidFill>
                <a:latin typeface="Aptos"/>
              </a:rPr>
              <a:t>5</a:t>
            </a:r>
          </a:p>
        </p:txBody>
      </p:sp>
      <p:sp>
        <p:nvSpPr>
          <p:cNvPr id="6" name="TextBox 5"/>
          <p:cNvSpPr txBox="1"/>
          <p:nvPr/>
        </p:nvSpPr>
        <p:spPr>
          <a:xfrm>
            <a:off x="10241280" y="6547104"/>
            <a:ext cx="1444752" cy="146304"/>
          </a:xfrm>
          <a:prstGeom prst="rect">
            <a:avLst/>
          </a:prstGeom>
          <a:noFill/>
        </p:spPr>
        <p:txBody>
          <a:bodyPr wrap="square" lIns="0" rIns="0" tIns="0" bIns="0" anchor="t">
            <a:spAutoFit/>
          </a:bodyPr>
          <a:lstStyle/>
          <a:p>
            <a:pPr algn="r">
              <a:lnSpc>
                <a:spcPct val="100000"/>
              </a:lnSpc>
            </a:pPr>
            <a:r>
              <a:rPr sz="670" b="1" i="0" spc="60">
                <a:solidFill>
                  <a:srgbClr val="6F8491"/>
                </a:solidFill>
                <a:latin typeface="Aptos"/>
              </a:rPr>
              <a:t>MAX SOLUTIONS</a:t>
            </a:r>
          </a:p>
        </p:txBody>
      </p:sp>
      <p:sp>
        <p:nvSpPr>
          <p:cNvPr id="7" name="TextBox 6"/>
          <p:cNvSpPr txBox="1"/>
          <p:nvPr/>
        </p:nvSpPr>
        <p:spPr>
          <a:xfrm>
            <a:off x="530352" y="310896"/>
            <a:ext cx="11128248" cy="201168"/>
          </a:xfrm>
          <a:prstGeom prst="rect">
            <a:avLst/>
          </a:prstGeom>
          <a:noFill/>
        </p:spPr>
        <p:txBody>
          <a:bodyPr wrap="square" lIns="0" rIns="0" tIns="0" bIns="0" anchor="t">
            <a:spAutoFit/>
          </a:bodyPr>
          <a:lstStyle/>
          <a:p>
            <a:pPr algn="l">
              <a:lnSpc>
                <a:spcPct val="100000"/>
              </a:lnSpc>
            </a:pPr>
            <a:r>
              <a:rPr sz="900" b="1" i="0" spc="90">
                <a:solidFill>
                  <a:srgbClr val="0877C9"/>
                </a:solidFill>
                <a:latin typeface="Aptos"/>
              </a:rPr>
              <a:t>WHY THE MARKET DID NOT SOLVE IT</a:t>
            </a:r>
          </a:p>
        </p:txBody>
      </p:sp>
      <p:sp>
        <p:nvSpPr>
          <p:cNvPr id="8" name="TextBox 7"/>
          <p:cNvSpPr txBox="1"/>
          <p:nvPr/>
        </p:nvSpPr>
        <p:spPr>
          <a:xfrm>
            <a:off x="530352" y="530352"/>
            <a:ext cx="11128248" cy="566928"/>
          </a:xfrm>
          <a:prstGeom prst="rect">
            <a:avLst/>
          </a:prstGeom>
          <a:noFill/>
        </p:spPr>
        <p:txBody>
          <a:bodyPr wrap="square" lIns="0" rIns="0" tIns="0" bIns="0" anchor="t">
            <a:spAutoFit/>
          </a:bodyPr>
          <a:lstStyle/>
          <a:p>
            <a:pPr algn="l">
              <a:lnSpc>
                <a:spcPct val="102000"/>
              </a:lnSpc>
            </a:pPr>
            <a:r>
              <a:rPr sz="2500" b="1" i="0">
                <a:solidFill>
                  <a:srgbClr val="0B1F33"/>
                </a:solidFill>
                <a:latin typeface="Aptos Display"/>
              </a:rPr>
              <a:t>We were not the first to notice.</a:t>
            </a:r>
          </a:p>
        </p:txBody>
      </p:sp>
      <p:sp>
        <p:nvSpPr>
          <p:cNvPr id="9" name="TextBox 8"/>
          <p:cNvSpPr txBox="1"/>
          <p:nvPr/>
        </p:nvSpPr>
        <p:spPr>
          <a:xfrm>
            <a:off x="530352" y="1152144"/>
            <a:ext cx="11128248" cy="274320"/>
          </a:xfrm>
          <a:prstGeom prst="rect">
            <a:avLst/>
          </a:prstGeom>
          <a:noFill/>
        </p:spPr>
        <p:txBody>
          <a:bodyPr wrap="square" lIns="0" rIns="0" tIns="0" bIns="0" anchor="t">
            <a:spAutoFit/>
          </a:bodyPr>
          <a:lstStyle/>
          <a:p>
            <a:pPr algn="l">
              <a:lnSpc>
                <a:spcPct val="110000"/>
              </a:lnSpc>
            </a:pPr>
            <a:r>
              <a:rPr sz="1200" b="0" i="0">
                <a:solidFill>
                  <a:srgbClr val="456174"/>
                </a:solidFill>
                <a:latin typeface="Aptos"/>
              </a:rPr>
              <a:t>Each of them started with a problem we recognise. None of them started with ours.</a:t>
            </a:r>
          </a:p>
        </p:txBody>
      </p:sp>
      <p:sp>
        <p:nvSpPr>
          <p:cNvPr id="10" name="Rounded Rectangle 9"/>
          <p:cNvSpPr/>
          <p:nvPr/>
        </p:nvSpPr>
        <p:spPr>
          <a:xfrm>
            <a:off x="530352" y="1645920"/>
            <a:ext cx="2523744" cy="3310128"/>
          </a:xfrm>
          <a:prstGeom prst="roundRect">
            <a:avLst>
              <a:gd name="adj" fmla="val 2644"/>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04672" y="1901952"/>
            <a:ext cx="1975104" cy="310896"/>
          </a:xfrm>
          <a:prstGeom prst="rect">
            <a:avLst/>
          </a:prstGeom>
          <a:noFill/>
        </p:spPr>
        <p:txBody>
          <a:bodyPr wrap="square" lIns="0" rIns="0" tIns="0" bIns="0" anchor="t">
            <a:spAutoFit/>
          </a:bodyPr>
          <a:lstStyle/>
          <a:p>
            <a:pPr algn="l">
              <a:lnSpc>
                <a:spcPct val="100000"/>
              </a:lnSpc>
            </a:pPr>
            <a:r>
              <a:rPr sz="1500" b="1" i="0">
                <a:solidFill>
                  <a:srgbClr val="0B1F33"/>
                </a:solidFill>
                <a:latin typeface="Aptos Display"/>
              </a:rPr>
              <a:t>Opendock</a:t>
            </a:r>
          </a:p>
        </p:txBody>
      </p:sp>
      <p:sp>
        <p:nvSpPr>
          <p:cNvPr id="12" name="Rectangle 11"/>
          <p:cNvSpPr/>
          <p:nvPr/>
        </p:nvSpPr>
        <p:spPr>
          <a:xfrm>
            <a:off x="804672" y="2359152"/>
            <a:ext cx="1975104" cy="9525"/>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542032"/>
            <a:ext cx="1975104" cy="182880"/>
          </a:xfrm>
          <a:prstGeom prst="rect">
            <a:avLst/>
          </a:prstGeom>
          <a:noFill/>
        </p:spPr>
        <p:txBody>
          <a:bodyPr wrap="square" lIns="0" rIns="0" tIns="0" bIns="0" anchor="t">
            <a:spAutoFit/>
          </a:bodyPr>
          <a:lstStyle/>
          <a:p>
            <a:pPr algn="l">
              <a:lnSpc>
                <a:spcPct val="100000"/>
              </a:lnSpc>
            </a:pPr>
            <a:r>
              <a:rPr sz="800" b="1" i="0" spc="60">
                <a:solidFill>
                  <a:srgbClr val="6F8491"/>
                </a:solidFill>
                <a:latin typeface="Aptos"/>
              </a:rPr>
              <a:t>THE PROBLEM IT WAS BUILT FOR</a:t>
            </a:r>
          </a:p>
        </p:txBody>
      </p:sp>
      <p:sp>
        <p:nvSpPr>
          <p:cNvPr id="14" name="TextBox 13"/>
          <p:cNvSpPr txBox="1"/>
          <p:nvPr/>
        </p:nvSpPr>
        <p:spPr>
          <a:xfrm>
            <a:off x="804672" y="2798064"/>
            <a:ext cx="1975104" cy="877824"/>
          </a:xfrm>
          <a:prstGeom prst="rect">
            <a:avLst/>
          </a:prstGeom>
          <a:noFill/>
        </p:spPr>
        <p:txBody>
          <a:bodyPr wrap="square" lIns="0" rIns="0" tIns="0" bIns="0" anchor="t">
            <a:spAutoFit/>
          </a:bodyPr>
          <a:lstStyle/>
          <a:p>
            <a:pPr algn="l">
              <a:lnSpc>
                <a:spcPct val="118000"/>
              </a:lnSpc>
            </a:pPr>
            <a:r>
              <a:rPr sz="1100" b="0" i="0">
                <a:solidFill>
                  <a:srgbClr val="456174"/>
                </a:solidFill>
                <a:latin typeface="Aptos"/>
              </a:rPr>
              <a:t>Docks run by phone, email and spreadsheet — and nobody else can see any of it.</a:t>
            </a:r>
          </a:p>
        </p:txBody>
      </p:sp>
      <p:sp>
        <p:nvSpPr>
          <p:cNvPr id="15" name="TextBox 14"/>
          <p:cNvSpPr txBox="1"/>
          <p:nvPr/>
        </p:nvSpPr>
        <p:spPr>
          <a:xfrm>
            <a:off x="804672" y="3529584"/>
            <a:ext cx="1975104" cy="365760"/>
          </a:xfrm>
          <a:prstGeom prst="rect">
            <a:avLst/>
          </a:prstGeom>
          <a:noFill/>
        </p:spPr>
        <p:txBody>
          <a:bodyPr wrap="square" lIns="0" rIns="0" tIns="0" bIns="0" anchor="t">
            <a:spAutoFit/>
          </a:bodyPr>
          <a:lstStyle/>
          <a:p>
            <a:pPr algn="l">
              <a:lnSpc>
                <a:spcPct val="116000"/>
              </a:lnSpc>
            </a:pPr>
            <a:r>
              <a:rPr sz="950" b="0" i="1">
                <a:solidFill>
                  <a:srgbClr val="6F8491"/>
                </a:solidFill>
                <a:latin typeface="Aptos"/>
              </a:rPr>
              <a:t>They cite ATRI: 39.3% of stops end in detention.</a:t>
            </a:r>
          </a:p>
        </p:txBody>
      </p:sp>
      <p:sp>
        <p:nvSpPr>
          <p:cNvPr id="16" name="Rounded Rectangle 15"/>
          <p:cNvSpPr/>
          <p:nvPr/>
        </p:nvSpPr>
        <p:spPr>
          <a:xfrm>
            <a:off x="804672" y="3986784"/>
            <a:ext cx="1975104" cy="731520"/>
          </a:xfrm>
          <a:prstGeom prst="roundRect">
            <a:avLst>
              <a:gd name="adj" fmla="val 7500"/>
            </a:avLst>
          </a:prstGeom>
          <a:solidFill>
            <a:srgbClr val="ED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69264" y="3986784"/>
            <a:ext cx="1645920" cy="731520"/>
          </a:xfrm>
          <a:prstGeom prst="rect">
            <a:avLst/>
          </a:prstGeom>
          <a:noFill/>
        </p:spPr>
        <p:txBody>
          <a:bodyPr wrap="square" lIns="0" rIns="0" tIns="0" bIns="0" anchor="ctr">
            <a:spAutoFit/>
          </a:bodyPr>
          <a:lstStyle/>
          <a:p>
            <a:pPr algn="l">
              <a:lnSpc>
                <a:spcPct val="116000"/>
              </a:lnSpc>
            </a:pPr>
            <a:r>
              <a:rPr sz="800" b="1" i="0" spc="60">
                <a:solidFill>
                  <a:srgbClr val="6F8491"/>
                </a:solidFill>
                <a:latin typeface="Aptos"/>
              </a:rPr>
              <a:t>WHAT IT MEASURES</a:t>
            </a:r>
          </a:p>
          <a:p>
            <a:pPr algn="l">
              <a:lnSpc>
                <a:spcPct val="116000"/>
              </a:lnSpc>
            </a:pPr>
            <a:r>
              <a:rPr sz="1000" b="0" i="0">
                <a:solidFill>
                  <a:srgbClr val="456174"/>
                </a:solidFill>
                <a:latin typeface="Aptos"/>
              </a:rPr>
              <a:t>Appointments kept.</a:t>
            </a:r>
          </a:p>
          <a:p>
            <a:pPr algn="l">
              <a:lnSpc>
                <a:spcPct val="116000"/>
              </a:lnSpc>
            </a:pPr>
            <a:r>
              <a:rPr sz="1000" b="0" i="0">
                <a:solidFill>
                  <a:srgbClr val="456174"/>
                </a:solidFill>
                <a:latin typeface="Aptos"/>
              </a:rPr>
              <a:t>Detention avoided.</a:t>
            </a:r>
          </a:p>
        </p:txBody>
      </p:sp>
      <p:sp>
        <p:nvSpPr>
          <p:cNvPr id="18" name="Rounded Rectangle 17"/>
          <p:cNvSpPr/>
          <p:nvPr/>
        </p:nvSpPr>
        <p:spPr>
          <a:xfrm>
            <a:off x="3392424" y="1645920"/>
            <a:ext cx="2523744" cy="3310128"/>
          </a:xfrm>
          <a:prstGeom prst="roundRect">
            <a:avLst>
              <a:gd name="adj" fmla="val 2644"/>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666744" y="1901952"/>
            <a:ext cx="1975104" cy="310896"/>
          </a:xfrm>
          <a:prstGeom prst="rect">
            <a:avLst/>
          </a:prstGeom>
          <a:noFill/>
        </p:spPr>
        <p:txBody>
          <a:bodyPr wrap="square" lIns="0" rIns="0" tIns="0" bIns="0" anchor="t">
            <a:spAutoFit/>
          </a:bodyPr>
          <a:lstStyle/>
          <a:p>
            <a:pPr algn="l">
              <a:lnSpc>
                <a:spcPct val="100000"/>
              </a:lnSpc>
            </a:pPr>
            <a:r>
              <a:rPr sz="1500" b="1" i="0">
                <a:solidFill>
                  <a:srgbClr val="0B1F33"/>
                </a:solidFill>
                <a:latin typeface="Aptos Display"/>
              </a:rPr>
              <a:t>C3 Solutions</a:t>
            </a:r>
          </a:p>
        </p:txBody>
      </p:sp>
      <p:sp>
        <p:nvSpPr>
          <p:cNvPr id="20" name="Rectangle 19"/>
          <p:cNvSpPr/>
          <p:nvPr/>
        </p:nvSpPr>
        <p:spPr>
          <a:xfrm>
            <a:off x="3666744" y="2359152"/>
            <a:ext cx="1975104" cy="9525"/>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66744" y="2542032"/>
            <a:ext cx="1975104" cy="182880"/>
          </a:xfrm>
          <a:prstGeom prst="rect">
            <a:avLst/>
          </a:prstGeom>
          <a:noFill/>
        </p:spPr>
        <p:txBody>
          <a:bodyPr wrap="square" lIns="0" rIns="0" tIns="0" bIns="0" anchor="t">
            <a:spAutoFit/>
          </a:bodyPr>
          <a:lstStyle/>
          <a:p>
            <a:pPr algn="l">
              <a:lnSpc>
                <a:spcPct val="100000"/>
              </a:lnSpc>
            </a:pPr>
            <a:r>
              <a:rPr sz="800" b="1" i="0" spc="60">
                <a:solidFill>
                  <a:srgbClr val="6F8491"/>
                </a:solidFill>
                <a:latin typeface="Aptos"/>
              </a:rPr>
              <a:t>THE PROBLEM IT WAS BUILT FOR</a:t>
            </a:r>
          </a:p>
        </p:txBody>
      </p:sp>
      <p:sp>
        <p:nvSpPr>
          <p:cNvPr id="22" name="TextBox 21"/>
          <p:cNvSpPr txBox="1"/>
          <p:nvPr/>
        </p:nvSpPr>
        <p:spPr>
          <a:xfrm>
            <a:off x="3666744" y="2798064"/>
            <a:ext cx="1975104" cy="877824"/>
          </a:xfrm>
          <a:prstGeom prst="rect">
            <a:avLst/>
          </a:prstGeom>
          <a:noFill/>
        </p:spPr>
        <p:txBody>
          <a:bodyPr wrap="square" lIns="0" rIns="0" tIns="0" bIns="0" anchor="t">
            <a:spAutoFit/>
          </a:bodyPr>
          <a:lstStyle/>
          <a:p>
            <a:pPr algn="l">
              <a:lnSpc>
                <a:spcPct val="118000"/>
              </a:lnSpc>
            </a:pPr>
            <a:r>
              <a:rPr sz="1100" b="0" i="0">
                <a:solidFill>
                  <a:srgbClr val="456174"/>
                </a:solidFill>
                <a:latin typeface="Aptos"/>
              </a:rPr>
              <a:t>Trailers sitting, yards jamming, and detention charged for the wait.</a:t>
            </a:r>
          </a:p>
        </p:txBody>
      </p:sp>
      <p:sp>
        <p:nvSpPr>
          <p:cNvPr id="23" name="TextBox 22"/>
          <p:cNvSpPr txBox="1"/>
          <p:nvPr/>
        </p:nvSpPr>
        <p:spPr>
          <a:xfrm>
            <a:off x="3666744" y="3529584"/>
            <a:ext cx="1975104" cy="365760"/>
          </a:xfrm>
          <a:prstGeom prst="rect">
            <a:avLst/>
          </a:prstGeom>
          <a:noFill/>
        </p:spPr>
        <p:txBody>
          <a:bodyPr wrap="square" lIns="0" rIns="0" tIns="0" bIns="0" anchor="t">
            <a:spAutoFit/>
          </a:bodyPr>
          <a:lstStyle/>
          <a:p>
            <a:pPr algn="l">
              <a:lnSpc>
                <a:spcPct val="116000"/>
              </a:lnSpc>
            </a:pPr>
            <a:r>
              <a:rPr sz="950" b="0" i="1">
                <a:solidFill>
                  <a:srgbClr val="6F8491"/>
                </a:solidFill>
                <a:latin typeface="Aptos"/>
              </a:rPr>
              <a:t>Their own claim: up to 90% less detention.</a:t>
            </a:r>
          </a:p>
        </p:txBody>
      </p:sp>
      <p:sp>
        <p:nvSpPr>
          <p:cNvPr id="24" name="Rounded Rectangle 23"/>
          <p:cNvSpPr/>
          <p:nvPr/>
        </p:nvSpPr>
        <p:spPr>
          <a:xfrm>
            <a:off x="3666744" y="3986784"/>
            <a:ext cx="1975104" cy="731520"/>
          </a:xfrm>
          <a:prstGeom prst="roundRect">
            <a:avLst>
              <a:gd name="adj" fmla="val 7500"/>
            </a:avLst>
          </a:prstGeom>
          <a:solidFill>
            <a:srgbClr val="ED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831336" y="3986784"/>
            <a:ext cx="1645920" cy="731520"/>
          </a:xfrm>
          <a:prstGeom prst="rect">
            <a:avLst/>
          </a:prstGeom>
          <a:noFill/>
        </p:spPr>
        <p:txBody>
          <a:bodyPr wrap="square" lIns="0" rIns="0" tIns="0" bIns="0" anchor="ctr">
            <a:spAutoFit/>
          </a:bodyPr>
          <a:lstStyle/>
          <a:p>
            <a:pPr algn="l">
              <a:lnSpc>
                <a:spcPct val="116000"/>
              </a:lnSpc>
            </a:pPr>
            <a:r>
              <a:rPr sz="800" b="1" i="0" spc="60">
                <a:solidFill>
                  <a:srgbClr val="6F8491"/>
                </a:solidFill>
                <a:latin typeface="Aptos"/>
              </a:rPr>
              <a:t>WHAT IT MEASURES</a:t>
            </a:r>
          </a:p>
          <a:p>
            <a:pPr algn="l">
              <a:lnSpc>
                <a:spcPct val="116000"/>
              </a:lnSpc>
            </a:pPr>
            <a:r>
              <a:rPr sz="1000" b="0" i="0">
                <a:solidFill>
                  <a:srgbClr val="456174"/>
                </a:solidFill>
                <a:latin typeface="Aptos"/>
              </a:rPr>
              <a:t>Dwell time.</a:t>
            </a:r>
          </a:p>
          <a:p>
            <a:pPr algn="l">
              <a:lnSpc>
                <a:spcPct val="116000"/>
              </a:lnSpc>
            </a:pPr>
            <a:r>
              <a:rPr sz="1000" b="0" i="0">
                <a:solidFill>
                  <a:srgbClr val="456174"/>
                </a:solidFill>
                <a:latin typeface="Aptos"/>
              </a:rPr>
              <a:t>Yard and door use.</a:t>
            </a:r>
          </a:p>
        </p:txBody>
      </p:sp>
      <p:sp>
        <p:nvSpPr>
          <p:cNvPr id="26" name="Rounded Rectangle 25"/>
          <p:cNvSpPr/>
          <p:nvPr/>
        </p:nvSpPr>
        <p:spPr>
          <a:xfrm>
            <a:off x="6254496" y="1645920"/>
            <a:ext cx="2523744" cy="3310128"/>
          </a:xfrm>
          <a:prstGeom prst="roundRect">
            <a:avLst>
              <a:gd name="adj" fmla="val 2644"/>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528816" y="1901952"/>
            <a:ext cx="1975104" cy="310896"/>
          </a:xfrm>
          <a:prstGeom prst="rect">
            <a:avLst/>
          </a:prstGeom>
          <a:noFill/>
        </p:spPr>
        <p:txBody>
          <a:bodyPr wrap="square" lIns="0" rIns="0" tIns="0" bIns="0" anchor="t">
            <a:spAutoFit/>
          </a:bodyPr>
          <a:lstStyle/>
          <a:p>
            <a:pPr algn="l">
              <a:lnSpc>
                <a:spcPct val="100000"/>
              </a:lnSpc>
            </a:pPr>
            <a:r>
              <a:rPr sz="1500" b="1" i="0">
                <a:solidFill>
                  <a:srgbClr val="0B1F33"/>
                </a:solidFill>
                <a:latin typeface="Aptos Display"/>
              </a:rPr>
              <a:t>Transporeon</a:t>
            </a:r>
          </a:p>
        </p:txBody>
      </p:sp>
      <p:sp>
        <p:nvSpPr>
          <p:cNvPr id="28" name="Rectangle 27"/>
          <p:cNvSpPr/>
          <p:nvPr/>
        </p:nvSpPr>
        <p:spPr>
          <a:xfrm>
            <a:off x="6528816" y="2359152"/>
            <a:ext cx="1975104" cy="9525"/>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28816" y="2542032"/>
            <a:ext cx="1975104" cy="182880"/>
          </a:xfrm>
          <a:prstGeom prst="rect">
            <a:avLst/>
          </a:prstGeom>
          <a:noFill/>
        </p:spPr>
        <p:txBody>
          <a:bodyPr wrap="square" lIns="0" rIns="0" tIns="0" bIns="0" anchor="t">
            <a:spAutoFit/>
          </a:bodyPr>
          <a:lstStyle/>
          <a:p>
            <a:pPr algn="l">
              <a:lnSpc>
                <a:spcPct val="100000"/>
              </a:lnSpc>
            </a:pPr>
            <a:r>
              <a:rPr sz="800" b="1" i="0" spc="60">
                <a:solidFill>
                  <a:srgbClr val="6F8491"/>
                </a:solidFill>
                <a:latin typeface="Aptos"/>
              </a:rPr>
              <a:t>THE PROBLEM IT WAS BUILT FOR</a:t>
            </a:r>
          </a:p>
        </p:txBody>
      </p:sp>
      <p:sp>
        <p:nvSpPr>
          <p:cNvPr id="30" name="TextBox 29"/>
          <p:cNvSpPr txBox="1"/>
          <p:nvPr/>
        </p:nvSpPr>
        <p:spPr>
          <a:xfrm>
            <a:off x="6528816" y="2798064"/>
            <a:ext cx="1975104" cy="877824"/>
          </a:xfrm>
          <a:prstGeom prst="rect">
            <a:avLst/>
          </a:prstGeom>
          <a:noFill/>
        </p:spPr>
        <p:txBody>
          <a:bodyPr wrap="square" lIns="0" rIns="0" tIns="0" bIns="0" anchor="t">
            <a:spAutoFit/>
          </a:bodyPr>
          <a:lstStyle/>
          <a:p>
            <a:pPr algn="l">
              <a:lnSpc>
                <a:spcPct val="118000"/>
              </a:lnSpc>
            </a:pPr>
            <a:r>
              <a:rPr sz="1100" b="0" i="0">
                <a:solidFill>
                  <a:srgbClr val="456174"/>
                </a:solidFill>
                <a:latin typeface="Aptos"/>
              </a:rPr>
              <a:t>Arrivals bunched into peaks: trucks queue at ten, doors sit idle at two.</a:t>
            </a:r>
          </a:p>
        </p:txBody>
      </p:sp>
      <p:sp>
        <p:nvSpPr>
          <p:cNvPr id="31" name="TextBox 30"/>
          <p:cNvSpPr txBox="1"/>
          <p:nvPr/>
        </p:nvSpPr>
        <p:spPr>
          <a:xfrm>
            <a:off x="6528816" y="3529584"/>
            <a:ext cx="1975104" cy="365760"/>
          </a:xfrm>
          <a:prstGeom prst="rect">
            <a:avLst/>
          </a:prstGeom>
          <a:noFill/>
        </p:spPr>
        <p:txBody>
          <a:bodyPr wrap="square" lIns="0" rIns="0" tIns="0" bIns="0" anchor="t">
            <a:spAutoFit/>
          </a:bodyPr>
          <a:lstStyle/>
          <a:p>
            <a:pPr algn="l">
              <a:lnSpc>
                <a:spcPct val="116000"/>
              </a:lnSpc>
            </a:pPr>
            <a:r>
              <a:rPr sz="950" b="0" i="1">
                <a:solidFill>
                  <a:srgbClr val="6F8491"/>
                </a:solidFill>
                <a:latin typeface="Aptos"/>
              </a:rPr>
              <a:t>Their own claim: up to 40% less waiting.</a:t>
            </a:r>
          </a:p>
        </p:txBody>
      </p:sp>
      <p:sp>
        <p:nvSpPr>
          <p:cNvPr id="32" name="Rounded Rectangle 31"/>
          <p:cNvSpPr/>
          <p:nvPr/>
        </p:nvSpPr>
        <p:spPr>
          <a:xfrm>
            <a:off x="6528816" y="3986784"/>
            <a:ext cx="1975104" cy="731520"/>
          </a:xfrm>
          <a:prstGeom prst="roundRect">
            <a:avLst>
              <a:gd name="adj" fmla="val 7500"/>
            </a:avLst>
          </a:prstGeom>
          <a:solidFill>
            <a:srgbClr val="ED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693408" y="3986784"/>
            <a:ext cx="1645920" cy="731520"/>
          </a:xfrm>
          <a:prstGeom prst="rect">
            <a:avLst/>
          </a:prstGeom>
          <a:noFill/>
        </p:spPr>
        <p:txBody>
          <a:bodyPr wrap="square" lIns="0" rIns="0" tIns="0" bIns="0" anchor="ctr">
            <a:spAutoFit/>
          </a:bodyPr>
          <a:lstStyle/>
          <a:p>
            <a:pPr algn="l">
              <a:lnSpc>
                <a:spcPct val="116000"/>
              </a:lnSpc>
            </a:pPr>
            <a:r>
              <a:rPr sz="800" b="1" i="0" spc="60">
                <a:solidFill>
                  <a:srgbClr val="6F8491"/>
                </a:solidFill>
                <a:latin typeface="Aptos"/>
              </a:rPr>
              <a:t>WHAT IT MEASURES</a:t>
            </a:r>
          </a:p>
          <a:p>
            <a:pPr algn="l">
              <a:lnSpc>
                <a:spcPct val="116000"/>
              </a:lnSpc>
            </a:pPr>
            <a:r>
              <a:rPr sz="1000" b="0" i="0">
                <a:solidFill>
                  <a:srgbClr val="456174"/>
                </a:solidFill>
                <a:latin typeface="Aptos"/>
              </a:rPr>
              <a:t>Waiting time.</a:t>
            </a:r>
          </a:p>
          <a:p>
            <a:pPr algn="l">
              <a:lnSpc>
                <a:spcPct val="116000"/>
              </a:lnSpc>
            </a:pPr>
            <a:r>
              <a:rPr sz="1000" b="0" i="0">
                <a:solidFill>
                  <a:srgbClr val="456174"/>
                </a:solidFill>
                <a:latin typeface="Aptos"/>
              </a:rPr>
              <a:t>How flat the day runs.</a:t>
            </a:r>
          </a:p>
        </p:txBody>
      </p:sp>
      <p:sp>
        <p:nvSpPr>
          <p:cNvPr id="34" name="Rounded Rectangle 33"/>
          <p:cNvSpPr/>
          <p:nvPr/>
        </p:nvSpPr>
        <p:spPr>
          <a:xfrm>
            <a:off x="9116568" y="1645920"/>
            <a:ext cx="2523744" cy="3310128"/>
          </a:xfrm>
          <a:prstGeom prst="roundRect">
            <a:avLst>
              <a:gd name="adj" fmla="val 2644"/>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9390888" y="1901952"/>
            <a:ext cx="1975104" cy="310896"/>
          </a:xfrm>
          <a:prstGeom prst="rect">
            <a:avLst/>
          </a:prstGeom>
          <a:noFill/>
        </p:spPr>
        <p:txBody>
          <a:bodyPr wrap="square" lIns="0" rIns="0" tIns="0" bIns="0" anchor="t">
            <a:spAutoFit/>
          </a:bodyPr>
          <a:lstStyle/>
          <a:p>
            <a:pPr algn="l">
              <a:lnSpc>
                <a:spcPct val="100000"/>
              </a:lnSpc>
            </a:pPr>
            <a:r>
              <a:rPr sz="1500" b="1" i="0">
                <a:solidFill>
                  <a:srgbClr val="FFFFFF"/>
                </a:solidFill>
                <a:latin typeface="Aptos Display"/>
              </a:rPr>
              <a:t>MaxDock</a:t>
            </a:r>
          </a:p>
        </p:txBody>
      </p:sp>
      <p:sp>
        <p:nvSpPr>
          <p:cNvPr id="36" name="Rectangle 35"/>
          <p:cNvSpPr/>
          <p:nvPr/>
        </p:nvSpPr>
        <p:spPr>
          <a:xfrm>
            <a:off x="9390888" y="2359152"/>
            <a:ext cx="1975104" cy="9525"/>
          </a:xfrm>
          <a:prstGeom prst="rect">
            <a:avLst/>
          </a:prstGeom>
          <a:solidFill>
            <a:srgbClr val="1E4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390888" y="2542032"/>
            <a:ext cx="1975104" cy="182880"/>
          </a:xfrm>
          <a:prstGeom prst="rect">
            <a:avLst/>
          </a:prstGeom>
          <a:noFill/>
        </p:spPr>
        <p:txBody>
          <a:bodyPr wrap="square" lIns="0" rIns="0" tIns="0" bIns="0" anchor="t">
            <a:spAutoFit/>
          </a:bodyPr>
          <a:lstStyle/>
          <a:p>
            <a:pPr algn="l">
              <a:lnSpc>
                <a:spcPct val="100000"/>
              </a:lnSpc>
            </a:pPr>
            <a:r>
              <a:rPr sz="800" b="1" i="0" spc="60">
                <a:solidFill>
                  <a:srgbClr val="14AEE8"/>
                </a:solidFill>
                <a:latin typeface="Aptos"/>
              </a:rPr>
              <a:t>THE PROBLEM WE BUILT FOR</a:t>
            </a:r>
          </a:p>
        </p:txBody>
      </p:sp>
      <p:sp>
        <p:nvSpPr>
          <p:cNvPr id="38" name="TextBox 37"/>
          <p:cNvSpPr txBox="1"/>
          <p:nvPr/>
        </p:nvSpPr>
        <p:spPr>
          <a:xfrm>
            <a:off x="9390888" y="2798064"/>
            <a:ext cx="1975104" cy="877824"/>
          </a:xfrm>
          <a:prstGeom prst="rect">
            <a:avLst/>
          </a:prstGeom>
          <a:noFill/>
        </p:spPr>
        <p:txBody>
          <a:bodyPr wrap="square" lIns="0" rIns="0" tIns="0" bIns="0" anchor="t">
            <a:spAutoFit/>
          </a:bodyPr>
          <a:lstStyle/>
          <a:p>
            <a:pPr algn="l">
              <a:lnSpc>
                <a:spcPct val="118000"/>
              </a:lnSpc>
            </a:pPr>
            <a:r>
              <a:rPr sz="1100" b="0" i="0">
                <a:solidFill>
                  <a:srgbClr val="B9D7E8"/>
                </a:solidFill>
                <a:latin typeface="Aptos"/>
              </a:rPr>
              <a:t>All three of those — plus two of our own trailers going the same way, half empty.</a:t>
            </a:r>
          </a:p>
        </p:txBody>
      </p:sp>
      <p:sp>
        <p:nvSpPr>
          <p:cNvPr id="39" name="TextBox 38"/>
          <p:cNvSpPr txBox="1"/>
          <p:nvPr/>
        </p:nvSpPr>
        <p:spPr>
          <a:xfrm>
            <a:off x="9390888" y="3529584"/>
            <a:ext cx="1975104" cy="365760"/>
          </a:xfrm>
          <a:prstGeom prst="rect">
            <a:avLst/>
          </a:prstGeom>
          <a:noFill/>
        </p:spPr>
        <p:txBody>
          <a:bodyPr wrap="square" lIns="0" rIns="0" tIns="0" bIns="0" anchor="t">
            <a:spAutoFit/>
          </a:bodyPr>
          <a:lstStyle/>
          <a:p>
            <a:pPr algn="l">
              <a:lnSpc>
                <a:spcPct val="116000"/>
              </a:lnSpc>
            </a:pPr>
            <a:r>
              <a:rPr sz="950" b="0" i="1">
                <a:solidFill>
                  <a:srgbClr val="14AEE8"/>
                </a:solidFill>
                <a:latin typeface="Aptos"/>
              </a:rPr>
              <a:t>Our own run: two bookings, one truck, 88% full.</a:t>
            </a:r>
          </a:p>
        </p:txBody>
      </p:sp>
      <p:sp>
        <p:nvSpPr>
          <p:cNvPr id="40" name="Rounded Rectangle 39"/>
          <p:cNvSpPr/>
          <p:nvPr/>
        </p:nvSpPr>
        <p:spPr>
          <a:xfrm>
            <a:off x="9390888" y="3986784"/>
            <a:ext cx="1975104" cy="731520"/>
          </a:xfrm>
          <a:prstGeom prst="roundRect">
            <a:avLst>
              <a:gd name="adj" fmla="val 7500"/>
            </a:avLst>
          </a:prstGeom>
          <a:solidFill>
            <a:srgbClr val="164A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9555480" y="3986784"/>
            <a:ext cx="1645920" cy="731520"/>
          </a:xfrm>
          <a:prstGeom prst="rect">
            <a:avLst/>
          </a:prstGeom>
          <a:noFill/>
        </p:spPr>
        <p:txBody>
          <a:bodyPr wrap="square" lIns="0" rIns="0" tIns="0" bIns="0" anchor="ctr">
            <a:spAutoFit/>
          </a:bodyPr>
          <a:lstStyle/>
          <a:p>
            <a:pPr algn="l">
              <a:lnSpc>
                <a:spcPct val="116000"/>
              </a:lnSpc>
            </a:pPr>
            <a:r>
              <a:rPr sz="800" b="1" i="0" spc="60">
                <a:solidFill>
                  <a:srgbClr val="14AEE8"/>
                </a:solidFill>
                <a:latin typeface="Aptos"/>
              </a:rPr>
              <a:t>WHAT IT MEASURES</a:t>
            </a:r>
          </a:p>
          <a:p>
            <a:pPr algn="l">
              <a:lnSpc>
                <a:spcPct val="116000"/>
              </a:lnSpc>
            </a:pPr>
            <a:r>
              <a:rPr sz="1000" b="0" i="0">
                <a:solidFill>
                  <a:srgbClr val="FFFFFF"/>
                </a:solidFill>
                <a:latin typeface="Aptos"/>
              </a:rPr>
              <a:t>Trucks removed.</a:t>
            </a:r>
          </a:p>
          <a:p>
            <a:pPr algn="l">
              <a:lnSpc>
                <a:spcPct val="116000"/>
              </a:lnSpc>
            </a:pPr>
            <a:r>
              <a:rPr sz="1000" b="0" i="0">
                <a:solidFill>
                  <a:srgbClr val="FFFFFF"/>
                </a:solidFill>
                <a:latin typeface="Aptos"/>
              </a:rPr>
              <a:t>Skids per trailer, crew hours.</a:t>
            </a:r>
          </a:p>
        </p:txBody>
      </p:sp>
      <p:sp>
        <p:nvSpPr>
          <p:cNvPr id="42" name="Rounded Rectangle 41"/>
          <p:cNvSpPr/>
          <p:nvPr/>
        </p:nvSpPr>
        <p:spPr>
          <a:xfrm>
            <a:off x="530352" y="5413248"/>
            <a:ext cx="11128248" cy="914400"/>
          </a:xfrm>
          <a:prstGeom prst="roundRect">
            <a:avLst>
              <a:gd name="adj" fmla="val 7299"/>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914400" y="5577840"/>
            <a:ext cx="4023360" cy="585216"/>
          </a:xfrm>
          <a:prstGeom prst="rect">
            <a:avLst/>
          </a:prstGeom>
          <a:noFill/>
        </p:spPr>
        <p:txBody>
          <a:bodyPr wrap="square" lIns="0" rIns="0" tIns="0" bIns="0" anchor="ctr">
            <a:spAutoFit/>
          </a:bodyPr>
          <a:lstStyle/>
          <a:p>
            <a:pPr algn="l">
              <a:lnSpc>
                <a:spcPct val="100000"/>
              </a:lnSpc>
            </a:pPr>
            <a:r>
              <a:rPr sz="1500" b="1" i="0">
                <a:solidFill>
                  <a:srgbClr val="FFFFFF"/>
                </a:solidFill>
                <a:latin typeface="Aptos Display"/>
              </a:rPr>
              <a:t>All three schedule the arrival.</a:t>
            </a:r>
          </a:p>
        </p:txBody>
      </p:sp>
      <p:sp>
        <p:nvSpPr>
          <p:cNvPr id="44" name="Rectangle 43"/>
          <p:cNvSpPr/>
          <p:nvPr/>
        </p:nvSpPr>
        <p:spPr>
          <a:xfrm>
            <a:off x="5394960" y="5632704"/>
            <a:ext cx="15240" cy="475488"/>
          </a:xfrm>
          <a:prstGeom prst="rect">
            <a:avLst/>
          </a:prstGeom>
          <a:solidFill>
            <a:srgbClr val="1E4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760720" y="5577840"/>
            <a:ext cx="5532120" cy="585216"/>
          </a:xfrm>
          <a:prstGeom prst="rect">
            <a:avLst/>
          </a:prstGeom>
          <a:noFill/>
        </p:spPr>
        <p:txBody>
          <a:bodyPr wrap="square" lIns="0" rIns="0" tIns="0" bIns="0" anchor="ctr">
            <a:spAutoFit/>
          </a:bodyPr>
          <a:lstStyle/>
          <a:p>
            <a:pPr algn="l">
              <a:lnSpc>
                <a:spcPct val="116000"/>
              </a:lnSpc>
            </a:pPr>
            <a:r>
              <a:rPr sz="1150" b="0" i="0">
                <a:solidFill>
                  <a:srgbClr val="B9D7E8"/>
                </a:solidFill>
                <a:latin typeface="Aptos"/>
              </a:rPr>
              <a:t>Only one of them also decides what goes on the truck — because here, both ends are the same company.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502920" y="6464808"/>
            <a:ext cx="11192256" cy="9525"/>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502920" y="6547104"/>
            <a:ext cx="146304" cy="146304"/>
          </a:xfrm>
          <a:prstGeom prst="rect">
            <a:avLst/>
          </a:prstGeom>
        </p:spPr>
      </p:pic>
      <p:sp>
        <p:nvSpPr>
          <p:cNvPr id="4" name="TextBox 3"/>
          <p:cNvSpPr txBox="1"/>
          <p:nvPr/>
        </p:nvSpPr>
        <p:spPr>
          <a:xfrm>
            <a:off x="713232" y="6547104"/>
            <a:ext cx="1005840" cy="146304"/>
          </a:xfrm>
          <a:prstGeom prst="rect">
            <a:avLst/>
          </a:prstGeom>
          <a:noFill/>
        </p:spPr>
        <p:txBody>
          <a:bodyPr wrap="square" lIns="0" rIns="0" tIns="0" bIns="0" anchor="t">
            <a:spAutoFit/>
          </a:bodyPr>
          <a:lstStyle/>
          <a:p>
            <a:pPr algn="l">
              <a:lnSpc>
                <a:spcPct val="100000"/>
              </a:lnSpc>
            </a:pPr>
            <a:r>
              <a:rPr sz="670" b="0" i="0">
                <a:solidFill>
                  <a:srgbClr val="6F8491"/>
                </a:solidFill>
                <a:latin typeface="Aptos"/>
              </a:rPr>
              <a:t>MaxDock</a:t>
            </a:r>
          </a:p>
        </p:txBody>
      </p:sp>
      <p:sp>
        <p:nvSpPr>
          <p:cNvPr id="5" name="TextBox 4"/>
          <p:cNvSpPr txBox="1"/>
          <p:nvPr/>
        </p:nvSpPr>
        <p:spPr>
          <a:xfrm>
            <a:off x="5870448" y="6547104"/>
            <a:ext cx="457200" cy="146304"/>
          </a:xfrm>
          <a:prstGeom prst="rect">
            <a:avLst/>
          </a:prstGeom>
          <a:noFill/>
        </p:spPr>
        <p:txBody>
          <a:bodyPr wrap="square" lIns="0" rIns="0" tIns="0" bIns="0" anchor="t">
            <a:spAutoFit/>
          </a:bodyPr>
          <a:lstStyle/>
          <a:p>
            <a:pPr algn="ctr">
              <a:lnSpc>
                <a:spcPct val="100000"/>
              </a:lnSpc>
            </a:pPr>
            <a:r>
              <a:rPr sz="670" b="0" i="0">
                <a:solidFill>
                  <a:srgbClr val="6F8491"/>
                </a:solidFill>
                <a:latin typeface="Aptos"/>
              </a:rPr>
              <a:t>26</a:t>
            </a:r>
          </a:p>
        </p:txBody>
      </p:sp>
      <p:sp>
        <p:nvSpPr>
          <p:cNvPr id="6" name="TextBox 5"/>
          <p:cNvSpPr txBox="1"/>
          <p:nvPr/>
        </p:nvSpPr>
        <p:spPr>
          <a:xfrm>
            <a:off x="10241280" y="6547104"/>
            <a:ext cx="1444752" cy="146304"/>
          </a:xfrm>
          <a:prstGeom prst="rect">
            <a:avLst/>
          </a:prstGeom>
          <a:noFill/>
        </p:spPr>
        <p:txBody>
          <a:bodyPr wrap="square" lIns="0" rIns="0" tIns="0" bIns="0" anchor="t">
            <a:spAutoFit/>
          </a:bodyPr>
          <a:lstStyle/>
          <a:p>
            <a:pPr algn="r">
              <a:lnSpc>
                <a:spcPct val="100000"/>
              </a:lnSpc>
            </a:pPr>
            <a:r>
              <a:rPr sz="670" b="1" i="0" spc="60">
                <a:solidFill>
                  <a:srgbClr val="6F8491"/>
                </a:solidFill>
                <a:latin typeface="Aptos"/>
              </a:rPr>
              <a:t>MAX SOLUTIONS</a:t>
            </a:r>
          </a:p>
        </p:txBody>
      </p:sp>
      <p:sp>
        <p:nvSpPr>
          <p:cNvPr id="7" name="TextBox 6"/>
          <p:cNvSpPr txBox="1"/>
          <p:nvPr/>
        </p:nvSpPr>
        <p:spPr>
          <a:xfrm>
            <a:off x="530352" y="310896"/>
            <a:ext cx="11128248" cy="201168"/>
          </a:xfrm>
          <a:prstGeom prst="rect">
            <a:avLst/>
          </a:prstGeom>
          <a:noFill/>
        </p:spPr>
        <p:txBody>
          <a:bodyPr wrap="square" lIns="0" rIns="0" tIns="0" bIns="0" anchor="t">
            <a:spAutoFit/>
          </a:bodyPr>
          <a:lstStyle/>
          <a:p>
            <a:pPr algn="l">
              <a:lnSpc>
                <a:spcPct val="100000"/>
              </a:lnSpc>
            </a:pPr>
            <a:r>
              <a:rPr sz="900" b="1" i="0" spc="90">
                <a:solidFill>
                  <a:srgbClr val="0877C9"/>
                </a:solidFill>
                <a:latin typeface="Aptos"/>
              </a:rPr>
              <a:t>PLANNING THE WEEK, NOT THE DAY</a:t>
            </a:r>
          </a:p>
        </p:txBody>
      </p:sp>
      <p:sp>
        <p:nvSpPr>
          <p:cNvPr id="8" name="TextBox 7"/>
          <p:cNvSpPr txBox="1"/>
          <p:nvPr/>
        </p:nvSpPr>
        <p:spPr>
          <a:xfrm>
            <a:off x="530352" y="530352"/>
            <a:ext cx="11128248" cy="566928"/>
          </a:xfrm>
          <a:prstGeom prst="rect">
            <a:avLst/>
          </a:prstGeom>
          <a:noFill/>
        </p:spPr>
        <p:txBody>
          <a:bodyPr wrap="square" lIns="0" rIns="0" tIns="0" bIns="0" anchor="t">
            <a:spAutoFit/>
          </a:bodyPr>
          <a:lstStyle/>
          <a:p>
            <a:pPr algn="l">
              <a:lnSpc>
                <a:spcPct val="102000"/>
              </a:lnSpc>
            </a:pPr>
            <a:r>
              <a:rPr sz="2500" b="1" i="0">
                <a:solidFill>
                  <a:srgbClr val="0B1F33"/>
                </a:solidFill>
                <a:latin typeface="Aptos Display"/>
              </a:rPr>
              <a:t>What next Thursday looks like, before next Thursday.</a:t>
            </a:r>
          </a:p>
        </p:txBody>
      </p:sp>
      <p:sp>
        <p:nvSpPr>
          <p:cNvPr id="9" name="TextBox 8"/>
          <p:cNvSpPr txBox="1"/>
          <p:nvPr/>
        </p:nvSpPr>
        <p:spPr>
          <a:xfrm>
            <a:off x="530352" y="1152144"/>
            <a:ext cx="11128248" cy="274320"/>
          </a:xfrm>
          <a:prstGeom prst="rect">
            <a:avLst/>
          </a:prstGeom>
          <a:noFill/>
        </p:spPr>
        <p:txBody>
          <a:bodyPr wrap="square" lIns="0" rIns="0" tIns="0" bIns="0" anchor="t">
            <a:spAutoFit/>
          </a:bodyPr>
          <a:lstStyle/>
          <a:p>
            <a:pPr algn="l">
              <a:lnSpc>
                <a:spcPct val="110000"/>
              </a:lnSpc>
            </a:pPr>
            <a:r>
              <a:rPr sz="1200" b="0" i="0">
                <a:solidFill>
                  <a:srgbClr val="456174"/>
                </a:solidFill>
                <a:latin typeface="Aptos"/>
              </a:rPr>
              <a:t>Bookings exist days ahead, so the crew can be set against them.</a:t>
            </a:r>
          </a:p>
        </p:txBody>
      </p:sp>
      <p:sp>
        <p:nvSpPr>
          <p:cNvPr id="10" name="TextBox 9"/>
          <p:cNvSpPr txBox="1"/>
          <p:nvPr/>
        </p:nvSpPr>
        <p:spPr>
          <a:xfrm>
            <a:off x="530352" y="1572768"/>
            <a:ext cx="6894576" cy="219456"/>
          </a:xfrm>
          <a:prstGeom prst="rect">
            <a:avLst/>
          </a:prstGeom>
          <a:noFill/>
        </p:spPr>
        <p:txBody>
          <a:bodyPr wrap="square" lIns="0" rIns="0" tIns="0" bIns="0" anchor="t">
            <a:spAutoFit/>
          </a:bodyPr>
          <a:lstStyle/>
          <a:p>
            <a:pPr algn="l">
              <a:lnSpc>
                <a:spcPct val="100000"/>
              </a:lnSpc>
            </a:pPr>
            <a:r>
              <a:rPr sz="900" b="1" i="0" spc="60">
                <a:solidFill>
                  <a:srgbClr val="6F8491"/>
                </a:solidFill>
                <a:latin typeface="Aptos"/>
              </a:rPr>
              <a:t>DOCK HOURS BOOKED AGAINST CREW HOURS · MISSISSAUGA · NEXT WEEK</a:t>
            </a:r>
          </a:p>
        </p:txBody>
      </p:sp>
      <p:sp>
        <p:nvSpPr>
          <p:cNvPr id="11" name="Rounded Rectangle 10"/>
          <p:cNvSpPr/>
          <p:nvPr/>
        </p:nvSpPr>
        <p:spPr>
          <a:xfrm>
            <a:off x="530352" y="1938528"/>
            <a:ext cx="1188720" cy="2688336"/>
          </a:xfrm>
          <a:prstGeom prst="roundRect">
            <a:avLst>
              <a:gd name="adj" fmla="val 5615"/>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30352" y="2157984"/>
            <a:ext cx="1188720" cy="219456"/>
          </a:xfrm>
          <a:prstGeom prst="rect">
            <a:avLst/>
          </a:prstGeom>
          <a:noFill/>
        </p:spPr>
        <p:txBody>
          <a:bodyPr wrap="square" lIns="0" rIns="0" tIns="0" bIns="0" anchor="t">
            <a:spAutoFit/>
          </a:bodyPr>
          <a:lstStyle/>
          <a:p>
            <a:pPr algn="ctr">
              <a:lnSpc>
                <a:spcPct val="100000"/>
              </a:lnSpc>
            </a:pPr>
            <a:r>
              <a:rPr sz="1100" b="1" i="0" spc="60">
                <a:solidFill>
                  <a:srgbClr val="0B1F33"/>
                </a:solidFill>
                <a:latin typeface="Aptos Display"/>
              </a:rPr>
              <a:t>MON</a:t>
            </a:r>
          </a:p>
        </p:txBody>
      </p:sp>
      <p:sp>
        <p:nvSpPr>
          <p:cNvPr id="13" name="TextBox 12"/>
          <p:cNvSpPr txBox="1"/>
          <p:nvPr/>
        </p:nvSpPr>
        <p:spPr>
          <a:xfrm>
            <a:off x="530352" y="2359152"/>
            <a:ext cx="1188720" cy="182880"/>
          </a:xfrm>
          <a:prstGeom prst="rect">
            <a:avLst/>
          </a:prstGeom>
          <a:noFill/>
        </p:spPr>
        <p:txBody>
          <a:bodyPr wrap="square" lIns="0" rIns="0" tIns="0" bIns="0" anchor="t">
            <a:spAutoFit/>
          </a:bodyPr>
          <a:lstStyle/>
          <a:p>
            <a:pPr algn="ctr">
              <a:lnSpc>
                <a:spcPct val="100000"/>
              </a:lnSpc>
            </a:pPr>
            <a:r>
              <a:rPr sz="950" b="0" i="0">
                <a:solidFill>
                  <a:srgbClr val="6F8491"/>
                </a:solidFill>
                <a:latin typeface="Aptos"/>
              </a:rPr>
              <a:t>8 trucks</a:t>
            </a:r>
          </a:p>
        </p:txBody>
      </p:sp>
      <p:sp>
        <p:nvSpPr>
          <p:cNvPr id="14" name="Rounded Rectangle 13"/>
          <p:cNvSpPr/>
          <p:nvPr/>
        </p:nvSpPr>
        <p:spPr>
          <a:xfrm>
            <a:off x="941832" y="2578608"/>
            <a:ext cx="365760" cy="1316736"/>
          </a:xfrm>
          <a:prstGeom prst="roundRect">
            <a:avLst>
              <a:gd name="adj" fmla="val 7500"/>
            </a:avLst>
          </a:prstGeom>
          <a:solidFill>
            <a:srgbClr val="E7ED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941832" y="2900934"/>
            <a:ext cx="365760" cy="994410"/>
          </a:xfrm>
          <a:prstGeom prst="roundRect">
            <a:avLst>
              <a:gd name="adj" fmla="val 7500"/>
            </a:avLst>
          </a:prstGeom>
          <a:solidFill>
            <a:srgbClr val="14A6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30352" y="4023360"/>
            <a:ext cx="1188720" cy="219456"/>
          </a:xfrm>
          <a:prstGeom prst="rect">
            <a:avLst/>
          </a:prstGeom>
          <a:noFill/>
        </p:spPr>
        <p:txBody>
          <a:bodyPr wrap="square" lIns="0" rIns="0" tIns="0" bIns="0" anchor="t">
            <a:spAutoFit/>
          </a:bodyPr>
          <a:lstStyle/>
          <a:p>
            <a:pPr algn="ctr">
              <a:lnSpc>
                <a:spcPct val="100000"/>
              </a:lnSpc>
            </a:pPr>
            <a:r>
              <a:rPr sz="1000" b="1" i="0">
                <a:solidFill>
                  <a:srgbClr val="0B1F33"/>
                </a:solidFill>
                <a:latin typeface="Aptos"/>
              </a:rPr>
              <a:t>29 of 38.4 h</a:t>
            </a:r>
          </a:p>
        </p:txBody>
      </p:sp>
      <p:sp>
        <p:nvSpPr>
          <p:cNvPr id="17" name="Rounded Rectangle 16"/>
          <p:cNvSpPr/>
          <p:nvPr/>
        </p:nvSpPr>
        <p:spPr>
          <a:xfrm>
            <a:off x="804672" y="4279392"/>
            <a:ext cx="640080" cy="237744"/>
          </a:xfrm>
          <a:prstGeom prst="roundRect">
            <a:avLst>
              <a:gd name="adj" fmla="val 23076"/>
            </a:avLst>
          </a:prstGeom>
          <a:solidFill>
            <a:srgbClr val="E1F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04672" y="4279392"/>
            <a:ext cx="640080" cy="237744"/>
          </a:xfrm>
          <a:prstGeom prst="rect">
            <a:avLst/>
          </a:prstGeom>
          <a:noFill/>
        </p:spPr>
        <p:txBody>
          <a:bodyPr wrap="square" lIns="0" rIns="0" tIns="0" bIns="0" anchor="ctr">
            <a:spAutoFit/>
          </a:bodyPr>
          <a:lstStyle/>
          <a:p>
            <a:pPr algn="ctr">
              <a:lnSpc>
                <a:spcPct val="100000"/>
              </a:lnSpc>
            </a:pPr>
            <a:r>
              <a:rPr sz="950" b="1" i="0">
                <a:solidFill>
                  <a:srgbClr val="10603F"/>
                </a:solidFill>
                <a:latin typeface="Aptos"/>
              </a:rPr>
              <a:t>76%</a:t>
            </a:r>
          </a:p>
        </p:txBody>
      </p:sp>
      <p:sp>
        <p:nvSpPr>
          <p:cNvPr id="19" name="Rounded Rectangle 18"/>
          <p:cNvSpPr/>
          <p:nvPr/>
        </p:nvSpPr>
        <p:spPr>
          <a:xfrm>
            <a:off x="1956816" y="1938528"/>
            <a:ext cx="1188720" cy="2688336"/>
          </a:xfrm>
          <a:prstGeom prst="roundRect">
            <a:avLst>
              <a:gd name="adj" fmla="val 5615"/>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956816" y="2157984"/>
            <a:ext cx="1188720" cy="219456"/>
          </a:xfrm>
          <a:prstGeom prst="rect">
            <a:avLst/>
          </a:prstGeom>
          <a:noFill/>
        </p:spPr>
        <p:txBody>
          <a:bodyPr wrap="square" lIns="0" rIns="0" tIns="0" bIns="0" anchor="t">
            <a:spAutoFit/>
          </a:bodyPr>
          <a:lstStyle/>
          <a:p>
            <a:pPr algn="ctr">
              <a:lnSpc>
                <a:spcPct val="100000"/>
              </a:lnSpc>
            </a:pPr>
            <a:r>
              <a:rPr sz="1100" b="1" i="0" spc="60">
                <a:solidFill>
                  <a:srgbClr val="0B1F33"/>
                </a:solidFill>
                <a:latin typeface="Aptos Display"/>
              </a:rPr>
              <a:t>TUE</a:t>
            </a:r>
          </a:p>
        </p:txBody>
      </p:sp>
      <p:sp>
        <p:nvSpPr>
          <p:cNvPr id="21" name="TextBox 20"/>
          <p:cNvSpPr txBox="1"/>
          <p:nvPr/>
        </p:nvSpPr>
        <p:spPr>
          <a:xfrm>
            <a:off x="1956816" y="2359152"/>
            <a:ext cx="1188720" cy="182880"/>
          </a:xfrm>
          <a:prstGeom prst="rect">
            <a:avLst/>
          </a:prstGeom>
          <a:noFill/>
        </p:spPr>
        <p:txBody>
          <a:bodyPr wrap="square" lIns="0" rIns="0" tIns="0" bIns="0" anchor="t">
            <a:spAutoFit/>
          </a:bodyPr>
          <a:lstStyle/>
          <a:p>
            <a:pPr algn="ctr">
              <a:lnSpc>
                <a:spcPct val="100000"/>
              </a:lnSpc>
            </a:pPr>
            <a:r>
              <a:rPr sz="950" b="0" i="0">
                <a:solidFill>
                  <a:srgbClr val="6F8491"/>
                </a:solidFill>
                <a:latin typeface="Aptos"/>
              </a:rPr>
              <a:t>11 trucks</a:t>
            </a:r>
          </a:p>
        </p:txBody>
      </p:sp>
      <p:sp>
        <p:nvSpPr>
          <p:cNvPr id="22" name="Rounded Rectangle 21"/>
          <p:cNvSpPr/>
          <p:nvPr/>
        </p:nvSpPr>
        <p:spPr>
          <a:xfrm>
            <a:off x="2368296" y="2578608"/>
            <a:ext cx="365760" cy="1316736"/>
          </a:xfrm>
          <a:prstGeom prst="roundRect">
            <a:avLst>
              <a:gd name="adj" fmla="val 7500"/>
            </a:avLst>
          </a:prstGeom>
          <a:solidFill>
            <a:srgbClr val="E7ED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2368296" y="2729484"/>
            <a:ext cx="365760" cy="1165860"/>
          </a:xfrm>
          <a:prstGeom prst="roundRect">
            <a:avLst>
              <a:gd name="adj" fmla="val 7500"/>
            </a:avLst>
          </a:prstGeom>
          <a:solidFill>
            <a:srgbClr val="F2A1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1956816" y="4023360"/>
            <a:ext cx="1188720" cy="219456"/>
          </a:xfrm>
          <a:prstGeom prst="rect">
            <a:avLst/>
          </a:prstGeom>
          <a:noFill/>
        </p:spPr>
        <p:txBody>
          <a:bodyPr wrap="square" lIns="0" rIns="0" tIns="0" bIns="0" anchor="t">
            <a:spAutoFit/>
          </a:bodyPr>
          <a:lstStyle/>
          <a:p>
            <a:pPr algn="ctr">
              <a:lnSpc>
                <a:spcPct val="100000"/>
              </a:lnSpc>
            </a:pPr>
            <a:r>
              <a:rPr sz="1000" b="1" i="0">
                <a:solidFill>
                  <a:srgbClr val="0B1F33"/>
                </a:solidFill>
                <a:latin typeface="Aptos"/>
              </a:rPr>
              <a:t>34 of 38.4 h</a:t>
            </a:r>
          </a:p>
        </p:txBody>
      </p:sp>
      <p:sp>
        <p:nvSpPr>
          <p:cNvPr id="25" name="Rounded Rectangle 24"/>
          <p:cNvSpPr/>
          <p:nvPr/>
        </p:nvSpPr>
        <p:spPr>
          <a:xfrm>
            <a:off x="2231136" y="4279392"/>
            <a:ext cx="640080" cy="237744"/>
          </a:xfrm>
          <a:prstGeom prst="roundRect">
            <a:avLst>
              <a:gd name="adj" fmla="val 23076"/>
            </a:avLst>
          </a:prstGeom>
          <a:solidFill>
            <a:srgbClr val="FCF0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2231136" y="4279392"/>
            <a:ext cx="640080" cy="237744"/>
          </a:xfrm>
          <a:prstGeom prst="rect">
            <a:avLst/>
          </a:prstGeom>
          <a:noFill/>
        </p:spPr>
        <p:txBody>
          <a:bodyPr wrap="square" lIns="0" rIns="0" tIns="0" bIns="0" anchor="ctr">
            <a:spAutoFit/>
          </a:bodyPr>
          <a:lstStyle/>
          <a:p>
            <a:pPr algn="ctr">
              <a:lnSpc>
                <a:spcPct val="100000"/>
              </a:lnSpc>
            </a:pPr>
            <a:r>
              <a:rPr sz="950" b="1" i="0">
                <a:solidFill>
                  <a:srgbClr val="8A5B06"/>
                </a:solidFill>
                <a:latin typeface="Aptos"/>
              </a:rPr>
              <a:t>89%</a:t>
            </a:r>
          </a:p>
        </p:txBody>
      </p:sp>
      <p:sp>
        <p:nvSpPr>
          <p:cNvPr id="27" name="Rounded Rectangle 26"/>
          <p:cNvSpPr/>
          <p:nvPr/>
        </p:nvSpPr>
        <p:spPr>
          <a:xfrm>
            <a:off x="3383280" y="1938528"/>
            <a:ext cx="1188720" cy="2688336"/>
          </a:xfrm>
          <a:prstGeom prst="roundRect">
            <a:avLst>
              <a:gd name="adj" fmla="val 5615"/>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3383280" y="2157984"/>
            <a:ext cx="1188720" cy="219456"/>
          </a:xfrm>
          <a:prstGeom prst="rect">
            <a:avLst/>
          </a:prstGeom>
          <a:noFill/>
        </p:spPr>
        <p:txBody>
          <a:bodyPr wrap="square" lIns="0" rIns="0" tIns="0" bIns="0" anchor="t">
            <a:spAutoFit/>
          </a:bodyPr>
          <a:lstStyle/>
          <a:p>
            <a:pPr algn="ctr">
              <a:lnSpc>
                <a:spcPct val="100000"/>
              </a:lnSpc>
            </a:pPr>
            <a:r>
              <a:rPr sz="1100" b="1" i="0" spc="60">
                <a:solidFill>
                  <a:srgbClr val="0B1F33"/>
                </a:solidFill>
                <a:latin typeface="Aptos Display"/>
              </a:rPr>
              <a:t>WED</a:t>
            </a:r>
          </a:p>
        </p:txBody>
      </p:sp>
      <p:sp>
        <p:nvSpPr>
          <p:cNvPr id="29" name="TextBox 28"/>
          <p:cNvSpPr txBox="1"/>
          <p:nvPr/>
        </p:nvSpPr>
        <p:spPr>
          <a:xfrm>
            <a:off x="3383280" y="2359152"/>
            <a:ext cx="1188720" cy="182880"/>
          </a:xfrm>
          <a:prstGeom prst="rect">
            <a:avLst/>
          </a:prstGeom>
          <a:noFill/>
        </p:spPr>
        <p:txBody>
          <a:bodyPr wrap="square" lIns="0" rIns="0" tIns="0" bIns="0" anchor="t">
            <a:spAutoFit/>
          </a:bodyPr>
          <a:lstStyle/>
          <a:p>
            <a:pPr algn="ctr">
              <a:lnSpc>
                <a:spcPct val="100000"/>
              </a:lnSpc>
            </a:pPr>
            <a:r>
              <a:rPr sz="950" b="0" i="0">
                <a:solidFill>
                  <a:srgbClr val="6F8491"/>
                </a:solidFill>
                <a:latin typeface="Aptos"/>
              </a:rPr>
              <a:t>6 trucks</a:t>
            </a:r>
          </a:p>
        </p:txBody>
      </p:sp>
      <p:sp>
        <p:nvSpPr>
          <p:cNvPr id="30" name="Rounded Rectangle 29"/>
          <p:cNvSpPr/>
          <p:nvPr/>
        </p:nvSpPr>
        <p:spPr>
          <a:xfrm>
            <a:off x="3794760" y="2578608"/>
            <a:ext cx="365760" cy="1316736"/>
          </a:xfrm>
          <a:prstGeom prst="roundRect">
            <a:avLst>
              <a:gd name="adj" fmla="val 7500"/>
            </a:avLst>
          </a:prstGeom>
          <a:solidFill>
            <a:srgbClr val="E7ED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3794760" y="3175254"/>
            <a:ext cx="365760" cy="720090"/>
          </a:xfrm>
          <a:prstGeom prst="roundRect">
            <a:avLst>
              <a:gd name="adj" fmla="val 7500"/>
            </a:avLst>
          </a:prstGeom>
          <a:solidFill>
            <a:srgbClr val="14A6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3383280" y="4023360"/>
            <a:ext cx="1188720" cy="219456"/>
          </a:xfrm>
          <a:prstGeom prst="rect">
            <a:avLst/>
          </a:prstGeom>
          <a:noFill/>
        </p:spPr>
        <p:txBody>
          <a:bodyPr wrap="square" lIns="0" rIns="0" tIns="0" bIns="0" anchor="t">
            <a:spAutoFit/>
          </a:bodyPr>
          <a:lstStyle/>
          <a:p>
            <a:pPr algn="ctr">
              <a:lnSpc>
                <a:spcPct val="100000"/>
              </a:lnSpc>
            </a:pPr>
            <a:r>
              <a:rPr sz="1000" b="1" i="0">
                <a:solidFill>
                  <a:srgbClr val="0B1F33"/>
                </a:solidFill>
                <a:latin typeface="Aptos"/>
              </a:rPr>
              <a:t>21 of 38.4 h</a:t>
            </a:r>
          </a:p>
        </p:txBody>
      </p:sp>
      <p:sp>
        <p:nvSpPr>
          <p:cNvPr id="33" name="Rounded Rectangle 32"/>
          <p:cNvSpPr/>
          <p:nvPr/>
        </p:nvSpPr>
        <p:spPr>
          <a:xfrm>
            <a:off x="3657600" y="4279392"/>
            <a:ext cx="640080" cy="237744"/>
          </a:xfrm>
          <a:prstGeom prst="roundRect">
            <a:avLst>
              <a:gd name="adj" fmla="val 23076"/>
            </a:avLst>
          </a:prstGeom>
          <a:solidFill>
            <a:srgbClr val="E1F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3657600" y="4279392"/>
            <a:ext cx="640080" cy="237744"/>
          </a:xfrm>
          <a:prstGeom prst="rect">
            <a:avLst/>
          </a:prstGeom>
          <a:noFill/>
        </p:spPr>
        <p:txBody>
          <a:bodyPr wrap="square" lIns="0" rIns="0" tIns="0" bIns="0" anchor="ctr">
            <a:spAutoFit/>
          </a:bodyPr>
          <a:lstStyle/>
          <a:p>
            <a:pPr algn="ctr">
              <a:lnSpc>
                <a:spcPct val="100000"/>
              </a:lnSpc>
            </a:pPr>
            <a:r>
              <a:rPr sz="950" b="1" i="0">
                <a:solidFill>
                  <a:srgbClr val="10603F"/>
                </a:solidFill>
                <a:latin typeface="Aptos"/>
              </a:rPr>
              <a:t>55%</a:t>
            </a:r>
          </a:p>
        </p:txBody>
      </p:sp>
      <p:sp>
        <p:nvSpPr>
          <p:cNvPr id="35" name="Rounded Rectangle 34"/>
          <p:cNvSpPr/>
          <p:nvPr/>
        </p:nvSpPr>
        <p:spPr>
          <a:xfrm>
            <a:off x="4809744" y="1938528"/>
            <a:ext cx="1188720" cy="2688336"/>
          </a:xfrm>
          <a:prstGeom prst="roundRect">
            <a:avLst>
              <a:gd name="adj" fmla="val 5615"/>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4809744" y="2157984"/>
            <a:ext cx="1188720" cy="219456"/>
          </a:xfrm>
          <a:prstGeom prst="rect">
            <a:avLst/>
          </a:prstGeom>
          <a:noFill/>
        </p:spPr>
        <p:txBody>
          <a:bodyPr wrap="square" lIns="0" rIns="0" tIns="0" bIns="0" anchor="t">
            <a:spAutoFit/>
          </a:bodyPr>
          <a:lstStyle/>
          <a:p>
            <a:pPr algn="ctr">
              <a:lnSpc>
                <a:spcPct val="100000"/>
              </a:lnSpc>
            </a:pPr>
            <a:r>
              <a:rPr sz="1100" b="1" i="0" spc="60">
                <a:solidFill>
                  <a:srgbClr val="0B1F33"/>
                </a:solidFill>
                <a:latin typeface="Aptos Display"/>
              </a:rPr>
              <a:t>THU</a:t>
            </a:r>
          </a:p>
        </p:txBody>
      </p:sp>
      <p:sp>
        <p:nvSpPr>
          <p:cNvPr id="37" name="TextBox 36"/>
          <p:cNvSpPr txBox="1"/>
          <p:nvPr/>
        </p:nvSpPr>
        <p:spPr>
          <a:xfrm>
            <a:off x="4809744" y="2359152"/>
            <a:ext cx="1188720" cy="182880"/>
          </a:xfrm>
          <a:prstGeom prst="rect">
            <a:avLst/>
          </a:prstGeom>
          <a:noFill/>
        </p:spPr>
        <p:txBody>
          <a:bodyPr wrap="square" lIns="0" rIns="0" tIns="0" bIns="0" anchor="t">
            <a:spAutoFit/>
          </a:bodyPr>
          <a:lstStyle/>
          <a:p>
            <a:pPr algn="ctr">
              <a:lnSpc>
                <a:spcPct val="100000"/>
              </a:lnSpc>
            </a:pPr>
            <a:r>
              <a:rPr sz="950" b="0" i="0">
                <a:solidFill>
                  <a:srgbClr val="6F8491"/>
                </a:solidFill>
                <a:latin typeface="Aptos"/>
              </a:rPr>
              <a:t>10 trucks</a:t>
            </a:r>
          </a:p>
        </p:txBody>
      </p:sp>
      <p:sp>
        <p:nvSpPr>
          <p:cNvPr id="38" name="Rounded Rectangle 37"/>
          <p:cNvSpPr/>
          <p:nvPr/>
        </p:nvSpPr>
        <p:spPr>
          <a:xfrm>
            <a:off x="5221224" y="2578608"/>
            <a:ext cx="365760" cy="1316736"/>
          </a:xfrm>
          <a:prstGeom prst="roundRect">
            <a:avLst>
              <a:gd name="adj" fmla="val 7500"/>
            </a:avLst>
          </a:prstGeom>
          <a:solidFill>
            <a:srgbClr val="E7ED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ounded Rectangle 38"/>
          <p:cNvSpPr/>
          <p:nvPr/>
        </p:nvSpPr>
        <p:spPr>
          <a:xfrm>
            <a:off x="5221224" y="2578608"/>
            <a:ext cx="365760" cy="1316736"/>
          </a:xfrm>
          <a:prstGeom prst="roundRect">
            <a:avLst>
              <a:gd name="adj" fmla="val 7500"/>
            </a:avLst>
          </a:prstGeom>
          <a:solidFill>
            <a:srgbClr val="D84C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809744" y="4023360"/>
            <a:ext cx="1188720" cy="219456"/>
          </a:xfrm>
          <a:prstGeom prst="rect">
            <a:avLst/>
          </a:prstGeom>
          <a:noFill/>
        </p:spPr>
        <p:txBody>
          <a:bodyPr wrap="square" lIns="0" rIns="0" tIns="0" bIns="0" anchor="t">
            <a:spAutoFit/>
          </a:bodyPr>
          <a:lstStyle/>
          <a:p>
            <a:pPr algn="ctr">
              <a:lnSpc>
                <a:spcPct val="100000"/>
              </a:lnSpc>
            </a:pPr>
            <a:r>
              <a:rPr sz="1000" b="1" i="0">
                <a:solidFill>
                  <a:srgbClr val="0B1F33"/>
                </a:solidFill>
                <a:latin typeface="Aptos"/>
              </a:rPr>
              <a:t>33 of 30.4 h</a:t>
            </a:r>
          </a:p>
        </p:txBody>
      </p:sp>
      <p:sp>
        <p:nvSpPr>
          <p:cNvPr id="41" name="Rounded Rectangle 40"/>
          <p:cNvSpPr/>
          <p:nvPr/>
        </p:nvSpPr>
        <p:spPr>
          <a:xfrm>
            <a:off x="5084064" y="4279392"/>
            <a:ext cx="640080" cy="237744"/>
          </a:xfrm>
          <a:prstGeom prst="roundRect">
            <a:avLst>
              <a:gd name="adj" fmla="val 23076"/>
            </a:avLst>
          </a:prstGeom>
          <a:solidFill>
            <a:srgbClr val="FAE7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5084064" y="4279392"/>
            <a:ext cx="640080" cy="237744"/>
          </a:xfrm>
          <a:prstGeom prst="rect">
            <a:avLst/>
          </a:prstGeom>
          <a:noFill/>
        </p:spPr>
        <p:txBody>
          <a:bodyPr wrap="square" lIns="0" rIns="0" tIns="0" bIns="0" anchor="ctr">
            <a:spAutoFit/>
          </a:bodyPr>
          <a:lstStyle/>
          <a:p>
            <a:pPr algn="ctr">
              <a:lnSpc>
                <a:spcPct val="100000"/>
              </a:lnSpc>
            </a:pPr>
            <a:r>
              <a:rPr sz="950" b="1" i="0">
                <a:solidFill>
                  <a:srgbClr val="8E2F2F"/>
                </a:solidFill>
                <a:latin typeface="Aptos"/>
              </a:rPr>
              <a:t>109%</a:t>
            </a:r>
          </a:p>
        </p:txBody>
      </p:sp>
      <p:sp>
        <p:nvSpPr>
          <p:cNvPr id="43" name="Rounded Rectangle 42"/>
          <p:cNvSpPr/>
          <p:nvPr/>
        </p:nvSpPr>
        <p:spPr>
          <a:xfrm>
            <a:off x="6236208" y="1938528"/>
            <a:ext cx="1188720" cy="2688336"/>
          </a:xfrm>
          <a:prstGeom prst="roundRect">
            <a:avLst>
              <a:gd name="adj" fmla="val 5615"/>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236208" y="2157984"/>
            <a:ext cx="1188720" cy="219456"/>
          </a:xfrm>
          <a:prstGeom prst="rect">
            <a:avLst/>
          </a:prstGeom>
          <a:noFill/>
        </p:spPr>
        <p:txBody>
          <a:bodyPr wrap="square" lIns="0" rIns="0" tIns="0" bIns="0" anchor="t">
            <a:spAutoFit/>
          </a:bodyPr>
          <a:lstStyle/>
          <a:p>
            <a:pPr algn="ctr">
              <a:lnSpc>
                <a:spcPct val="100000"/>
              </a:lnSpc>
            </a:pPr>
            <a:r>
              <a:rPr sz="1100" b="1" i="0" spc="60">
                <a:solidFill>
                  <a:srgbClr val="0B1F33"/>
                </a:solidFill>
                <a:latin typeface="Aptos Display"/>
              </a:rPr>
              <a:t>FRI</a:t>
            </a:r>
          </a:p>
        </p:txBody>
      </p:sp>
      <p:sp>
        <p:nvSpPr>
          <p:cNvPr id="45" name="TextBox 44"/>
          <p:cNvSpPr txBox="1"/>
          <p:nvPr/>
        </p:nvSpPr>
        <p:spPr>
          <a:xfrm>
            <a:off x="6236208" y="2359152"/>
            <a:ext cx="1188720" cy="182880"/>
          </a:xfrm>
          <a:prstGeom prst="rect">
            <a:avLst/>
          </a:prstGeom>
          <a:noFill/>
        </p:spPr>
        <p:txBody>
          <a:bodyPr wrap="square" lIns="0" rIns="0" tIns="0" bIns="0" anchor="t">
            <a:spAutoFit/>
          </a:bodyPr>
          <a:lstStyle/>
          <a:p>
            <a:pPr algn="ctr">
              <a:lnSpc>
                <a:spcPct val="100000"/>
              </a:lnSpc>
            </a:pPr>
            <a:r>
              <a:rPr sz="950" b="0" i="0">
                <a:solidFill>
                  <a:srgbClr val="6F8491"/>
                </a:solidFill>
                <a:latin typeface="Aptos"/>
              </a:rPr>
              <a:t>7 trucks</a:t>
            </a:r>
          </a:p>
        </p:txBody>
      </p:sp>
      <p:sp>
        <p:nvSpPr>
          <p:cNvPr id="46" name="Rounded Rectangle 45"/>
          <p:cNvSpPr/>
          <p:nvPr/>
        </p:nvSpPr>
        <p:spPr>
          <a:xfrm>
            <a:off x="6647688" y="2578608"/>
            <a:ext cx="365760" cy="1316736"/>
          </a:xfrm>
          <a:prstGeom prst="roundRect">
            <a:avLst>
              <a:gd name="adj" fmla="val 7500"/>
            </a:avLst>
          </a:prstGeom>
          <a:solidFill>
            <a:srgbClr val="E7ED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ounded Rectangle 46"/>
          <p:cNvSpPr/>
          <p:nvPr/>
        </p:nvSpPr>
        <p:spPr>
          <a:xfrm>
            <a:off x="6647688" y="3003804"/>
            <a:ext cx="365760" cy="891540"/>
          </a:xfrm>
          <a:prstGeom prst="roundRect">
            <a:avLst>
              <a:gd name="adj" fmla="val 7500"/>
            </a:avLst>
          </a:prstGeom>
          <a:solidFill>
            <a:srgbClr val="14A6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6236208" y="4023360"/>
            <a:ext cx="1188720" cy="219456"/>
          </a:xfrm>
          <a:prstGeom prst="rect">
            <a:avLst/>
          </a:prstGeom>
          <a:noFill/>
        </p:spPr>
        <p:txBody>
          <a:bodyPr wrap="square" lIns="0" rIns="0" tIns="0" bIns="0" anchor="t">
            <a:spAutoFit/>
          </a:bodyPr>
          <a:lstStyle/>
          <a:p>
            <a:pPr algn="ctr">
              <a:lnSpc>
                <a:spcPct val="100000"/>
              </a:lnSpc>
            </a:pPr>
            <a:r>
              <a:rPr sz="1000" b="1" i="0">
                <a:solidFill>
                  <a:srgbClr val="0B1F33"/>
                </a:solidFill>
                <a:latin typeface="Aptos"/>
              </a:rPr>
              <a:t>26 of 38.4 h</a:t>
            </a:r>
          </a:p>
        </p:txBody>
      </p:sp>
      <p:sp>
        <p:nvSpPr>
          <p:cNvPr id="49" name="Rounded Rectangle 48"/>
          <p:cNvSpPr/>
          <p:nvPr/>
        </p:nvSpPr>
        <p:spPr>
          <a:xfrm>
            <a:off x="6510528" y="4279392"/>
            <a:ext cx="640080" cy="237744"/>
          </a:xfrm>
          <a:prstGeom prst="roundRect">
            <a:avLst>
              <a:gd name="adj" fmla="val 23076"/>
            </a:avLst>
          </a:prstGeom>
          <a:solidFill>
            <a:srgbClr val="E1F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6510528" y="4279392"/>
            <a:ext cx="640080" cy="237744"/>
          </a:xfrm>
          <a:prstGeom prst="rect">
            <a:avLst/>
          </a:prstGeom>
          <a:noFill/>
        </p:spPr>
        <p:txBody>
          <a:bodyPr wrap="square" lIns="0" rIns="0" tIns="0" bIns="0" anchor="ctr">
            <a:spAutoFit/>
          </a:bodyPr>
          <a:lstStyle/>
          <a:p>
            <a:pPr algn="ctr">
              <a:lnSpc>
                <a:spcPct val="100000"/>
              </a:lnSpc>
            </a:pPr>
            <a:r>
              <a:rPr sz="950" b="1" i="0">
                <a:solidFill>
                  <a:srgbClr val="10603F"/>
                </a:solidFill>
                <a:latin typeface="Aptos"/>
              </a:rPr>
              <a:t>68%</a:t>
            </a:r>
          </a:p>
        </p:txBody>
      </p:sp>
      <p:sp>
        <p:nvSpPr>
          <p:cNvPr id="51" name="TextBox 50"/>
          <p:cNvSpPr txBox="1"/>
          <p:nvPr/>
        </p:nvSpPr>
        <p:spPr>
          <a:xfrm>
            <a:off x="530352" y="4882896"/>
            <a:ext cx="6894576" cy="457200"/>
          </a:xfrm>
          <a:prstGeom prst="rect">
            <a:avLst/>
          </a:prstGeom>
          <a:noFill/>
        </p:spPr>
        <p:txBody>
          <a:bodyPr wrap="square" lIns="0" rIns="0" tIns="0" bIns="0" anchor="t">
            <a:spAutoFit/>
          </a:bodyPr>
          <a:lstStyle/>
          <a:p>
            <a:pPr algn="l">
              <a:lnSpc>
                <a:spcPct val="116000"/>
              </a:lnSpc>
            </a:pPr>
            <a:r>
              <a:rPr sz="1100" b="1" i="0">
                <a:solidFill>
                  <a:srgbClr val="0B1F33"/>
                </a:solidFill>
                <a:latin typeface="Aptos"/>
              </a:rPr>
              <a:t>Thursday is full before it is booked. </a:t>
            </a:r>
            <a:r>
              <a:rPr sz="1100" b="0" i="0">
                <a:solidFill>
                  <a:srgbClr val="456174"/>
                </a:solidFill>
                <a:latin typeface="Aptos"/>
              </a:rPr>
              <a:t>One person is off, so the crew has 30.4 hours and the schedule holds 33.</a:t>
            </a:r>
          </a:p>
        </p:txBody>
      </p:sp>
      <p:sp>
        <p:nvSpPr>
          <p:cNvPr id="52" name="Rounded Rectangle 51"/>
          <p:cNvSpPr/>
          <p:nvPr/>
        </p:nvSpPr>
        <p:spPr>
          <a:xfrm>
            <a:off x="7726680" y="1938528"/>
            <a:ext cx="3931920" cy="3401568"/>
          </a:xfrm>
          <a:prstGeom prst="roundRect">
            <a:avLst>
              <a:gd name="adj" fmla="val 1962"/>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8046720" y="2194560"/>
            <a:ext cx="3291840" cy="219456"/>
          </a:xfrm>
          <a:prstGeom prst="rect">
            <a:avLst/>
          </a:prstGeom>
          <a:noFill/>
        </p:spPr>
        <p:txBody>
          <a:bodyPr wrap="square" lIns="0" rIns="0" tIns="0" bIns="0" anchor="t">
            <a:spAutoFit/>
          </a:bodyPr>
          <a:lstStyle/>
          <a:p>
            <a:pPr algn="l">
              <a:lnSpc>
                <a:spcPct val="100000"/>
              </a:lnSpc>
            </a:pPr>
            <a:r>
              <a:rPr sz="900" b="1" i="0" spc="90">
                <a:solidFill>
                  <a:srgbClr val="0877C9"/>
                </a:solidFill>
                <a:latin typeface="Aptos"/>
              </a:rPr>
              <a:t>SO THE DAY GETS PROTECTED</a:t>
            </a:r>
          </a:p>
        </p:txBody>
      </p:sp>
      <p:sp>
        <p:nvSpPr>
          <p:cNvPr id="54" name="Rounded Rectangle 53"/>
          <p:cNvSpPr/>
          <p:nvPr/>
        </p:nvSpPr>
        <p:spPr>
          <a:xfrm>
            <a:off x="8046720" y="2642616"/>
            <a:ext cx="146304" cy="146304"/>
          </a:xfrm>
          <a:prstGeom prst="roundRect">
            <a:avLst>
              <a:gd name="adj" fmla="val 18750"/>
            </a:avLst>
          </a:prstGeom>
          <a:solidFill>
            <a:srgbClr val="0877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8339328" y="2596896"/>
            <a:ext cx="2999232" cy="237744"/>
          </a:xfrm>
          <a:prstGeom prst="rect">
            <a:avLst/>
          </a:prstGeom>
          <a:noFill/>
        </p:spPr>
        <p:txBody>
          <a:bodyPr wrap="square" lIns="0" rIns="0" tIns="0" bIns="0" anchor="t">
            <a:spAutoFit/>
          </a:bodyPr>
          <a:lstStyle/>
          <a:p>
            <a:pPr algn="l">
              <a:lnSpc>
                <a:spcPct val="100000"/>
              </a:lnSpc>
            </a:pPr>
            <a:r>
              <a:rPr sz="1250" b="1" i="0">
                <a:solidFill>
                  <a:srgbClr val="0B1F33"/>
                </a:solidFill>
                <a:latin typeface="Aptos Display"/>
              </a:rPr>
              <a:t>A standing limit</a:t>
            </a:r>
          </a:p>
        </p:txBody>
      </p:sp>
      <p:sp>
        <p:nvSpPr>
          <p:cNvPr id="56" name="TextBox 55"/>
          <p:cNvSpPr txBox="1"/>
          <p:nvPr/>
        </p:nvSpPr>
        <p:spPr>
          <a:xfrm>
            <a:off x="8339328" y="2889504"/>
            <a:ext cx="2999232" cy="512064"/>
          </a:xfrm>
          <a:prstGeom prst="rect">
            <a:avLst/>
          </a:prstGeom>
          <a:noFill/>
        </p:spPr>
        <p:txBody>
          <a:bodyPr wrap="square" lIns="0" rIns="0" tIns="0" bIns="0" anchor="t">
            <a:spAutoFit/>
          </a:bodyPr>
          <a:lstStyle/>
          <a:p>
            <a:pPr algn="l">
              <a:lnSpc>
                <a:spcPct val="116000"/>
              </a:lnSpc>
            </a:pPr>
            <a:r>
              <a:rPr sz="1050" b="0" i="0">
                <a:solidFill>
                  <a:srgbClr val="456174"/>
                </a:solidFill>
                <a:latin typeface="Aptos"/>
              </a:rPr>
              <a:t>How many trucks a site takes at once, whatever the door count says.</a:t>
            </a:r>
          </a:p>
        </p:txBody>
      </p:sp>
      <p:sp>
        <p:nvSpPr>
          <p:cNvPr id="57" name="Rounded Rectangle 56"/>
          <p:cNvSpPr/>
          <p:nvPr/>
        </p:nvSpPr>
        <p:spPr>
          <a:xfrm>
            <a:off x="8046720" y="3575304"/>
            <a:ext cx="146304" cy="146304"/>
          </a:xfrm>
          <a:prstGeom prst="roundRect">
            <a:avLst>
              <a:gd name="adj" fmla="val 18750"/>
            </a:avLst>
          </a:prstGeom>
          <a:solidFill>
            <a:srgbClr val="0877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8339328" y="3529584"/>
            <a:ext cx="2999232" cy="237744"/>
          </a:xfrm>
          <a:prstGeom prst="rect">
            <a:avLst/>
          </a:prstGeom>
          <a:noFill/>
        </p:spPr>
        <p:txBody>
          <a:bodyPr wrap="square" lIns="0" rIns="0" tIns="0" bIns="0" anchor="t">
            <a:spAutoFit/>
          </a:bodyPr>
          <a:lstStyle/>
          <a:p>
            <a:pPr algn="l">
              <a:lnSpc>
                <a:spcPct val="100000"/>
              </a:lnSpc>
            </a:pPr>
            <a:r>
              <a:rPr sz="1250" b="1" i="0">
                <a:solidFill>
                  <a:srgbClr val="0B1F33"/>
                </a:solidFill>
                <a:latin typeface="Aptos Display"/>
              </a:rPr>
              <a:t>A cap for one date</a:t>
            </a:r>
          </a:p>
        </p:txBody>
      </p:sp>
      <p:sp>
        <p:nvSpPr>
          <p:cNvPr id="59" name="TextBox 58"/>
          <p:cNvSpPr txBox="1"/>
          <p:nvPr/>
        </p:nvSpPr>
        <p:spPr>
          <a:xfrm>
            <a:off x="8339328" y="3822192"/>
            <a:ext cx="2999232" cy="512064"/>
          </a:xfrm>
          <a:prstGeom prst="rect">
            <a:avLst/>
          </a:prstGeom>
          <a:noFill/>
        </p:spPr>
        <p:txBody>
          <a:bodyPr wrap="square" lIns="0" rIns="0" tIns="0" bIns="0" anchor="t">
            <a:spAutoFit/>
          </a:bodyPr>
          <a:lstStyle/>
          <a:p>
            <a:pPr algn="l">
              <a:lnSpc>
                <a:spcPct val="116000"/>
              </a:lnSpc>
            </a:pPr>
            <a:r>
              <a:rPr sz="1050" b="0" i="0">
                <a:solidFill>
                  <a:srgbClr val="456174"/>
                </a:solidFill>
                <a:latin typeface="Aptos"/>
              </a:rPr>
              <a:t>Tighten Thursday alone, and leave the rest of the week as it is.</a:t>
            </a:r>
          </a:p>
        </p:txBody>
      </p:sp>
      <p:sp>
        <p:nvSpPr>
          <p:cNvPr id="60" name="Rounded Rectangle 59"/>
          <p:cNvSpPr/>
          <p:nvPr/>
        </p:nvSpPr>
        <p:spPr>
          <a:xfrm>
            <a:off x="8046720" y="4507992"/>
            <a:ext cx="146304" cy="146304"/>
          </a:xfrm>
          <a:prstGeom prst="roundRect">
            <a:avLst>
              <a:gd name="adj" fmla="val 18750"/>
            </a:avLst>
          </a:prstGeom>
          <a:solidFill>
            <a:srgbClr val="0877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8339328" y="4462272"/>
            <a:ext cx="2999232" cy="237744"/>
          </a:xfrm>
          <a:prstGeom prst="rect">
            <a:avLst/>
          </a:prstGeom>
          <a:noFill/>
        </p:spPr>
        <p:txBody>
          <a:bodyPr wrap="square" lIns="0" rIns="0" tIns="0" bIns="0" anchor="t">
            <a:spAutoFit/>
          </a:bodyPr>
          <a:lstStyle/>
          <a:p>
            <a:pPr algn="l">
              <a:lnSpc>
                <a:spcPct val="100000"/>
              </a:lnSpc>
            </a:pPr>
            <a:r>
              <a:rPr sz="1250" b="1" i="0">
                <a:solidFill>
                  <a:srgbClr val="0B1F33"/>
                </a:solidFill>
                <a:latin typeface="Aptos Display"/>
              </a:rPr>
              <a:t>Statutory holidays</a:t>
            </a:r>
          </a:p>
        </p:txBody>
      </p:sp>
      <p:sp>
        <p:nvSpPr>
          <p:cNvPr id="62" name="TextBox 61"/>
          <p:cNvSpPr txBox="1"/>
          <p:nvPr/>
        </p:nvSpPr>
        <p:spPr>
          <a:xfrm>
            <a:off x="8339328" y="4754880"/>
            <a:ext cx="2999232" cy="512064"/>
          </a:xfrm>
          <a:prstGeom prst="rect">
            <a:avLst/>
          </a:prstGeom>
          <a:noFill/>
        </p:spPr>
        <p:txBody>
          <a:bodyPr wrap="square" lIns="0" rIns="0" tIns="0" bIns="0" anchor="t">
            <a:spAutoFit/>
          </a:bodyPr>
          <a:lstStyle/>
          <a:p>
            <a:pPr algn="l">
              <a:lnSpc>
                <a:spcPct val="116000"/>
              </a:lnSpc>
            </a:pPr>
            <a:r>
              <a:rPr sz="1050" b="0" i="0">
                <a:solidFill>
                  <a:srgbClr val="456174"/>
                </a:solidFill>
                <a:latin typeface="Aptos"/>
              </a:rPr>
              <a:t>Chosen once per site, then closed across every door, years ahead.</a:t>
            </a:r>
          </a:p>
        </p:txBody>
      </p:sp>
      <p:sp>
        <p:nvSpPr>
          <p:cNvPr id="63" name="Rounded Rectangle 62"/>
          <p:cNvSpPr/>
          <p:nvPr/>
        </p:nvSpPr>
        <p:spPr>
          <a:xfrm>
            <a:off x="530352" y="5541264"/>
            <a:ext cx="11128248" cy="786384"/>
          </a:xfrm>
          <a:prstGeom prst="roundRect">
            <a:avLst>
              <a:gd name="adj" fmla="val 8488"/>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914400" y="5669280"/>
            <a:ext cx="10378440" cy="530352"/>
          </a:xfrm>
          <a:prstGeom prst="rect">
            <a:avLst/>
          </a:prstGeom>
          <a:noFill/>
        </p:spPr>
        <p:txBody>
          <a:bodyPr wrap="square" lIns="0" rIns="0" tIns="0" bIns="0" anchor="ctr">
            <a:spAutoFit/>
          </a:bodyPr>
          <a:lstStyle/>
          <a:p>
            <a:pPr algn="l">
              <a:lnSpc>
                <a:spcPct val="100000"/>
              </a:lnSpc>
            </a:pPr>
            <a:r>
              <a:rPr sz="1250" b="1" i="0">
                <a:solidFill>
                  <a:srgbClr val="FFFFFF"/>
                </a:solidFill>
                <a:latin typeface="Aptos"/>
              </a:rPr>
              <a:t>A Thursday the floor cannot staff is a Thursday the booking screen never offers.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MaxDock — an introduction</dc:title>
  <dc:subject>PptxGenJS Presentation</dc:subject>
  <dc:creator>Max Solutions</dc:creator>
  <cp:lastModifiedBy>Max Solutions</cp:lastModifiedBy>
  <cp:revision>1</cp:revision>
  <dcterms:created xsi:type="dcterms:W3CDTF">2026-08-14T14:02:58Z</dcterms:created>
  <dcterms:modified xsi:type="dcterms:W3CDTF">2026-08-14T14:02:58Z</dcterms:modified>
</cp:coreProperties>
</file>